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charts/chart1.xml" ContentType="application/vnd.openxmlformats-officedocument.drawingml.char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1pPr>
    <a:lvl2pPr marL="0" marR="0" indent="228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2pPr>
    <a:lvl3pPr marL="0" marR="0" indent="457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3pPr>
    <a:lvl4pPr marL="0" marR="0" indent="685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4pPr>
    <a:lvl5pPr marL="0" marR="0" indent="9144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5pPr>
    <a:lvl6pPr marL="0" marR="0" indent="11430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6pPr>
    <a:lvl7pPr marL="0" marR="0" indent="13716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7pPr>
    <a:lvl8pPr marL="0" marR="0" indent="16002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8pPr>
    <a:lvl9pPr marL="0" marR="0" indent="1828800" algn="ctr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32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E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A9BC294-FFE2-49D5-8D69-9E1BD2C41BD5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381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V>
        </a:tcBdr>
        <a:fill>
          <a:noFill/>
        </a:fill>
      </a:tcStyle>
    </a:firstCol>
    <a:la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>
          <a:latin typeface="Helvetica Neue"/>
          <a:ea typeface="Helvetica Neue"/>
          <a:cs typeface="Helvetica Neue"/>
        </a:font>
        <a:srgbClr val="000000"/>
      </a:tcTxStyle>
      <a:tcStyle>
        <a:tcBdr>
          <a:left>
            <a:ln w="381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381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44"/>
  </p:normalViewPr>
  <p:slideViewPr>
    <p:cSldViewPr snapToGrid="0">
      <p:cViewPr varScale="1">
        <p:scale>
          <a:sx n="83" d="100"/>
          <a:sy n="83" d="100"/>
        </p:scale>
        <p:origin x="2032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GB"/>
  <c:roundedCorners val="0"/>
  <c:style val="2"/>
  <c:chart>
    <c:title>
      <c:tx>
        <c:rich>
          <a:bodyPr rot="0"/>
          <a:lstStyle/>
          <a:p>
            <a:pPr>
              <a:defRPr sz="3400" b="0" i="0" u="none" strike="noStrike">
                <a:solidFill>
                  <a:srgbClr val="000000"/>
                </a:solidFill>
                <a:latin typeface="Helvetica"/>
              </a:defRPr>
            </a:pPr>
            <a:r>
              <a:rPr sz="3400" b="0" i="0" u="none" strike="noStrike">
                <a:solidFill>
                  <a:srgbClr val="000000"/>
                </a:solidFill>
                <a:latin typeface="Helvetica"/>
              </a:rPr>
              <a:t>Title</a:t>
            </a:r>
          </a:p>
        </c:rich>
      </c:tx>
      <c:layout>
        <c:manualLayout>
          <c:xMode val="edge"/>
          <c:yMode val="edge"/>
          <c:x val="0.239345"/>
          <c:y val="0"/>
          <c:w val="0.12750300000000001"/>
          <c:h val="0.32723000000000002"/>
        </c:manualLayout>
      </c:layout>
      <c:overlay val="1"/>
      <c:spPr>
        <a:noFill/>
        <a:effectLst/>
      </c:spPr>
    </c:title>
    <c:autoTitleDeleted val="0"/>
    <c:plotArea>
      <c:layout>
        <c:manualLayout>
          <c:layoutTarget val="inner"/>
          <c:xMode val="edge"/>
          <c:yMode val="edge"/>
          <c:x val="0.23563799999999999"/>
          <c:y val="0.32723000000000002"/>
          <c:w val="0.370556"/>
          <c:h val="0.29641000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Sheet1!$A$2</c:f>
              <c:strCache>
                <c:ptCount val="1"/>
                <c:pt idx="0">
                  <c:v>Region 1</c:v>
                </c:pt>
              </c:strCache>
            </c:strRef>
          </c:tx>
          <c:spPr>
            <a:solidFill>
              <a:schemeClr val="accent1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Sheet1!$B$2:$E$2</c:f>
              <c:numCache>
                <c:formatCode>General</c:formatCode>
                <c:ptCount val="4"/>
                <c:pt idx="0">
                  <c:v>17</c:v>
                </c:pt>
                <c:pt idx="1">
                  <c:v>26</c:v>
                </c:pt>
                <c:pt idx="2">
                  <c:v>53</c:v>
                </c:pt>
                <c:pt idx="3">
                  <c:v>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03A-1F49-BE71-CDA839BFA278}"/>
            </c:ext>
          </c:extLst>
        </c:ser>
        <c:ser>
          <c:idx val="1"/>
          <c:order val="1"/>
          <c:tx>
            <c:strRef>
              <c:f>Sheet1!$A$3</c:f>
              <c:strCache>
                <c:ptCount val="1"/>
                <c:pt idx="0">
                  <c:v>Region 2</c:v>
                </c:pt>
              </c:strCache>
            </c:strRef>
          </c:tx>
          <c:spPr>
            <a:solidFill>
              <a:schemeClr val="accent3"/>
            </a:solidFill>
            <a:ln w="12700" cap="flat">
              <a:noFill/>
              <a:miter lim="400000"/>
            </a:ln>
            <a:effectLst/>
          </c:spPr>
          <c:invertIfNegative val="0"/>
          <c:cat>
            <c:strRef>
              <c:f>Sheet1!$B$1:$E$1</c:f>
              <c:strCache>
                <c:ptCount val="4"/>
                <c:pt idx="0">
                  <c:v>April</c:v>
                </c:pt>
                <c:pt idx="1">
                  <c:v>May</c:v>
                </c:pt>
                <c:pt idx="2">
                  <c:v>June</c:v>
                </c:pt>
                <c:pt idx="3">
                  <c:v>July</c:v>
                </c:pt>
              </c:strCache>
            </c:strRef>
          </c:cat>
          <c:val>
            <c:numRef>
              <c:f>Sheet1!$B$3:$E$3</c:f>
              <c:numCache>
                <c:formatCode>General</c:formatCode>
                <c:ptCount val="4"/>
                <c:pt idx="0">
                  <c:v>55</c:v>
                </c:pt>
                <c:pt idx="1">
                  <c:v>43</c:v>
                </c:pt>
                <c:pt idx="2">
                  <c:v>70</c:v>
                </c:pt>
                <c:pt idx="3">
                  <c:v>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03A-1F49-BE71-CDA839BFA27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0"/>
        <c:overlap val="-10"/>
        <c:axId val="2094734552"/>
        <c:axId val="2094734553"/>
      </c:barChart>
      <c:catAx>
        <c:axId val="2094734552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Category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low"/>
        <c:spPr>
          <a:ln w="12700" cap="flat">
            <a:solidFill>
              <a:srgbClr val="000000"/>
            </a:solidFill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3"/>
        <c:crosses val="autoZero"/>
        <c:auto val="1"/>
        <c:lblAlgn val="ctr"/>
        <c:lblOffset val="100"/>
        <c:noMultiLvlLbl val="1"/>
      </c:catAx>
      <c:valAx>
        <c:axId val="2094734553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B8B8B8"/>
              </a:solidFill>
              <a:prstDash val="solid"/>
              <a:miter lim="400000"/>
            </a:ln>
          </c:spPr>
        </c:majorGridlines>
        <c:title>
          <c:tx>
            <c:rich>
              <a:bodyPr rot="-5400000"/>
              <a:lstStyle/>
              <a:p>
                <a:pPr>
                  <a:defRPr sz="2200" b="0" i="0" u="none" strike="noStrike">
                    <a:solidFill>
                      <a:srgbClr val="000000"/>
                    </a:solidFill>
                    <a:latin typeface="Helvetica"/>
                  </a:defRPr>
                </a:pPr>
                <a:r>
                  <a:rPr sz="2200" b="0" i="0" u="none" strike="noStrike">
                    <a:solidFill>
                      <a:srgbClr val="000000"/>
                    </a:solidFill>
                    <a:latin typeface="Helvetica"/>
                  </a:rPr>
                  <a:t>Value Axis</a:t>
                </a:r>
              </a:p>
            </c:rich>
          </c:tx>
          <c:overlay val="1"/>
        </c:title>
        <c:numFmt formatCode="General" sourceLinked="0"/>
        <c:majorTickMark val="none"/>
        <c:minorTickMark val="none"/>
        <c:tickLblPos val="nextTo"/>
        <c:spPr>
          <a:ln w="12700" cap="flat">
            <a:noFill/>
            <a:prstDash val="solid"/>
            <a:miter lim="400000"/>
          </a:ln>
        </c:spPr>
        <c:txPr>
          <a:bodyPr rot="0"/>
          <a:lstStyle/>
          <a:p>
            <a:pPr>
              <a:defRPr sz="2200" b="0" i="0" u="none" strike="noStrike">
                <a:solidFill>
                  <a:srgbClr val="000000"/>
                </a:solidFill>
                <a:latin typeface="Helvetica"/>
              </a:defRPr>
            </a:pPr>
            <a:endParaRPr lang="en-US"/>
          </a:p>
        </c:txPr>
        <c:crossAx val="2094734552"/>
        <c:crosses val="autoZero"/>
        <c:crossBetween val="between"/>
        <c:majorUnit val="25"/>
        <c:minorUnit val="12.5"/>
      </c:valAx>
      <c:spPr>
        <a:noFill/>
        <a:ln w="12700" cap="flat">
          <a:noFill/>
          <a:miter lim="400000"/>
        </a:ln>
        <a:effectLst/>
      </c:spPr>
    </c:plotArea>
    <c:legend>
      <c:legendPos val="r"/>
      <c:layout>
        <c:manualLayout>
          <c:xMode val="edge"/>
          <c:yMode val="edge"/>
          <c:x val="0.56615400000000005"/>
          <c:y val="0.32270199999999999"/>
          <c:w val="0.43384600000000001"/>
          <c:h val="0.32780999999999999"/>
        </c:manualLayout>
      </c:layout>
      <c:overlay val="1"/>
      <c:spPr>
        <a:noFill/>
        <a:ln w="12700" cap="flat">
          <a:noFill/>
          <a:miter lim="400000"/>
        </a:ln>
        <a:effectLst/>
      </c:spPr>
      <c:txPr>
        <a:bodyPr rot="0"/>
        <a:lstStyle/>
        <a:p>
          <a:pPr>
            <a:defRPr sz="2600" b="0" i="0" u="none" strike="noStrike">
              <a:solidFill>
                <a:srgbClr val="000000"/>
              </a:solidFill>
              <a:latin typeface="Helvetica"/>
            </a:defRPr>
          </a:pPr>
          <a:endParaRPr lang="en-US"/>
        </a:p>
      </c:txPr>
    </c:legend>
    <c:plotVisOnly val="1"/>
    <c:dispBlanksAs val="gap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Shape 59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0" name="Shape 60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1pPr>
    <a:lvl2pPr indent="228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2pPr>
    <a:lvl3pPr indent="457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3pPr>
    <a:lvl4pPr indent="685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4pPr>
    <a:lvl5pPr indent="9144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5pPr>
    <a:lvl6pPr indent="11430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6pPr>
    <a:lvl7pPr indent="13716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7pPr>
    <a:lvl8pPr indent="16002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8pPr>
    <a:lvl9pPr indent="1828800" defTabSz="457200" latinLnBrk="0">
      <a:lnSpc>
        <a:spcPct val="117999"/>
      </a:lnSpc>
      <a:defRPr sz="2200">
        <a:latin typeface="Helvetica Neue"/>
        <a:ea typeface="Helvetica Neue"/>
        <a:cs typeface="Helvetica Neue"/>
        <a:sym typeface="Helvetica Neue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&amp;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270000" y="8267700"/>
            <a:ext cx="10464800" cy="914400"/>
          </a:xfrm>
          <a:prstGeom prst="rect">
            <a:avLst/>
          </a:prstGeom>
        </p:spPr>
        <p:txBody>
          <a:bodyPr/>
          <a:lstStyle>
            <a:lvl1pPr marL="0" indent="0" algn="ctr">
              <a:spcBef>
                <a:spcPts val="0"/>
              </a:spcBef>
              <a:buSzTx/>
              <a:buNone/>
              <a:defRPr sz="2500"/>
            </a:lvl1pPr>
            <a:lvl2pPr marL="0" indent="0" algn="ctr">
              <a:spcBef>
                <a:spcPts val="0"/>
              </a:spcBef>
              <a:buSzTx/>
              <a:buNone/>
              <a:defRPr sz="2500"/>
            </a:lvl2pPr>
            <a:lvl3pPr marL="0" indent="0" algn="ctr">
              <a:spcBef>
                <a:spcPts val="0"/>
              </a:spcBef>
              <a:buSzTx/>
              <a:buNone/>
              <a:defRPr sz="2500"/>
            </a:lvl3pPr>
            <a:lvl4pPr marL="0" indent="0" algn="ctr">
              <a:spcBef>
                <a:spcPts val="0"/>
              </a:spcBef>
              <a:buSzTx/>
              <a:buNone/>
              <a:defRPr sz="2500"/>
            </a:lvl4pPr>
            <a:lvl5pPr marL="0" indent="0" algn="ctr">
              <a:spcBef>
                <a:spcPts val="0"/>
              </a:spcBef>
              <a:buSzTx/>
              <a:buNone/>
              <a:defRPr sz="25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1270000" y="1638300"/>
            <a:ext cx="10464800" cy="3302000"/>
          </a:xfrm>
          <a:prstGeom prst="rect">
            <a:avLst/>
          </a:prstGeom>
        </p:spPr>
        <p:txBody>
          <a:bodyPr anchor="b"/>
          <a:lstStyle/>
          <a:p>
            <a:r>
              <a:t>Title Text</a:t>
            </a:r>
          </a:p>
        </p:txBody>
      </p:sp>
      <p:sp>
        <p:nvSpPr>
          <p:cNvPr id="16" name="Sam Coward"/>
          <p:cNvSpPr txBox="1"/>
          <p:nvPr/>
        </p:nvSpPr>
        <p:spPr>
          <a:xfrm>
            <a:off x="5087289" y="5854700"/>
            <a:ext cx="2830222" cy="660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700"/>
            </a:lvl1pPr>
          </a:lstStyle>
          <a:p>
            <a:r>
              <a:t>Sam Coward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6300639" y="9296400"/>
            <a:ext cx="396749" cy="399033"/>
          </a:xfrm>
          <a:prstGeom prst="rect">
            <a:avLst/>
          </a:prstGeom>
        </p:spPr>
        <p:txBody>
          <a:bodyPr/>
          <a:lstStyle>
            <a:lvl1pPr algn="ctr">
              <a:defRPr b="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- Cen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Text"/>
          <p:cNvSpPr txBox="1">
            <a:spLocks noGrp="1"/>
          </p:cNvSpPr>
          <p:nvPr>
            <p:ph type="title"/>
          </p:nvPr>
        </p:nvSpPr>
        <p:spPr>
          <a:xfrm>
            <a:off x="1270000" y="32258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Tex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3" name="Body Level On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u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49"/>
            <a:ext cx="396826" cy="406401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42" name="Square"/>
          <p:cNvSpPr/>
          <p:nvPr/>
        </p:nvSpPr>
        <p:spPr>
          <a:xfrm>
            <a:off x="1155700" y="1682750"/>
            <a:ext cx="1270000" cy="12700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" name="Square"/>
          <p:cNvSpPr/>
          <p:nvPr/>
        </p:nvSpPr>
        <p:spPr>
          <a:xfrm>
            <a:off x="3403600" y="1682750"/>
            <a:ext cx="1270000" cy="1270000"/>
          </a:xfrm>
          <a:prstGeom prst="rect">
            <a:avLst/>
          </a:prstGeom>
          <a:solidFill>
            <a:srgbClr val="9D7A2D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" name="Rectangle"/>
          <p:cNvSpPr/>
          <p:nvPr/>
        </p:nvSpPr>
        <p:spPr>
          <a:xfrm>
            <a:off x="876300" y="7512050"/>
            <a:ext cx="5867210" cy="1270000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" name="Square"/>
          <p:cNvSpPr/>
          <p:nvPr/>
        </p:nvSpPr>
        <p:spPr>
          <a:xfrm>
            <a:off x="546100" y="876300"/>
            <a:ext cx="1270000" cy="1270000"/>
          </a:xfrm>
          <a:prstGeom prst="rect">
            <a:avLst/>
          </a:prstGeom>
          <a:solidFill>
            <a:srgbClr val="509798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" name="Square"/>
          <p:cNvSpPr/>
          <p:nvPr/>
        </p:nvSpPr>
        <p:spPr>
          <a:xfrm>
            <a:off x="2336800" y="876300"/>
            <a:ext cx="1270000" cy="1270000"/>
          </a:xfrm>
          <a:prstGeom prst="rect">
            <a:avLst/>
          </a:prstGeom>
          <a:solidFill>
            <a:srgbClr val="0023E4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" name="Line"/>
          <p:cNvSpPr/>
          <p:nvPr/>
        </p:nvSpPr>
        <p:spPr>
          <a:xfrm flipV="1">
            <a:off x="4889499" y="742950"/>
            <a:ext cx="1270001" cy="1270000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48" name="Table 1"/>
          <p:cNvGraphicFramePr/>
          <p:nvPr/>
        </p:nvGraphicFramePr>
        <p:xfrm>
          <a:off x="7124700" y="4616450"/>
          <a:ext cx="4236244" cy="3128268"/>
        </p:xfrm>
        <a:graphic>
          <a:graphicData uri="http://schemas.openxmlformats.org/drawingml/2006/table">
            <a:tbl>
              <a:tblPr firstRow="1" firstCol="1" lastRow="1">
                <a:tableStyleId>{4A9BC294-FFE2-49D5-8D69-9E1BD2C41BD5}</a:tableStyleId>
              </a:tblPr>
              <a:tblGrid>
                <a:gridCol w="211812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181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Corner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 b="1">
                          <a:latin typeface="+mn-lt"/>
                          <a:ea typeface="+mn-ea"/>
                          <a:cs typeface="+mn-cs"/>
                        </a:rPr>
                        <a:t>Head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Side</a:t>
                      </a:r>
                    </a:p>
                  </a:txBody>
                  <a:tcPr marL="50800" marR="50800" marT="50800" marB="50800" anchor="ctr" horzOverflow="overflow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/>
                      </a:pPr>
                      <a:r>
                        <a:rPr sz="3200"/>
                        <a:t>Cell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2756"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Bottom</a:t>
                      </a:r>
                    </a:p>
                  </a:txBody>
                  <a:tcPr marL="50800" marR="50800" marT="50800" marB="50800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4200"/>
                        </a:spcBef>
                        <a:defRPr sz="1800" b="0"/>
                      </a:pPr>
                      <a:r>
                        <a:rPr sz="3200">
                          <a:latin typeface="+mn-lt"/>
                          <a:ea typeface="+mn-ea"/>
                          <a:cs typeface="+mn-cs"/>
                        </a:rPr>
                        <a:t>Foot</a:t>
                      </a:r>
                    </a:p>
                  </a:txBody>
                  <a:tcPr marL="50800" marR="50800" marT="50800" marB="50800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9" name="Wickerson et al., &quot;Blah&quot;, in PLDI, 2018."/>
          <p:cNvSpPr txBox="1"/>
          <p:nvPr/>
        </p:nvSpPr>
        <p:spPr>
          <a:xfrm>
            <a:off x="1219200" y="7912099"/>
            <a:ext cx="5794872" cy="457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b">
            <a:spAutoFit/>
          </a:bodyPr>
          <a:lstStyle/>
          <a:p>
            <a:pPr marL="635000" indent="-635000" algn="l">
              <a:buSzPct val="100000"/>
              <a:buAutoNum type="arabicParenBoth"/>
              <a:defRPr sz="2300">
                <a:solidFill>
                  <a:srgbClr val="6E8627"/>
                </a:solidFill>
              </a:defRPr>
            </a:pPr>
            <a:r>
              <a:t>Wickerson et al., "Blah", in </a:t>
            </a:r>
            <a:r>
              <a:rPr i="1"/>
              <a:t>PLDI</a:t>
            </a:r>
            <a:r>
              <a:t>, 2018.</a:t>
            </a:r>
          </a:p>
        </p:txBody>
      </p:sp>
      <p:sp>
        <p:nvSpPr>
          <p:cNvPr id="50" name="Square"/>
          <p:cNvSpPr/>
          <p:nvPr/>
        </p:nvSpPr>
        <p:spPr>
          <a:xfrm>
            <a:off x="5651500" y="1682750"/>
            <a:ext cx="1270000" cy="1270000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" name="Some code."/>
          <p:cNvSpPr txBox="1"/>
          <p:nvPr/>
        </p:nvSpPr>
        <p:spPr>
          <a:xfrm>
            <a:off x="8271123" y="1276349"/>
            <a:ext cx="1943398" cy="469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400"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r>
              <a:t>Some code.</a:t>
            </a:r>
          </a:p>
        </p:txBody>
      </p:sp>
      <p:sp>
        <p:nvSpPr>
          <p:cNvPr id="52" name="Here is a cite.(1)"/>
          <p:cNvSpPr txBox="1"/>
          <p:nvPr/>
        </p:nvSpPr>
        <p:spPr>
          <a:xfrm>
            <a:off x="7777890" y="3111499"/>
            <a:ext cx="2929864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Here is a cite.</a:t>
            </a:r>
            <a:r>
              <a:rPr baseline="31999"/>
              <a:t>(1)</a:t>
            </a:r>
          </a:p>
        </p:txBody>
      </p:sp>
      <p:graphicFrame>
        <p:nvGraphicFramePr>
          <p:cNvPr id="53" name="Title"/>
          <p:cNvGraphicFramePr/>
          <p:nvPr/>
        </p:nvGraphicFramePr>
        <p:xfrm>
          <a:off x="278861" y="4584700"/>
          <a:ext cx="6397805" cy="26003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ED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952500" y="546100"/>
            <a:ext cx="11099800" cy="21590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Rectangle"/>
          <p:cNvSpPr/>
          <p:nvPr/>
        </p:nvSpPr>
        <p:spPr>
          <a:xfrm>
            <a:off x="0" y="-1"/>
            <a:ext cx="13004800" cy="457201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" name="Sam Coward"/>
          <p:cNvSpPr txBox="1"/>
          <p:nvPr/>
        </p:nvSpPr>
        <p:spPr>
          <a:xfrm>
            <a:off x="87122" y="25400"/>
            <a:ext cx="1652811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 algn="l">
              <a:defRPr sz="2000" b="1">
                <a:solidFill>
                  <a:srgbClr val="FFFFFF"/>
                </a:solidFill>
              </a:defRPr>
            </a:lvl1pPr>
          </a:lstStyle>
          <a:p>
            <a:r>
              <a:t>Sam Coward</a:t>
            </a:r>
          </a:p>
        </p:txBody>
      </p:sp>
      <p:sp>
        <p:nvSpPr>
          <p:cNvPr id="6" name="Mastering Digital Design"/>
          <p:cNvSpPr txBox="1"/>
          <p:nvPr/>
        </p:nvSpPr>
        <p:spPr>
          <a:xfrm>
            <a:off x="4963355" y="25400"/>
            <a:ext cx="3078089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000" b="1">
                <a:solidFill>
                  <a:srgbClr val="FFFFFF"/>
                </a:solidFill>
              </a:defRPr>
            </a:lvl1pPr>
          </a:lstStyle>
          <a:p>
            <a:r>
              <a:t>Mastering Digital Design</a:t>
            </a:r>
          </a:p>
        </p:txBody>
      </p:sp>
      <p:sp>
        <p:nvSpPr>
          <p:cNvPr id="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02988" y="31750"/>
            <a:ext cx="396826" cy="4064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spAutoFit/>
          </a:bodyPr>
          <a:lstStyle>
            <a:lvl1pPr algn="r">
              <a:defRPr sz="2000" b="1"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ransition spd="med"/>
  <p:txStyles>
    <p:title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000" b="1" i="0" u="none" strike="noStrike" cap="none" spc="0" baseline="0">
          <a:solidFill>
            <a:srgbClr val="9D7A2D"/>
          </a:solidFill>
          <a:uFillTx/>
          <a:latin typeface="+mn-lt"/>
          <a:ea typeface="+mn-ea"/>
          <a:cs typeface="+mn-cs"/>
          <a:sym typeface="Helvetica"/>
        </a:defRPr>
      </a:lvl9pPr>
    </p:titleStyle>
    <p:bodyStyle>
      <a:lvl1pPr marL="444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1pPr>
      <a:lvl2pPr marL="889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2pPr>
      <a:lvl3pPr marL="1333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3pPr>
      <a:lvl4pPr marL="1778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4pPr>
      <a:lvl5pPr marL="2222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5pPr>
      <a:lvl6pPr marL="2667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6pPr>
      <a:lvl7pPr marL="3111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7pPr>
      <a:lvl8pPr marL="35560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8pPr>
      <a:lvl9pPr marL="4000500" marR="0" indent="-444500" algn="l" defTabSz="584200" rtl="0" latinLnBrk="0">
        <a:lnSpc>
          <a:spcPct val="100000"/>
        </a:lnSpc>
        <a:spcBef>
          <a:spcPts val="4200"/>
        </a:spcBef>
        <a:spcAft>
          <a:spcPts val="0"/>
        </a:spcAft>
        <a:buClrTx/>
        <a:buSzPct val="145000"/>
        <a:buFontTx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"/>
        </a:defRPr>
      </a:lvl9pPr>
    </p:bodyStyle>
    <p:otherStyle>
      <a:lvl1pPr marL="0" marR="0" indent="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228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457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685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9144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11430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13716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16002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1828800" algn="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20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Lecture 2"/>
          <p:cNvSpPr txBox="1">
            <a:spLocks noGrp="1"/>
          </p:cNvSpPr>
          <p:nvPr>
            <p:ph type="subTitle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Lecture 2</a:t>
            </a:r>
          </a:p>
        </p:txBody>
      </p:sp>
      <p:sp>
        <p:nvSpPr>
          <p:cNvPr id="63" name="Mastering  Digital Design"/>
          <p:cNvSpPr txBox="1">
            <a:spLocks noGrp="1"/>
          </p:cNvSpPr>
          <p:nvPr>
            <p:ph type="ctrTitle"/>
          </p:nvPr>
        </p:nvSpPr>
        <p:spPr>
          <a:xfrm>
            <a:off x="1270000" y="1130300"/>
            <a:ext cx="10464800" cy="3302000"/>
          </a:xfrm>
          <a:prstGeom prst="rect">
            <a:avLst/>
          </a:prstGeom>
        </p:spPr>
        <p:txBody>
          <a:bodyPr/>
          <a:lstStyle/>
          <a:p>
            <a:r>
              <a:t>Mastering </a:t>
            </a:r>
            <a:br/>
            <a:r>
              <a:t>Digital Design</a:t>
            </a:r>
          </a:p>
        </p:txBody>
      </p:sp>
      <p:sp>
        <p:nvSpPr>
          <p:cNvPr id="64" name="with Verilog on FPGAs"/>
          <p:cNvSpPr txBox="1"/>
          <p:nvPr/>
        </p:nvSpPr>
        <p:spPr>
          <a:xfrm>
            <a:off x="3789542" y="4616449"/>
            <a:ext cx="5425716" cy="698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3900" b="1">
                <a:solidFill>
                  <a:srgbClr val="9D7A2D"/>
                </a:solidFill>
              </a:defRPr>
            </a:lvl1pPr>
          </a:lstStyle>
          <a:p>
            <a:r>
              <a:t>with Verilog on FPGAs</a:t>
            </a:r>
          </a:p>
        </p:txBody>
      </p:sp>
      <p:sp>
        <p:nvSpPr>
          <p:cNvPr id="2" name="Slides by John Wickerson">
            <a:extLst>
              <a:ext uri="{FF2B5EF4-FFF2-40B4-BE49-F238E27FC236}">
                <a16:creationId xmlns:a16="http://schemas.microsoft.com/office/drawing/2014/main" id="{D353BE6D-8EF9-7569-F438-60B46EC3AED4}"/>
              </a:ext>
            </a:extLst>
          </p:cNvPr>
          <p:cNvSpPr txBox="1"/>
          <p:nvPr/>
        </p:nvSpPr>
        <p:spPr>
          <a:xfrm>
            <a:off x="4355281" y="6537324"/>
            <a:ext cx="4040238" cy="508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700"/>
            </a:lvl1pPr>
          </a:lstStyle>
          <a:p>
            <a:r>
              <a:t>Slides by John Wickerson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67" name="Arithmetic and logical operators in Verilo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Arithmetic and logical operators in Verilog</a:t>
            </a:r>
          </a:p>
          <a:p>
            <a:r>
              <a:t>Clocked circuits</a:t>
            </a:r>
          </a:p>
          <a:p>
            <a:r>
              <a:t>Shift registers</a:t>
            </a:r>
          </a:p>
          <a:p>
            <a:r>
              <a:t>Converting from binary to binary-coded decimal (BCD)</a:t>
            </a:r>
          </a:p>
        </p:txBody>
      </p:sp>
      <p:sp>
        <p:nvSpPr>
          <p:cNvPr id="6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</a:t>
            </a:fld>
            <a:endParaRPr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Arithmetic and Logical Operators in Verilog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49148">
              <a:defRPr sz="7519"/>
            </a:lvl1pPr>
          </a:lstStyle>
          <a:p>
            <a:r>
              <a:t>Arithmetic and Logical Operators in Verilog</a:t>
            </a:r>
          </a:p>
        </p:txBody>
      </p:sp>
      <p:sp>
        <p:nvSpPr>
          <p:cNvPr id="71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</a:t>
            </a:fld>
            <a:endParaRPr/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Integer Arithmet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Integer Arithmetic</a:t>
            </a:r>
          </a:p>
        </p:txBody>
      </p:sp>
      <p:sp>
        <p:nvSpPr>
          <p:cNvPr id="74" name="Integer arithmetic without carrie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Integer arithmetic without carries:</a:t>
            </a:r>
          </a:p>
          <a:p>
            <a:endParaRPr/>
          </a:p>
          <a:p>
            <a:endParaRPr/>
          </a:p>
          <a:p>
            <a:r>
              <a:t>Integer arithmetic with carry-in and carry-out:</a:t>
            </a:r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76" name="module add32 (a, b, sum);…"/>
          <p:cNvSpPr txBox="1"/>
          <p:nvPr/>
        </p:nvSpPr>
        <p:spPr>
          <a:xfrm>
            <a:off x="1902967" y="3441700"/>
            <a:ext cx="4305984" cy="1752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add32 (a, b, sum);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sum = a + b;</a:t>
            </a:r>
          </a:p>
          <a:p>
            <a:pPr algn="l">
              <a:defRPr sz="22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sp>
        <p:nvSpPr>
          <p:cNvPr id="77" name="module add32_carry (a, b, cin, sum, cout);…"/>
          <p:cNvSpPr txBox="1"/>
          <p:nvPr/>
        </p:nvSpPr>
        <p:spPr>
          <a:xfrm>
            <a:off x="1902967" y="6261100"/>
            <a:ext cx="7156327" cy="24130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add32_carry (a, b, cin, sum, cout);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a, b;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cin;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[31:0] sum;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{cout, sum} = a + b + cin;</a:t>
            </a:r>
          </a:p>
          <a:p>
            <a:pPr algn="l">
              <a:defRPr sz="22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80" name="Group"/>
          <p:cNvGrpSpPr/>
          <p:nvPr/>
        </p:nvGrpSpPr>
        <p:grpSpPr>
          <a:xfrm>
            <a:off x="3565476" y="8400243"/>
            <a:ext cx="6635384" cy="909664"/>
            <a:chOff x="0" y="0"/>
            <a:chExt cx="6635383" cy="909663"/>
          </a:xfrm>
        </p:grpSpPr>
        <p:sp>
          <p:nvSpPr>
            <p:cNvPr id="78" name="What is the width of the +-operator?"/>
            <p:cNvSpPr/>
            <p:nvPr/>
          </p:nvSpPr>
          <p:spPr>
            <a:xfrm>
              <a:off x="0" y="909663"/>
              <a:ext cx="6635384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What is the width of the 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+</a:t>
              </a:r>
              <a:r>
                <a:t>-operator?</a:t>
              </a:r>
            </a:p>
          </p:txBody>
        </p:sp>
        <p:sp>
          <p:nvSpPr>
            <p:cNvPr id="79" name="Line"/>
            <p:cNvSpPr/>
            <p:nvPr/>
          </p:nvSpPr>
          <p:spPr>
            <a:xfrm flipH="1" flipV="1">
              <a:off x="3107459" y="0"/>
              <a:ext cx="177165" cy="65253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7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7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7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1" build="p" bldLvl="5" animBg="1" advAuto="0"/>
      <p:bldP spid="76" grpId="2" animBg="1" advAuto="0"/>
      <p:bldP spid="77" grpId="3" animBg="1" advAuto="0"/>
      <p:bldP spid="80" grpId="4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83" name="Bitwise operator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</a:p>
        </p:txBody>
      </p:sp>
      <p:sp>
        <p:nvSpPr>
          <p:cNvPr id="8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</a:t>
            </a:fld>
            <a:endParaRPr/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1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8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5" name="Bitwise operators:  ~(4'b0101) = {~0,~1,~0,~1}">
            <a:extLst>
              <a:ext uri="{FF2B5EF4-FFF2-40B4-BE49-F238E27FC236}">
                <a16:creationId xmlns:a16="http://schemas.microsoft.com/office/drawing/2014/main" id="{F39FA2D7-A2E7-46BC-95DD-8E2E82F3D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</a:t>
            </a:r>
            <a:r>
              <a:rPr lang="en-GB"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 lang="en-GB">
                <a:solidFill>
                  <a:srgbClr val="FFFED2"/>
                </a:solidFill>
              </a:rPr>
              <a:t>=</a:t>
            </a:r>
            <a:r>
              <a:rPr lang="en-GB"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{~0,~1,~0,~1}</a:t>
            </a:r>
            <a:endParaRPr sz="2800">
              <a:solidFill>
                <a:srgbClr val="FFFED2"/>
              </a:solidFill>
              <a:latin typeface="Courier"/>
              <a:ea typeface="Courier"/>
              <a:cs typeface="Courier"/>
              <a:sym typeface="Courier"/>
            </a:endParaRP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1" name="Bitwise operators:  ~(4'b0101) = {~0,~1,~0,~1}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</a:t>
            </a:r>
          </a:p>
        </p:txBody>
      </p:sp>
      <p:sp>
        <p:nvSpPr>
          <p:cNvPr id="92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7</a:t>
            </a:fld>
            <a:endParaRPr/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5" name="Bitwise operators:  ~(4'b0101) = {~0,~1,~0,~1} = {1,0,1,0}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</a:t>
            </a:r>
          </a:p>
        </p:txBody>
      </p:sp>
      <p:sp>
        <p:nvSpPr>
          <p:cNvPr id="9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8</a:t>
            </a:fld>
            <a:endParaRPr/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99" name="Bitwise operators:  ~(4'b0101) = {~0,~1,~0,~1} = {1,0,1,0} = 4'b1010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</a:p>
        </p:txBody>
      </p:sp>
      <p:sp>
        <p:nvSpPr>
          <p:cNvPr id="100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44250" y="31750"/>
            <a:ext cx="255564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9</a:t>
            </a:fld>
            <a:endParaRPr/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0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5" name="Bitwise operators:  ~(4'b0101) = {~0,~1,~0,~1} = {1,0,1,0} = 4'b1010 4'b0101 &amp; 4'b0011 = 4'b0001">
            <a:extLst>
              <a:ext uri="{FF2B5EF4-FFF2-40B4-BE49-F238E27FC236}">
                <a16:creationId xmlns:a16="http://schemas.microsoft.com/office/drawing/2014/main" id="{48F0E956-C8EC-6E56-D438-2E294992FB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07" name="Bitwise operators:  ~(4'b0101) = {~0,~1,~0,~1} = {1,0,1,0} = 4'b1010 4'b0101 &amp; 4'b0011 = 4'b000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</p:txBody>
      </p:sp>
      <p:sp>
        <p:nvSpPr>
          <p:cNvPr id="108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516878" y="31750"/>
            <a:ext cx="382936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11</a:t>
            </a:fld>
            <a:endParaRPr/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1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</a:p>
        </p:txBody>
      </p:sp>
      <p:sp>
        <p:nvSpPr>
          <p:cNvPr id="11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12</a:t>
            </a:fld>
            <a:endParaRPr/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4" name="Bitwise operators:  ~(4'b0101) = {~0,~1,~0,~1} = {1,0,1,0} = 4'b1010 4'b0101 &amp; 4'b0011 = 4'b0001…">
            <a:extLst>
              <a:ext uri="{FF2B5EF4-FFF2-40B4-BE49-F238E27FC236}">
                <a16:creationId xmlns:a16="http://schemas.microsoft.com/office/drawing/2014/main" id="{05012C80-F772-3787-1D5E-9FAAEA64A0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</p:txBody>
      </p:sp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19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</p:txBody>
      </p:sp>
      <p:sp>
        <p:nvSpPr>
          <p:cNvPr id="12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14</a:t>
            </a:fld>
            <a:endParaRPr/>
          </a:p>
        </p:txBody>
      </p:sp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23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</a:p>
        </p:txBody>
      </p:sp>
      <p:sp>
        <p:nvSpPr>
          <p:cNvPr id="12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15</a:t>
            </a:fld>
            <a:endParaRPr/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2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16</a:t>
            </a:fld>
            <a:endParaRPr/>
          </a:p>
        </p:txBody>
      </p:sp>
      <p:sp>
        <p:nvSpPr>
          <p:cNvPr id="4" name="Bitwise operators:  ~(4'b0101) = {~0,~1,~0,~1} = {1,0,1,0} = 4'b1010 4'b0101 &amp; 4'b0011 = 4'b0001…">
            <a:extLst>
              <a:ext uri="{FF2B5EF4-FFF2-40B4-BE49-F238E27FC236}">
                <a16:creationId xmlns:a16="http://schemas.microsoft.com/office/drawing/2014/main" id="{3AE9B749-FEE2-82D5-CB1D-5B3D18E381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52500" y="2686050"/>
            <a:ext cx="11099800" cy="6286500"/>
          </a:xfrm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rPr>
                <a:solidFill>
                  <a:srgbClr val="FFFED2"/>
                </a:solidFill>
              </a:rPr>
              <a:t>=</a:t>
            </a:r>
            <a:r>
              <a:rPr sz="2800">
                <a:solidFill>
                  <a:srgbClr val="FFFED2"/>
                </a:solidFill>
                <a:latin typeface="Courier"/>
                <a:ea typeface="Courier"/>
                <a:cs typeface="Courier"/>
                <a:sym typeface="Courier"/>
              </a:rPr>
              <a:t> 0 &amp; 1 &amp; 0 &amp; 1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1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 &amp; 1 &amp; 0 &amp; 1</a:t>
            </a:r>
          </a:p>
        </p:txBody>
      </p:sp>
      <p:sp>
        <p:nvSpPr>
          <p:cNvPr id="1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17</a:t>
            </a:fld>
            <a:endParaRPr/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5" name="Bitwise operators:  ~(4'b0101) = {~0,~1,~0,~1} = {1,0,1,0} = 4'b1010 4'b0101 &amp; 4'b0011 = 4'b0001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Bitwise operators: 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~(4'b0101)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{~0,~1,~0,~1}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{1,0,1,0}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4'b1010</a:t>
            </a:r>
            <a:b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4'b0101 &amp; 4'b0011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4'b0001</a:t>
            </a:r>
          </a:p>
          <a:p>
            <a:r>
              <a:t>Logical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!(4'b0101)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</a:t>
            </a:r>
          </a:p>
          <a:p>
            <a:r>
              <a:t>Reduction operators:</a:t>
            </a:r>
            <a:br/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&amp;(4'b0101)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0 &amp; 1 &amp; 0 &amp; 1 </a:t>
            </a:r>
            <a:r>
              <a:t>=</a:t>
            </a:r>
            <a:r>
              <a:rPr sz="2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1'b0</a:t>
            </a:r>
          </a:p>
        </p:txBody>
      </p:sp>
      <p:sp>
        <p:nvSpPr>
          <p:cNvPr id="13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18</a:t>
            </a:fld>
            <a:endParaRPr/>
          </a:p>
        </p:txBody>
      </p:sp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Boolean operato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Boolean operators</a:t>
            </a:r>
          </a:p>
        </p:txBody>
      </p:sp>
      <p:sp>
        <p:nvSpPr>
          <p:cNvPr id="13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19</a:t>
            </a:fld>
            <a:endParaRPr/>
          </a:p>
        </p:txBody>
      </p:sp>
      <p:pic>
        <p:nvPicPr>
          <p:cNvPr id="140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392" y="2794000"/>
            <a:ext cx="12188016" cy="3827496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43" name="Group"/>
          <p:cNvGrpSpPr/>
          <p:nvPr/>
        </p:nvGrpSpPr>
        <p:grpSpPr>
          <a:xfrm>
            <a:off x="4194765" y="5885643"/>
            <a:ext cx="4026676" cy="1100164"/>
            <a:chOff x="0" y="0"/>
            <a:chExt cx="4026674" cy="1100163"/>
          </a:xfrm>
        </p:grpSpPr>
        <p:sp>
          <p:nvSpPr>
            <p:cNvPr id="141" name="What is the difference between ~a and !a?"/>
            <p:cNvSpPr/>
            <p:nvPr/>
          </p:nvSpPr>
          <p:spPr>
            <a:xfrm>
              <a:off x="0" y="1100163"/>
              <a:ext cx="4026675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What is the difference between ~a and !a?</a:t>
              </a:r>
            </a:p>
          </p:txBody>
        </p:sp>
        <p:sp>
          <p:nvSpPr>
            <p:cNvPr id="142" name="Line"/>
            <p:cNvSpPr/>
            <p:nvPr/>
          </p:nvSpPr>
          <p:spPr>
            <a:xfrm flipH="1" flipV="1">
              <a:off x="1932069" y="0"/>
              <a:ext cx="177165" cy="65253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" grpId="1" animBg="1" advAuto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46" name="If out is not assigned in an always block, the previous value must be retained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If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t> is not assigned in an always block, the previous value must be retained.</a:t>
            </a:r>
          </a:p>
        </p:txBody>
      </p:sp>
      <p:sp>
        <p:nvSpPr>
          <p:cNvPr id="14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20</a:t>
            </a:fld>
            <a:endParaRPr/>
          </a:p>
        </p:txBody>
      </p:sp>
      <p:sp>
        <p:nvSpPr>
          <p:cNvPr id="148" name="module maybe_mux_3to1…"/>
          <p:cNvSpPr txBox="1"/>
          <p:nvPr/>
        </p:nvSpPr>
        <p:spPr>
          <a:xfrm>
            <a:off x="1483867" y="3949699"/>
            <a:ext cx="4138316" cy="5054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maybe_mux_3to1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(a, b, c, sel, out);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sel;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a, b,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@*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(sel)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2'b00: out = a;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151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49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50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6" grpId="3" animBg="1" advAuto="0"/>
      <p:bldP spid="148" grpId="2" animBg="1" advAuto="0"/>
      <p:bldP spid="151" grpId="1" animBg="1" advAuto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54" name="If out is not assigned in an always block, the previous value must be retained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If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</a:t>
            </a:r>
            <a:r>
              <a:t> is not assigned in an always block, the previous value must be retained</a:t>
            </a:r>
            <a:r>
              <a:rPr lang="en-GB"/>
              <a:t> (a latch)</a:t>
            </a:r>
            <a:r>
              <a:t>.</a:t>
            </a:r>
          </a:p>
        </p:txBody>
      </p:sp>
      <p:sp>
        <p:nvSpPr>
          <p:cNvPr id="15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21</a:t>
            </a:fld>
            <a:endParaRPr/>
          </a:p>
        </p:txBody>
      </p:sp>
      <p:sp>
        <p:nvSpPr>
          <p:cNvPr id="156" name="module maybe_mux_3to1…"/>
          <p:cNvSpPr txBox="1"/>
          <p:nvPr/>
        </p:nvSpPr>
        <p:spPr>
          <a:xfrm>
            <a:off x="1483867" y="3949699"/>
            <a:ext cx="4138316" cy="5054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maybe_mux_3to1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(a, b, c, sel, out);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sel;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a, b,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@*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(sel)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2'b00: out = a;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pic>
        <p:nvPicPr>
          <p:cNvPr id="157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3658" y="3790570"/>
            <a:ext cx="5107377" cy="509346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60" name="Could fix by preceding with a default assignment..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Could fix by preceding with a default assignment...</a:t>
            </a:r>
          </a:p>
        </p:txBody>
      </p:sp>
      <p:sp>
        <p:nvSpPr>
          <p:cNvPr id="16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22</a:t>
            </a:fld>
            <a:endParaRPr/>
          </a:p>
        </p:txBody>
      </p:sp>
      <p:sp>
        <p:nvSpPr>
          <p:cNvPr id="162" name="module maybe_mux_3to1…"/>
          <p:cNvSpPr txBox="1"/>
          <p:nvPr/>
        </p:nvSpPr>
        <p:spPr>
          <a:xfrm>
            <a:off x="1483867" y="3784600"/>
            <a:ext cx="4473651" cy="53848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maybe_mux_3to1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(a, b, c, sel, out);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sel;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a, b,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@*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</a:p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 = 1'bX;          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(sel)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2'b00: out = a;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165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63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64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Incomplete specificat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537463">
              <a:defRPr sz="7360"/>
            </a:lvl1pPr>
          </a:lstStyle>
          <a:p>
            <a:r>
              <a:t>Incomplete specification</a:t>
            </a:r>
          </a:p>
        </p:txBody>
      </p:sp>
      <p:sp>
        <p:nvSpPr>
          <p:cNvPr id="168" name="Could fix by preceding with a default assignment... ... or by using a default case.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Could fix by preceding with a default assignment...</a:t>
            </a:r>
            <a:br/>
            <a:r>
              <a:t>... or by using a 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default</a:t>
            </a:r>
            <a:r>
              <a:t> case.</a:t>
            </a:r>
          </a:p>
        </p:txBody>
      </p:sp>
      <p:sp>
        <p:nvSpPr>
          <p:cNvPr id="16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23</a:t>
            </a:fld>
            <a:endParaRPr/>
          </a:p>
        </p:txBody>
      </p:sp>
      <p:sp>
        <p:nvSpPr>
          <p:cNvPr id="170" name="module maybe_mux_3to1…"/>
          <p:cNvSpPr txBox="1"/>
          <p:nvPr/>
        </p:nvSpPr>
        <p:spPr>
          <a:xfrm>
            <a:off x="1483867" y="3784600"/>
            <a:ext cx="4473651" cy="53848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maybe_mux_3to1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(a, b, c, sel, out);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[1:0] sel;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a, b,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@*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case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(sel)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2'b00: out = a;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2'b01: out = b;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2'b10: out = c;</a:t>
            </a:r>
            <a:b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</a:b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default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: out = 1'bX;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endcase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173" name="Group"/>
          <p:cNvGrpSpPr/>
          <p:nvPr/>
        </p:nvGrpSpPr>
        <p:grpSpPr>
          <a:xfrm>
            <a:off x="6863658" y="3790570"/>
            <a:ext cx="2694377" cy="3622394"/>
            <a:chOff x="0" y="0"/>
            <a:chExt cx="2694375" cy="3622392"/>
          </a:xfrm>
        </p:grpSpPr>
        <p:pic>
          <p:nvPicPr>
            <p:cNvPr id="171" name="Image" descr="Image"/>
            <p:cNvPicPr>
              <a:picLocks noChangeAspect="1"/>
            </p:cNvPicPr>
            <p:nvPr/>
          </p:nvPicPr>
          <p:blipFill>
            <a:blip r:embed="rId2"/>
            <a:srcRect r="58229" b="28881"/>
            <a:stretch>
              <a:fillRect/>
            </a:stretch>
          </p:blipFill>
          <p:spPr>
            <a:xfrm>
              <a:off x="0" y="0"/>
              <a:ext cx="2133393" cy="362239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  <p:pic>
          <p:nvPicPr>
            <p:cNvPr id="172" name="Image" descr="Image"/>
            <p:cNvPicPr>
              <a:picLocks noChangeAspect="1"/>
            </p:cNvPicPr>
            <p:nvPr/>
          </p:nvPicPr>
          <p:blipFill>
            <a:blip r:embed="rId2"/>
            <a:srcRect l="89169" b="29357"/>
            <a:stretch>
              <a:fillRect/>
            </a:stretch>
          </p:blipFill>
          <p:spPr>
            <a:xfrm>
              <a:off x="2141239" y="0"/>
              <a:ext cx="553137" cy="3598134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An AL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ALU</a:t>
            </a:r>
          </a:p>
        </p:txBody>
      </p:sp>
      <p:sp>
        <p:nvSpPr>
          <p:cNvPr id="17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24</a:t>
            </a:fld>
            <a:endParaRPr/>
          </a:p>
        </p:txBody>
      </p:sp>
      <p:sp>
        <p:nvSpPr>
          <p:cNvPr id="177" name="Line"/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" name="Line"/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" name="Line"/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" name="A[31:0]"/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181" name="B[31:0]"/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182" name="F[2:0]"/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183" name="Line"/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" name="R[31:0]"/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sp>
        <p:nvSpPr>
          <p:cNvPr id="185" name="Rectangle"/>
          <p:cNvSpPr/>
          <p:nvPr/>
        </p:nvSpPr>
        <p:spPr>
          <a:xfrm>
            <a:off x="568076" y="2838450"/>
            <a:ext cx="6828782" cy="5904707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aphicFrame>
        <p:nvGraphicFramePr>
          <p:cNvPr id="186" name="Table 1"/>
          <p:cNvGraphicFramePr/>
          <p:nvPr/>
        </p:nvGraphicFramePr>
        <p:xfrm>
          <a:off x="9368454" y="956592"/>
          <a:ext cx="3255196" cy="2925510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627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58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F[2:0]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R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{1,0,X}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*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6" grpId="1" animBg="1" advAuto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An ALU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An ALU</a:t>
            </a:r>
          </a:p>
        </p:txBody>
      </p:sp>
      <p:sp>
        <p:nvSpPr>
          <p:cNvPr id="18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25</a:t>
            </a:fld>
            <a:endParaRPr/>
          </a:p>
        </p:txBody>
      </p:sp>
      <p:sp>
        <p:nvSpPr>
          <p:cNvPr id="190" name="Rectangle"/>
          <p:cNvSpPr/>
          <p:nvPr/>
        </p:nvSpPr>
        <p:spPr>
          <a:xfrm>
            <a:off x="568076" y="2838450"/>
            <a:ext cx="6828782" cy="5904707"/>
          </a:xfrm>
          <a:prstGeom prst="rect">
            <a:avLst/>
          </a:prstGeom>
          <a:solidFill>
            <a:srgbClr val="E9E6BF"/>
          </a:solidFill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" name="Line"/>
          <p:cNvSpPr/>
          <p:nvPr/>
        </p:nvSpPr>
        <p:spPr>
          <a:xfrm flipV="1">
            <a:off x="2582272" y="2427889"/>
            <a:ext cx="1" cy="91002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" name="Line"/>
          <p:cNvSpPr/>
          <p:nvPr/>
        </p:nvSpPr>
        <p:spPr>
          <a:xfrm>
            <a:off x="1212987" y="3350610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" name="Line"/>
          <p:cNvSpPr/>
          <p:nvPr/>
        </p:nvSpPr>
        <p:spPr>
          <a:xfrm flipH="1">
            <a:off x="12129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" name="Line"/>
          <p:cNvSpPr/>
          <p:nvPr/>
        </p:nvSpPr>
        <p:spPr>
          <a:xfrm flipH="1">
            <a:off x="32830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" name="Line"/>
          <p:cNvSpPr/>
          <p:nvPr/>
        </p:nvSpPr>
        <p:spPr>
          <a:xfrm flipH="1">
            <a:off x="5518287" y="3350610"/>
            <a:ext cx="1" cy="2330669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" name="Line"/>
          <p:cNvSpPr/>
          <p:nvPr/>
        </p:nvSpPr>
        <p:spPr>
          <a:xfrm>
            <a:off x="1699479" y="3587838"/>
            <a:ext cx="431113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" name="Line"/>
          <p:cNvSpPr/>
          <p:nvPr/>
        </p:nvSpPr>
        <p:spPr>
          <a:xfrm>
            <a:off x="1699479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" name="Line"/>
          <p:cNvSpPr/>
          <p:nvPr/>
        </p:nvSpPr>
        <p:spPr>
          <a:xfrm>
            <a:off x="3855045" y="3587838"/>
            <a:ext cx="1" cy="74591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" name="Line"/>
          <p:cNvSpPr/>
          <p:nvPr/>
        </p:nvSpPr>
        <p:spPr>
          <a:xfrm flipH="1">
            <a:off x="6010611" y="3562438"/>
            <a:ext cx="1" cy="2115774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" name="32'd1"/>
          <p:cNvSpPr txBox="1"/>
          <p:nvPr/>
        </p:nvSpPr>
        <p:spPr>
          <a:xfrm>
            <a:off x="1847931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1" name="Line"/>
          <p:cNvSpPr/>
          <p:nvPr/>
        </p:nvSpPr>
        <p:spPr>
          <a:xfrm>
            <a:off x="218597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" name="32'd1"/>
          <p:cNvSpPr txBox="1"/>
          <p:nvPr/>
        </p:nvSpPr>
        <p:spPr>
          <a:xfrm>
            <a:off x="3862422" y="3619588"/>
            <a:ext cx="800213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32'd1</a:t>
            </a:r>
          </a:p>
        </p:txBody>
      </p:sp>
      <p:sp>
        <p:nvSpPr>
          <p:cNvPr id="203" name="Line"/>
          <p:cNvSpPr/>
          <p:nvPr/>
        </p:nvSpPr>
        <p:spPr>
          <a:xfrm>
            <a:off x="4200461" y="3996121"/>
            <a:ext cx="1" cy="337632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06" name="Group"/>
          <p:cNvGrpSpPr/>
          <p:nvPr/>
        </p:nvGrpSpPr>
        <p:grpSpPr>
          <a:xfrm>
            <a:off x="1386080" y="4253558"/>
            <a:ext cx="1120232" cy="643707"/>
            <a:chOff x="0" y="-12700"/>
            <a:chExt cx="1120230" cy="643706"/>
          </a:xfrm>
        </p:grpSpPr>
        <p:sp>
          <p:nvSpPr>
            <p:cNvPr id="204" name="Shape"/>
            <p:cNvSpPr/>
            <p:nvPr/>
          </p:nvSpPr>
          <p:spPr>
            <a:xfrm rot="5400000">
              <a:off x="278358" y="-21086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05" name="0    1"/>
            <p:cNvSpPr txBox="1"/>
            <p:nvPr/>
          </p:nvSpPr>
          <p:spPr>
            <a:xfrm>
              <a:off x="165160" y="-12701"/>
              <a:ext cx="792064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0    1</a:t>
              </a:r>
            </a:p>
          </p:txBody>
        </p:sp>
      </p:grpSp>
      <p:sp>
        <p:nvSpPr>
          <p:cNvPr id="207" name="Line"/>
          <p:cNvSpPr/>
          <p:nvPr/>
        </p:nvSpPr>
        <p:spPr>
          <a:xfrm>
            <a:off x="1577156" y="6551317"/>
            <a:ext cx="1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" name="Line"/>
          <p:cNvSpPr/>
          <p:nvPr/>
        </p:nvSpPr>
        <p:spPr>
          <a:xfrm flipH="1">
            <a:off x="1577156" y="7008517"/>
            <a:ext cx="1691843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" name="Line"/>
          <p:cNvSpPr/>
          <p:nvPr/>
        </p:nvSpPr>
        <p:spPr>
          <a:xfrm>
            <a:off x="32689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" name="Line"/>
          <p:cNvSpPr/>
          <p:nvPr/>
        </p:nvSpPr>
        <p:spPr>
          <a:xfrm>
            <a:off x="5740400" y="6551317"/>
            <a:ext cx="0" cy="45720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" name="Line"/>
          <p:cNvSpPr/>
          <p:nvPr/>
        </p:nvSpPr>
        <p:spPr>
          <a:xfrm flipH="1">
            <a:off x="4472756" y="7008517"/>
            <a:ext cx="1274552" cy="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" name="Line"/>
          <p:cNvSpPr/>
          <p:nvPr/>
        </p:nvSpPr>
        <p:spPr>
          <a:xfrm>
            <a:off x="4475498" y="7008517"/>
            <a:ext cx="1" cy="337631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" name="Line"/>
          <p:cNvSpPr/>
          <p:nvPr/>
        </p:nvSpPr>
        <p:spPr>
          <a:xfrm>
            <a:off x="3855045" y="6551317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" name="Line"/>
          <p:cNvSpPr/>
          <p:nvPr/>
        </p:nvSpPr>
        <p:spPr>
          <a:xfrm>
            <a:off x="4041766" y="4909964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" name="Line"/>
          <p:cNvSpPr/>
          <p:nvPr/>
        </p:nvSpPr>
        <p:spPr>
          <a:xfrm>
            <a:off x="1884919" y="4894965"/>
            <a:ext cx="1" cy="806426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" name="Line"/>
          <p:cNvSpPr/>
          <p:nvPr/>
        </p:nvSpPr>
        <p:spPr>
          <a:xfrm flipV="1">
            <a:off x="4919072" y="2440589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" name="Line"/>
          <p:cNvSpPr/>
          <p:nvPr/>
        </p:nvSpPr>
        <p:spPr>
          <a:xfrm flipH="1" flipV="1">
            <a:off x="2353013" y="4645724"/>
            <a:ext cx="4457195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" name="Line"/>
          <p:cNvSpPr/>
          <p:nvPr/>
        </p:nvSpPr>
        <p:spPr>
          <a:xfrm flipV="1">
            <a:off x="6813395" y="4645725"/>
            <a:ext cx="1" cy="2955729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" name="Line"/>
          <p:cNvSpPr/>
          <p:nvPr/>
        </p:nvSpPr>
        <p:spPr>
          <a:xfrm flipH="1">
            <a:off x="4584798" y="7593569"/>
            <a:ext cx="223085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22" name="Group"/>
          <p:cNvGrpSpPr/>
          <p:nvPr/>
        </p:nvGrpSpPr>
        <p:grpSpPr>
          <a:xfrm>
            <a:off x="3506980" y="4259908"/>
            <a:ext cx="1120232" cy="637357"/>
            <a:chOff x="0" y="-12700"/>
            <a:chExt cx="1120230" cy="637356"/>
          </a:xfrm>
        </p:grpSpPr>
        <p:sp>
          <p:nvSpPr>
            <p:cNvPr id="220" name="Shape"/>
            <p:cNvSpPr/>
            <p:nvPr/>
          </p:nvSpPr>
          <p:spPr>
            <a:xfrm rot="5400000">
              <a:off x="278358" y="-217216"/>
              <a:ext cx="563514" cy="1120232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21" name="0   1"/>
            <p:cNvSpPr txBox="1"/>
            <p:nvPr/>
          </p:nvSpPr>
          <p:spPr>
            <a:xfrm>
              <a:off x="181095" y="-12701"/>
              <a:ext cx="707381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0   1</a:t>
              </a:r>
            </a:p>
          </p:txBody>
        </p:sp>
      </p:grpSp>
      <p:sp>
        <p:nvSpPr>
          <p:cNvPr id="223" name="Line"/>
          <p:cNvSpPr/>
          <p:nvPr/>
        </p:nvSpPr>
        <p:spPr>
          <a:xfrm flipH="1">
            <a:off x="6800695" y="5921789"/>
            <a:ext cx="112023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" name="A[31:0]"/>
          <p:cNvSpPr txBox="1"/>
          <p:nvPr/>
        </p:nvSpPr>
        <p:spPr>
          <a:xfrm>
            <a:off x="1134236" y="2127895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A[31:0]</a:t>
            </a:r>
          </a:p>
        </p:txBody>
      </p:sp>
      <p:sp>
        <p:nvSpPr>
          <p:cNvPr id="225" name="B[31:0]"/>
          <p:cNvSpPr txBox="1"/>
          <p:nvPr/>
        </p:nvSpPr>
        <p:spPr>
          <a:xfrm>
            <a:off x="3449778" y="2171700"/>
            <a:ext cx="1501367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B[31:0]</a:t>
            </a:r>
          </a:p>
        </p:txBody>
      </p:sp>
      <p:sp>
        <p:nvSpPr>
          <p:cNvPr id="226" name="F[2:0]"/>
          <p:cNvSpPr txBox="1"/>
          <p:nvPr/>
        </p:nvSpPr>
        <p:spPr>
          <a:xfrm>
            <a:off x="7381799" y="5343939"/>
            <a:ext cx="1303214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F[2:0]</a:t>
            </a:r>
          </a:p>
        </p:txBody>
      </p:sp>
      <p:sp>
        <p:nvSpPr>
          <p:cNvPr id="227" name="F[2:1]"/>
          <p:cNvSpPr txBox="1"/>
          <p:nvPr/>
        </p:nvSpPr>
        <p:spPr>
          <a:xfrm>
            <a:off x="5359004" y="7618969"/>
            <a:ext cx="1303215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F[2:1]</a:t>
            </a:r>
          </a:p>
        </p:txBody>
      </p:sp>
      <p:sp>
        <p:nvSpPr>
          <p:cNvPr id="228" name="F[0]"/>
          <p:cNvSpPr txBox="1"/>
          <p:nvPr/>
        </p:nvSpPr>
        <p:spPr>
          <a:xfrm>
            <a:off x="6172251" y="4125024"/>
            <a:ext cx="906910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F[0]</a:t>
            </a:r>
          </a:p>
        </p:txBody>
      </p:sp>
      <p:sp>
        <p:nvSpPr>
          <p:cNvPr id="229" name="-"/>
          <p:cNvSpPr/>
          <p:nvPr/>
        </p:nvSpPr>
        <p:spPr>
          <a:xfrm>
            <a:off x="2999264" y="5681278"/>
            <a:ext cx="1326098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-</a:t>
            </a:r>
          </a:p>
        </p:txBody>
      </p:sp>
      <p:sp>
        <p:nvSpPr>
          <p:cNvPr id="230" name="+"/>
          <p:cNvSpPr/>
          <p:nvPr/>
        </p:nvSpPr>
        <p:spPr>
          <a:xfrm>
            <a:off x="914107" y="5681278"/>
            <a:ext cx="1326099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+</a:t>
            </a:r>
          </a:p>
        </p:txBody>
      </p:sp>
      <p:sp>
        <p:nvSpPr>
          <p:cNvPr id="231" name="*"/>
          <p:cNvSpPr/>
          <p:nvPr/>
        </p:nvSpPr>
        <p:spPr>
          <a:xfrm>
            <a:off x="5270083" y="5681278"/>
            <a:ext cx="940634" cy="884622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*</a:t>
            </a:r>
          </a:p>
        </p:txBody>
      </p:sp>
      <p:sp>
        <p:nvSpPr>
          <p:cNvPr id="232" name="Line"/>
          <p:cNvSpPr/>
          <p:nvPr/>
        </p:nvSpPr>
        <p:spPr>
          <a:xfrm flipV="1">
            <a:off x="3852388" y="7913426"/>
            <a:ext cx="1" cy="1134023"/>
          </a:xfrm>
          <a:prstGeom prst="line">
            <a:avLst/>
          </a:prstGeom>
          <a:ln w="635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235" name="Group"/>
          <p:cNvGrpSpPr/>
          <p:nvPr/>
        </p:nvGrpSpPr>
        <p:grpSpPr>
          <a:xfrm>
            <a:off x="2692347" y="7324513"/>
            <a:ext cx="2320083" cy="588914"/>
            <a:chOff x="0" y="-12700"/>
            <a:chExt cx="2320082" cy="588913"/>
          </a:xfrm>
        </p:grpSpPr>
        <p:sp>
          <p:nvSpPr>
            <p:cNvPr id="233" name="Shape"/>
            <p:cNvSpPr/>
            <p:nvPr/>
          </p:nvSpPr>
          <p:spPr>
            <a:xfrm rot="5400000">
              <a:off x="878284" y="-865585"/>
              <a:ext cx="563514" cy="232008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0" y="0"/>
                  </a:moveTo>
                  <a:lnTo>
                    <a:pt x="0" y="21600"/>
                  </a:lnTo>
                  <a:lnTo>
                    <a:pt x="21600" y="17302"/>
                  </a:lnTo>
                  <a:lnTo>
                    <a:pt x="21600" y="56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1300" b="1"/>
              </a:pPr>
              <a:endParaRPr/>
            </a:p>
          </p:txBody>
        </p:sp>
        <p:sp>
          <p:nvSpPr>
            <p:cNvPr id="234" name="00    01    10"/>
            <p:cNvSpPr txBox="1"/>
            <p:nvPr/>
          </p:nvSpPr>
          <p:spPr>
            <a:xfrm>
              <a:off x="258269" y="-12701"/>
              <a:ext cx="1808858" cy="4699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400"/>
              </a:lvl1pPr>
            </a:lstStyle>
            <a:p>
              <a:r>
                <a:t>00    01    10</a:t>
              </a:r>
            </a:p>
          </p:txBody>
        </p:sp>
      </p:grpSp>
      <p:sp>
        <p:nvSpPr>
          <p:cNvPr id="236" name="R[31:0]"/>
          <p:cNvSpPr txBox="1"/>
          <p:nvPr/>
        </p:nvSpPr>
        <p:spPr>
          <a:xfrm>
            <a:off x="2416936" y="8872349"/>
            <a:ext cx="1501366" cy="495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6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R[31:0]</a:t>
            </a:r>
          </a:p>
        </p:txBody>
      </p:sp>
      <p:graphicFrame>
        <p:nvGraphicFramePr>
          <p:cNvPr id="237" name="Table 1"/>
          <p:cNvGraphicFramePr/>
          <p:nvPr/>
        </p:nvGraphicFramePr>
        <p:xfrm>
          <a:off x="9368454" y="956592"/>
          <a:ext cx="3255196" cy="2925510"/>
        </p:xfrm>
        <a:graphic>
          <a:graphicData uri="http://schemas.openxmlformats.org/drawingml/2006/table">
            <a:tbl>
              <a:tblPr firstRow="1">
                <a:tableStyleId>{4A9BC294-FFE2-49D5-8D69-9E1BD2C41BD5}</a:tableStyleId>
              </a:tblPr>
              <a:tblGrid>
                <a:gridCol w="16275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275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585"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F[2:0]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tabLst>
                          <a:tab pos="1181100" algn="l"/>
                        </a:tabLst>
                        <a:defRPr sz="2400" b="0">
                          <a:sym typeface="Helvetica Neue"/>
                        </a:defRPr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R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{0,0,1}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+ 1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{0,1,0}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{0,1,1}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- 1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87585"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{1,0,X}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4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A * B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240" name="Group"/>
          <p:cNvGrpSpPr/>
          <p:nvPr/>
        </p:nvGrpSpPr>
        <p:grpSpPr>
          <a:xfrm>
            <a:off x="5944874" y="6341638"/>
            <a:ext cx="2919131" cy="3112482"/>
            <a:chOff x="0" y="0"/>
            <a:chExt cx="2919130" cy="3112481"/>
          </a:xfrm>
        </p:grpSpPr>
        <p:sp>
          <p:nvSpPr>
            <p:cNvPr id="238" name="module mul16 (a, b, out);…"/>
            <p:cNvSpPr/>
            <p:nvPr/>
          </p:nvSpPr>
          <p:spPr>
            <a:xfrm>
              <a:off x="1649129" y="1842481"/>
              <a:ext cx="1270001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3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module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mul16 (a, b, out);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[15:0] a, b;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out;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assign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out = a * b;</a:t>
              </a:r>
            </a:p>
            <a:p>
              <a:pPr algn="l">
                <a:defRPr sz="13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endmodule</a:t>
              </a:r>
            </a:p>
          </p:txBody>
        </p:sp>
        <p:sp>
          <p:nvSpPr>
            <p:cNvPr id="239" name="Line"/>
            <p:cNvSpPr/>
            <p:nvPr/>
          </p:nvSpPr>
          <p:spPr>
            <a:xfrm flipH="1" flipV="1">
              <a:off x="-1" y="-1"/>
              <a:ext cx="1738627" cy="1360114"/>
            </a:xfrm>
            <a:prstGeom prst="line">
              <a:avLst/>
            </a:prstGeom>
            <a:noFill/>
            <a:ln w="88900" cap="flat">
              <a:solidFill>
                <a:schemeClr val="accent3"/>
              </a:solidFill>
              <a:prstDash val="solid"/>
              <a:miter lim="400000"/>
              <a:tailEnd type="arrow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243" name="Group"/>
          <p:cNvGrpSpPr/>
          <p:nvPr/>
        </p:nvGrpSpPr>
        <p:grpSpPr>
          <a:xfrm>
            <a:off x="3495898" y="6334880"/>
            <a:ext cx="2169363" cy="3823635"/>
            <a:chOff x="0" y="0"/>
            <a:chExt cx="2169362" cy="3823634"/>
          </a:xfrm>
        </p:grpSpPr>
        <p:sp>
          <p:nvSpPr>
            <p:cNvPr id="241" name="module sub32 (a, b, out);…"/>
            <p:cNvSpPr/>
            <p:nvPr/>
          </p:nvSpPr>
          <p:spPr>
            <a:xfrm>
              <a:off x="899362" y="2553634"/>
              <a:ext cx="1270001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3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module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sub32 (a, b, out);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a, b;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out;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assign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out = a - b;</a:t>
              </a:r>
            </a:p>
            <a:p>
              <a:pPr algn="l">
                <a:defRPr sz="13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endmodule</a:t>
              </a:r>
            </a:p>
          </p:txBody>
        </p:sp>
        <p:sp>
          <p:nvSpPr>
            <p:cNvPr id="242" name="Line"/>
            <p:cNvSpPr/>
            <p:nvPr/>
          </p:nvSpPr>
          <p:spPr>
            <a:xfrm flipH="1" flipV="1">
              <a:off x="0" y="0"/>
              <a:ext cx="1092315" cy="2032121"/>
            </a:xfrm>
            <a:prstGeom prst="line">
              <a:avLst/>
            </a:prstGeom>
            <a:noFill/>
            <a:ln w="88900" cap="flat">
              <a:solidFill>
                <a:schemeClr val="accent3"/>
              </a:solidFill>
              <a:prstDash val="solid"/>
              <a:miter lim="400000"/>
              <a:tailEnd type="arrow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246" name="Group"/>
          <p:cNvGrpSpPr/>
          <p:nvPr/>
        </p:nvGrpSpPr>
        <p:grpSpPr>
          <a:xfrm>
            <a:off x="232016" y="6414550"/>
            <a:ext cx="1935086" cy="2878641"/>
            <a:chOff x="0" y="0"/>
            <a:chExt cx="1935084" cy="2878639"/>
          </a:xfrm>
        </p:grpSpPr>
        <p:sp>
          <p:nvSpPr>
            <p:cNvPr id="244" name="module add32 (a, b, out);…"/>
            <p:cNvSpPr/>
            <p:nvPr/>
          </p:nvSpPr>
          <p:spPr>
            <a:xfrm>
              <a:off x="0" y="1608639"/>
              <a:ext cx="1270000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3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module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add32 (a, b, out);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a, b;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out;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assign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out = a + b;</a:t>
              </a:r>
            </a:p>
            <a:p>
              <a:pPr algn="l">
                <a:defRPr sz="13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endmodule</a:t>
              </a:r>
            </a:p>
          </p:txBody>
        </p:sp>
        <p:sp>
          <p:nvSpPr>
            <p:cNvPr id="245" name="Line"/>
            <p:cNvSpPr/>
            <p:nvPr/>
          </p:nvSpPr>
          <p:spPr>
            <a:xfrm flipH="1" flipV="1">
              <a:off x="1558812" y="-1"/>
              <a:ext cx="376273" cy="1177111"/>
            </a:xfrm>
            <a:prstGeom prst="line">
              <a:avLst/>
            </a:prstGeom>
            <a:noFill/>
            <a:ln w="88900" cap="flat">
              <a:solidFill>
                <a:schemeClr val="accent3"/>
              </a:solidFill>
              <a:prstDash val="solid"/>
              <a:miter lim="400000"/>
              <a:tailEnd type="arrow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249" name="Group"/>
          <p:cNvGrpSpPr/>
          <p:nvPr/>
        </p:nvGrpSpPr>
        <p:grpSpPr>
          <a:xfrm>
            <a:off x="4766150" y="5701106"/>
            <a:ext cx="5322704" cy="1717569"/>
            <a:chOff x="0" y="1574800"/>
            <a:chExt cx="5322702" cy="1717568"/>
          </a:xfrm>
        </p:grpSpPr>
        <p:sp>
          <p:nvSpPr>
            <p:cNvPr id="247" name="module mux32three (a, b, c, sel, out);…"/>
            <p:cNvSpPr/>
            <p:nvPr/>
          </p:nvSpPr>
          <p:spPr>
            <a:xfrm>
              <a:off x="4052703" y="1574800"/>
              <a:ext cx="1270001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3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module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mux32three (a, b, c, sel, out);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[1:0] sel;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a, b, c;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out;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reg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out;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@*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begin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case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(sel)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  2'b00: out = a;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  2'b01: out = b;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  2'b10: out = c;</a:t>
              </a:r>
              <a:b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</a:b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default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: out = 32'bX;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endcase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</a:t>
              </a:r>
              <a:endPara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endParaRPr>
            </a:p>
            <a:p>
              <a:pPr algn="l">
                <a:defRPr sz="13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endmodule</a:t>
              </a:r>
            </a:p>
          </p:txBody>
        </p:sp>
        <p:sp>
          <p:nvSpPr>
            <p:cNvPr id="248" name="Line"/>
            <p:cNvSpPr/>
            <p:nvPr/>
          </p:nvSpPr>
          <p:spPr>
            <a:xfrm flipH="1">
              <a:off x="0" y="2580427"/>
              <a:ext cx="4107055" cy="711942"/>
            </a:xfrm>
            <a:prstGeom prst="line">
              <a:avLst/>
            </a:prstGeom>
            <a:noFill/>
            <a:ln w="88900" cap="flat">
              <a:solidFill>
                <a:schemeClr val="accent3"/>
              </a:solidFill>
              <a:prstDash val="solid"/>
              <a:miter lim="400000"/>
              <a:tailEnd type="arrow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252" name="Group"/>
          <p:cNvGrpSpPr/>
          <p:nvPr/>
        </p:nvGrpSpPr>
        <p:grpSpPr>
          <a:xfrm>
            <a:off x="6964337" y="1902810"/>
            <a:ext cx="2770291" cy="1404274"/>
            <a:chOff x="0" y="1270000"/>
            <a:chExt cx="2770289" cy="1404272"/>
          </a:xfrm>
        </p:grpSpPr>
        <p:sp>
          <p:nvSpPr>
            <p:cNvPr id="250" name="module alu (A, B, F, R);…"/>
            <p:cNvSpPr/>
            <p:nvPr/>
          </p:nvSpPr>
          <p:spPr>
            <a:xfrm>
              <a:off x="1500289" y="1270000"/>
              <a:ext cx="1270001" cy="1270000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3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module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alu (A, B, F, R);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A, B;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[2:0] F;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R;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wire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[31:0] w1,w2,w3,w4,w5;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mux32two add_mux (B, 32'd1, F[0], w1);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mux32two sub_mux (B, 32'd1, F[0], w2);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add32 (A, w1, w3);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sub32 (A, w2, w4);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mul16 (A[15:0], B[15:0], w5);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mux32three (w3, w4, w5, F[2:1], R);</a:t>
              </a:r>
            </a:p>
            <a:p>
              <a:pPr algn="l">
                <a:defRPr sz="13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endmodule</a:t>
              </a:r>
            </a:p>
          </p:txBody>
        </p:sp>
        <p:sp>
          <p:nvSpPr>
            <p:cNvPr id="251" name="Line"/>
            <p:cNvSpPr/>
            <p:nvPr/>
          </p:nvSpPr>
          <p:spPr>
            <a:xfrm flipH="1">
              <a:off x="-1" y="1975412"/>
              <a:ext cx="1669245" cy="698861"/>
            </a:xfrm>
            <a:prstGeom prst="line">
              <a:avLst/>
            </a:prstGeom>
            <a:noFill/>
            <a:ln w="88900" cap="flat">
              <a:solidFill>
                <a:schemeClr val="accent3"/>
              </a:solidFill>
              <a:prstDash val="solid"/>
              <a:miter lim="400000"/>
              <a:tailEnd type="arrow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255" name="Group"/>
          <p:cNvGrpSpPr/>
          <p:nvPr/>
        </p:nvGrpSpPr>
        <p:grpSpPr>
          <a:xfrm>
            <a:off x="334620" y="1262017"/>
            <a:ext cx="1270001" cy="3196257"/>
            <a:chOff x="0" y="660399"/>
            <a:chExt cx="1270000" cy="3196255"/>
          </a:xfrm>
        </p:grpSpPr>
        <p:sp>
          <p:nvSpPr>
            <p:cNvPr id="253" name="module mux32two (a, b, sel, out);…"/>
            <p:cNvSpPr/>
            <p:nvPr/>
          </p:nvSpPr>
          <p:spPr>
            <a:xfrm>
              <a:off x="0" y="660399"/>
              <a:ext cx="1270000" cy="1270001"/>
            </a:xfrm>
            <a:prstGeom prst="line">
              <a:avLst/>
            </a:prstGeom>
            <a:solidFill>
              <a:srgbClr val="E9E6BF"/>
            </a:solidFill>
            <a:ln w="12700" cap="flat">
              <a:noFill/>
              <a:miter lim="400000"/>
            </a:ln>
            <a:effectLst>
              <a:outerShdw blurRad="63500" dist="25400" dir="5400000" rotWithShape="0">
                <a:srgbClr val="000000">
                  <a:alpha val="50000"/>
                </a:srgbClr>
              </a:outerShdw>
            </a:effectLst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pPr algn="l">
                <a:defRPr sz="1300"/>
              </a:pP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module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mux32two (a, b, sel, out);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sel;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a, b;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output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[31:0] out;</a:t>
              </a:r>
            </a:p>
            <a:p>
              <a:pPr algn="l">
                <a:defRPr sz="1300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 </a:t>
              </a:r>
              <a:r>
                <a:rPr b="1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assign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 out = sel ? b : a;</a:t>
              </a:r>
            </a:p>
            <a:p>
              <a:pPr algn="l">
                <a:defRPr sz="1300" b="1"/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endmodule</a:t>
              </a:r>
            </a:p>
          </p:txBody>
        </p:sp>
        <p:sp>
          <p:nvSpPr>
            <p:cNvPr id="254" name="Line"/>
            <p:cNvSpPr/>
            <p:nvPr/>
          </p:nvSpPr>
          <p:spPr>
            <a:xfrm>
              <a:off x="549550" y="1246247"/>
              <a:ext cx="631789" cy="2610409"/>
            </a:xfrm>
            <a:prstGeom prst="line">
              <a:avLst/>
            </a:prstGeom>
            <a:noFill/>
            <a:ln w="88900" cap="flat">
              <a:solidFill>
                <a:schemeClr val="accent3"/>
              </a:solidFill>
              <a:prstDash val="solid"/>
              <a:miter lim="400000"/>
              <a:tailEnd type="arrow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56" name="w1"/>
          <p:cNvSpPr txBox="1"/>
          <p:nvPr/>
        </p:nvSpPr>
        <p:spPr>
          <a:xfrm>
            <a:off x="1881732" y="5092421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w1</a:t>
            </a:r>
          </a:p>
        </p:txBody>
      </p:sp>
      <p:sp>
        <p:nvSpPr>
          <p:cNvPr id="257" name="w2"/>
          <p:cNvSpPr txBox="1"/>
          <p:nvPr/>
        </p:nvSpPr>
        <p:spPr>
          <a:xfrm>
            <a:off x="4067095" y="5092421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w2</a:t>
            </a:r>
          </a:p>
        </p:txBody>
      </p:sp>
      <p:sp>
        <p:nvSpPr>
          <p:cNvPr id="258" name="w3"/>
          <p:cNvSpPr txBox="1"/>
          <p:nvPr/>
        </p:nvSpPr>
        <p:spPr>
          <a:xfrm>
            <a:off x="2359247" y="65894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w3</a:t>
            </a:r>
          </a:p>
        </p:txBody>
      </p:sp>
      <p:sp>
        <p:nvSpPr>
          <p:cNvPr id="259" name="w4"/>
          <p:cNvSpPr txBox="1"/>
          <p:nvPr/>
        </p:nvSpPr>
        <p:spPr>
          <a:xfrm>
            <a:off x="3906747" y="6551317"/>
            <a:ext cx="388666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w4</a:t>
            </a:r>
          </a:p>
        </p:txBody>
      </p:sp>
      <p:sp>
        <p:nvSpPr>
          <p:cNvPr id="260" name="w5"/>
          <p:cNvSpPr txBox="1"/>
          <p:nvPr/>
        </p:nvSpPr>
        <p:spPr>
          <a:xfrm>
            <a:off x="4925811" y="6631074"/>
            <a:ext cx="388665" cy="381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18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w5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6" fill="hold"/>
                                        <p:tgtEl>
                                          <p:spTgt spid="2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0" grpId="5" animBg="1" advAuto="0"/>
      <p:bldP spid="243" grpId="4" animBg="1" advAuto="0"/>
      <p:bldP spid="246" grpId="3" animBg="1" advAuto="0"/>
      <p:bldP spid="249" grpId="2" animBg="1" advAuto="0"/>
      <p:bldP spid="252" grpId="6" animBg="1" advAuto="0"/>
      <p:bldP spid="255" grpId="1" animBg="1" advAuto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Clocked circuit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Clocked circuits</a:t>
            </a:r>
          </a:p>
        </p:txBody>
      </p:sp>
      <p:sp>
        <p:nvSpPr>
          <p:cNvPr id="2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26</a:t>
            </a:fld>
            <a:endParaRPr/>
          </a:p>
        </p:txBody>
      </p:sp>
    </p:spTree>
  </p:cSld>
  <p:clrMapOvr>
    <a:masterClrMapping/>
  </p:clrMapOvr>
  <p:transition spd="med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equential logic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Sequential logic</a:t>
            </a:r>
          </a:p>
        </p:txBody>
      </p:sp>
      <p:sp>
        <p:nvSpPr>
          <p:cNvPr id="26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27</a:t>
            </a:fld>
            <a:endParaRPr/>
          </a:p>
        </p:txBody>
      </p:sp>
      <p:sp>
        <p:nvSpPr>
          <p:cNvPr id="267" name="module comb (a, b, sel, out);…"/>
          <p:cNvSpPr txBox="1"/>
          <p:nvPr/>
        </p:nvSpPr>
        <p:spPr>
          <a:xfrm>
            <a:off x="925416" y="2620329"/>
            <a:ext cx="5197668" cy="40132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comb (a, b, sel, out);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a, b;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sel;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(a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b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sel)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(sel) out = a;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pic>
        <p:nvPicPr>
          <p:cNvPr id="268" name="Image" descr="Image"/>
          <p:cNvPicPr>
            <a:picLocks noChangeAspect="1"/>
          </p:cNvPicPr>
          <p:nvPr/>
        </p:nvPicPr>
        <p:blipFill>
          <a:blip r:embed="rId2"/>
          <a:srcRect l="57416" t="68918" r="4988"/>
          <a:stretch>
            <a:fillRect/>
          </a:stretch>
        </p:blipFill>
        <p:spPr>
          <a:xfrm>
            <a:off x="2424841" y="6701470"/>
            <a:ext cx="2373994" cy="2158961"/>
          </a:xfrm>
          <a:prstGeom prst="rect">
            <a:avLst/>
          </a:prstGeom>
          <a:ln w="12700">
            <a:miter lim="400000"/>
          </a:ln>
        </p:spPr>
      </p:pic>
      <p:sp>
        <p:nvSpPr>
          <p:cNvPr id="269" name="module seq (a, b, sel, clk, out);…"/>
          <p:cNvSpPr txBox="1"/>
          <p:nvPr/>
        </p:nvSpPr>
        <p:spPr>
          <a:xfrm>
            <a:off x="6881716" y="2620329"/>
            <a:ext cx="5898822" cy="40132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seq (a, b, sel, clk, out);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a, b;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sel,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(sel) out = a;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 = b;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pic>
        <p:nvPicPr>
          <p:cNvPr id="270" name="Image" descr="Image"/>
          <p:cNvPicPr>
            <a:picLocks noChangeAspect="1"/>
          </p:cNvPicPr>
          <p:nvPr/>
        </p:nvPicPr>
        <p:blipFill>
          <a:blip r:embed="rId3"/>
          <a:srcRect l="36350" t="66809"/>
          <a:stretch>
            <a:fillRect/>
          </a:stretch>
        </p:blipFill>
        <p:spPr>
          <a:xfrm>
            <a:off x="7764462" y="6701469"/>
            <a:ext cx="3432374" cy="2159186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7" grpId="1" animBg="1" advAuto="0"/>
      <p:bldP spid="268" grpId="2" animBg="1" advAuto="0"/>
      <p:bldP spid="269" grpId="3" animBg="1" advAuto="0"/>
      <p:bldP spid="270" grpId="4" animBg="1" advAuto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Flip flop vs latch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Flip flop vs latch</a:t>
            </a:r>
          </a:p>
        </p:txBody>
      </p:sp>
      <p:sp>
        <p:nvSpPr>
          <p:cNvPr id="273" name="Latch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Latch:</a:t>
            </a:r>
            <a:br/>
            <a:br/>
            <a:br/>
            <a:br/>
            <a:br/>
            <a:endParaRPr/>
          </a:p>
          <a:p>
            <a:r>
              <a:t>Flip flop:</a:t>
            </a:r>
          </a:p>
        </p:txBody>
      </p:sp>
      <p:sp>
        <p:nvSpPr>
          <p:cNvPr id="27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28</a:t>
            </a:fld>
            <a:endParaRPr/>
          </a:p>
        </p:txBody>
      </p:sp>
      <p:grpSp>
        <p:nvGrpSpPr>
          <p:cNvPr id="277" name="Group"/>
          <p:cNvGrpSpPr/>
          <p:nvPr/>
        </p:nvGrpSpPr>
        <p:grpSpPr>
          <a:xfrm>
            <a:off x="1891604" y="3555998"/>
            <a:ext cx="7397744" cy="584202"/>
            <a:chOff x="-2473" y="-6351"/>
            <a:chExt cx="7397742" cy="584201"/>
          </a:xfrm>
        </p:grpSpPr>
        <p:sp>
          <p:nvSpPr>
            <p:cNvPr id="275" name="D"/>
            <p:cNvSpPr txBox="1"/>
            <p:nvPr/>
          </p:nvSpPr>
          <p:spPr>
            <a:xfrm>
              <a:off x="-2473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graphicFrame>
          <p:nvGraphicFramePr>
            <p:cNvPr id="276" name="Table 1"/>
            <p:cNvGraphicFramePr/>
            <p:nvPr/>
          </p:nvGraphicFramePr>
          <p:xfrm>
            <a:off x="836422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0" name="Group"/>
          <p:cNvGrpSpPr/>
          <p:nvPr/>
        </p:nvGrpSpPr>
        <p:grpSpPr>
          <a:xfrm>
            <a:off x="1880293" y="4870448"/>
            <a:ext cx="7409055" cy="584202"/>
            <a:chOff x="-7485" y="-6351"/>
            <a:chExt cx="7409053" cy="584201"/>
          </a:xfrm>
        </p:grpSpPr>
        <p:sp>
          <p:nvSpPr>
            <p:cNvPr id="278" name="Q"/>
            <p:cNvSpPr txBox="1"/>
            <p:nvPr/>
          </p:nvSpPr>
          <p:spPr>
            <a:xfrm>
              <a:off x="-7485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graphicFrame>
          <p:nvGraphicFramePr>
            <p:cNvPr id="279" name="Table 1-1"/>
            <p:cNvGraphicFramePr/>
            <p:nvPr/>
          </p:nvGraphicFramePr>
          <p:xfrm>
            <a:off x="842721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3" name="Group"/>
          <p:cNvGrpSpPr/>
          <p:nvPr/>
        </p:nvGrpSpPr>
        <p:grpSpPr>
          <a:xfrm>
            <a:off x="1880293" y="4216398"/>
            <a:ext cx="7409055" cy="584202"/>
            <a:chOff x="-12362" y="-6351"/>
            <a:chExt cx="7409053" cy="584201"/>
          </a:xfrm>
        </p:grpSpPr>
        <p:sp>
          <p:nvSpPr>
            <p:cNvPr id="281" name="G"/>
            <p:cNvSpPr txBox="1"/>
            <p:nvPr/>
          </p:nvSpPr>
          <p:spPr>
            <a:xfrm>
              <a:off x="-12362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G</a:t>
              </a:r>
            </a:p>
          </p:txBody>
        </p:sp>
        <p:graphicFrame>
          <p:nvGraphicFramePr>
            <p:cNvPr id="282" name="Table 1-2"/>
            <p:cNvGraphicFramePr/>
            <p:nvPr/>
          </p:nvGraphicFramePr>
          <p:xfrm>
            <a:off x="837844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T>
                      <a:lnB w="0">
                        <a:miter lim="400000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6" name="Group"/>
          <p:cNvGrpSpPr/>
          <p:nvPr/>
        </p:nvGrpSpPr>
        <p:grpSpPr>
          <a:xfrm>
            <a:off x="1878904" y="6908798"/>
            <a:ext cx="7397744" cy="584202"/>
            <a:chOff x="-2473" y="-6351"/>
            <a:chExt cx="7397742" cy="584201"/>
          </a:xfrm>
        </p:grpSpPr>
        <p:sp>
          <p:nvSpPr>
            <p:cNvPr id="284" name="D"/>
            <p:cNvSpPr txBox="1"/>
            <p:nvPr/>
          </p:nvSpPr>
          <p:spPr>
            <a:xfrm>
              <a:off x="-2473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graphicFrame>
          <p:nvGraphicFramePr>
            <p:cNvPr id="285" name="Table 1-3"/>
            <p:cNvGraphicFramePr/>
            <p:nvPr/>
          </p:nvGraphicFramePr>
          <p:xfrm>
            <a:off x="836422" y="57149"/>
            <a:ext cx="6558847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596259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596259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89" name="Group"/>
          <p:cNvGrpSpPr/>
          <p:nvPr/>
        </p:nvGrpSpPr>
        <p:grpSpPr>
          <a:xfrm>
            <a:off x="1777304" y="7569198"/>
            <a:ext cx="7499334" cy="584202"/>
            <a:chOff x="-7756" y="-6351"/>
            <a:chExt cx="7499333" cy="584201"/>
          </a:xfrm>
        </p:grpSpPr>
        <p:sp>
          <p:nvSpPr>
            <p:cNvPr id="287" name="clk"/>
            <p:cNvSpPr txBox="1"/>
            <p:nvPr/>
          </p:nvSpPr>
          <p:spPr>
            <a:xfrm>
              <a:off x="-7756" y="-6351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graphicFrame>
          <p:nvGraphicFramePr>
            <p:cNvPr id="288" name="Table 1-2-1"/>
            <p:cNvGraphicFramePr/>
            <p:nvPr/>
          </p:nvGraphicFramePr>
          <p:xfrm>
            <a:off x="932738" y="57149"/>
            <a:ext cx="6558839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36438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38100">
                        <a:solidFill>
                          <a:schemeClr val="accent5">
                            <a:hueOff val="-82419"/>
                            <a:satOff val="-9513"/>
                            <a:lumOff val="-16343"/>
                          </a:schemeClr>
                        </a:solidFill>
                        <a:miter lim="400000"/>
                      </a:lnL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92" name="Group"/>
          <p:cNvGrpSpPr/>
          <p:nvPr/>
        </p:nvGrpSpPr>
        <p:grpSpPr>
          <a:xfrm>
            <a:off x="1867593" y="8223248"/>
            <a:ext cx="7485246" cy="584202"/>
            <a:chOff x="-7485" y="-6351"/>
            <a:chExt cx="7485244" cy="584201"/>
          </a:xfrm>
        </p:grpSpPr>
        <p:sp>
          <p:nvSpPr>
            <p:cNvPr id="290" name="Q"/>
            <p:cNvSpPr txBox="1"/>
            <p:nvPr/>
          </p:nvSpPr>
          <p:spPr>
            <a:xfrm>
              <a:off x="-7485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graphicFrame>
          <p:nvGraphicFramePr>
            <p:cNvPr id="291" name="Table 1-2-1-1"/>
            <p:cNvGraphicFramePr/>
            <p:nvPr/>
          </p:nvGraphicFramePr>
          <p:xfrm>
            <a:off x="918921" y="57149"/>
            <a:ext cx="6558838" cy="457199"/>
          </p:xfrm>
          <a:graphic>
            <a:graphicData uri="http://schemas.openxmlformats.org/drawingml/2006/table">
              <a:tbl>
                <a:tblPr firstCol="1">
                  <a:tableStyleId>{4A9BC294-FFE2-49D5-8D69-9E1BD2C41BD5}</a:tableStyleId>
                </a:tblPr>
                <a:tblGrid>
                  <a:gridCol w="36438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7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8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09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0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1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2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3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4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5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6"/>
                      </a:ext>
                    </a:extLst>
                  </a:gridCol>
                  <a:gridCol w="364380">
                    <a:extLst>
                      <a:ext uri="{9D8B030D-6E8A-4147-A177-3AD203B41FA5}">
                        <a16:colId xmlns:a16="http://schemas.microsoft.com/office/drawing/2014/main" val="20017"/>
                      </a:ext>
                    </a:extLst>
                  </a:gridCol>
                </a:tblGrid>
                <a:tr h="457200">
                  <a:tc>
                    <a:txBody>
                      <a:bodyPr/>
                      <a:lstStyle/>
                      <a:p>
                        <a:pPr defTabSz="914400">
                          <a:tabLst>
                            <a:tab pos="1181100" algn="l"/>
                          </a:tabLst>
                          <a:defRPr sz="2200">
                            <a:sym typeface="Helvetica Neue"/>
                          </a:defRPr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T w="0">
                        <a:miter lim="400000"/>
                      </a:lnT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L w="0">
                        <a:miter lim="400000"/>
                      </a:lnL>
                      <a:lnB w="0">
                        <a:miter lim="400000"/>
                      </a:lnB>
                    </a:tcPr>
                  </a:tc>
                  <a:tc>
                    <a:txBody>
                      <a:bodyPr/>
                      <a:lstStyle/>
                      <a:p>
                        <a:pPr algn="l">
                          <a:spcBef>
                            <a:spcPts val="4200"/>
                          </a:spcBef>
                        </a:pPr>
                        <a:endParaRPr/>
                      </a:p>
                    </a:txBody>
                    <a:tcPr marL="50800" marR="50800" marT="50800" marB="50800" anchor="ctr" horzOverflow="overflow">
                      <a:lnR w="0">
                        <a:miter lim="400000"/>
                      </a:lnR>
                      <a:lnT w="0">
                        <a:miter lim="400000"/>
                      </a:lnT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</a:tbl>
            </a:graphicData>
          </a:graphic>
        </p:graphicFrame>
      </p:grpSp>
      <p:grpSp>
        <p:nvGrpSpPr>
          <p:cNvPr id="297" name="Group"/>
          <p:cNvGrpSpPr/>
          <p:nvPr/>
        </p:nvGrpSpPr>
        <p:grpSpPr>
          <a:xfrm>
            <a:off x="9892605" y="3695699"/>
            <a:ext cx="2082801" cy="1828801"/>
            <a:chOff x="-2472" y="0"/>
            <a:chExt cx="2082799" cy="1828799"/>
          </a:xfrm>
        </p:grpSpPr>
        <p:sp>
          <p:nvSpPr>
            <p:cNvPr id="293" name="Square"/>
            <p:cNvSpPr/>
            <p:nvPr/>
          </p:nvSpPr>
          <p:spPr>
            <a:xfrm>
              <a:off x="379222" y="0"/>
              <a:ext cx="1270001" cy="1270000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4" name="D"/>
            <p:cNvSpPr txBox="1"/>
            <p:nvPr/>
          </p:nvSpPr>
          <p:spPr>
            <a:xfrm>
              <a:off x="-2473" y="63499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295" name="Q"/>
            <p:cNvSpPr txBox="1"/>
            <p:nvPr/>
          </p:nvSpPr>
          <p:spPr>
            <a:xfrm>
              <a:off x="1649916" y="63499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296" name="G"/>
            <p:cNvSpPr txBox="1"/>
            <p:nvPr/>
          </p:nvSpPr>
          <p:spPr>
            <a:xfrm>
              <a:off x="799016" y="1244599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G</a:t>
              </a:r>
            </a:p>
          </p:txBody>
        </p:sp>
      </p:grpSp>
      <p:grpSp>
        <p:nvGrpSpPr>
          <p:cNvPr id="303" name="Group"/>
          <p:cNvGrpSpPr/>
          <p:nvPr/>
        </p:nvGrpSpPr>
        <p:grpSpPr>
          <a:xfrm>
            <a:off x="9606160" y="7124699"/>
            <a:ext cx="2343846" cy="1282701"/>
            <a:chOff x="-7755" y="-6350"/>
            <a:chExt cx="2343844" cy="1282699"/>
          </a:xfrm>
        </p:grpSpPr>
        <p:sp>
          <p:nvSpPr>
            <p:cNvPr id="298" name="Square"/>
            <p:cNvSpPr/>
            <p:nvPr/>
          </p:nvSpPr>
          <p:spPr>
            <a:xfrm>
              <a:off x="634983" y="6349"/>
              <a:ext cx="1270001" cy="1270001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99" name="D"/>
            <p:cNvSpPr txBox="1"/>
            <p:nvPr/>
          </p:nvSpPr>
          <p:spPr>
            <a:xfrm>
              <a:off x="253288" y="-6351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00" name="Q"/>
            <p:cNvSpPr txBox="1"/>
            <p:nvPr/>
          </p:nvSpPr>
          <p:spPr>
            <a:xfrm>
              <a:off x="1905677" y="-6351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01" name="clk"/>
            <p:cNvSpPr txBox="1"/>
            <p:nvPr/>
          </p:nvSpPr>
          <p:spPr>
            <a:xfrm>
              <a:off x="-7756" y="654049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sp>
          <p:nvSpPr>
            <p:cNvPr id="302" name="Triangle"/>
            <p:cNvSpPr/>
            <p:nvPr/>
          </p:nvSpPr>
          <p:spPr>
            <a:xfrm rot="5400000">
              <a:off x="626093" y="770890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3BD01AE-2E92-68F2-8F11-9AAC05E0814E}"/>
              </a:ext>
            </a:extLst>
          </p:cNvPr>
          <p:cNvSpPr txBox="1"/>
          <p:nvPr/>
        </p:nvSpPr>
        <p:spPr>
          <a:xfrm>
            <a:off x="11760201" y="5429662"/>
            <a:ext cx="989351" cy="59503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50800" tIns="50800" rIns="50800" bIns="50800" numCol="1" spcCol="38100" rtlCol="0" anchor="ctr">
            <a:spAutoFit/>
          </a:bodyPr>
          <a:lstStyle/>
          <a:p>
            <a:pPr marL="0" marR="0" indent="0" algn="ctr" defTabSz="584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/>
              <a:t>G</a:t>
            </a:r>
            <a:r>
              <a:rPr kumimoji="0" lang="en-US" sz="32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Helvetica"/>
              </a:rPr>
              <a:t>ate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AA2B255-78B2-81E6-70CD-BCE2311D6962}"/>
              </a:ext>
            </a:extLst>
          </p:cNvPr>
          <p:cNvCxnSpPr>
            <a:stCxn id="2" idx="1"/>
            <a:endCxn id="296" idx="3"/>
          </p:cNvCxnSpPr>
          <p:nvPr/>
        </p:nvCxnSpPr>
        <p:spPr>
          <a:xfrm flipH="1" flipV="1">
            <a:off x="11124506" y="5232400"/>
            <a:ext cx="635695" cy="494780"/>
          </a:xfrm>
          <a:prstGeom prst="straightConnector1">
            <a:avLst/>
          </a:prstGeom>
          <a:noFill/>
          <a:ln w="25400" cap="flat">
            <a:solidFill>
              <a:schemeClr val="accent3"/>
            </a:solidFill>
            <a:prstDash val="solid"/>
            <a:miter lim="400000"/>
            <a:tailEnd type="triangle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7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5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27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6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7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8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9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3" grpId="1" build="p" bldLvl="5" animBg="1" advAuto="0"/>
      <p:bldP spid="277" grpId="3" animBg="1" advAuto="0"/>
      <p:bldP spid="280" grpId="5" animBg="1" advAuto="0"/>
      <p:bldP spid="283" grpId="4" animBg="1" advAuto="0"/>
      <p:bldP spid="286" grpId="7" animBg="1" advAuto="0"/>
      <p:bldP spid="289" grpId="8" animBg="1" advAuto="0"/>
      <p:bldP spid="292" grpId="9" animBg="1" advAuto="0"/>
      <p:bldP spid="297" grpId="2" animBg="1" advAuto="0"/>
      <p:bldP spid="303" grpId="6" animBg="1" advAuto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Defining a flip flop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Defining a flip flop</a:t>
            </a:r>
          </a:p>
        </p:txBody>
      </p:sp>
      <p:sp>
        <p:nvSpPr>
          <p:cNvPr id="306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2616097" y="31750"/>
            <a:ext cx="283717" cy="406400"/>
          </a:xfrm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29</a:t>
            </a:fld>
            <a:endParaRPr/>
          </a:p>
        </p:txBody>
      </p:sp>
      <p:sp>
        <p:nvSpPr>
          <p:cNvPr id="307" name="module dff (d, rst, clk, q);…"/>
          <p:cNvSpPr txBox="1"/>
          <p:nvPr/>
        </p:nvSpPr>
        <p:spPr>
          <a:xfrm>
            <a:off x="925416" y="2798129"/>
            <a:ext cx="5022380" cy="3657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dff (d, rst, clk, q);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d, rst,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(!rst) q &lt;=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else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 &lt;= d;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314" name="Group"/>
          <p:cNvGrpSpPr/>
          <p:nvPr/>
        </p:nvGrpSpPr>
        <p:grpSpPr>
          <a:xfrm>
            <a:off x="2176660" y="6811329"/>
            <a:ext cx="2331146" cy="1801516"/>
            <a:chOff x="-7755" y="0"/>
            <a:chExt cx="2331144" cy="1801514"/>
          </a:xfrm>
        </p:grpSpPr>
        <p:sp>
          <p:nvSpPr>
            <p:cNvPr id="308" name="Rectangle"/>
            <p:cNvSpPr/>
            <p:nvPr/>
          </p:nvSpPr>
          <p:spPr>
            <a:xfrm>
              <a:off x="634983" y="0"/>
              <a:ext cx="1270001" cy="1801515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09" name="D"/>
            <p:cNvSpPr txBox="1"/>
            <p:nvPr/>
          </p:nvSpPr>
          <p:spPr>
            <a:xfrm>
              <a:off x="240588" y="23514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10" name="Q"/>
            <p:cNvSpPr txBox="1"/>
            <p:nvPr/>
          </p:nvSpPr>
          <p:spPr>
            <a:xfrm>
              <a:off x="1892977" y="23514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11" name="clk"/>
            <p:cNvSpPr txBox="1"/>
            <p:nvPr/>
          </p:nvSpPr>
          <p:spPr>
            <a:xfrm>
              <a:off x="-7756" y="1179214"/>
              <a:ext cx="6109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clk</a:t>
              </a:r>
            </a:p>
          </p:txBody>
        </p:sp>
        <p:sp>
          <p:nvSpPr>
            <p:cNvPr id="312" name="Triangle"/>
            <p:cNvSpPr/>
            <p:nvPr/>
          </p:nvSpPr>
          <p:spPr>
            <a:xfrm rot="5400000">
              <a:off x="626093" y="1296054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13" name="rst"/>
            <p:cNvSpPr txBox="1"/>
            <p:nvPr/>
          </p:nvSpPr>
          <p:spPr>
            <a:xfrm>
              <a:off x="34610" y="593712"/>
              <a:ext cx="565746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rst</a:t>
              </a:r>
            </a:p>
          </p:txBody>
        </p:sp>
      </p:grpSp>
      <p:grpSp>
        <p:nvGrpSpPr>
          <p:cNvPr id="317" name="Group"/>
          <p:cNvGrpSpPr/>
          <p:nvPr/>
        </p:nvGrpSpPr>
        <p:grpSpPr>
          <a:xfrm>
            <a:off x="5155483" y="4705684"/>
            <a:ext cx="7572677" cy="2664398"/>
            <a:chOff x="-2165151" y="3403127"/>
            <a:chExt cx="7572675" cy="2664396"/>
          </a:xfrm>
        </p:grpSpPr>
        <p:sp>
          <p:nvSpPr>
            <p:cNvPr id="315" name="Note that you can have multiple always blocks with the same sensitivity list. They'll be run in parallel, so watch out for races!"/>
            <p:cNvSpPr txBox="1"/>
            <p:nvPr/>
          </p:nvSpPr>
          <p:spPr>
            <a:xfrm>
              <a:off x="-1227860" y="4028975"/>
              <a:ext cx="6635384" cy="203855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Note that you can have multiple </a:t>
              </a: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always</a:t>
              </a:r>
              <a:r>
                <a:t> blocks with the same sensitivity list. They'll be run in parallel, so watch out for races!</a:t>
              </a:r>
            </a:p>
          </p:txBody>
        </p:sp>
        <p:sp>
          <p:nvSpPr>
            <p:cNvPr id="316" name="Line"/>
            <p:cNvSpPr/>
            <p:nvPr/>
          </p:nvSpPr>
          <p:spPr>
            <a:xfrm flipH="1" flipV="1">
              <a:off x="-2165152" y="3403127"/>
              <a:ext cx="1478717" cy="981597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" grpId="2" animBg="1" advAuto="0"/>
      <p:bldP spid="314" grpId="1" animBg="1" advAuto="0"/>
      <p:bldP spid="317" grpId="3" animBg="1" advAuto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Blocking vs non-blocking assig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Blocking vs non-blocking assignment</a:t>
            </a:r>
          </a:p>
        </p:txBody>
      </p:sp>
      <p:sp>
        <p:nvSpPr>
          <p:cNvPr id="320" name="Two different types of procedural assigment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Two different types of procedural assigments:</a:t>
            </a:r>
          </a:p>
        </p:txBody>
      </p:sp>
      <p:sp>
        <p:nvSpPr>
          <p:cNvPr id="32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30</a:t>
            </a:fld>
            <a:endParaRPr/>
          </a:p>
        </p:txBody>
      </p:sp>
      <p:sp>
        <p:nvSpPr>
          <p:cNvPr id="322" name="always @*…"/>
          <p:cNvSpPr txBox="1"/>
          <p:nvPr/>
        </p:nvSpPr>
        <p:spPr>
          <a:xfrm>
            <a:off x="2221319" y="3797300"/>
            <a:ext cx="2461643" cy="1752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@*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a = b &amp;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b = a +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sp>
        <p:nvSpPr>
          <p:cNvPr id="323" name="always @*…"/>
          <p:cNvSpPr txBox="1"/>
          <p:nvPr/>
        </p:nvSpPr>
        <p:spPr>
          <a:xfrm>
            <a:off x="2221319" y="6108700"/>
            <a:ext cx="2629311" cy="17526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2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@* 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a &lt;= b &amp;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b &lt;= a + c;</a:t>
            </a:r>
          </a:p>
          <a:p>
            <a:pPr algn="l">
              <a:defRPr sz="22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</a:p>
        </p:txBody>
      </p:sp>
      <p:grpSp>
        <p:nvGrpSpPr>
          <p:cNvPr id="326" name="Group"/>
          <p:cNvGrpSpPr/>
          <p:nvPr/>
        </p:nvGrpSpPr>
        <p:grpSpPr>
          <a:xfrm>
            <a:off x="4622935" y="4799141"/>
            <a:ext cx="6160546" cy="241972"/>
            <a:chOff x="0" y="1001034"/>
            <a:chExt cx="6160544" cy="241970"/>
          </a:xfrm>
        </p:grpSpPr>
        <p:sp>
          <p:nvSpPr>
            <p:cNvPr id="324" name="The second statement is blocked from executing until the first statement has finished."/>
            <p:cNvSpPr/>
            <p:nvPr/>
          </p:nvSpPr>
          <p:spPr>
            <a:xfrm>
              <a:off x="1791863" y="1016000"/>
              <a:ext cx="4368682" cy="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extrusionOk="0">
                  <a:moveTo>
                    <a:pt x="0" y="0"/>
                  </a:moveTo>
                  <a:lnTo>
                    <a:pt x="21600" y="0"/>
                  </a:lnTo>
                  <a:lnTo>
                    <a:pt x="21600" y="0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The second statement is blocked from executing until the first statement has finished.</a:t>
              </a:r>
            </a:p>
          </p:txBody>
        </p:sp>
        <p:sp>
          <p:nvSpPr>
            <p:cNvPr id="325" name="Line"/>
            <p:cNvSpPr/>
            <p:nvPr/>
          </p:nvSpPr>
          <p:spPr>
            <a:xfrm flipH="1">
              <a:off x="-1" y="1001034"/>
              <a:ext cx="1853218" cy="24197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grpSp>
        <p:nvGrpSpPr>
          <p:cNvPr id="329" name="Group"/>
          <p:cNvGrpSpPr/>
          <p:nvPr/>
        </p:nvGrpSpPr>
        <p:grpSpPr>
          <a:xfrm>
            <a:off x="4876935" y="6592106"/>
            <a:ext cx="5792246" cy="1066801"/>
            <a:chOff x="0" y="-12699"/>
            <a:chExt cx="5792245" cy="1066800"/>
          </a:xfrm>
        </p:grpSpPr>
        <p:sp>
          <p:nvSpPr>
            <p:cNvPr id="327" name="All assignments performed in parallel."/>
            <p:cNvSpPr txBox="1"/>
            <p:nvPr/>
          </p:nvSpPr>
          <p:spPr>
            <a:xfrm>
              <a:off x="1423563" y="-12700"/>
              <a:ext cx="4368683" cy="1066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square" lIns="50800" tIns="50800" rIns="50800" bIns="50800" numCol="1" anchor="ctr">
              <a:spAutoFit/>
            </a:bodyPr>
            <a:lstStyle/>
            <a:p>
              <a:r>
                <a:t>All assignments performed in parallel.</a:t>
              </a:r>
            </a:p>
          </p:txBody>
        </p:sp>
        <p:sp>
          <p:nvSpPr>
            <p:cNvPr id="328" name="Line"/>
            <p:cNvSpPr/>
            <p:nvPr/>
          </p:nvSpPr>
          <p:spPr>
            <a:xfrm flipH="1">
              <a:off x="-1" y="481277"/>
              <a:ext cx="1788974" cy="241029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  <a:tailEnd type="triangle" w="med" len="med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3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3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2" grpId="1" animBg="1" advAuto="0"/>
      <p:bldP spid="323" grpId="2" animBg="1" advAuto="0"/>
      <p:bldP spid="326" grpId="3" animBg="1" advAuto="0"/>
      <p:bldP spid="329" grpId="4" animBg="1" advAuto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Blocking vs non-blocking assignm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>
              <a:defRPr sz="5000"/>
            </a:lvl1pPr>
          </a:lstStyle>
          <a:p>
            <a:r>
              <a:t>Blocking vs non-blocking assignment</a:t>
            </a:r>
          </a:p>
        </p:txBody>
      </p:sp>
      <p:sp>
        <p:nvSpPr>
          <p:cNvPr id="3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31</a:t>
            </a:fld>
            <a:endParaRPr/>
          </a:p>
        </p:txBody>
      </p:sp>
      <p:grpSp>
        <p:nvGrpSpPr>
          <p:cNvPr id="358" name="Group"/>
          <p:cNvGrpSpPr/>
          <p:nvPr/>
        </p:nvGrpSpPr>
        <p:grpSpPr>
          <a:xfrm>
            <a:off x="2106581" y="2296583"/>
            <a:ext cx="8791638" cy="2846103"/>
            <a:chOff x="0" y="0"/>
            <a:chExt cx="8791637" cy="2846101"/>
          </a:xfrm>
        </p:grpSpPr>
        <p:sp>
          <p:nvSpPr>
            <p:cNvPr id="333" name="Line"/>
            <p:cNvSpPr/>
            <p:nvPr/>
          </p:nvSpPr>
          <p:spPr>
            <a:xfrm>
              <a:off x="310664" y="451593"/>
              <a:ext cx="8480914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4" name="Rectangle"/>
            <p:cNvSpPr/>
            <p:nvPr/>
          </p:nvSpPr>
          <p:spPr>
            <a:xfrm>
              <a:off x="1223720" y="135979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5" name="D"/>
            <p:cNvSpPr txBox="1"/>
            <p:nvPr/>
          </p:nvSpPr>
          <p:spPr>
            <a:xfrm>
              <a:off x="1209884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36" name="Q"/>
            <p:cNvSpPr txBox="1"/>
            <p:nvPr/>
          </p:nvSpPr>
          <p:spPr>
            <a:xfrm>
              <a:off x="2037215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37" name="Triangle"/>
            <p:cNvSpPr/>
            <p:nvPr/>
          </p:nvSpPr>
          <p:spPr>
            <a:xfrm rot="5400000">
              <a:off x="1214830" y="1432033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8" name="Rectangle"/>
            <p:cNvSpPr/>
            <p:nvPr/>
          </p:nvSpPr>
          <p:spPr>
            <a:xfrm>
              <a:off x="3916121" y="121034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39" name="Triangle"/>
            <p:cNvSpPr/>
            <p:nvPr/>
          </p:nvSpPr>
          <p:spPr>
            <a:xfrm rot="5400000">
              <a:off x="3907230" y="1417089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0" name="Rectangle"/>
            <p:cNvSpPr/>
            <p:nvPr/>
          </p:nvSpPr>
          <p:spPr>
            <a:xfrm>
              <a:off x="6608520" y="135979"/>
              <a:ext cx="1270001" cy="1801516"/>
            </a:xfrm>
            <a:prstGeom prst="rect">
              <a:avLst/>
            </a:pr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1" name="Triangle"/>
            <p:cNvSpPr/>
            <p:nvPr/>
          </p:nvSpPr>
          <p:spPr>
            <a:xfrm rot="5400000">
              <a:off x="6599630" y="1432033"/>
              <a:ext cx="368301" cy="350521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0800" y="0"/>
                  </a:moveTo>
                  <a:lnTo>
                    <a:pt x="21600" y="21600"/>
                  </a:lnTo>
                  <a:lnTo>
                    <a:pt x="0" y="21600"/>
                  </a:lnTo>
                  <a:close/>
                </a:path>
              </a:pathLst>
            </a:custGeom>
            <a:solidFill>
              <a:srgbClr val="FFFFFF"/>
            </a:solidFill>
            <a:ln w="381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2" name="D"/>
            <p:cNvSpPr txBox="1"/>
            <p:nvPr/>
          </p:nvSpPr>
          <p:spPr>
            <a:xfrm>
              <a:off x="3916813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43" name="Q"/>
            <p:cNvSpPr txBox="1"/>
            <p:nvPr/>
          </p:nvSpPr>
          <p:spPr>
            <a:xfrm>
              <a:off x="4744144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44" name="D"/>
            <p:cNvSpPr txBox="1"/>
            <p:nvPr/>
          </p:nvSpPr>
          <p:spPr>
            <a:xfrm>
              <a:off x="6598105" y="159493"/>
              <a:ext cx="407790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D</a:t>
              </a:r>
            </a:p>
          </p:txBody>
        </p:sp>
        <p:sp>
          <p:nvSpPr>
            <p:cNvPr id="345" name="Q"/>
            <p:cNvSpPr txBox="1"/>
            <p:nvPr/>
          </p:nvSpPr>
          <p:spPr>
            <a:xfrm>
              <a:off x="7425436" y="159493"/>
              <a:ext cx="430412" cy="5842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/>
            <a:p>
              <a:r>
                <a:t>Q</a:t>
              </a:r>
            </a:p>
          </p:txBody>
        </p:sp>
        <p:sp>
          <p:nvSpPr>
            <p:cNvPr id="346" name="Line"/>
            <p:cNvSpPr/>
            <p:nvPr/>
          </p:nvSpPr>
          <p:spPr>
            <a:xfrm flipV="1">
              <a:off x="867678" y="1603746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7" name="Line"/>
            <p:cNvSpPr/>
            <p:nvPr/>
          </p:nvSpPr>
          <p:spPr>
            <a:xfrm flipH="1">
              <a:off x="867678" y="1592348"/>
              <a:ext cx="1" cy="841164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8" name="Line"/>
            <p:cNvSpPr/>
            <p:nvPr/>
          </p:nvSpPr>
          <p:spPr>
            <a:xfrm flipV="1">
              <a:off x="3566014" y="1604397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49" name="Line"/>
            <p:cNvSpPr/>
            <p:nvPr/>
          </p:nvSpPr>
          <p:spPr>
            <a:xfrm>
              <a:off x="3566014" y="1593000"/>
              <a:ext cx="1" cy="84116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0" name="Line"/>
            <p:cNvSpPr/>
            <p:nvPr/>
          </p:nvSpPr>
          <p:spPr>
            <a:xfrm flipV="1">
              <a:off x="6264350" y="1604397"/>
              <a:ext cx="350521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1" name="Line"/>
            <p:cNvSpPr/>
            <p:nvPr/>
          </p:nvSpPr>
          <p:spPr>
            <a:xfrm>
              <a:off x="6264351" y="1593000"/>
              <a:ext cx="1" cy="841163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2" name="Line"/>
            <p:cNvSpPr/>
            <p:nvPr/>
          </p:nvSpPr>
          <p:spPr>
            <a:xfrm>
              <a:off x="259864" y="2441946"/>
              <a:ext cx="6019612" cy="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353" name="in"/>
            <p:cNvSpPr txBox="1"/>
            <p:nvPr/>
          </p:nvSpPr>
          <p:spPr>
            <a:xfrm>
              <a:off x="59103" y="-1"/>
              <a:ext cx="449636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in</a:t>
              </a:r>
            </a:p>
          </p:txBody>
        </p:sp>
        <p:sp>
          <p:nvSpPr>
            <p:cNvPr id="354" name="q1"/>
            <p:cNvSpPr txBox="1"/>
            <p:nvPr/>
          </p:nvSpPr>
          <p:spPr>
            <a:xfrm>
              <a:off x="2958597" y="-1"/>
              <a:ext cx="44963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q1</a:t>
              </a:r>
            </a:p>
          </p:txBody>
        </p:sp>
        <p:sp>
          <p:nvSpPr>
            <p:cNvPr id="355" name="q2"/>
            <p:cNvSpPr txBox="1"/>
            <p:nvPr/>
          </p:nvSpPr>
          <p:spPr>
            <a:xfrm>
              <a:off x="5698794" y="-1"/>
              <a:ext cx="449635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q2</a:t>
              </a:r>
            </a:p>
          </p:txBody>
        </p:sp>
        <p:sp>
          <p:nvSpPr>
            <p:cNvPr id="356" name="clk"/>
            <p:cNvSpPr txBox="1"/>
            <p:nvPr/>
          </p:nvSpPr>
          <p:spPr>
            <a:xfrm>
              <a:off x="-1" y="2414301"/>
              <a:ext cx="617303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clk</a:t>
              </a:r>
            </a:p>
          </p:txBody>
        </p:sp>
        <p:sp>
          <p:nvSpPr>
            <p:cNvPr id="357" name="out"/>
            <p:cNvSpPr txBox="1"/>
            <p:nvPr/>
          </p:nvSpPr>
          <p:spPr>
            <a:xfrm>
              <a:off x="8174335" y="-1"/>
              <a:ext cx="617303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defRPr>
              </a:lvl1pPr>
            </a:lstStyle>
            <a:p>
              <a:pPr>
                <a:defRPr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"/>
                </a:defRPr>
              </a:pPr>
              <a:r>
                <a:rPr>
                  <a:solidFill>
                    <a:schemeClr val="accent6">
                      <a:satOff val="-15808"/>
                      <a:lumOff val="-17557"/>
                    </a:schemeClr>
                  </a:solidFill>
                  <a:latin typeface="Courier"/>
                  <a:ea typeface="Courier"/>
                  <a:cs typeface="Courier"/>
                  <a:sym typeface="Courier"/>
                </a:rPr>
                <a:t>out</a:t>
              </a:r>
            </a:p>
          </p:txBody>
        </p:sp>
      </p:grpSp>
      <p:sp>
        <p:nvSpPr>
          <p:cNvPr id="359" name="module sr_v1 (in, clk, out);…"/>
          <p:cNvSpPr txBox="1"/>
          <p:nvPr/>
        </p:nvSpPr>
        <p:spPr>
          <a:xfrm>
            <a:off x="840749" y="5295796"/>
            <a:ext cx="5022380" cy="40132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sr_v1 (in, clk, out);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in,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q1, q2,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q1 = in;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q2 = q1;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out = q2;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sp>
        <p:nvSpPr>
          <p:cNvPr id="360" name="module sr_v2 (in, clk, out);…"/>
          <p:cNvSpPr txBox="1"/>
          <p:nvPr/>
        </p:nvSpPr>
        <p:spPr>
          <a:xfrm>
            <a:off x="7012949" y="5295796"/>
            <a:ext cx="5022380" cy="40132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sr_v2 (in, clk, out);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in,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q1, q2, 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q1 &lt;= in;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q2 &lt;= q1;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out &lt;= q2;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3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9" grpId="1" animBg="1" advAuto="0"/>
      <p:bldP spid="360" grpId="2" animBg="1" advAuto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A flexible clock tic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flexible clock tick</a:t>
            </a:r>
          </a:p>
        </p:txBody>
      </p:sp>
      <p:sp>
        <p:nvSpPr>
          <p:cNvPr id="36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32</a:t>
            </a:fld>
            <a:endParaRPr/>
          </a:p>
        </p:txBody>
      </p:sp>
      <p:sp>
        <p:nvSpPr>
          <p:cNvPr id="364" name="module clktick (clkin, enable, N, tick);…"/>
          <p:cNvSpPr txBox="1"/>
          <p:nvPr/>
        </p:nvSpPr>
        <p:spPr>
          <a:xfrm>
            <a:off x="379316" y="7490070"/>
            <a:ext cx="7225681" cy="687212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clktick (clkin, enable, N, tick);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N_BIT = 16;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clkin;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clock input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enable;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low =&gt; clkin ignored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N;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pulse every N+1 cycles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count;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tick; 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 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clkin)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(enable == 1'b1)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(count == 0)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tick &lt;= 1'b1;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N;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 else 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tick &lt;=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count - 1'b1;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367" name="Group"/>
          <p:cNvGrpSpPr/>
          <p:nvPr/>
        </p:nvGrpSpPr>
        <p:grpSpPr>
          <a:xfrm>
            <a:off x="7861300" y="2349500"/>
            <a:ext cx="4544914" cy="3047207"/>
            <a:chOff x="0" y="0"/>
            <a:chExt cx="4544913" cy="3047206"/>
          </a:xfrm>
        </p:grpSpPr>
        <p:sp>
          <p:nvSpPr>
            <p:cNvPr id="365" name="Rectangle"/>
            <p:cNvSpPr/>
            <p:nvPr/>
          </p:nvSpPr>
          <p:spPr>
            <a:xfrm>
              <a:off x="0" y="0"/>
              <a:ext cx="4544914" cy="30472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66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" y="44450"/>
              <a:ext cx="4241800" cy="28321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3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4" grpId="1" animBg="1" advAuto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A flexible clock tick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flexible clock tick</a:t>
            </a:r>
          </a:p>
        </p:txBody>
      </p:sp>
      <p:sp>
        <p:nvSpPr>
          <p:cNvPr id="3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33</a:t>
            </a:fld>
            <a:endParaRPr/>
          </a:p>
        </p:txBody>
      </p:sp>
      <p:grpSp>
        <p:nvGrpSpPr>
          <p:cNvPr id="373" name="Group"/>
          <p:cNvGrpSpPr/>
          <p:nvPr/>
        </p:nvGrpSpPr>
        <p:grpSpPr>
          <a:xfrm>
            <a:off x="7861300" y="2349500"/>
            <a:ext cx="4544914" cy="3047207"/>
            <a:chOff x="0" y="0"/>
            <a:chExt cx="4544913" cy="3047206"/>
          </a:xfrm>
        </p:grpSpPr>
        <p:sp>
          <p:nvSpPr>
            <p:cNvPr id="371" name="Rectangle"/>
            <p:cNvSpPr/>
            <p:nvPr/>
          </p:nvSpPr>
          <p:spPr>
            <a:xfrm>
              <a:off x="0" y="0"/>
              <a:ext cx="4544914" cy="3047207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72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" y="44450"/>
              <a:ext cx="4241800" cy="2832100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sp>
        <p:nvSpPr>
          <p:cNvPr id="374" name="module clktick (clkin, enable, N, tick);…"/>
          <p:cNvSpPr txBox="1"/>
          <p:nvPr/>
        </p:nvSpPr>
        <p:spPr>
          <a:xfrm>
            <a:off x="379316" y="2587870"/>
            <a:ext cx="7225681" cy="687212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clktick (clkin, enable, N, tick);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N_BIT = 16;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clkin;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clock input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enable;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low =&gt; clkin ignored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N;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pulse every N+1 cycles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[N_BIT-1:0] count;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tick; 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 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clkin)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(enable == 1'b1)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(count == 0)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tick &lt;= 1'b1;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N;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 else 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tick &lt;=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count - 1'b1;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 xmlns:m="http://schemas.openxmlformats.org/officeDocument/2006/math" xmlns:a14="http://schemas.microsoft.com/office/drawing/2010/main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Cascading coun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Cascading counters</a:t>
            </a:r>
          </a:p>
        </p:txBody>
      </p:sp>
      <p:sp>
        <p:nvSpPr>
          <p:cNvPr id="377" name="By connecting our clock tick module in series with a counter module, we can count milliseconds: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By connecting our clock tick module in series with a counter module, we can count milliseconds:</a:t>
            </a:r>
          </a:p>
        </p:txBody>
      </p:sp>
      <p:sp>
        <p:nvSpPr>
          <p:cNvPr id="37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34</a:t>
            </a:fld>
            <a:endParaRPr/>
          </a:p>
        </p:txBody>
      </p:sp>
      <p:grpSp>
        <p:nvGrpSpPr>
          <p:cNvPr id="381" name="Group"/>
          <p:cNvGrpSpPr/>
          <p:nvPr/>
        </p:nvGrpSpPr>
        <p:grpSpPr>
          <a:xfrm>
            <a:off x="1041474" y="3996928"/>
            <a:ext cx="10921852" cy="5173068"/>
            <a:chOff x="0" y="0"/>
            <a:chExt cx="10921851" cy="5173067"/>
          </a:xfrm>
        </p:grpSpPr>
        <p:sp>
          <p:nvSpPr>
            <p:cNvPr id="379" name="Rectangle"/>
            <p:cNvSpPr/>
            <p:nvPr/>
          </p:nvSpPr>
          <p:spPr>
            <a:xfrm>
              <a:off x="0" y="0"/>
              <a:ext cx="10921852" cy="5173068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80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53851" y="136921"/>
              <a:ext cx="10590839" cy="4987035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A clock divid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clock divider</a:t>
            </a:r>
          </a:p>
        </p:txBody>
      </p:sp>
      <p:sp>
        <p:nvSpPr>
          <p:cNvPr id="3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35</a:t>
            </a:fld>
            <a:endParaRPr/>
          </a:p>
        </p:txBody>
      </p:sp>
      <p:sp>
        <p:nvSpPr>
          <p:cNvPr id="385" name="module clkdiv (clkin, enable, K, clkout);…"/>
          <p:cNvSpPr txBox="1"/>
          <p:nvPr/>
        </p:nvSpPr>
        <p:spPr>
          <a:xfrm>
            <a:off x="379316" y="2941116"/>
            <a:ext cx="7301130" cy="6165628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clkdiv (clkin, enable, K, clkout);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parameter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K_BIT = 16;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clkin;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clock input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enable;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low =&gt; clkin ignored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[K_BIT-1:0] 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tick;</a:t>
            </a:r>
            <a:r>
              <a:t>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F_out = F_in / (2*(K+1))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[K_BIT-1:0] count;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clkout; 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clkout = 1'b0;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clkin)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(enable == 1'b1)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if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(count == 0)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clkout &lt;= ~clkout; </a:t>
            </a:r>
            <a:r>
              <a:rPr i="1">
                <a:solidFill>
                  <a:schemeClr val="accent3">
                    <a:hueOff val="362282"/>
                    <a:satOff val="31803"/>
                    <a:lumOff val="-18242"/>
                  </a:schemeClr>
                </a:solidFill>
              </a:rPr>
              <a:t>// toggle output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 else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    count &lt;= count - 1'b1;</a:t>
            </a: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grpSp>
        <p:nvGrpSpPr>
          <p:cNvPr id="388" name="Group"/>
          <p:cNvGrpSpPr/>
          <p:nvPr/>
        </p:nvGrpSpPr>
        <p:grpSpPr>
          <a:xfrm>
            <a:off x="7914725" y="5187796"/>
            <a:ext cx="4975739" cy="1448656"/>
            <a:chOff x="0" y="0"/>
            <a:chExt cx="4975737" cy="1448655"/>
          </a:xfrm>
        </p:grpSpPr>
        <p:sp>
          <p:nvSpPr>
            <p:cNvPr id="386" name="Rectangle"/>
            <p:cNvSpPr/>
            <p:nvPr/>
          </p:nvSpPr>
          <p:spPr>
            <a:xfrm>
              <a:off x="0" y="0"/>
              <a:ext cx="4975738" cy="1448656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87" name="Image" descr="Image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858" y="92096"/>
              <a:ext cx="4590546" cy="1264463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  <p:grpSp>
        <p:nvGrpSpPr>
          <p:cNvPr id="391" name="Group"/>
          <p:cNvGrpSpPr/>
          <p:nvPr/>
        </p:nvGrpSpPr>
        <p:grpSpPr>
          <a:xfrm>
            <a:off x="8130137" y="2659112"/>
            <a:ext cx="4544915" cy="2159001"/>
            <a:chOff x="0" y="0"/>
            <a:chExt cx="4544913" cy="2159000"/>
          </a:xfrm>
        </p:grpSpPr>
        <p:sp>
          <p:nvSpPr>
            <p:cNvPr id="389" name="Rectangle"/>
            <p:cNvSpPr/>
            <p:nvPr/>
          </p:nvSpPr>
          <p:spPr>
            <a:xfrm>
              <a:off x="0" y="0"/>
              <a:ext cx="4544914" cy="2159000"/>
            </a:xfrm>
            <a:prstGeom prst="rect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pic>
          <p:nvPicPr>
            <p:cNvPr id="390" name="Image" descr="Image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362" y="134887"/>
              <a:ext cx="4422190" cy="1744811"/>
            </a:xfrm>
            <a:prstGeom prst="rect">
              <a:avLst/>
            </a:prstGeom>
            <a:ln w="12700" cap="flat">
              <a:noFill/>
              <a:miter lim="400000"/>
            </a:ln>
            <a:effectLst/>
          </p:spPr>
        </p:pic>
      </p:grpSp>
    </p:spTree>
  </p:cSld>
  <p:clrMapOvr>
    <a:masterClrMapping/>
  </p:clrMapOvr>
  <p:transition spd="med"/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ift register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Shift registers</a:t>
            </a:r>
          </a:p>
        </p:txBody>
      </p:sp>
      <p:sp>
        <p:nvSpPr>
          <p:cNvPr id="39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36</a:t>
            </a:fld>
            <a:endParaRPr/>
          </a:p>
        </p:txBody>
      </p:sp>
    </p:spTree>
  </p:cSld>
  <p:clrMapOvr>
    <a:masterClrMapping/>
  </p:clrMapOvr>
  <p:transition spd="med"/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Line"/>
          <p:cNvSpPr/>
          <p:nvPr/>
        </p:nvSpPr>
        <p:spPr>
          <a:xfrm>
            <a:off x="977373" y="2758144"/>
            <a:ext cx="1087915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397" name="A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shift register</a:t>
            </a:r>
          </a:p>
        </p:txBody>
      </p:sp>
      <p:sp>
        <p:nvSpPr>
          <p:cNvPr id="39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37</a:t>
            </a:fld>
            <a:endParaRPr/>
          </a:p>
        </p:txBody>
      </p:sp>
      <p:sp>
        <p:nvSpPr>
          <p:cNvPr id="399" name="Rectangle"/>
          <p:cNvSpPr/>
          <p:nvPr/>
        </p:nvSpPr>
        <p:spPr>
          <a:xfrm>
            <a:off x="18904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0" name="D"/>
          <p:cNvSpPr txBox="1"/>
          <p:nvPr/>
        </p:nvSpPr>
        <p:spPr>
          <a:xfrm>
            <a:off x="1876593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01" name="Q"/>
          <p:cNvSpPr txBox="1"/>
          <p:nvPr/>
        </p:nvSpPr>
        <p:spPr>
          <a:xfrm>
            <a:off x="2703924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02" name="Triangle"/>
          <p:cNvSpPr/>
          <p:nvPr/>
        </p:nvSpPr>
        <p:spPr>
          <a:xfrm rot="5400000">
            <a:off x="18815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3" name="Rectangle"/>
          <p:cNvSpPr/>
          <p:nvPr/>
        </p:nvSpPr>
        <p:spPr>
          <a:xfrm>
            <a:off x="4582829" y="2427585"/>
            <a:ext cx="1270001" cy="1801515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4" name="Triangle"/>
          <p:cNvSpPr/>
          <p:nvPr/>
        </p:nvSpPr>
        <p:spPr>
          <a:xfrm rot="5400000">
            <a:off x="4573939" y="3723640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5" name="Rectangle"/>
          <p:cNvSpPr/>
          <p:nvPr/>
        </p:nvSpPr>
        <p:spPr>
          <a:xfrm>
            <a:off x="72752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6" name="Triangle"/>
          <p:cNvSpPr/>
          <p:nvPr/>
        </p:nvSpPr>
        <p:spPr>
          <a:xfrm rot="5400000">
            <a:off x="72663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7" name="Rectangle"/>
          <p:cNvSpPr/>
          <p:nvPr/>
        </p:nvSpPr>
        <p:spPr>
          <a:xfrm>
            <a:off x="9967629" y="2412640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8" name="Triangle"/>
          <p:cNvSpPr/>
          <p:nvPr/>
        </p:nvSpPr>
        <p:spPr>
          <a:xfrm rot="5400000">
            <a:off x="9958739" y="3708695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09" name="D"/>
          <p:cNvSpPr txBox="1"/>
          <p:nvPr/>
        </p:nvSpPr>
        <p:spPr>
          <a:xfrm>
            <a:off x="4583522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0" name="Q"/>
          <p:cNvSpPr txBox="1"/>
          <p:nvPr/>
        </p:nvSpPr>
        <p:spPr>
          <a:xfrm>
            <a:off x="5410853" y="2466044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1" name="D"/>
          <p:cNvSpPr txBox="1"/>
          <p:nvPr/>
        </p:nvSpPr>
        <p:spPr>
          <a:xfrm>
            <a:off x="7264814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2" name="Q"/>
          <p:cNvSpPr txBox="1"/>
          <p:nvPr/>
        </p:nvSpPr>
        <p:spPr>
          <a:xfrm>
            <a:off x="8092145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3" name="D"/>
          <p:cNvSpPr txBox="1"/>
          <p:nvPr/>
        </p:nvSpPr>
        <p:spPr>
          <a:xfrm>
            <a:off x="9958807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14" name="Q"/>
          <p:cNvSpPr txBox="1"/>
          <p:nvPr/>
        </p:nvSpPr>
        <p:spPr>
          <a:xfrm>
            <a:off x="10786138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15" name="Line"/>
          <p:cNvSpPr/>
          <p:nvPr/>
        </p:nvSpPr>
        <p:spPr>
          <a:xfrm>
            <a:off x="1534387" y="39102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6" name="Line"/>
          <p:cNvSpPr/>
          <p:nvPr/>
        </p:nvSpPr>
        <p:spPr>
          <a:xfrm flipH="1">
            <a:off x="1534387" y="3898899"/>
            <a:ext cx="1" cy="8411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7" name="Line"/>
          <p:cNvSpPr/>
          <p:nvPr/>
        </p:nvSpPr>
        <p:spPr>
          <a:xfrm>
            <a:off x="4232723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8" name="Line"/>
          <p:cNvSpPr/>
          <p:nvPr/>
        </p:nvSpPr>
        <p:spPr>
          <a:xfrm>
            <a:off x="4232723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19" name="Line"/>
          <p:cNvSpPr/>
          <p:nvPr/>
        </p:nvSpPr>
        <p:spPr>
          <a:xfrm>
            <a:off x="69310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0" name="Line"/>
          <p:cNvSpPr/>
          <p:nvPr/>
        </p:nvSpPr>
        <p:spPr>
          <a:xfrm>
            <a:off x="69310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1" name="Line"/>
          <p:cNvSpPr/>
          <p:nvPr/>
        </p:nvSpPr>
        <p:spPr>
          <a:xfrm>
            <a:off x="96234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2" name="Line"/>
          <p:cNvSpPr/>
          <p:nvPr/>
        </p:nvSpPr>
        <p:spPr>
          <a:xfrm>
            <a:off x="96234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3" name="Line"/>
          <p:cNvSpPr/>
          <p:nvPr/>
        </p:nvSpPr>
        <p:spPr>
          <a:xfrm>
            <a:off x="863073" y="4748497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24" name="data_in"/>
          <p:cNvSpPr txBox="1"/>
          <p:nvPr/>
        </p:nvSpPr>
        <p:spPr>
          <a:xfrm>
            <a:off x="3066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</a:p>
        </p:txBody>
      </p:sp>
      <p:sp>
        <p:nvSpPr>
          <p:cNvPr id="425" name="sreg[1]"/>
          <p:cNvSpPr txBox="1"/>
          <p:nvPr/>
        </p:nvSpPr>
        <p:spPr>
          <a:xfrm>
            <a:off x="3206138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sreg[1]</a:t>
            </a:r>
          </a:p>
        </p:txBody>
      </p:sp>
      <p:sp>
        <p:nvSpPr>
          <p:cNvPr id="426" name="sreg[2]"/>
          <p:cNvSpPr txBox="1"/>
          <p:nvPr/>
        </p:nvSpPr>
        <p:spPr>
          <a:xfrm>
            <a:off x="594633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sreg[2]</a:t>
            </a:r>
          </a:p>
        </p:txBody>
      </p:sp>
      <p:sp>
        <p:nvSpPr>
          <p:cNvPr id="427" name="sreg[3]"/>
          <p:cNvSpPr txBox="1"/>
          <p:nvPr/>
        </p:nvSpPr>
        <p:spPr>
          <a:xfrm>
            <a:off x="86124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sreg[3]</a:t>
            </a:r>
          </a:p>
        </p:txBody>
      </p:sp>
      <p:sp>
        <p:nvSpPr>
          <p:cNvPr id="428" name="sreg[4]"/>
          <p:cNvSpPr txBox="1"/>
          <p:nvPr/>
        </p:nvSpPr>
        <p:spPr>
          <a:xfrm>
            <a:off x="11326350" y="1975385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sreg[4]</a:t>
            </a:r>
          </a:p>
        </p:txBody>
      </p:sp>
      <p:sp>
        <p:nvSpPr>
          <p:cNvPr id="429" name="data_out"/>
          <p:cNvSpPr txBox="1"/>
          <p:nvPr/>
        </p:nvSpPr>
        <p:spPr>
          <a:xfrm>
            <a:off x="11326350" y="2306550"/>
            <a:ext cx="145563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</a:p>
        </p:txBody>
      </p:sp>
      <p:sp>
        <p:nvSpPr>
          <p:cNvPr id="430" name="clk"/>
          <p:cNvSpPr txBox="1"/>
          <p:nvPr/>
        </p:nvSpPr>
        <p:spPr>
          <a:xfrm>
            <a:off x="666709" y="4720852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31" name="module sreg4 (data_out, data_in, clk);…"/>
          <p:cNvSpPr txBox="1"/>
          <p:nvPr/>
        </p:nvSpPr>
        <p:spPr>
          <a:xfrm>
            <a:off x="3039823" y="4885394"/>
            <a:ext cx="6775265" cy="47244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sreg4 (data_out, data_in, clk);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data_in,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sreg;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sreg = 4'b0;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begin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sreg[4] &lt;= sreg[3];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sreg[3] &lt;= sreg[2];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sreg[2] &lt;= sreg[1];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sreg[1] &lt;= data_in;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</a:t>
            </a:r>
            <a:endParaRPr>
              <a:solidFill>
                <a:schemeClr val="accent6">
                  <a:satOff val="-15808"/>
                  <a:lumOff val="-17557"/>
                </a:schemeClr>
              </a:solidFill>
              <a:latin typeface="Courier"/>
              <a:ea typeface="Courier"/>
              <a:cs typeface="Courier"/>
              <a:sym typeface="Courier"/>
            </a:endParaRP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data_out = sreg[4];</a:t>
            </a: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4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4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4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4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4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5" grpId="2" animBg="1" advAuto="0"/>
      <p:bldP spid="426" grpId="3" animBg="1" advAuto="0"/>
      <p:bldP spid="427" grpId="4" animBg="1" advAuto="0"/>
      <p:bldP spid="428" grpId="5" animBg="1" advAuto="0"/>
      <p:bldP spid="431" grpId="1" animBg="1" advAuto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Line"/>
          <p:cNvSpPr/>
          <p:nvPr/>
        </p:nvSpPr>
        <p:spPr>
          <a:xfrm>
            <a:off x="977373" y="2758144"/>
            <a:ext cx="10879152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4" name="A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 shift register</a:t>
            </a:r>
          </a:p>
        </p:txBody>
      </p:sp>
      <p:sp>
        <p:nvSpPr>
          <p:cNvPr id="43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38</a:t>
            </a:fld>
            <a:endParaRPr/>
          </a:p>
        </p:txBody>
      </p:sp>
      <p:sp>
        <p:nvSpPr>
          <p:cNvPr id="436" name="Rectangle"/>
          <p:cNvSpPr/>
          <p:nvPr/>
        </p:nvSpPr>
        <p:spPr>
          <a:xfrm>
            <a:off x="18904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37" name="D"/>
          <p:cNvSpPr txBox="1"/>
          <p:nvPr/>
        </p:nvSpPr>
        <p:spPr>
          <a:xfrm>
            <a:off x="1876593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38" name="Q"/>
          <p:cNvSpPr txBox="1"/>
          <p:nvPr/>
        </p:nvSpPr>
        <p:spPr>
          <a:xfrm>
            <a:off x="2703924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39" name="Triangle"/>
          <p:cNvSpPr/>
          <p:nvPr/>
        </p:nvSpPr>
        <p:spPr>
          <a:xfrm rot="5400000">
            <a:off x="18815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0" name="Rectangle"/>
          <p:cNvSpPr/>
          <p:nvPr/>
        </p:nvSpPr>
        <p:spPr>
          <a:xfrm>
            <a:off x="4582829" y="2427585"/>
            <a:ext cx="1270001" cy="1801515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1" name="Triangle"/>
          <p:cNvSpPr/>
          <p:nvPr/>
        </p:nvSpPr>
        <p:spPr>
          <a:xfrm rot="5400000">
            <a:off x="4573939" y="3723640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2" name="Rectangle"/>
          <p:cNvSpPr/>
          <p:nvPr/>
        </p:nvSpPr>
        <p:spPr>
          <a:xfrm>
            <a:off x="7275229" y="2442529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3" name="Triangle"/>
          <p:cNvSpPr/>
          <p:nvPr/>
        </p:nvSpPr>
        <p:spPr>
          <a:xfrm rot="5400000">
            <a:off x="7266339" y="3738584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4" name="Rectangle"/>
          <p:cNvSpPr/>
          <p:nvPr/>
        </p:nvSpPr>
        <p:spPr>
          <a:xfrm>
            <a:off x="9967629" y="2412640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5" name="Triangle"/>
          <p:cNvSpPr/>
          <p:nvPr/>
        </p:nvSpPr>
        <p:spPr>
          <a:xfrm rot="5400000">
            <a:off x="9958739" y="3708695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46" name="D"/>
          <p:cNvSpPr txBox="1"/>
          <p:nvPr/>
        </p:nvSpPr>
        <p:spPr>
          <a:xfrm>
            <a:off x="4583522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47" name="Q"/>
          <p:cNvSpPr txBox="1"/>
          <p:nvPr/>
        </p:nvSpPr>
        <p:spPr>
          <a:xfrm>
            <a:off x="5410853" y="2466044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48" name="D"/>
          <p:cNvSpPr txBox="1"/>
          <p:nvPr/>
        </p:nvSpPr>
        <p:spPr>
          <a:xfrm>
            <a:off x="7264814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49" name="Q"/>
          <p:cNvSpPr txBox="1"/>
          <p:nvPr/>
        </p:nvSpPr>
        <p:spPr>
          <a:xfrm>
            <a:off x="8092145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50" name="D"/>
          <p:cNvSpPr txBox="1"/>
          <p:nvPr/>
        </p:nvSpPr>
        <p:spPr>
          <a:xfrm>
            <a:off x="9958807" y="2466044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51" name="Q"/>
          <p:cNvSpPr txBox="1"/>
          <p:nvPr/>
        </p:nvSpPr>
        <p:spPr>
          <a:xfrm>
            <a:off x="10786138" y="2466044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52" name="Line"/>
          <p:cNvSpPr/>
          <p:nvPr/>
        </p:nvSpPr>
        <p:spPr>
          <a:xfrm>
            <a:off x="1534387" y="39102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3" name="Line"/>
          <p:cNvSpPr/>
          <p:nvPr/>
        </p:nvSpPr>
        <p:spPr>
          <a:xfrm flipH="1">
            <a:off x="1534387" y="3898899"/>
            <a:ext cx="1" cy="84116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4" name="Line"/>
          <p:cNvSpPr/>
          <p:nvPr/>
        </p:nvSpPr>
        <p:spPr>
          <a:xfrm>
            <a:off x="4232723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5" name="Line"/>
          <p:cNvSpPr/>
          <p:nvPr/>
        </p:nvSpPr>
        <p:spPr>
          <a:xfrm>
            <a:off x="4232723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6" name="Line"/>
          <p:cNvSpPr/>
          <p:nvPr/>
        </p:nvSpPr>
        <p:spPr>
          <a:xfrm>
            <a:off x="69310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7" name="Line"/>
          <p:cNvSpPr/>
          <p:nvPr/>
        </p:nvSpPr>
        <p:spPr>
          <a:xfrm>
            <a:off x="69310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8" name="Line"/>
          <p:cNvSpPr/>
          <p:nvPr/>
        </p:nvSpPr>
        <p:spPr>
          <a:xfrm>
            <a:off x="9623459" y="3910948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59" name="Line"/>
          <p:cNvSpPr/>
          <p:nvPr/>
        </p:nvSpPr>
        <p:spPr>
          <a:xfrm>
            <a:off x="9623459" y="3899551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0" name="Line"/>
          <p:cNvSpPr/>
          <p:nvPr/>
        </p:nvSpPr>
        <p:spPr>
          <a:xfrm>
            <a:off x="863073" y="4748497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61" name="data_in"/>
          <p:cNvSpPr txBox="1"/>
          <p:nvPr/>
        </p:nvSpPr>
        <p:spPr>
          <a:xfrm>
            <a:off x="3066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data_in</a:t>
            </a:r>
          </a:p>
        </p:txBody>
      </p:sp>
      <p:sp>
        <p:nvSpPr>
          <p:cNvPr id="462" name="sreg[1]"/>
          <p:cNvSpPr txBox="1"/>
          <p:nvPr/>
        </p:nvSpPr>
        <p:spPr>
          <a:xfrm>
            <a:off x="3206138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sreg[1]</a:t>
            </a:r>
          </a:p>
        </p:txBody>
      </p:sp>
      <p:sp>
        <p:nvSpPr>
          <p:cNvPr id="463" name="sreg[2]"/>
          <p:cNvSpPr txBox="1"/>
          <p:nvPr/>
        </p:nvSpPr>
        <p:spPr>
          <a:xfrm>
            <a:off x="594633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sreg[2]</a:t>
            </a:r>
          </a:p>
        </p:txBody>
      </p:sp>
      <p:sp>
        <p:nvSpPr>
          <p:cNvPr id="464" name="sreg[3]"/>
          <p:cNvSpPr txBox="1"/>
          <p:nvPr/>
        </p:nvSpPr>
        <p:spPr>
          <a:xfrm>
            <a:off x="8612444" y="2306550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sreg[3]</a:t>
            </a:r>
          </a:p>
        </p:txBody>
      </p:sp>
      <p:sp>
        <p:nvSpPr>
          <p:cNvPr id="465" name="clk"/>
          <p:cNvSpPr txBox="1"/>
          <p:nvPr/>
        </p:nvSpPr>
        <p:spPr>
          <a:xfrm>
            <a:off x="666709" y="4720852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66" name="module sreg4 (data_out, data_in, clk);…"/>
          <p:cNvSpPr txBox="1"/>
          <p:nvPr/>
        </p:nvSpPr>
        <p:spPr>
          <a:xfrm>
            <a:off x="3456244" y="5827278"/>
            <a:ext cx="6775265" cy="33020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sreg4 (data_out, data_in, clk);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data_in,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sreg;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sreg = 4'b0;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sreg &lt;= {sreg[3:1], data_in};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data_out = sreg[4];</a:t>
            </a: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  <p:sp>
        <p:nvSpPr>
          <p:cNvPr id="467" name="sreg[4]"/>
          <p:cNvSpPr txBox="1"/>
          <p:nvPr/>
        </p:nvSpPr>
        <p:spPr>
          <a:xfrm>
            <a:off x="11326350" y="1975385"/>
            <a:ext cx="128797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sreg[4]</a:t>
            </a:r>
          </a:p>
        </p:txBody>
      </p:sp>
      <p:sp>
        <p:nvSpPr>
          <p:cNvPr id="468" name="data_out"/>
          <p:cNvSpPr txBox="1"/>
          <p:nvPr/>
        </p:nvSpPr>
        <p:spPr>
          <a:xfrm>
            <a:off x="11326350" y="2306550"/>
            <a:ext cx="145563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data_out</a:t>
            </a:r>
          </a:p>
        </p:txBody>
      </p:sp>
    </p:spTree>
  </p:cSld>
  <p:clrMapOvr>
    <a:masterClrMapping/>
  </p:clrMapOvr>
  <p:transition spd="med"/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47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39</a:t>
            </a:fld>
            <a:endParaRPr/>
          </a:p>
        </p:txBody>
      </p:sp>
      <p:sp>
        <p:nvSpPr>
          <p:cNvPr id="472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3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4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75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76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7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8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79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0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1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2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83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4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5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6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7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488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489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0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1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2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3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4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5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6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7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498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499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0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03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01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02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04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5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6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7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08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09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10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11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5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2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5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3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5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4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5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8" grpId="1" animBg="1" advAuto="0"/>
      <p:bldP spid="509" grpId="2" animBg="1" advAuto="0"/>
      <p:bldP spid="510" grpId="3" animBg="1" advAuto="0"/>
      <p:bldP spid="511" grpId="4" animBg="1" advAuto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51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40</a:t>
            </a:fld>
            <a:endParaRPr/>
          </a:p>
        </p:txBody>
      </p:sp>
      <p:sp>
        <p:nvSpPr>
          <p:cNvPr id="515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6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17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18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19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0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1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2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3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4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5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26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27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28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29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30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31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32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3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4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5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6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7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8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39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0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1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542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3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46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44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45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47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8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49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0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1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52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53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54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55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41</a:t>
            </a:fld>
            <a:endParaRPr/>
          </a:p>
        </p:txBody>
      </p:sp>
      <p:sp>
        <p:nvSpPr>
          <p:cNvPr id="558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59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0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61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62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3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4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5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6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7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8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69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0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1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2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3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574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575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6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7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8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79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0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1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2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3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4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585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86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589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587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588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590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1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2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3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594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95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596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597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0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42</a:t>
            </a:fld>
            <a:endParaRPr/>
          </a:p>
        </p:txBody>
      </p:sp>
      <p:sp>
        <p:nvSpPr>
          <p:cNvPr id="601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2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3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04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05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6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7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8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09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0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1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2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3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4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5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6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17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18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19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0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1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2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3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4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5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6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7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628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29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632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630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31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33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4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5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6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37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38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39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40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4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43</a:t>
            </a:fld>
            <a:endParaRPr/>
          </a:p>
        </p:txBody>
      </p:sp>
      <p:sp>
        <p:nvSpPr>
          <p:cNvPr id="644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5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6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47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48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49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0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1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2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3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4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55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56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57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58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59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60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61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2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3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4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5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6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7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8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69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0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671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2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675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673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674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676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7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8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79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0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81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682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683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68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44</a:t>
            </a:fld>
            <a:endParaRPr/>
          </a:p>
        </p:txBody>
      </p:sp>
      <p:sp>
        <p:nvSpPr>
          <p:cNvPr id="687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8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89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90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691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2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3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4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5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6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7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698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699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0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01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2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03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04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5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6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7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8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09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0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1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2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3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714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15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718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716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17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719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0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1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2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23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724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25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26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729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45</a:t>
            </a:fld>
            <a:endParaRPr/>
          </a:p>
        </p:txBody>
      </p:sp>
      <p:sp>
        <p:nvSpPr>
          <p:cNvPr id="730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1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2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33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34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5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6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7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8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39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0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1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2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3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4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5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46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47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8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49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0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1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2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3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4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5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6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757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58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761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759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760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762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3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4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5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66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67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768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769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77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46</a:t>
            </a:fld>
            <a:endParaRPr/>
          </a:p>
        </p:txBody>
      </p:sp>
      <p:sp>
        <p:nvSpPr>
          <p:cNvPr id="773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4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5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76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77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8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79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0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1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2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3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84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5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86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7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88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789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790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1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2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3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4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5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6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7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8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799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00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1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04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02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03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05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6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7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8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09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10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11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12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81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47</a:t>
            </a:fld>
            <a:endParaRPr/>
          </a:p>
        </p:txBody>
      </p:sp>
      <p:sp>
        <p:nvSpPr>
          <p:cNvPr id="816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17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18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19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20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1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2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3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4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5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6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27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28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29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30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31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32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33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4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5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6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7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8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39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0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1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2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43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4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47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45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46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48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49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0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1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52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53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54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55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8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48</a:t>
            </a:fld>
            <a:endParaRPr/>
          </a:p>
        </p:txBody>
      </p:sp>
      <p:sp>
        <p:nvSpPr>
          <p:cNvPr id="859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0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1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62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63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4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5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6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7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8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69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0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1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2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3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4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875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876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7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8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79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0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1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2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3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4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5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886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87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890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888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889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891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2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3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4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895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96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897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898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0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49</a:t>
            </a:fld>
            <a:endParaRPr/>
          </a:p>
        </p:txBody>
      </p:sp>
      <p:sp>
        <p:nvSpPr>
          <p:cNvPr id="902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3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4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05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06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7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8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09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0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1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2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13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4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5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6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7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18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19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0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1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2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3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4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5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6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7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28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929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0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933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931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932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934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5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6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7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38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39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40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41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</p:spTree>
  </p:cSld>
  <p:clrMapOvr>
    <a:masterClrMapping/>
  </p:clrMapOvr>
  <p:transition spd="med"/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4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50</a:t>
            </a:fld>
            <a:endParaRPr/>
          </a:p>
        </p:txBody>
      </p:sp>
      <p:sp>
        <p:nvSpPr>
          <p:cNvPr id="945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46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47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48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49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0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1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2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3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4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5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56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57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58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59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60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61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62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3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4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5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6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7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8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69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0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1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972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3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976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974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975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977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8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79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0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1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2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3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984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6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98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51</a:t>
            </a:fld>
            <a:endParaRPr/>
          </a:p>
        </p:txBody>
      </p:sp>
      <p:sp>
        <p:nvSpPr>
          <p:cNvPr id="988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89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0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991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992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3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4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5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6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7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8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999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0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1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2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3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04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05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6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7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8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09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0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1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2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3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4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015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16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019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017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18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020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1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2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3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24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25" name="1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26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27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03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52</a:t>
            </a:fld>
            <a:endParaRPr/>
          </a:p>
        </p:txBody>
      </p:sp>
      <p:sp>
        <p:nvSpPr>
          <p:cNvPr id="1031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2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3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34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35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6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7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8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39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0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1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2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3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4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5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6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47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48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49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0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1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2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3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4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5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6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7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058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59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062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060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061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063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4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5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6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67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68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069" name="1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070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07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53</a:t>
            </a:fld>
            <a:endParaRPr/>
          </a:p>
        </p:txBody>
      </p:sp>
      <p:sp>
        <p:nvSpPr>
          <p:cNvPr id="1074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5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6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77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78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79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0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1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2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3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4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85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86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87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88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89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090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091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2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3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4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5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6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7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8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099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0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101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2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105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103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104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106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7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8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09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0" name="0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1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2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13" name="1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</p:spTree>
  </p:cSld>
  <p:clrMapOvr>
    <a:masterClrMapping/>
  </p:clrMapOvr>
  <p:transition spd="med"/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5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116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54</a:t>
            </a:fld>
            <a:endParaRPr/>
          </a:p>
        </p:txBody>
      </p:sp>
      <p:sp>
        <p:nvSpPr>
          <p:cNvPr id="1117" name="Line"/>
          <p:cNvSpPr/>
          <p:nvPr/>
        </p:nvSpPr>
        <p:spPr>
          <a:xfrm>
            <a:off x="1324116" y="4953093"/>
            <a:ext cx="10482479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8" name="Rectangle"/>
          <p:cNvSpPr/>
          <p:nvPr/>
        </p:nvSpPr>
        <p:spPr>
          <a:xfrm>
            <a:off x="18904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19" name="D"/>
          <p:cNvSpPr txBox="1"/>
          <p:nvPr/>
        </p:nvSpPr>
        <p:spPr>
          <a:xfrm>
            <a:off x="1876593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20" name="Q"/>
          <p:cNvSpPr txBox="1"/>
          <p:nvPr/>
        </p:nvSpPr>
        <p:spPr>
          <a:xfrm>
            <a:off x="2703924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21" name="Triangle"/>
          <p:cNvSpPr/>
          <p:nvPr/>
        </p:nvSpPr>
        <p:spPr>
          <a:xfrm rot="5400000">
            <a:off x="18815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2" name="Rectangle"/>
          <p:cNvSpPr/>
          <p:nvPr/>
        </p:nvSpPr>
        <p:spPr>
          <a:xfrm>
            <a:off x="4582829" y="4622533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3" name="Triangle"/>
          <p:cNvSpPr/>
          <p:nvPr/>
        </p:nvSpPr>
        <p:spPr>
          <a:xfrm rot="5400000">
            <a:off x="4573939" y="5918588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4" name="Rectangle"/>
          <p:cNvSpPr/>
          <p:nvPr/>
        </p:nvSpPr>
        <p:spPr>
          <a:xfrm>
            <a:off x="7275229" y="463747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5" name="Triangle"/>
          <p:cNvSpPr/>
          <p:nvPr/>
        </p:nvSpPr>
        <p:spPr>
          <a:xfrm rot="5400000">
            <a:off x="7266339" y="593353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6" name="Rectangle"/>
          <p:cNvSpPr/>
          <p:nvPr/>
        </p:nvSpPr>
        <p:spPr>
          <a:xfrm>
            <a:off x="9967629" y="4607588"/>
            <a:ext cx="1270001" cy="1801516"/>
          </a:xfrm>
          <a:prstGeom prst="rect">
            <a:avLst/>
          </a:pr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7" name="Triangle"/>
          <p:cNvSpPr/>
          <p:nvPr/>
        </p:nvSpPr>
        <p:spPr>
          <a:xfrm rot="5400000">
            <a:off x="9958739" y="5903643"/>
            <a:ext cx="368301" cy="3505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10800" y="0"/>
                </a:moveTo>
                <a:lnTo>
                  <a:pt x="21600" y="21600"/>
                </a:lnTo>
                <a:lnTo>
                  <a:pt x="0" y="21600"/>
                </a:lnTo>
                <a:close/>
              </a:path>
            </a:pathLst>
          </a:custGeom>
          <a:solidFill>
            <a:srgbClr val="FFFFFF"/>
          </a:solidFill>
          <a:ln w="381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28" name="D"/>
          <p:cNvSpPr txBox="1"/>
          <p:nvPr/>
        </p:nvSpPr>
        <p:spPr>
          <a:xfrm>
            <a:off x="4583522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29" name="Q"/>
          <p:cNvSpPr txBox="1"/>
          <p:nvPr/>
        </p:nvSpPr>
        <p:spPr>
          <a:xfrm>
            <a:off x="5410853" y="4660993"/>
            <a:ext cx="430411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0" name="D"/>
          <p:cNvSpPr txBox="1"/>
          <p:nvPr/>
        </p:nvSpPr>
        <p:spPr>
          <a:xfrm>
            <a:off x="7264814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31" name="Q"/>
          <p:cNvSpPr txBox="1"/>
          <p:nvPr/>
        </p:nvSpPr>
        <p:spPr>
          <a:xfrm>
            <a:off x="8092145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2" name="D"/>
          <p:cNvSpPr txBox="1"/>
          <p:nvPr/>
        </p:nvSpPr>
        <p:spPr>
          <a:xfrm>
            <a:off x="9958807" y="4660993"/>
            <a:ext cx="407790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D</a:t>
            </a:r>
          </a:p>
        </p:txBody>
      </p:sp>
      <p:sp>
        <p:nvSpPr>
          <p:cNvPr id="1133" name="Q"/>
          <p:cNvSpPr txBox="1"/>
          <p:nvPr/>
        </p:nvSpPr>
        <p:spPr>
          <a:xfrm>
            <a:off x="10786138" y="4660993"/>
            <a:ext cx="430412" cy="5842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r>
              <a:t>Q</a:t>
            </a:r>
          </a:p>
        </p:txBody>
      </p:sp>
      <p:sp>
        <p:nvSpPr>
          <p:cNvPr id="1134" name="Line"/>
          <p:cNvSpPr/>
          <p:nvPr/>
        </p:nvSpPr>
        <p:spPr>
          <a:xfrm>
            <a:off x="1534387" y="6105245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5" name="Line"/>
          <p:cNvSpPr/>
          <p:nvPr/>
        </p:nvSpPr>
        <p:spPr>
          <a:xfrm flipH="1">
            <a:off x="1534387" y="6093848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6" name="Line"/>
          <p:cNvSpPr/>
          <p:nvPr/>
        </p:nvSpPr>
        <p:spPr>
          <a:xfrm>
            <a:off x="4232723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7" name="Line"/>
          <p:cNvSpPr/>
          <p:nvPr/>
        </p:nvSpPr>
        <p:spPr>
          <a:xfrm>
            <a:off x="4232723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8" name="Line"/>
          <p:cNvSpPr/>
          <p:nvPr/>
        </p:nvSpPr>
        <p:spPr>
          <a:xfrm>
            <a:off x="69310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39" name="Line"/>
          <p:cNvSpPr/>
          <p:nvPr/>
        </p:nvSpPr>
        <p:spPr>
          <a:xfrm>
            <a:off x="69310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0" name="Line"/>
          <p:cNvSpPr/>
          <p:nvPr/>
        </p:nvSpPr>
        <p:spPr>
          <a:xfrm>
            <a:off x="9623459" y="6105897"/>
            <a:ext cx="350521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1" name="Line"/>
          <p:cNvSpPr/>
          <p:nvPr/>
        </p:nvSpPr>
        <p:spPr>
          <a:xfrm>
            <a:off x="9623459" y="6094499"/>
            <a:ext cx="1" cy="841163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2" name="Line"/>
          <p:cNvSpPr/>
          <p:nvPr/>
        </p:nvSpPr>
        <p:spPr>
          <a:xfrm>
            <a:off x="863073" y="6943445"/>
            <a:ext cx="8766120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3" name="clk"/>
          <p:cNvSpPr txBox="1"/>
          <p:nvPr/>
        </p:nvSpPr>
        <p:spPr>
          <a:xfrm>
            <a:off x="666709" y="6915801"/>
            <a:ext cx="617302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clk</a:t>
            </a:r>
          </a:p>
        </p:txBody>
      </p:sp>
      <p:sp>
        <p:nvSpPr>
          <p:cNvPr id="1144" name="Line"/>
          <p:cNvSpPr/>
          <p:nvPr/>
        </p:nvSpPr>
        <p:spPr>
          <a:xfrm flipV="1">
            <a:off x="1324116" y="3546442"/>
            <a:ext cx="1" cy="140936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45" name="Line"/>
          <p:cNvSpPr/>
          <p:nvPr/>
        </p:nvSpPr>
        <p:spPr>
          <a:xfrm flipH="1" flipV="1">
            <a:off x="1324116" y="3556432"/>
            <a:ext cx="3190028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grpSp>
        <p:nvGrpSpPr>
          <p:cNvPr id="1148" name="Group"/>
          <p:cNvGrpSpPr/>
          <p:nvPr/>
        </p:nvGrpSpPr>
        <p:grpSpPr>
          <a:xfrm>
            <a:off x="4532174" y="3166371"/>
            <a:ext cx="983938" cy="780118"/>
            <a:chOff x="0" y="0"/>
            <a:chExt cx="983936" cy="780116"/>
          </a:xfrm>
        </p:grpSpPr>
        <p:sp>
          <p:nvSpPr>
            <p:cNvPr id="1146" name="Shape"/>
            <p:cNvSpPr/>
            <p:nvPr/>
          </p:nvSpPr>
          <p:spPr>
            <a:xfrm rot="10800000">
              <a:off x="-1" y="0"/>
              <a:ext cx="841590" cy="78011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441" h="21600" extrusionOk="0">
                  <a:moveTo>
                    <a:pt x="0" y="0"/>
                  </a:moveTo>
                  <a:cubicBezTo>
                    <a:pt x="3847" y="2001"/>
                    <a:pt x="6286" y="6234"/>
                    <a:pt x="6263" y="10869"/>
                  </a:cubicBezTo>
                  <a:cubicBezTo>
                    <a:pt x="6240" y="15455"/>
                    <a:pt x="3808" y="19623"/>
                    <a:pt x="0" y="21600"/>
                  </a:cubicBezTo>
                  <a:cubicBezTo>
                    <a:pt x="4027" y="20643"/>
                    <a:pt x="7906" y="19793"/>
                    <a:pt x="11741" y="19018"/>
                  </a:cubicBezTo>
                  <a:cubicBezTo>
                    <a:pt x="16228" y="18111"/>
                    <a:pt x="21285" y="16281"/>
                    <a:pt x="21437" y="11339"/>
                  </a:cubicBezTo>
                  <a:cubicBezTo>
                    <a:pt x="21600" y="6073"/>
                    <a:pt x="16411" y="3944"/>
                    <a:pt x="11803" y="2826"/>
                  </a:cubicBezTo>
                  <a:cubicBezTo>
                    <a:pt x="7962" y="1895"/>
                    <a:pt x="4099" y="964"/>
                    <a:pt x="0" y="0"/>
                  </a:cubicBezTo>
                  <a:close/>
                </a:path>
              </a:pathLst>
            </a:custGeom>
            <a:solidFill>
              <a:srgbClr val="FFFFFF"/>
            </a:solidFill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1147" name="Line"/>
            <p:cNvSpPr/>
            <p:nvPr/>
          </p:nvSpPr>
          <p:spPr>
            <a:xfrm>
              <a:off x="699203" y="29910"/>
              <a:ext cx="284734" cy="743547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537" h="21600" extrusionOk="0">
                  <a:moveTo>
                    <a:pt x="21537" y="0"/>
                  </a:moveTo>
                  <a:cubicBezTo>
                    <a:pt x="8749" y="1382"/>
                    <a:pt x="-63" y="5872"/>
                    <a:pt x="1" y="10974"/>
                  </a:cubicBezTo>
                  <a:cubicBezTo>
                    <a:pt x="61" y="15792"/>
                    <a:pt x="8086" y="20062"/>
                    <a:pt x="19972" y="21600"/>
                  </a:cubicBezTo>
                </a:path>
              </a:pathLst>
            </a:cu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1149" name="Line"/>
          <p:cNvSpPr/>
          <p:nvPr/>
        </p:nvSpPr>
        <p:spPr>
          <a:xfrm flipH="1" flipV="1">
            <a:off x="5297946" y="3773586"/>
            <a:ext cx="391199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0" name="Line"/>
          <p:cNvSpPr/>
          <p:nvPr/>
        </p:nvSpPr>
        <p:spPr>
          <a:xfrm flipH="1" flipV="1">
            <a:off x="5297946" y="3367186"/>
            <a:ext cx="6491743" cy="1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1" name="Line"/>
          <p:cNvSpPr/>
          <p:nvPr/>
        </p:nvSpPr>
        <p:spPr>
          <a:xfrm flipV="1">
            <a:off x="9206425" y="3760886"/>
            <a:ext cx="1" cy="1207617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2" name="Line"/>
          <p:cNvSpPr/>
          <p:nvPr/>
        </p:nvSpPr>
        <p:spPr>
          <a:xfrm flipV="1">
            <a:off x="11797225" y="3354486"/>
            <a:ext cx="1" cy="1611308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53" name="1"/>
          <p:cNvSpPr txBox="1"/>
          <p:nvPr/>
        </p:nvSpPr>
        <p:spPr>
          <a:xfrm>
            <a:off x="23120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1</a:t>
            </a:r>
          </a:p>
        </p:txBody>
      </p:sp>
      <p:sp>
        <p:nvSpPr>
          <p:cNvPr id="1154" name="0"/>
          <p:cNvSpPr txBox="1"/>
          <p:nvPr/>
        </p:nvSpPr>
        <p:spPr>
          <a:xfrm>
            <a:off x="50044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5" name="0"/>
          <p:cNvSpPr txBox="1"/>
          <p:nvPr/>
        </p:nvSpPr>
        <p:spPr>
          <a:xfrm>
            <a:off x="7696844" y="5176285"/>
            <a:ext cx="426772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6" name="0"/>
          <p:cNvSpPr txBox="1"/>
          <p:nvPr/>
        </p:nvSpPr>
        <p:spPr>
          <a:xfrm>
            <a:off x="10389244" y="5176285"/>
            <a:ext cx="426771" cy="7239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4100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defRPr>
            </a:lvl1pPr>
          </a:lstStyle>
          <a:p>
            <a:pPr>
              <a:defRPr>
                <a:solidFill>
                  <a:srgbClr val="000000"/>
                </a:solidFill>
                <a:latin typeface="+mn-lt"/>
                <a:ea typeface="+mn-ea"/>
                <a:cs typeface="+mn-cs"/>
                <a:sym typeface="Helvetica"/>
              </a:defRPr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0</a:t>
            </a:r>
          </a:p>
        </p:txBody>
      </p:sp>
      <p:sp>
        <p:nvSpPr>
          <p:cNvPr id="1157" name="This LFSR corresponds to the polynomial 1 + x3 + x4. Other LSFRs are possible, with different polynomials."/>
          <p:cNvSpPr txBox="1">
            <a:spLocks noGrp="1"/>
          </p:cNvSpPr>
          <p:nvPr>
            <p:ph type="body" sz="quarter" idx="1"/>
          </p:nvPr>
        </p:nvSpPr>
        <p:spPr>
          <a:xfrm>
            <a:off x="952500" y="7768945"/>
            <a:ext cx="11099800" cy="1203605"/>
          </a:xfrm>
          <a:prstGeom prst="rect">
            <a:avLst/>
          </a:prstGeom>
        </p:spPr>
        <p:txBody>
          <a:bodyPr/>
          <a:lstStyle/>
          <a:p>
            <a:r>
              <a:t>This LFSR corresponds to the polynomial 1 + x</a:t>
            </a:r>
            <a:r>
              <a:rPr baseline="31999"/>
              <a:t>3</a:t>
            </a:r>
            <a:r>
              <a:t> + x</a:t>
            </a:r>
            <a:r>
              <a:rPr baseline="31999"/>
              <a:t>4</a:t>
            </a:r>
            <a:r>
              <a:t>. Other LSFRs are possible, with different polynomials.</a:t>
            </a:r>
          </a:p>
        </p:txBody>
      </p:sp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" grpId="1" animBg="1" advAuto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9" name="Linear feedback shift register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>
            <a:lvl1pPr defTabSz="490727">
              <a:defRPr sz="6719"/>
            </a:lvl1pPr>
          </a:lstStyle>
          <a:p>
            <a:r>
              <a:t>Linear feedback shift register</a:t>
            </a:r>
          </a:p>
        </p:txBody>
      </p:sp>
      <p:sp>
        <p:nvSpPr>
          <p:cNvPr id="116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55</a:t>
            </a:fld>
            <a:endParaRPr/>
          </a:p>
        </p:txBody>
      </p:sp>
      <p:sp>
        <p:nvSpPr>
          <p:cNvPr id="1161" name="module lfsr4 (data_out, clk);…"/>
          <p:cNvSpPr txBox="1"/>
          <p:nvPr/>
        </p:nvSpPr>
        <p:spPr>
          <a:xfrm>
            <a:off x="2588902" y="4089400"/>
            <a:ext cx="7651708" cy="3302001"/>
          </a:xfrm>
          <a:prstGeom prst="rect">
            <a:avLst/>
          </a:prstGeom>
          <a:solidFill>
            <a:srgbClr val="E9E6BF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/>
          <a:p>
            <a:pPr algn="l">
              <a:defRPr sz="2300"/>
            </a:pP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module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lfsr4 (data_out, clk);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output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data_out;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input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reg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[4:1] sreg;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initial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sreg = 4'b1;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always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@ (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posedge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clk)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  sreg &lt;= {sreg[3:1], sreg[4] ^ sreg[3]};</a:t>
            </a:r>
          </a:p>
          <a:p>
            <a:pPr algn="l">
              <a:defRPr sz="2300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 </a:t>
            </a:r>
            <a:r>
              <a:rPr b="1"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assign</a:t>
            </a: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 data_out = sreg;</a:t>
            </a:r>
          </a:p>
          <a:p>
            <a:pPr algn="l">
              <a:defRPr sz="2300" b="1"/>
            </a:pPr>
            <a:r>
              <a:rPr>
                <a:solidFill>
                  <a:schemeClr val="accent6">
                    <a:satOff val="-15808"/>
                    <a:lumOff val="-17557"/>
                  </a:schemeClr>
                </a:solidFill>
                <a:latin typeface="Courier"/>
                <a:ea typeface="Courier"/>
                <a:cs typeface="Courier"/>
                <a:sym typeface="Courier"/>
              </a:rPr>
              <a:t>endmodule</a:t>
            </a:r>
          </a:p>
        </p:txBody>
      </p:sp>
    </p:spTree>
  </p:cSld>
  <p:clrMapOvr>
    <a:masterClrMapping/>
  </p:clrMapOvr>
  <p:transition spd="med"/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3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116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t>56</a:t>
            </a:fld>
            <a:endParaRPr/>
          </a:p>
        </p:txBody>
      </p:sp>
    </p:spTree>
  </p:cSld>
  <p:clrMapOvr>
    <a:masterClrMapping/>
  </p:clrMapOvr>
  <p:transition spd="med"/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116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57</a:t>
            </a:fld>
            <a:endParaRPr/>
          </a:p>
        </p:txBody>
      </p:sp>
      <p:graphicFrame>
        <p:nvGraphicFramePr>
          <p:cNvPr id="1168" name="Table 1"/>
          <p:cNvGraphicFramePr/>
          <p:nvPr/>
        </p:nvGraphicFramePr>
        <p:xfrm>
          <a:off x="2961648" y="2672742"/>
          <a:ext cx="7081501" cy="6911512"/>
        </p:xfrm>
        <a:graphic>
          <a:graphicData uri="http://schemas.openxmlformats.org/drawingml/2006/table">
            <a:tbl>
              <a:tblPr>
                <a:tableStyleId>{4A9BC294-FFE2-49D5-8D69-9E1BD2C41BD5}</a:tableStyleId>
              </a:tblPr>
              <a:tblGrid>
                <a:gridCol w="12288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88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3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57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61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24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38236"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binary-coded decimal (BCD)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8-bit binary</a:t>
                      </a:r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hundreds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tens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1800"/>
                      </a:pPr>
                      <a:r>
                        <a:rPr sz="2100"/>
                        <a:t>units</a:t>
                      </a:r>
                    </a:p>
                  </a:txBody>
                  <a:tcPr marL="50800" marR="50800" marT="50800" marB="50800" anchor="ctr" horzOverflow="overflow">
                    <a:lnL w="0">
                      <a:miter lim="400000"/>
                    </a:lnL>
                    <a:lnT w="0">
                      <a:miter lim="400000"/>
                    </a:lnT>
                  </a:tcPr>
                </a:tc>
                <a:tc gridSpan="2">
                  <a:txBody>
                    <a:bodyPr/>
                    <a:lstStyle/>
                    <a:p>
                      <a:pPr algn="ctr">
                        <a:spcBef>
                          <a:spcPts val="4200"/>
                        </a:spcBef>
                        <a:defRPr sz="2100"/>
                      </a:pPr>
                      <a:endParaRPr/>
                    </a:p>
                  </a:txBody>
                  <a:tcPr marL="50800" marR="50800" marT="50800" marB="50800" anchor="ctr" horzOverflow="overflow">
                    <a:lnR w="0">
                      <a:miter lim="400000"/>
                    </a:lnR>
                    <a:lnT w="0">
                      <a:miter lim="400000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1111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1110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add 3: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1001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E9E6B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</a:t>
                      </a:r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438236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rPr sz="2100"/>
                        <a:t>shift: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1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0010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3300"/>
                      </a:pPr>
                      <a:r>
                        <a:rPr>
                          <a:solidFill>
                            <a:schemeClr val="accent6">
                              <a:satOff val="-15808"/>
                              <a:lumOff val="-17557"/>
                            </a:schemeClr>
                          </a:solidFill>
                          <a:latin typeface="Courier"/>
                          <a:ea typeface="Courier"/>
                          <a:cs typeface="Courier"/>
                          <a:sym typeface="Courier"/>
                        </a:rPr>
                        <a:t>0100</a:t>
                      </a:r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 sz="3300"/>
                      </a:pPr>
                      <a:endParaRPr/>
                    </a:p>
                  </a:txBody>
                  <a:tcPr marL="0" marR="0" marT="0" marB="0" anchor="ctr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68" grpId="1" animBg="1" advAuto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58</a:t>
            </a:fld>
            <a:endParaRPr/>
          </a:p>
        </p:txBody>
      </p:sp>
      <p:sp>
        <p:nvSpPr>
          <p:cNvPr id="1171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172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3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4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5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6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7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8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79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0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1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2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3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4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5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6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7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8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89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0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1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2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3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194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5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196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7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8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199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0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1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2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3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4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5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6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7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8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09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0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1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2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3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4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5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6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7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18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19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20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1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2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3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4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5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6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7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8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29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0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1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2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3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34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5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36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7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8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39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0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1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2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3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4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5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6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47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48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49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50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1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52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3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4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5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6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7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8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59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0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1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2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3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4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5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66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7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8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69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0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1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2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3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4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5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6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77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78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79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280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1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2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3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4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5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6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7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8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89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90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291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2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3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4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5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6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7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8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299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0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1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2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3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4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305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6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7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8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09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0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1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2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3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4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5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16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317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318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319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0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1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2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3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4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5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6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7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8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29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0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1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2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3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4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5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6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7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8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39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0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1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2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3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4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5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6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7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8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49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0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1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2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3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4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5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6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7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8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59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0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1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2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3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4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5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6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7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8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69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0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1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2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3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4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5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6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7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8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79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0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1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2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3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4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5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6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7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8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89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0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1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2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3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4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5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6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7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8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399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0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1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2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3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4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5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6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7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8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09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0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1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2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3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4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5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6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7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8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19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0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1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2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3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4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5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6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7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28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29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0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59</a:t>
            </a:fld>
            <a:endParaRPr/>
          </a:p>
        </p:txBody>
      </p:sp>
      <p:sp>
        <p:nvSpPr>
          <p:cNvPr id="1433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434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5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3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8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49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0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1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2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3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4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5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56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7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58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5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6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1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2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3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4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5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6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77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78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79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80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1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82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3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4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5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6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7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8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89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0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1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2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3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4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5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496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7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49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49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4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5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6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7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8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09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0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1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1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1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1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0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1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2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3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4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5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6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7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28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29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0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1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2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3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4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5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6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7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8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39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0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1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42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3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4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5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6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7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8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49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0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1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2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553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4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5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6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7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8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59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0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1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2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3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4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5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6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567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8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69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0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1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2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3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4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5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6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7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78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579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580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581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2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3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4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5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6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7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8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89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0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1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2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3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4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5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6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7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8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599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0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1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2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3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4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5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6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7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8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09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0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1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2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3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4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5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6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7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8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19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0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1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2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3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4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5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6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7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8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29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0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1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2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3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4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5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6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7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8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39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0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1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2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3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4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5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6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7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8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49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0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1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2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3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4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5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6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7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8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59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0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1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2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3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4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5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6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7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8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69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0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1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2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3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4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chemeClr val="accent6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6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7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8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79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0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1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2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3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4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5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6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7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88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89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690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1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2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5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6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7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8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699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0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1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2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3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4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5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6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7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8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09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0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1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2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3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4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5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6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7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8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19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0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1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60</a:t>
            </a:fld>
            <a:endParaRPr/>
          </a:p>
        </p:txBody>
      </p:sp>
      <p:sp>
        <p:nvSpPr>
          <p:cNvPr id="1723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724" name="Line"/>
          <p:cNvSpPr/>
          <p:nvPr/>
        </p:nvSpPr>
        <p:spPr>
          <a:xfrm>
            <a:off x="3794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5" name="Line"/>
          <p:cNvSpPr/>
          <p:nvPr/>
        </p:nvSpPr>
        <p:spPr>
          <a:xfrm>
            <a:off x="4365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2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8" name="Line"/>
          <p:cNvSpPr/>
          <p:nvPr/>
        </p:nvSpPr>
        <p:spPr>
          <a:xfrm>
            <a:off x="949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39" name="Line"/>
          <p:cNvSpPr/>
          <p:nvPr/>
        </p:nvSpPr>
        <p:spPr>
          <a:xfrm>
            <a:off x="1508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0" name="Line"/>
          <p:cNvSpPr/>
          <p:nvPr/>
        </p:nvSpPr>
        <p:spPr>
          <a:xfrm>
            <a:off x="2079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1" name="Line"/>
          <p:cNvSpPr/>
          <p:nvPr/>
        </p:nvSpPr>
        <p:spPr>
          <a:xfrm>
            <a:off x="2638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2" name="Line"/>
          <p:cNvSpPr/>
          <p:nvPr/>
        </p:nvSpPr>
        <p:spPr>
          <a:xfrm>
            <a:off x="3209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3" name="adjust"/>
          <p:cNvSpPr/>
          <p:nvPr/>
        </p:nvSpPr>
        <p:spPr>
          <a:xfrm>
            <a:off x="52813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4" name="adjust"/>
          <p:cNvSpPr/>
          <p:nvPr/>
        </p:nvSpPr>
        <p:spPr>
          <a:xfrm>
            <a:off x="30080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5" name="adjust"/>
          <p:cNvSpPr/>
          <p:nvPr/>
        </p:nvSpPr>
        <p:spPr>
          <a:xfrm>
            <a:off x="747414" y="24701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46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7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48" name="Line"/>
          <p:cNvSpPr/>
          <p:nvPr/>
        </p:nvSpPr>
        <p:spPr>
          <a:xfrm>
            <a:off x="381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4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5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1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2" name="Line"/>
          <p:cNvSpPr/>
          <p:nvPr/>
        </p:nvSpPr>
        <p:spPr>
          <a:xfrm>
            <a:off x="975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3" name="Line"/>
          <p:cNvSpPr/>
          <p:nvPr/>
        </p:nvSpPr>
        <p:spPr>
          <a:xfrm>
            <a:off x="1533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4" name="Line"/>
          <p:cNvSpPr/>
          <p:nvPr/>
        </p:nvSpPr>
        <p:spPr>
          <a:xfrm>
            <a:off x="2105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5" name="Line"/>
          <p:cNvSpPr/>
          <p:nvPr/>
        </p:nvSpPr>
        <p:spPr>
          <a:xfrm>
            <a:off x="2664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6" name="Line"/>
          <p:cNvSpPr/>
          <p:nvPr/>
        </p:nvSpPr>
        <p:spPr>
          <a:xfrm>
            <a:off x="3235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67" name="adjust"/>
          <p:cNvSpPr/>
          <p:nvPr/>
        </p:nvSpPr>
        <p:spPr>
          <a:xfrm>
            <a:off x="53071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68" name="adjust"/>
          <p:cNvSpPr/>
          <p:nvPr/>
        </p:nvSpPr>
        <p:spPr>
          <a:xfrm>
            <a:off x="30338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69" name="adjust"/>
          <p:cNvSpPr/>
          <p:nvPr/>
        </p:nvSpPr>
        <p:spPr>
          <a:xfrm>
            <a:off x="773239" y="33718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70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1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72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3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4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5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6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7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8" name="Line"/>
          <p:cNvSpPr/>
          <p:nvPr/>
        </p:nvSpPr>
        <p:spPr>
          <a:xfrm>
            <a:off x="9746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79" name="Line"/>
          <p:cNvSpPr/>
          <p:nvPr/>
        </p:nvSpPr>
        <p:spPr>
          <a:xfrm>
            <a:off x="1533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0" name="Line"/>
          <p:cNvSpPr/>
          <p:nvPr/>
        </p:nvSpPr>
        <p:spPr>
          <a:xfrm>
            <a:off x="2104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1" name="Line"/>
          <p:cNvSpPr/>
          <p:nvPr/>
        </p:nvSpPr>
        <p:spPr>
          <a:xfrm>
            <a:off x="2663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2" name="Line"/>
          <p:cNvSpPr/>
          <p:nvPr/>
        </p:nvSpPr>
        <p:spPr>
          <a:xfrm>
            <a:off x="3235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3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4" name="adjust"/>
          <p:cNvSpPr/>
          <p:nvPr/>
        </p:nvSpPr>
        <p:spPr>
          <a:xfrm>
            <a:off x="30334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5" name="adjust"/>
          <p:cNvSpPr/>
          <p:nvPr/>
        </p:nvSpPr>
        <p:spPr>
          <a:xfrm>
            <a:off x="7728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786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7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78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8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4" name="Line"/>
          <p:cNvSpPr/>
          <p:nvPr/>
        </p:nvSpPr>
        <p:spPr>
          <a:xfrm>
            <a:off x="9873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5" name="Line"/>
          <p:cNvSpPr/>
          <p:nvPr/>
        </p:nvSpPr>
        <p:spPr>
          <a:xfrm>
            <a:off x="1546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6" name="Line"/>
          <p:cNvSpPr/>
          <p:nvPr/>
        </p:nvSpPr>
        <p:spPr>
          <a:xfrm>
            <a:off x="2117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7" name="Line"/>
          <p:cNvSpPr/>
          <p:nvPr/>
        </p:nvSpPr>
        <p:spPr>
          <a:xfrm>
            <a:off x="2676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8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799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0" name="adjust"/>
          <p:cNvSpPr/>
          <p:nvPr/>
        </p:nvSpPr>
        <p:spPr>
          <a:xfrm>
            <a:off x="30461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1" name="adjust"/>
          <p:cNvSpPr/>
          <p:nvPr/>
        </p:nvSpPr>
        <p:spPr>
          <a:xfrm>
            <a:off x="7855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0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0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0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0" name="Line"/>
          <p:cNvSpPr/>
          <p:nvPr/>
        </p:nvSpPr>
        <p:spPr>
          <a:xfrm>
            <a:off x="9873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1" name="Line"/>
          <p:cNvSpPr/>
          <p:nvPr/>
        </p:nvSpPr>
        <p:spPr>
          <a:xfrm>
            <a:off x="1546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2" name="Line"/>
          <p:cNvSpPr/>
          <p:nvPr/>
        </p:nvSpPr>
        <p:spPr>
          <a:xfrm>
            <a:off x="2117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3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4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5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6" name="adjust"/>
          <p:cNvSpPr/>
          <p:nvPr/>
        </p:nvSpPr>
        <p:spPr>
          <a:xfrm>
            <a:off x="30461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7" name="adjust"/>
          <p:cNvSpPr/>
          <p:nvPr/>
        </p:nvSpPr>
        <p:spPr>
          <a:xfrm>
            <a:off x="7855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18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19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0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1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2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3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4" name="Line"/>
          <p:cNvSpPr/>
          <p:nvPr/>
        </p:nvSpPr>
        <p:spPr>
          <a:xfrm>
            <a:off x="9746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5" name="Line"/>
          <p:cNvSpPr/>
          <p:nvPr/>
        </p:nvSpPr>
        <p:spPr>
          <a:xfrm>
            <a:off x="1533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6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7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8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29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0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1" name="adjust"/>
          <p:cNvSpPr/>
          <p:nvPr/>
        </p:nvSpPr>
        <p:spPr>
          <a:xfrm>
            <a:off x="7728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32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3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4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5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6" name="0"/>
          <p:cNvSpPr txBox="1"/>
          <p:nvPr/>
        </p:nvSpPr>
        <p:spPr>
          <a:xfrm>
            <a:off x="47874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7" name="0"/>
          <p:cNvSpPr txBox="1"/>
          <p:nvPr/>
        </p:nvSpPr>
        <p:spPr>
          <a:xfrm>
            <a:off x="42244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8" name="0"/>
          <p:cNvSpPr txBox="1"/>
          <p:nvPr/>
        </p:nvSpPr>
        <p:spPr>
          <a:xfrm>
            <a:off x="36699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39" name="0"/>
          <p:cNvSpPr txBox="1"/>
          <p:nvPr/>
        </p:nvSpPr>
        <p:spPr>
          <a:xfrm>
            <a:off x="30729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0" name="0"/>
          <p:cNvSpPr txBox="1"/>
          <p:nvPr/>
        </p:nvSpPr>
        <p:spPr>
          <a:xfrm>
            <a:off x="250995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1" name="0"/>
          <p:cNvSpPr txBox="1"/>
          <p:nvPr/>
        </p:nvSpPr>
        <p:spPr>
          <a:xfrm>
            <a:off x="1955474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2" name="0"/>
          <p:cNvSpPr txBox="1"/>
          <p:nvPr/>
        </p:nvSpPr>
        <p:spPr>
          <a:xfrm>
            <a:off x="138387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843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4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5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6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7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8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49" name="Line"/>
          <p:cNvSpPr/>
          <p:nvPr/>
        </p:nvSpPr>
        <p:spPr>
          <a:xfrm>
            <a:off x="9888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0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1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2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3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4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5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6" name="adjust"/>
          <p:cNvSpPr/>
          <p:nvPr/>
        </p:nvSpPr>
        <p:spPr>
          <a:xfrm>
            <a:off x="7870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1857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8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59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0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1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2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3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4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5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6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7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68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1869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1870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1871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2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3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4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5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6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7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8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79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0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1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2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3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4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5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6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7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8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89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0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1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2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3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4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5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6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7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8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899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0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1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2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3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4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5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6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7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8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09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0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1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2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3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4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5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6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7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8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19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0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1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2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3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4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5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6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7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8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29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0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1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2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3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4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5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6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7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8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39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0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1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2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3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4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5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6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7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8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49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0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1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2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3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4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5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6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7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8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59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0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1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2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3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4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6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7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8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69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0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1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2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3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4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5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6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7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78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79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1980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1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2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 advClick="0" advTm="0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" dur="1250" fill="hold"/>
                                        <p:tgtEl>
                                          <p:spTgt spid="17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22" presetClass="exit" presetSubtype="4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" dur="1250" fill="hold"/>
                                        <p:tgtEl>
                                          <p:spTgt spid="17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xit" presetSubtype="4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" dur="1250" fill="hold"/>
                                        <p:tgtEl>
                                          <p:spTgt spid="17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xit" presetSubtype="4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" dur="1250" fill="hold"/>
                                        <p:tgtEl>
                                          <p:spTgt spid="17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22" presetClass="exit" presetSubtype="4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" dur="1250" fill="hold"/>
                                        <p:tgtEl>
                                          <p:spTgt spid="17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50"/>
                            </p:stCondLst>
                            <p:childTnLst>
                              <p:par>
                                <p:cTn id="25" presetID="22" presetClass="exit" presetSubtype="4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" dur="1250" fill="hold"/>
                                        <p:tgtEl>
                                          <p:spTgt spid="17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22" presetClass="exit" presetSubtype="4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0" dur="1250" fill="hold"/>
                                        <p:tgtEl>
                                          <p:spTgt spid="17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750"/>
                            </p:stCondLst>
                            <p:childTnLst>
                              <p:par>
                                <p:cTn id="33" presetID="22" presetClass="exit" presetSubtype="4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4" dur="1250" fill="hold"/>
                                        <p:tgtEl>
                                          <p:spTgt spid="17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22" presetClass="exit" presetSubtype="4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8" dur="1250" fill="hold"/>
                                        <p:tgtEl>
                                          <p:spTgt spid="180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250"/>
                            </p:stCondLst>
                            <p:childTnLst>
                              <p:par>
                                <p:cTn id="41" presetID="22" presetClass="exit" presetSubtype="4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2" dur="1250" fill="hold"/>
                                        <p:tgtEl>
                                          <p:spTgt spid="18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500"/>
                            </p:stCondLst>
                            <p:childTnLst>
                              <p:par>
                                <p:cTn id="45" presetID="22" presetClass="exit" presetSubtype="4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6" dur="1250" fill="hold"/>
                                        <p:tgtEl>
                                          <p:spTgt spid="18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3750"/>
                            </p:stCondLst>
                            <p:childTnLst>
                              <p:par>
                                <p:cTn id="49" presetID="22" presetClass="exit" presetSubtype="4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0" dur="1250" fill="hold"/>
                                        <p:tgtEl>
                                          <p:spTgt spid="18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22" presetClass="exit" presetSubtype="4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4" dur="1250" fill="hold"/>
                                        <p:tgtEl>
                                          <p:spTgt spid="18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250"/>
                            </p:stCondLst>
                            <p:childTnLst>
                              <p:par>
                                <p:cTn id="57" presetID="22" presetClass="exit" presetSubtype="4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8" dur="1250" fill="hold"/>
                                        <p:tgtEl>
                                          <p:spTgt spid="185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0"/>
                            </p:stCondLst>
                            <p:childTnLst>
                              <p:par>
                                <p:cTn id="61" presetID="22" presetClass="exit" presetSubtype="4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2" dur="1250" fill="hold"/>
                                        <p:tgtEl>
                                          <p:spTgt spid="18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750"/>
                            </p:stCondLst>
                            <p:childTnLst>
                              <p:par>
                                <p:cTn id="65" presetID="22" presetClass="exit" presetSubtype="4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6" dur="1250" fill="hold"/>
                                        <p:tgtEl>
                                          <p:spTgt spid="17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id="69" presetID="22" presetClass="exit" presetSubtype="4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0" dur="1250" fill="hold"/>
                                        <p:tgtEl>
                                          <p:spTgt spid="17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250"/>
                            </p:stCondLst>
                            <p:childTnLst>
                              <p:par>
                                <p:cTn id="73" presetID="22" presetClass="exit" presetSubtype="4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4" dur="1250" fill="hold"/>
                                        <p:tgtEl>
                                          <p:spTgt spid="177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2500"/>
                            </p:stCondLst>
                            <p:childTnLst>
                              <p:par>
                                <p:cTn id="77" presetID="22" presetClass="exit" presetSubtype="4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8" dur="1250" fill="hold"/>
                                        <p:tgtEl>
                                          <p:spTgt spid="17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3750"/>
                            </p:stCondLst>
                            <p:childTnLst>
                              <p:par>
                                <p:cTn id="81" presetID="22" presetClass="exit" presetSubtype="4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2" dur="1250" fill="hold"/>
                                        <p:tgtEl>
                                          <p:spTgt spid="18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0"/>
                            </p:stCondLst>
                            <p:childTnLst>
                              <p:par>
                                <p:cTn id="85" presetID="22" presetClass="exit" presetSubtype="4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6" dur="1250" fill="hold"/>
                                        <p:tgtEl>
                                          <p:spTgt spid="18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6250"/>
                            </p:stCondLst>
                            <p:childTnLst>
                              <p:par>
                                <p:cTn id="89" presetID="22" presetClass="exit" presetSubtype="4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0" dur="1250" fill="hold"/>
                                        <p:tgtEl>
                                          <p:spTgt spid="184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7500"/>
                            </p:stCondLst>
                            <p:childTnLst>
                              <p:par>
                                <p:cTn id="93" presetID="22" presetClass="exit" presetSubtype="4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4" dur="1250" fill="hold"/>
                                        <p:tgtEl>
                                          <p:spTgt spid="18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8750"/>
                            </p:stCondLst>
                            <p:childTnLst>
                              <p:par>
                                <p:cTn id="97" presetID="22" presetClass="exit" presetSubtype="4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8" dur="1250" fill="hold"/>
                                        <p:tgtEl>
                                          <p:spTgt spid="18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0000"/>
                            </p:stCondLst>
                            <p:childTnLst>
                              <p:par>
                                <p:cTn id="101" presetID="22" presetClass="exit" presetSubtype="4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2" dur="1250" fill="hold"/>
                                        <p:tgtEl>
                                          <p:spTgt spid="18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1250"/>
                            </p:stCondLst>
                            <p:childTnLst>
                              <p:par>
                                <p:cTn id="105" presetID="22" presetClass="exit" presetSubtype="4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6" dur="1250" fill="hold"/>
                                        <p:tgtEl>
                                          <p:spTgt spid="18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0"/>
                            </p:stCondLst>
                            <p:childTnLst>
                              <p:par>
                                <p:cTn id="109" presetID="22" presetClass="exit" presetSubtype="4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0" dur="1250" fill="hold"/>
                                        <p:tgtEl>
                                          <p:spTgt spid="18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33750"/>
                            </p:stCondLst>
                            <p:childTnLst>
                              <p:par>
                                <p:cTn id="113" presetID="22" presetClass="exit" presetSubtype="4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4" dur="1250" fill="hold"/>
                                        <p:tgtEl>
                                          <p:spTgt spid="17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5000"/>
                            </p:stCondLst>
                            <p:childTnLst>
                              <p:par>
                                <p:cTn id="117" presetID="22" presetClass="exit" presetSubtype="4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8" dur="1250" fill="hold"/>
                                        <p:tgtEl>
                                          <p:spTgt spid="174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6250"/>
                            </p:stCondLst>
                            <p:childTnLst>
                              <p:par>
                                <p:cTn id="121" presetID="22" presetClass="exit" presetSubtype="4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2" dur="1250" fill="hold"/>
                                        <p:tgtEl>
                                          <p:spTgt spid="17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37500"/>
                            </p:stCondLst>
                            <p:childTnLst>
                              <p:par>
                                <p:cTn id="125" presetID="22" presetClass="exit" presetSubtype="4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6" dur="1250" fill="hold"/>
                                        <p:tgtEl>
                                          <p:spTgt spid="17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8750"/>
                            </p:stCondLst>
                            <p:childTnLst>
                              <p:par>
                                <p:cTn id="129" presetID="22" presetClass="exit" presetSubtype="4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0" dur="1250" fill="hold"/>
                                        <p:tgtEl>
                                          <p:spTgt spid="17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000"/>
                            </p:stCondLst>
                            <p:childTnLst>
                              <p:par>
                                <p:cTn id="133" presetID="22" presetClass="exit" presetSubtype="4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4" dur="1250" fill="hold"/>
                                        <p:tgtEl>
                                          <p:spTgt spid="17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41250"/>
                            </p:stCondLst>
                            <p:childTnLst>
                              <p:par>
                                <p:cTn id="137" presetID="22" presetClass="exit" presetSubtype="4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8" dur="1250" fill="hold"/>
                                        <p:tgtEl>
                                          <p:spTgt spid="176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500"/>
                            </p:stCondLst>
                            <p:childTnLst>
                              <p:par>
                                <p:cTn id="141" presetID="22" presetClass="exit" presetSubtype="4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2" dur="1250" fill="hold"/>
                                        <p:tgtEl>
                                          <p:spTgt spid="17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43750"/>
                            </p:stCondLst>
                            <p:childTnLst>
                              <p:par>
                                <p:cTn id="145" presetID="22" presetClass="exit" presetSubtype="4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6" dur="1250" fill="hold"/>
                                        <p:tgtEl>
                                          <p:spTgt spid="17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45000"/>
                            </p:stCondLst>
                            <p:childTnLst>
                              <p:par>
                                <p:cTn id="149" presetID="22" presetClass="exit" presetSubtype="4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0" dur="1250" fill="hold"/>
                                        <p:tgtEl>
                                          <p:spTgt spid="17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46250"/>
                            </p:stCondLst>
                            <p:childTnLst>
                              <p:par>
                                <p:cTn id="153" presetID="22" presetClass="exit" presetSubtype="4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4" dur="1250" fill="hold"/>
                                        <p:tgtEl>
                                          <p:spTgt spid="17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47500"/>
                            </p:stCondLst>
                            <p:childTnLst>
                              <p:par>
                                <p:cTn id="157" presetID="22" presetClass="exit" presetSubtype="4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8" dur="1250" fill="hold"/>
                                        <p:tgtEl>
                                          <p:spTgt spid="17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48750"/>
                            </p:stCondLst>
                            <p:childTnLst>
                              <p:par>
                                <p:cTn id="161" presetID="22" presetClass="exit" presetSubtype="4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2" dur="1250" fill="hold"/>
                                        <p:tgtEl>
                                          <p:spTgt spid="17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00"/>
                            </p:stCondLst>
                            <p:childTnLst>
                              <p:par>
                                <p:cTn id="165" presetID="22" presetClass="exit" presetSubtype="4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6" dur="1250" fill="hold"/>
                                        <p:tgtEl>
                                          <p:spTgt spid="17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51250"/>
                            </p:stCondLst>
                            <p:childTnLst>
                              <p:par>
                                <p:cTn id="169" presetID="22" presetClass="exit" presetSubtype="4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0" dur="1250" fill="hold"/>
                                        <p:tgtEl>
                                          <p:spTgt spid="17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2500"/>
                            </p:stCondLst>
                            <p:childTnLst>
                              <p:par>
                                <p:cTn id="173" presetID="22" presetClass="exit" presetSubtype="4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4" dur="1250" fill="hold"/>
                                        <p:tgtEl>
                                          <p:spTgt spid="179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53750"/>
                            </p:stCondLst>
                            <p:childTnLst>
                              <p:par>
                                <p:cTn id="177" presetID="22" presetClass="exit" presetSubtype="4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8" dur="1250" fill="hold"/>
                                        <p:tgtEl>
                                          <p:spTgt spid="179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5000"/>
                            </p:stCondLst>
                            <p:childTnLst>
                              <p:par>
                                <p:cTn id="181" presetID="22" presetClass="exit" presetSubtype="4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2" dur="1250" fill="hold"/>
                                        <p:tgtEl>
                                          <p:spTgt spid="18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6250"/>
                            </p:stCondLst>
                            <p:childTnLst>
                              <p:par>
                                <p:cTn id="185" presetID="22" presetClass="exit" presetSubtype="4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6" dur="1250" fill="hold"/>
                                        <p:tgtEl>
                                          <p:spTgt spid="18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57500"/>
                            </p:stCondLst>
                            <p:childTnLst>
                              <p:par>
                                <p:cTn id="189" presetID="22" presetClass="exit" presetSubtype="4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0" dur="1250" fill="hold"/>
                                        <p:tgtEl>
                                          <p:spTgt spid="18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8750"/>
                            </p:stCondLst>
                            <p:childTnLst>
                              <p:par>
                                <p:cTn id="193" presetID="22" presetClass="exit" presetSubtype="4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4" dur="1250" fill="hold"/>
                                        <p:tgtEl>
                                          <p:spTgt spid="18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8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60000"/>
                            </p:stCondLst>
                            <p:childTnLst>
                              <p:par>
                                <p:cTn id="197" presetID="22" presetClass="exit" presetSubtype="4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8" dur="1250" fill="hold"/>
                                        <p:tgtEl>
                                          <p:spTgt spid="17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7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24" grpId="32" animBg="1" advAuto="0"/>
      <p:bldP spid="1725" grpId="49" animBg="1" advAuto="0"/>
      <p:bldP spid="1738" grpId="16" animBg="1" advAuto="0"/>
      <p:bldP spid="1739" grpId="28" animBg="1" advAuto="0"/>
      <p:bldP spid="1740" grpId="29" animBg="1" advAuto="0"/>
      <p:bldP spid="1741" grpId="30" animBg="1" advAuto="0"/>
      <p:bldP spid="1742" grpId="31" animBg="1" advAuto="0"/>
      <p:bldP spid="1743" grpId="3" animBg="1" advAuto="0"/>
      <p:bldP spid="1744" grpId="2" animBg="1" advAuto="0"/>
      <p:bldP spid="1745" grpId="1" animBg="1" advAuto="0"/>
      <p:bldP spid="1748" grpId="37" animBg="1" advAuto="0"/>
      <p:bldP spid="1762" grpId="17" animBg="1" advAuto="0"/>
      <p:bldP spid="1763" grpId="33" animBg="1" advAuto="0"/>
      <p:bldP spid="1764" grpId="34" animBg="1" advAuto="0"/>
      <p:bldP spid="1765" grpId="35" animBg="1" advAuto="0"/>
      <p:bldP spid="1766" grpId="36" animBg="1" advAuto="0"/>
      <p:bldP spid="1767" grpId="6" animBg="1" advAuto="0"/>
      <p:bldP spid="1768" grpId="5" animBg="1" advAuto="0"/>
      <p:bldP spid="1769" grpId="4" animBg="1" advAuto="0"/>
      <p:bldP spid="1778" grpId="18" animBg="1" advAuto="0"/>
      <p:bldP spid="1779" grpId="38" animBg="1" advAuto="0"/>
      <p:bldP spid="1780" grpId="39" animBg="1" advAuto="0"/>
      <p:bldP spid="1781" grpId="40" animBg="1" advAuto="0"/>
      <p:bldP spid="1782" grpId="41" animBg="1" advAuto="0"/>
      <p:bldP spid="1784" grpId="8" animBg="1" advAuto="0"/>
      <p:bldP spid="1785" grpId="7" animBg="1" advAuto="0"/>
      <p:bldP spid="1794" grpId="19" animBg="1" advAuto="0"/>
      <p:bldP spid="1795" grpId="42" animBg="1" advAuto="0"/>
      <p:bldP spid="1796" grpId="43" animBg="1" advAuto="0"/>
      <p:bldP spid="1797" grpId="44" animBg="1" advAuto="0"/>
      <p:bldP spid="1800" grpId="10" animBg="1" advAuto="0"/>
      <p:bldP spid="1801" grpId="9" animBg="1" advAuto="0"/>
      <p:bldP spid="1810" grpId="20" animBg="1" advAuto="0"/>
      <p:bldP spid="1811" grpId="45" animBg="1" advAuto="0"/>
      <p:bldP spid="1812" grpId="46" animBg="1" advAuto="0"/>
      <p:bldP spid="1816" grpId="12" animBg="1" advAuto="0"/>
      <p:bldP spid="1817" grpId="11" animBg="1" advAuto="0"/>
      <p:bldP spid="1824" grpId="21" animBg="1" advAuto="0"/>
      <p:bldP spid="1825" grpId="47" animBg="1" advAuto="0"/>
      <p:bldP spid="1831" grpId="13" animBg="1" advAuto="0"/>
      <p:bldP spid="1836" grpId="48" animBg="1" advAuto="0"/>
      <p:bldP spid="1837" grpId="27" animBg="1" advAuto="0"/>
      <p:bldP spid="1838" grpId="26" animBg="1" advAuto="0"/>
      <p:bldP spid="1839" grpId="25" animBg="1" advAuto="0"/>
      <p:bldP spid="1840" grpId="24" animBg="1" advAuto="0"/>
      <p:bldP spid="1841" grpId="23" animBg="1" advAuto="0"/>
      <p:bldP spid="1842" grpId="15" animBg="1" advAuto="0"/>
      <p:bldP spid="1849" grpId="22" animBg="1" advAuto="0"/>
      <p:bldP spid="1856" grpId="14" animBg="1" advAuto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4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61</a:t>
            </a:fld>
            <a:endParaRPr/>
          </a:p>
        </p:txBody>
      </p:sp>
      <p:sp>
        <p:nvSpPr>
          <p:cNvPr id="1985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1986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7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8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89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0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1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2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3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4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5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6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7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8" name="Line"/>
          <p:cNvSpPr/>
          <p:nvPr/>
        </p:nvSpPr>
        <p:spPr>
          <a:xfrm>
            <a:off x="11718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1999" name="0"/>
          <p:cNvSpPr txBox="1"/>
          <p:nvPr/>
        </p:nvSpPr>
        <p:spPr>
          <a:xfrm>
            <a:off x="12151980" y="16763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00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1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2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3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4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5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6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7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8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09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0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1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2" name="Line"/>
          <p:cNvSpPr/>
          <p:nvPr/>
        </p:nvSpPr>
        <p:spPr>
          <a:xfrm>
            <a:off x="11172350" y="2920095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3" name="Line"/>
          <p:cNvSpPr/>
          <p:nvPr/>
        </p:nvSpPr>
        <p:spPr>
          <a:xfrm>
            <a:off x="11744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4" name="0"/>
          <p:cNvSpPr txBox="1"/>
          <p:nvPr/>
        </p:nvSpPr>
        <p:spPr>
          <a:xfrm>
            <a:off x="12177805" y="25780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15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6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7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8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19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0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1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22" name="Line"/>
          <p:cNvSpPr/>
          <p:nvPr/>
        </p:nvSpPr>
        <p:spPr>
          <a:xfrm>
            <a:off x="11744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3" name="0"/>
          <p:cNvSpPr txBox="1"/>
          <p:nvPr/>
        </p:nvSpPr>
        <p:spPr>
          <a:xfrm>
            <a:off x="12177380" y="34797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24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5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6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7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8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29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0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1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32" name="Line"/>
          <p:cNvSpPr/>
          <p:nvPr/>
        </p:nvSpPr>
        <p:spPr>
          <a:xfrm>
            <a:off x="11756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3" name="0"/>
          <p:cNvSpPr txBox="1"/>
          <p:nvPr/>
        </p:nvSpPr>
        <p:spPr>
          <a:xfrm>
            <a:off x="12190080" y="43878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34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5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6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7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8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39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0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1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2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43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4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5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6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7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8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49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0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1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2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53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54" name="0"/>
          <p:cNvSpPr txBox="1"/>
          <p:nvPr/>
        </p:nvSpPr>
        <p:spPr>
          <a:xfrm>
            <a:off x="70459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5" name="0"/>
          <p:cNvSpPr txBox="1"/>
          <p:nvPr/>
        </p:nvSpPr>
        <p:spPr>
          <a:xfrm>
            <a:off x="6482922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6" name="0"/>
          <p:cNvSpPr txBox="1"/>
          <p:nvPr/>
        </p:nvSpPr>
        <p:spPr>
          <a:xfrm>
            <a:off x="5928443" y="16636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7" name="0"/>
          <p:cNvSpPr txBox="1"/>
          <p:nvPr/>
        </p:nvSpPr>
        <p:spPr>
          <a:xfrm>
            <a:off x="5356842" y="1663699"/>
            <a:ext cx="269689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058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59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0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1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2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3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4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5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6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7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68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69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070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1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2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3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4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5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6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7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8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79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0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1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082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083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2084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5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6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7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8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89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0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1" name="Line"/>
          <p:cNvSpPr/>
          <p:nvPr/>
        </p:nvSpPr>
        <p:spPr>
          <a:xfrm flipV="1">
            <a:off x="11718875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2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3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4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5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6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7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8" name="Line"/>
          <p:cNvSpPr/>
          <p:nvPr/>
        </p:nvSpPr>
        <p:spPr>
          <a:xfrm>
            <a:off x="106082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099" name="Line"/>
          <p:cNvSpPr/>
          <p:nvPr/>
        </p:nvSpPr>
        <p:spPr>
          <a:xfrm>
            <a:off x="11178858" y="3815898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0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1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2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3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4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5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6" name="Line"/>
          <p:cNvSpPr/>
          <p:nvPr/>
        </p:nvSpPr>
        <p:spPr>
          <a:xfrm flipV="1">
            <a:off x="11177279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7" name="Line"/>
          <p:cNvSpPr/>
          <p:nvPr/>
        </p:nvSpPr>
        <p:spPr>
          <a:xfrm flipV="1">
            <a:off x="11725383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8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09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0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1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2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3" name="Line"/>
          <p:cNvSpPr/>
          <p:nvPr/>
        </p:nvSpPr>
        <p:spPr>
          <a:xfrm>
            <a:off x="100512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4" name="Line"/>
          <p:cNvSpPr/>
          <p:nvPr/>
        </p:nvSpPr>
        <p:spPr>
          <a:xfrm>
            <a:off x="106227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5" name="Line"/>
          <p:cNvSpPr/>
          <p:nvPr/>
        </p:nvSpPr>
        <p:spPr>
          <a:xfrm>
            <a:off x="11193395" y="4722396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6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7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8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19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0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1" name="Line"/>
          <p:cNvSpPr/>
          <p:nvPr/>
        </p:nvSpPr>
        <p:spPr>
          <a:xfrm flipV="1">
            <a:off x="10613541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2" name="Line"/>
          <p:cNvSpPr/>
          <p:nvPr/>
        </p:nvSpPr>
        <p:spPr>
          <a:xfrm flipV="1">
            <a:off x="11191816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3" name="Line"/>
          <p:cNvSpPr/>
          <p:nvPr/>
        </p:nvSpPr>
        <p:spPr>
          <a:xfrm flipV="1">
            <a:off x="11739920" y="427989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4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5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6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7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8" name="Line"/>
          <p:cNvSpPr/>
          <p:nvPr/>
        </p:nvSpPr>
        <p:spPr>
          <a:xfrm>
            <a:off x="9498732" y="5629912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29" name="Line"/>
          <p:cNvSpPr/>
          <p:nvPr/>
        </p:nvSpPr>
        <p:spPr>
          <a:xfrm>
            <a:off x="100535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0" name="Line"/>
          <p:cNvSpPr/>
          <p:nvPr/>
        </p:nvSpPr>
        <p:spPr>
          <a:xfrm>
            <a:off x="106250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1" name="Line"/>
          <p:cNvSpPr/>
          <p:nvPr/>
        </p:nvSpPr>
        <p:spPr>
          <a:xfrm>
            <a:off x="11195691" y="5629912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2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3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4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5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6" name="Line"/>
          <p:cNvSpPr/>
          <p:nvPr/>
        </p:nvSpPr>
        <p:spPr>
          <a:xfrm flipV="1">
            <a:off x="10048574" y="51836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7" name="Line"/>
          <p:cNvSpPr/>
          <p:nvPr/>
        </p:nvSpPr>
        <p:spPr>
          <a:xfrm flipV="1">
            <a:off x="10615837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8" name="Line"/>
          <p:cNvSpPr/>
          <p:nvPr/>
        </p:nvSpPr>
        <p:spPr>
          <a:xfrm flipV="1">
            <a:off x="11194112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39" name="Line"/>
          <p:cNvSpPr/>
          <p:nvPr/>
        </p:nvSpPr>
        <p:spPr>
          <a:xfrm flipV="1">
            <a:off x="11742216" y="518740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0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1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2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3" name="Line"/>
          <p:cNvSpPr/>
          <p:nvPr/>
        </p:nvSpPr>
        <p:spPr>
          <a:xfrm>
            <a:off x="89297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4" name="Line"/>
          <p:cNvSpPr/>
          <p:nvPr/>
        </p:nvSpPr>
        <p:spPr>
          <a:xfrm>
            <a:off x="9505240" y="6525714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5" name="Line"/>
          <p:cNvSpPr/>
          <p:nvPr/>
        </p:nvSpPr>
        <p:spPr>
          <a:xfrm>
            <a:off x="100600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6" name="Line"/>
          <p:cNvSpPr/>
          <p:nvPr/>
        </p:nvSpPr>
        <p:spPr>
          <a:xfrm>
            <a:off x="106315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7" name="Line"/>
          <p:cNvSpPr/>
          <p:nvPr/>
        </p:nvSpPr>
        <p:spPr>
          <a:xfrm>
            <a:off x="11214899" y="6525714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8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49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0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1" name="Line"/>
          <p:cNvSpPr/>
          <p:nvPr/>
        </p:nvSpPr>
        <p:spPr>
          <a:xfrm flipV="1">
            <a:off x="949484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2" name="Line"/>
          <p:cNvSpPr/>
          <p:nvPr/>
        </p:nvSpPr>
        <p:spPr>
          <a:xfrm flipV="1">
            <a:off x="10055082" y="607948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3" name="Line"/>
          <p:cNvSpPr/>
          <p:nvPr/>
        </p:nvSpPr>
        <p:spPr>
          <a:xfrm flipV="1">
            <a:off x="10622345" y="608320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4" name="Line"/>
          <p:cNvSpPr/>
          <p:nvPr/>
        </p:nvSpPr>
        <p:spPr>
          <a:xfrm flipV="1">
            <a:off x="11200620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5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6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7" name="Line"/>
          <p:cNvSpPr/>
          <p:nvPr/>
        </p:nvSpPr>
        <p:spPr>
          <a:xfrm>
            <a:off x="8385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8" name="Line"/>
          <p:cNvSpPr/>
          <p:nvPr/>
        </p:nvSpPr>
        <p:spPr>
          <a:xfrm>
            <a:off x="89442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59" name="Line"/>
          <p:cNvSpPr/>
          <p:nvPr/>
        </p:nvSpPr>
        <p:spPr>
          <a:xfrm>
            <a:off x="9519777" y="7432213"/>
            <a:ext cx="55069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0" name="Line"/>
          <p:cNvSpPr/>
          <p:nvPr/>
        </p:nvSpPr>
        <p:spPr>
          <a:xfrm>
            <a:off x="100745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1" name="Line"/>
          <p:cNvSpPr/>
          <p:nvPr/>
        </p:nvSpPr>
        <p:spPr>
          <a:xfrm>
            <a:off x="106460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2" name="Line"/>
          <p:cNvSpPr/>
          <p:nvPr/>
        </p:nvSpPr>
        <p:spPr>
          <a:xfrm>
            <a:off x="11229437" y="7432213"/>
            <a:ext cx="54283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3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4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5" name="Line"/>
          <p:cNvSpPr/>
          <p:nvPr/>
        </p:nvSpPr>
        <p:spPr>
          <a:xfrm flipV="1">
            <a:off x="8948577" y="69802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6" name="Line"/>
          <p:cNvSpPr/>
          <p:nvPr/>
        </p:nvSpPr>
        <p:spPr>
          <a:xfrm flipV="1">
            <a:off x="9509382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7" name="Line"/>
          <p:cNvSpPr/>
          <p:nvPr/>
        </p:nvSpPr>
        <p:spPr>
          <a:xfrm flipV="1">
            <a:off x="10069619" y="698598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8" name="Line"/>
          <p:cNvSpPr/>
          <p:nvPr/>
        </p:nvSpPr>
        <p:spPr>
          <a:xfrm flipV="1">
            <a:off x="10636882" y="698970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69" name="Line"/>
          <p:cNvSpPr/>
          <p:nvPr/>
        </p:nvSpPr>
        <p:spPr>
          <a:xfrm flipV="1">
            <a:off x="11215157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0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1" name="Line"/>
          <p:cNvSpPr/>
          <p:nvPr/>
        </p:nvSpPr>
        <p:spPr>
          <a:xfrm>
            <a:off x="78223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2" name="Line"/>
          <p:cNvSpPr/>
          <p:nvPr/>
        </p:nvSpPr>
        <p:spPr>
          <a:xfrm>
            <a:off x="8393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3" name="Line"/>
          <p:cNvSpPr/>
          <p:nvPr/>
        </p:nvSpPr>
        <p:spPr>
          <a:xfrm>
            <a:off x="89526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4" name="Line"/>
          <p:cNvSpPr/>
          <p:nvPr/>
        </p:nvSpPr>
        <p:spPr>
          <a:xfrm>
            <a:off x="9528132" y="8332289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5" name="Line"/>
          <p:cNvSpPr/>
          <p:nvPr/>
        </p:nvSpPr>
        <p:spPr>
          <a:xfrm>
            <a:off x="100829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6" name="Line"/>
          <p:cNvSpPr/>
          <p:nvPr/>
        </p:nvSpPr>
        <p:spPr>
          <a:xfrm>
            <a:off x="106544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7" name="Line"/>
          <p:cNvSpPr/>
          <p:nvPr/>
        </p:nvSpPr>
        <p:spPr>
          <a:xfrm>
            <a:off x="11237791" y="8332289"/>
            <a:ext cx="54283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8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79" name="Line"/>
          <p:cNvSpPr/>
          <p:nvPr/>
        </p:nvSpPr>
        <p:spPr>
          <a:xfrm flipV="1">
            <a:off x="8378657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0" name="Line"/>
          <p:cNvSpPr/>
          <p:nvPr/>
        </p:nvSpPr>
        <p:spPr>
          <a:xfrm flipV="1">
            <a:off x="8956932" y="788034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1" name="Line"/>
          <p:cNvSpPr/>
          <p:nvPr/>
        </p:nvSpPr>
        <p:spPr>
          <a:xfrm flipV="1">
            <a:off x="9517736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2" name="Line"/>
          <p:cNvSpPr/>
          <p:nvPr/>
        </p:nvSpPr>
        <p:spPr>
          <a:xfrm flipV="1">
            <a:off x="10077974" y="788606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3" name="Line"/>
          <p:cNvSpPr/>
          <p:nvPr/>
        </p:nvSpPr>
        <p:spPr>
          <a:xfrm flipV="1">
            <a:off x="10645237" y="78897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4" name="Line"/>
          <p:cNvSpPr/>
          <p:nvPr/>
        </p:nvSpPr>
        <p:spPr>
          <a:xfrm flipV="1">
            <a:off x="11223511" y="78850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5" name="Line"/>
          <p:cNvSpPr/>
          <p:nvPr/>
        </p:nvSpPr>
        <p:spPr>
          <a:xfrm>
            <a:off x="11768041" y="56315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6" name="0"/>
          <p:cNvSpPr txBox="1"/>
          <p:nvPr/>
        </p:nvSpPr>
        <p:spPr>
          <a:xfrm>
            <a:off x="12201146" y="52895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87" name="Line"/>
          <p:cNvSpPr/>
          <p:nvPr/>
        </p:nvSpPr>
        <p:spPr>
          <a:xfrm>
            <a:off x="11793866" y="65332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88" name="0"/>
          <p:cNvSpPr txBox="1"/>
          <p:nvPr/>
        </p:nvSpPr>
        <p:spPr>
          <a:xfrm>
            <a:off x="12226971" y="61912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89" name="Line"/>
          <p:cNvSpPr/>
          <p:nvPr/>
        </p:nvSpPr>
        <p:spPr>
          <a:xfrm>
            <a:off x="11793441" y="74349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0" name="0"/>
          <p:cNvSpPr txBox="1"/>
          <p:nvPr/>
        </p:nvSpPr>
        <p:spPr>
          <a:xfrm>
            <a:off x="12226546" y="709294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91" name="Line"/>
          <p:cNvSpPr/>
          <p:nvPr/>
        </p:nvSpPr>
        <p:spPr>
          <a:xfrm>
            <a:off x="11806141" y="83429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2" name="0"/>
          <p:cNvSpPr txBox="1"/>
          <p:nvPr/>
        </p:nvSpPr>
        <p:spPr>
          <a:xfrm>
            <a:off x="12239246" y="8000999"/>
            <a:ext cx="269690" cy="431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lvl1pPr>
              <a:defRPr sz="2200"/>
            </a:lvl1pPr>
          </a:lstStyle>
          <a:p>
            <a:r>
              <a:t>0</a:t>
            </a:r>
          </a:p>
        </p:txBody>
      </p:sp>
      <p:sp>
        <p:nvSpPr>
          <p:cNvPr id="2193" name="Line"/>
          <p:cNvSpPr/>
          <p:nvPr/>
        </p:nvSpPr>
        <p:spPr>
          <a:xfrm flipV="1">
            <a:off x="11769675" y="60806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4" name="Line"/>
          <p:cNvSpPr/>
          <p:nvPr/>
        </p:nvSpPr>
        <p:spPr>
          <a:xfrm flipV="1">
            <a:off x="11784212" y="6987168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5" name="Line"/>
          <p:cNvSpPr/>
          <p:nvPr/>
        </p:nvSpPr>
        <p:spPr>
          <a:xfrm flipV="1">
            <a:off x="11786508" y="78946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6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7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8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199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0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1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2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3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4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5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6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7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8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09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0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1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2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3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4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5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6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7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8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19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0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1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2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3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 advClick="0" advTm="0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xit" presetSubtype="4" fill="hold" grpId="1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" dur="1250" fill="hold"/>
                                        <p:tgtEl>
                                          <p:spTgt spid="19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9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22" presetClass="exit" presetSubtype="4" fill="hold" grpId="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" dur="1250" fill="hold"/>
                                        <p:tgtEl>
                                          <p:spTgt spid="19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19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xit" presetSubtype="4" fill="hold" grpId="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" dur="1250" fill="hold"/>
                                        <p:tgtEl>
                                          <p:spTgt spid="20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22" presetClass="exit" presetSubtype="4" fill="hold" grpId="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" dur="1250" fill="hold"/>
                                        <p:tgtEl>
                                          <p:spTgt spid="20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22" presetClass="exit" presetSubtype="4" fill="hold" grpId="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" dur="1250" fill="hold"/>
                                        <p:tgtEl>
                                          <p:spTgt spid="20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250"/>
                            </p:stCondLst>
                            <p:childTnLst>
                              <p:par>
                                <p:cTn id="25" presetID="22" presetClass="exit" presetSubtype="4" fill="hold" grpId="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" dur="1250" fill="hold"/>
                                        <p:tgtEl>
                                          <p:spTgt spid="20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22" presetClass="exit" presetSubtype="4" fill="hold" grpId="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0" dur="1250" fill="hold"/>
                                        <p:tgtEl>
                                          <p:spTgt spid="210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8750"/>
                            </p:stCondLst>
                            <p:childTnLst>
                              <p:par>
                                <p:cTn id="33" presetID="22" presetClass="exit" presetSubtype="4" fill="hold" grpId="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4" dur="1250" fill="hold"/>
                                        <p:tgtEl>
                                          <p:spTgt spid="210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22" presetClass="exit" presetSubtype="4" fill="hold" grpId="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38" dur="1250" fill="hold"/>
                                        <p:tgtEl>
                                          <p:spTgt spid="20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250"/>
                            </p:stCondLst>
                            <p:childTnLst>
                              <p:par>
                                <p:cTn id="41" presetID="22" presetClass="exit" presetSubtype="4" fill="hold" grpId="1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2" dur="1250" fill="hold"/>
                                        <p:tgtEl>
                                          <p:spTgt spid="209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2500"/>
                            </p:stCondLst>
                            <p:childTnLst>
                              <p:par>
                                <p:cTn id="45" presetID="22" presetClass="exit" presetSubtype="4" fill="hold" grpId="1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46" dur="1250" fill="hold"/>
                                        <p:tgtEl>
                                          <p:spTgt spid="209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3750"/>
                            </p:stCondLst>
                            <p:childTnLst>
                              <p:par>
                                <p:cTn id="49" presetID="22" presetClass="exit" presetSubtype="4" fill="hold" grpId="1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0" dur="1250" fill="hold"/>
                                        <p:tgtEl>
                                          <p:spTgt spid="20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5000"/>
                            </p:stCondLst>
                            <p:childTnLst>
                              <p:par>
                                <p:cTn id="53" presetID="22" presetClass="exit" presetSubtype="4" fill="hold" grpId="1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4" dur="1250" fill="hold"/>
                                        <p:tgtEl>
                                          <p:spTgt spid="21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250"/>
                            </p:stCondLst>
                            <p:childTnLst>
                              <p:par>
                                <p:cTn id="57" presetID="22" presetClass="exit" presetSubtype="4" fill="hold" grpId="1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58" dur="1250" fill="hold"/>
                                        <p:tgtEl>
                                          <p:spTgt spid="21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17500"/>
                            </p:stCondLst>
                            <p:childTnLst>
                              <p:par>
                                <p:cTn id="61" presetID="22" presetClass="exit" presetSubtype="4" fill="hold" grpId="1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2" dur="1250" fill="hold"/>
                                        <p:tgtEl>
                                          <p:spTgt spid="21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18750"/>
                            </p:stCondLst>
                            <p:childTnLst>
                              <p:par>
                                <p:cTn id="65" presetID="22" presetClass="exit" presetSubtype="4" fill="hold" grpId="1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66" dur="1250" fill="hold"/>
                                        <p:tgtEl>
                                          <p:spTgt spid="20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20000"/>
                            </p:stCondLst>
                            <p:childTnLst>
                              <p:par>
                                <p:cTn id="69" presetID="22" presetClass="exit" presetSubtype="4" fill="hold" grpId="1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0" dur="1250" fill="hold"/>
                                        <p:tgtEl>
                                          <p:spTgt spid="21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21250"/>
                            </p:stCondLst>
                            <p:childTnLst>
                              <p:par>
                                <p:cTn id="73" presetID="22" presetClass="exit" presetSubtype="4" fill="hold" grpId="1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4" dur="1250" fill="hold"/>
                                        <p:tgtEl>
                                          <p:spTgt spid="21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22500"/>
                            </p:stCondLst>
                            <p:childTnLst>
                              <p:par>
                                <p:cTn id="77" presetID="22" presetClass="exit" presetSubtype="4" fill="hold" grpId="1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78" dur="1250" fill="hold"/>
                                        <p:tgtEl>
                                          <p:spTgt spid="21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23750"/>
                            </p:stCondLst>
                            <p:childTnLst>
                              <p:par>
                                <p:cTn id="81" presetID="22" presetClass="exit" presetSubtype="4" fill="hold" grpId="2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2" dur="1250" fill="hold"/>
                                        <p:tgtEl>
                                          <p:spTgt spid="20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5000"/>
                            </p:stCondLst>
                            <p:childTnLst>
                              <p:par>
                                <p:cTn id="85" presetID="22" presetClass="exit" presetSubtype="4" fill="hold" grpId="2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86" dur="1250" fill="hold"/>
                                        <p:tgtEl>
                                          <p:spTgt spid="213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6250"/>
                            </p:stCondLst>
                            <p:childTnLst>
                              <p:par>
                                <p:cTn id="89" presetID="22" presetClass="exit" presetSubtype="4" fill="hold" grpId="2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0" dur="1250" fill="hold"/>
                                        <p:tgtEl>
                                          <p:spTgt spid="21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7500"/>
                            </p:stCondLst>
                            <p:childTnLst>
                              <p:par>
                                <p:cTn id="93" presetID="22" presetClass="exit" presetSubtype="4" fill="hold" grpId="2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4" dur="1250" fill="hold"/>
                                        <p:tgtEl>
                                          <p:spTgt spid="21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8750"/>
                            </p:stCondLst>
                            <p:childTnLst>
                              <p:par>
                                <p:cTn id="97" presetID="22" presetClass="exit" presetSubtype="4" fill="hold" grpId="2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98" dur="1250" fill="hold"/>
                                        <p:tgtEl>
                                          <p:spTgt spid="213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30000"/>
                            </p:stCondLst>
                            <p:childTnLst>
                              <p:par>
                                <p:cTn id="101" presetID="22" presetClass="exit" presetSubtype="4" fill="hold" grpId="2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2" dur="1250" fill="hold"/>
                                        <p:tgtEl>
                                          <p:spTgt spid="218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31250"/>
                            </p:stCondLst>
                            <p:childTnLst>
                              <p:par>
                                <p:cTn id="105" presetID="22" presetClass="exit" presetSubtype="4" fill="hold" grpId="2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06" dur="1250" fill="hold"/>
                                        <p:tgtEl>
                                          <p:spTgt spid="212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2500"/>
                            </p:stCondLst>
                            <p:childTnLst>
                              <p:par>
                                <p:cTn id="109" presetID="22" presetClass="exit" presetSubtype="4" fill="hold" grpId="2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0" dur="1250" fill="hold"/>
                                        <p:tgtEl>
                                          <p:spTgt spid="21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33750"/>
                            </p:stCondLst>
                            <p:childTnLst>
                              <p:par>
                                <p:cTn id="113" presetID="22" presetClass="exit" presetSubtype="4" fill="hold" grpId="2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4" dur="1250" fill="hold"/>
                                        <p:tgtEl>
                                          <p:spTgt spid="21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35000"/>
                            </p:stCondLst>
                            <p:childTnLst>
                              <p:par>
                                <p:cTn id="117" presetID="22" presetClass="exit" presetSubtype="4" fill="hold" grpId="2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18" dur="1250" fill="hold"/>
                                        <p:tgtEl>
                                          <p:spTgt spid="21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36250"/>
                            </p:stCondLst>
                            <p:childTnLst>
                              <p:par>
                                <p:cTn id="121" presetID="22" presetClass="exit" presetSubtype="4" fill="hold" grpId="3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2" dur="1250" fill="hold"/>
                                        <p:tgtEl>
                                          <p:spTgt spid="218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4" fill="hold">
                            <p:stCondLst>
                              <p:cond delay="37500"/>
                            </p:stCondLst>
                            <p:childTnLst>
                              <p:par>
                                <p:cTn id="125" presetID="22" presetClass="exit" presetSubtype="4" fill="hold" grpId="3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26" dur="1250" fill="hold"/>
                                        <p:tgtEl>
                                          <p:spTgt spid="21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8" fill="hold">
                            <p:stCondLst>
                              <p:cond delay="38750"/>
                            </p:stCondLst>
                            <p:childTnLst>
                              <p:par>
                                <p:cTn id="129" presetID="22" presetClass="exit" presetSubtype="4" fill="hold" grpId="3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0" dur="1250" fill="hold"/>
                                        <p:tgtEl>
                                          <p:spTgt spid="21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40000"/>
                            </p:stCondLst>
                            <p:childTnLst>
                              <p:par>
                                <p:cTn id="133" presetID="22" presetClass="exit" presetSubtype="4" fill="hold" grpId="3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4" dur="1250" fill="hold"/>
                                        <p:tgtEl>
                                          <p:spTgt spid="21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6" fill="hold">
                            <p:stCondLst>
                              <p:cond delay="41250"/>
                            </p:stCondLst>
                            <p:childTnLst>
                              <p:par>
                                <p:cTn id="137" presetID="22" presetClass="exit" presetSubtype="4" fill="hold" grpId="3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38" dur="1250" fill="hold"/>
                                        <p:tgtEl>
                                          <p:spTgt spid="219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42500"/>
                            </p:stCondLst>
                            <p:childTnLst>
                              <p:par>
                                <p:cTn id="141" presetID="22" presetClass="exit" presetSubtype="4" fill="hold" grpId="3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2" dur="1250" fill="hold"/>
                                        <p:tgtEl>
                                          <p:spTgt spid="21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4" fill="hold">
                            <p:stCondLst>
                              <p:cond delay="43750"/>
                            </p:stCondLst>
                            <p:childTnLst>
                              <p:par>
                                <p:cTn id="145" presetID="22" presetClass="exit" presetSubtype="4" fill="hold" grpId="3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46" dur="1250" fill="hold"/>
                                        <p:tgtEl>
                                          <p:spTgt spid="218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8" fill="hold">
                            <p:stCondLst>
                              <p:cond delay="45000"/>
                            </p:stCondLst>
                            <p:childTnLst>
                              <p:par>
                                <p:cTn id="149" presetID="22" presetClass="exit" presetSubtype="4" fill="hold" grpId="3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0" dur="1250" fill="hold"/>
                                        <p:tgtEl>
                                          <p:spTgt spid="21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46250"/>
                            </p:stCondLst>
                            <p:childTnLst>
                              <p:par>
                                <p:cTn id="153" presetID="22" presetClass="exit" presetSubtype="4" fill="hold" grpId="3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4" dur="1250" fill="hold"/>
                                        <p:tgtEl>
                                          <p:spTgt spid="21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47500"/>
                            </p:stCondLst>
                            <p:childTnLst>
                              <p:par>
                                <p:cTn id="157" presetID="22" presetClass="exit" presetSubtype="4" fill="hold" grpId="3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58" dur="1250" fill="hold"/>
                                        <p:tgtEl>
                                          <p:spTgt spid="21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0" fill="hold">
                            <p:stCondLst>
                              <p:cond delay="48750"/>
                            </p:stCondLst>
                            <p:childTnLst>
                              <p:par>
                                <p:cTn id="161" presetID="22" presetClass="exit" presetSubtype="4" fill="hold" grpId="4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2" dur="1250" fill="hold"/>
                                        <p:tgtEl>
                                          <p:spTgt spid="214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4" fill="hold">
                            <p:stCondLst>
                              <p:cond delay="50000"/>
                            </p:stCondLst>
                            <p:childTnLst>
                              <p:par>
                                <p:cTn id="165" presetID="22" presetClass="exit" presetSubtype="4" fill="hold" grpId="4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66" dur="1250" fill="hold"/>
                                        <p:tgtEl>
                                          <p:spTgt spid="214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8" fill="hold">
                            <p:stCondLst>
                              <p:cond delay="51250"/>
                            </p:stCondLst>
                            <p:childTnLst>
                              <p:par>
                                <p:cTn id="169" presetID="22" presetClass="exit" presetSubtype="4" fill="hold" grpId="4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0" dur="1250" fill="hold"/>
                                        <p:tgtEl>
                                          <p:spTgt spid="218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52500"/>
                            </p:stCondLst>
                            <p:childTnLst>
                              <p:par>
                                <p:cTn id="173" presetID="22" presetClass="exit" presetSubtype="4" fill="hold" grpId="4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4" dur="1250" fill="hold"/>
                                        <p:tgtEl>
                                          <p:spTgt spid="216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6" fill="hold">
                            <p:stCondLst>
                              <p:cond delay="53750"/>
                            </p:stCondLst>
                            <p:childTnLst>
                              <p:par>
                                <p:cTn id="177" presetID="22" presetClass="exit" presetSubtype="4" fill="hold" grpId="4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78" dur="1250" fill="hold"/>
                                        <p:tgtEl>
                                          <p:spTgt spid="216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0" fill="hold">
                            <p:stCondLst>
                              <p:cond delay="55000"/>
                            </p:stCondLst>
                            <p:childTnLst>
                              <p:par>
                                <p:cTn id="181" presetID="22" presetClass="exit" presetSubtype="4" fill="hold" grpId="4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2" dur="1250" fill="hold"/>
                                        <p:tgtEl>
                                          <p:spTgt spid="216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4" fill="hold">
                            <p:stCondLst>
                              <p:cond delay="56250"/>
                            </p:stCondLst>
                            <p:childTnLst>
                              <p:par>
                                <p:cTn id="185" presetID="22" presetClass="exit" presetSubtype="4" fill="hold" grpId="4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86" dur="1250" fill="hold"/>
                                        <p:tgtEl>
                                          <p:spTgt spid="216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8" fill="hold">
                            <p:stCondLst>
                              <p:cond delay="57500"/>
                            </p:stCondLst>
                            <p:childTnLst>
                              <p:par>
                                <p:cTn id="189" presetID="22" presetClass="exit" presetSubtype="4" fill="hold" grpId="4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0" dur="1250" fill="hold"/>
                                        <p:tgtEl>
                                          <p:spTgt spid="219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58750"/>
                            </p:stCondLst>
                            <p:childTnLst>
                              <p:par>
                                <p:cTn id="193" presetID="22" presetClass="exit" presetSubtype="4" fill="hold" grpId="4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4" dur="1250" fill="hold"/>
                                        <p:tgtEl>
                                          <p:spTgt spid="216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6" fill="hold">
                            <p:stCondLst>
                              <p:cond delay="60000"/>
                            </p:stCondLst>
                            <p:childTnLst>
                              <p:par>
                                <p:cTn id="197" presetID="22" presetClass="exit" presetSubtype="4" fill="hold" grpId="4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198" dur="1250" fill="hold"/>
                                        <p:tgtEl>
                                          <p:spTgt spid="219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0" fill="hold">
                            <p:stCondLst>
                              <p:cond delay="61250"/>
                            </p:stCondLst>
                            <p:childTnLst>
                              <p:par>
                                <p:cTn id="201" presetID="22" presetClass="exit" presetSubtype="4" fill="hold" grpId="5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02" dur="1250" fill="hold"/>
                                        <p:tgtEl>
                                          <p:spTgt spid="21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4" fill="hold">
                            <p:stCondLst>
                              <p:cond delay="62500"/>
                            </p:stCondLst>
                            <p:childTnLst>
                              <p:par>
                                <p:cTn id="205" presetID="22" presetClass="exit" presetSubtype="4" fill="hold" grpId="5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06" dur="1250" fill="hold"/>
                                        <p:tgtEl>
                                          <p:spTgt spid="215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8" fill="hold">
                            <p:stCondLst>
                              <p:cond delay="63750"/>
                            </p:stCondLst>
                            <p:childTnLst>
                              <p:par>
                                <p:cTn id="209" presetID="22" presetClass="exit" presetSubtype="4" fill="hold" grpId="5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0" dur="1250" fill="hold"/>
                                        <p:tgtEl>
                                          <p:spTgt spid="21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65000"/>
                            </p:stCondLst>
                            <p:childTnLst>
                              <p:par>
                                <p:cTn id="213" presetID="22" presetClass="exit" presetSubtype="4" fill="hold" grpId="5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4" dur="1250" fill="hold"/>
                                        <p:tgtEl>
                                          <p:spTgt spid="21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6" fill="hold">
                            <p:stCondLst>
                              <p:cond delay="66250"/>
                            </p:stCondLst>
                            <p:childTnLst>
                              <p:par>
                                <p:cTn id="217" presetID="22" presetClass="exit" presetSubtype="4" fill="hold" grpId="5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18" dur="1250" fill="hold"/>
                                        <p:tgtEl>
                                          <p:spTgt spid="216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0" fill="hold">
                            <p:stCondLst>
                              <p:cond delay="67500"/>
                            </p:stCondLst>
                            <p:childTnLst>
                              <p:par>
                                <p:cTn id="221" presetID="22" presetClass="exit" presetSubtype="4" fill="hold" grpId="5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2" dur="1250" fill="hold"/>
                                        <p:tgtEl>
                                          <p:spTgt spid="21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4" fill="hold">
                            <p:stCondLst>
                              <p:cond delay="68750"/>
                            </p:stCondLst>
                            <p:childTnLst>
                              <p:par>
                                <p:cTn id="225" presetID="22" presetClass="exit" presetSubtype="4" fill="hold" grpId="5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26" dur="1250" fill="hold"/>
                                        <p:tgtEl>
                                          <p:spTgt spid="218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8" fill="hold">
                            <p:stCondLst>
                              <p:cond delay="70000"/>
                            </p:stCondLst>
                            <p:childTnLst>
                              <p:par>
                                <p:cTn id="229" presetID="22" presetClass="exit" presetSubtype="4" fill="hold" grpId="5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0" dur="1250" fill="hold"/>
                                        <p:tgtEl>
                                          <p:spTgt spid="218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2" fill="hold">
                            <p:stCondLst>
                              <p:cond delay="71250"/>
                            </p:stCondLst>
                            <p:childTnLst>
                              <p:par>
                                <p:cTn id="233" presetID="22" presetClass="exit" presetSubtype="4" fill="hold" grpId="5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4" dur="1250" fill="hold"/>
                                        <p:tgtEl>
                                          <p:spTgt spid="217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6" fill="hold">
                            <p:stCondLst>
                              <p:cond delay="72500"/>
                            </p:stCondLst>
                            <p:childTnLst>
                              <p:par>
                                <p:cTn id="237" presetID="22" presetClass="exit" presetSubtype="4" fill="hold" grpId="5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38" dur="1250" fill="hold"/>
                                        <p:tgtEl>
                                          <p:spTgt spid="2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0" fill="hold">
                            <p:stCondLst>
                              <p:cond delay="73750"/>
                            </p:stCondLst>
                            <p:childTnLst>
                              <p:par>
                                <p:cTn id="241" presetID="22" presetClass="exit" presetSubtype="4" fill="hold" grpId="6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42" dur="1250" fill="hold"/>
                                        <p:tgtEl>
                                          <p:spTgt spid="2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4" fill="hold">
                            <p:stCondLst>
                              <p:cond delay="75000"/>
                            </p:stCondLst>
                            <p:childTnLst>
                              <p:par>
                                <p:cTn id="245" presetID="22" presetClass="exit" presetSubtype="4" fill="hold" grpId="6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46" dur="1250" fill="hold"/>
                                        <p:tgtEl>
                                          <p:spTgt spid="2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8" fill="hold">
                            <p:stCondLst>
                              <p:cond delay="76250"/>
                            </p:stCondLst>
                            <p:childTnLst>
                              <p:par>
                                <p:cTn id="249" presetID="22" presetClass="exit" presetSubtype="4" fill="hold" grpId="6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0" dur="1250" fill="hold"/>
                                        <p:tgtEl>
                                          <p:spTgt spid="2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2" fill="hold">
                            <p:stCondLst>
                              <p:cond delay="77500"/>
                            </p:stCondLst>
                            <p:childTnLst>
                              <p:par>
                                <p:cTn id="253" presetID="22" presetClass="exit" presetSubtype="4" fill="hold" grpId="63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4" dur="1250" fill="hold"/>
                                        <p:tgtEl>
                                          <p:spTgt spid="219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6" fill="hold">
                            <p:stCondLst>
                              <p:cond delay="78750"/>
                            </p:stCondLst>
                            <p:childTnLst>
                              <p:par>
                                <p:cTn id="257" presetID="22" presetClass="exit" presetSubtype="4" fill="hold" grpId="64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58" dur="1250" fill="hold"/>
                                        <p:tgtEl>
                                          <p:spTgt spid="219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0" fill="hold">
                            <p:stCondLst>
                              <p:cond delay="80000"/>
                            </p:stCondLst>
                            <p:childTnLst>
                              <p:par>
                                <p:cTn id="261" presetID="22" presetClass="exit" presetSubtype="4" fill="hold" grpId="65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2" dur="1250" fill="hold"/>
                                        <p:tgtEl>
                                          <p:spTgt spid="217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4" fill="hold">
                            <p:stCondLst>
                              <p:cond delay="81250"/>
                            </p:stCondLst>
                            <p:childTnLst>
                              <p:par>
                                <p:cTn id="265" presetID="22" presetClass="exit" presetSubtype="4" fill="hold" grpId="66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66" dur="1250" fill="hold"/>
                                        <p:tgtEl>
                                          <p:spTgt spid="217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8" fill="hold">
                            <p:stCondLst>
                              <p:cond delay="82500"/>
                            </p:stCondLst>
                            <p:childTnLst>
                              <p:par>
                                <p:cTn id="269" presetID="22" presetClass="exit" presetSubtype="4" fill="hold" grpId="67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0" dur="1250" fill="hold"/>
                                        <p:tgtEl>
                                          <p:spTgt spid="217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2" fill="hold">
                            <p:stCondLst>
                              <p:cond delay="83750"/>
                            </p:stCondLst>
                            <p:childTnLst>
                              <p:par>
                                <p:cTn id="273" presetID="22" presetClass="exit" presetSubtype="4" fill="hold" grpId="68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4" dur="1250" fill="hold"/>
                                        <p:tgtEl>
                                          <p:spTgt spid="217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5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6" fill="hold">
                            <p:stCondLst>
                              <p:cond delay="85000"/>
                            </p:stCondLst>
                            <p:childTnLst>
                              <p:par>
                                <p:cTn id="277" presetID="22" presetClass="exit" presetSubtype="4" fill="hold" grpId="69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78" dur="1250" fill="hold"/>
                                        <p:tgtEl>
                                          <p:spTgt spid="217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9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0" fill="hold">
                            <p:stCondLst>
                              <p:cond delay="86250"/>
                            </p:stCondLst>
                            <p:childTnLst>
                              <p:par>
                                <p:cTn id="281" presetID="22" presetClass="exit" presetSubtype="4" fill="hold" grpId="7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82" dur="1250" fill="hold"/>
                                        <p:tgtEl>
                                          <p:spTgt spid="217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3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4" fill="hold">
                            <p:stCondLst>
                              <p:cond delay="87500"/>
                            </p:stCondLst>
                            <p:childTnLst>
                              <p:par>
                                <p:cTn id="285" presetID="22" presetClass="exit" presetSubtype="4" fill="hold" grpId="71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86" dur="1250" fill="hold"/>
                                        <p:tgtEl>
                                          <p:spTgt spid="217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7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8" fill="hold">
                            <p:stCondLst>
                              <p:cond delay="88750"/>
                            </p:stCondLst>
                            <p:childTnLst>
                              <p:par>
                                <p:cTn id="289" presetID="22" presetClass="exit" presetSubtype="4" fill="hold" grpId="72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animEffect transition="out" filter="wipe(down)">
                                      <p:cBhvr>
                                        <p:cTn id="290" dur="1250" fill="hold"/>
                                        <p:tgtEl>
                                          <p:spTgt spid="219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1" fill="hold">
                                          <p:stCondLst>
                                            <p:cond delay="1249"/>
                                          </p:stCondLst>
                                        </p:cTn>
                                        <p:tgtEl>
                                          <p:spTgt spid="2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98" grpId="2" animBg="1" advAuto="0"/>
      <p:bldP spid="1999" grpId="1" animBg="1" advAuto="0"/>
      <p:bldP spid="2012" grpId="5" animBg="1" advAuto="0"/>
      <p:bldP spid="2013" grpId="6" animBg="1" advAuto="0"/>
      <p:bldP spid="2014" grpId="4" animBg="1" advAuto="0"/>
      <p:bldP spid="2022" grpId="12" animBg="1" advAuto="0"/>
      <p:bldP spid="2023" grpId="9" animBg="1" advAuto="0"/>
      <p:bldP spid="2032" grpId="20" animBg="1" advAuto="0"/>
      <p:bldP spid="2033" grpId="16" animBg="1" advAuto="0"/>
      <p:bldP spid="2091" grpId="3" animBg="1" advAuto="0"/>
      <p:bldP spid="2098" grpId="10" animBg="1" advAuto="0"/>
      <p:bldP spid="2099" grpId="11" animBg="1" advAuto="0"/>
      <p:bldP spid="2106" grpId="7" animBg="1" advAuto="0"/>
      <p:bldP spid="2107" grpId="8" animBg="1" advAuto="0"/>
      <p:bldP spid="2113" grpId="17" animBg="1" advAuto="0"/>
      <p:bldP spid="2114" grpId="18" animBg="1" advAuto="0"/>
      <p:bldP spid="2115" grpId="19" animBg="1" advAuto="0"/>
      <p:bldP spid="2121" grpId="14" animBg="1" advAuto="0"/>
      <p:bldP spid="2122" grpId="13" animBg="1" advAuto="0"/>
      <p:bldP spid="2123" grpId="15" animBg="1" advAuto="0"/>
      <p:bldP spid="2128" grpId="26" animBg="1" advAuto="0"/>
      <p:bldP spid="2129" grpId="27" animBg="1" advAuto="0"/>
      <p:bldP spid="2130" grpId="28" animBg="1" advAuto="0"/>
      <p:bldP spid="2131" grpId="29" animBg="1" advAuto="0"/>
      <p:bldP spid="2136" grpId="22" animBg="1" advAuto="0"/>
      <p:bldP spid="2137" grpId="23" animBg="1" advAuto="0"/>
      <p:bldP spid="2138" grpId="21" animBg="1" advAuto="0"/>
      <p:bldP spid="2139" grpId="24" animBg="1" advAuto="0"/>
      <p:bldP spid="2143" grpId="37" animBg="1" advAuto="0"/>
      <p:bldP spid="2144" grpId="38" animBg="1" advAuto="0"/>
      <p:bldP spid="2145" grpId="39" animBg="1" advAuto="0"/>
      <p:bldP spid="2146" grpId="40" animBg="1" advAuto="0"/>
      <p:bldP spid="2147" grpId="41" animBg="1" advAuto="0"/>
      <p:bldP spid="2151" grpId="31" animBg="1" advAuto="0"/>
      <p:bldP spid="2152" grpId="33" animBg="1" advAuto="0"/>
      <p:bldP spid="2153" grpId="35" animBg="1" advAuto="0"/>
      <p:bldP spid="2154" grpId="32" animBg="1" advAuto="0"/>
      <p:bldP spid="2157" grpId="50" animBg="1" advAuto="0"/>
      <p:bldP spid="2158" grpId="51" animBg="1" advAuto="0"/>
      <p:bldP spid="2159" grpId="52" animBg="1" advAuto="0"/>
      <p:bldP spid="2160" grpId="53" animBg="1" advAuto="0"/>
      <p:bldP spid="2161" grpId="54" animBg="1" advAuto="0"/>
      <p:bldP spid="2162" grpId="55" animBg="1" advAuto="0"/>
      <p:bldP spid="2165" grpId="43" animBg="1" advAuto="0"/>
      <p:bldP spid="2166" grpId="44" animBg="1" advAuto="0"/>
      <p:bldP spid="2167" grpId="46" animBg="1" advAuto="0"/>
      <p:bldP spid="2168" grpId="48" animBg="1" advAuto="0"/>
      <p:bldP spid="2169" grpId="45" animBg="1" advAuto="0"/>
      <p:bldP spid="2171" grpId="65" animBg="1" advAuto="0"/>
      <p:bldP spid="2172" grpId="66" animBg="1" advAuto="0"/>
      <p:bldP spid="2173" grpId="67" animBg="1" advAuto="0"/>
      <p:bldP spid="2174" grpId="68" animBg="1" advAuto="0"/>
      <p:bldP spid="2175" grpId="69" animBg="1" advAuto="0"/>
      <p:bldP spid="2176" grpId="70" animBg="1" advAuto="0"/>
      <p:bldP spid="2177" grpId="71" animBg="1" advAuto="0"/>
      <p:bldP spid="2179" grpId="58" animBg="1" advAuto="0"/>
      <p:bldP spid="2180" grpId="57" animBg="1" advAuto="0"/>
      <p:bldP spid="2181" grpId="59" animBg="1" advAuto="0"/>
      <p:bldP spid="2182" grpId="61" animBg="1" advAuto="0"/>
      <p:bldP spid="2183" grpId="62" animBg="1" advAuto="0"/>
      <p:bldP spid="2184" grpId="60" animBg="1" advAuto="0"/>
      <p:bldP spid="2185" grpId="30" animBg="1" advAuto="0"/>
      <p:bldP spid="2186" grpId="25" animBg="1" advAuto="0"/>
      <p:bldP spid="2187" grpId="42" animBg="1" advAuto="0"/>
      <p:bldP spid="2188" grpId="36" animBg="1" advAuto="0"/>
      <p:bldP spid="2189" grpId="56" animBg="1" advAuto="0"/>
      <p:bldP spid="2190" grpId="49" animBg="1" advAuto="0"/>
      <p:bldP spid="2191" grpId="72" animBg="1" advAuto="0"/>
      <p:bldP spid="2192" grpId="64" animBg="1" advAuto="0"/>
      <p:bldP spid="2193" grpId="34" animBg="1" advAuto="0"/>
      <p:bldP spid="2194" grpId="47" animBg="1" advAuto="0"/>
      <p:bldP spid="2195" grpId="63" animBg="1" advAuto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62</a:t>
            </a:fld>
            <a:endParaRPr/>
          </a:p>
        </p:txBody>
      </p:sp>
      <p:sp>
        <p:nvSpPr>
          <p:cNvPr id="2226" name="B[7:0]"/>
          <p:cNvSpPr/>
          <p:nvPr/>
        </p:nvSpPr>
        <p:spPr>
          <a:xfrm>
            <a:off x="7538293" y="156845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2227" name="Line"/>
          <p:cNvSpPr/>
          <p:nvPr/>
        </p:nvSpPr>
        <p:spPr>
          <a:xfrm>
            <a:off x="49243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8" name="Line"/>
          <p:cNvSpPr/>
          <p:nvPr/>
        </p:nvSpPr>
        <p:spPr>
          <a:xfrm>
            <a:off x="54958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29" name="Line"/>
          <p:cNvSpPr/>
          <p:nvPr/>
        </p:nvSpPr>
        <p:spPr>
          <a:xfrm>
            <a:off x="60546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0" name="Line"/>
          <p:cNvSpPr/>
          <p:nvPr/>
        </p:nvSpPr>
        <p:spPr>
          <a:xfrm>
            <a:off x="66261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1" name="Line"/>
          <p:cNvSpPr/>
          <p:nvPr/>
        </p:nvSpPr>
        <p:spPr>
          <a:xfrm>
            <a:off x="7184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2" name="Line"/>
          <p:cNvSpPr/>
          <p:nvPr/>
        </p:nvSpPr>
        <p:spPr>
          <a:xfrm>
            <a:off x="7756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3" name="Line"/>
          <p:cNvSpPr/>
          <p:nvPr/>
        </p:nvSpPr>
        <p:spPr>
          <a:xfrm>
            <a:off x="83279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4" name="Line"/>
          <p:cNvSpPr/>
          <p:nvPr/>
        </p:nvSpPr>
        <p:spPr>
          <a:xfrm>
            <a:off x="88994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5" name="Line"/>
          <p:cNvSpPr/>
          <p:nvPr/>
        </p:nvSpPr>
        <p:spPr>
          <a:xfrm>
            <a:off x="94582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6" name="Line"/>
          <p:cNvSpPr/>
          <p:nvPr/>
        </p:nvSpPr>
        <p:spPr>
          <a:xfrm>
            <a:off x="100297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7" name="Line"/>
          <p:cNvSpPr/>
          <p:nvPr/>
        </p:nvSpPr>
        <p:spPr>
          <a:xfrm>
            <a:off x="105885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8" name="Line"/>
          <p:cNvSpPr/>
          <p:nvPr/>
        </p:nvSpPr>
        <p:spPr>
          <a:xfrm>
            <a:off x="11160075" y="20183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39" name="Line"/>
          <p:cNvSpPr/>
          <p:nvPr/>
        </p:nvSpPr>
        <p:spPr>
          <a:xfrm>
            <a:off x="43914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0" name="Line"/>
          <p:cNvSpPr/>
          <p:nvPr/>
        </p:nvSpPr>
        <p:spPr>
          <a:xfrm>
            <a:off x="495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1" name="Line"/>
          <p:cNvSpPr/>
          <p:nvPr/>
        </p:nvSpPr>
        <p:spPr>
          <a:xfrm>
            <a:off x="552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2" name="Line"/>
          <p:cNvSpPr/>
          <p:nvPr/>
        </p:nvSpPr>
        <p:spPr>
          <a:xfrm>
            <a:off x="60805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3" name="Line"/>
          <p:cNvSpPr/>
          <p:nvPr/>
        </p:nvSpPr>
        <p:spPr>
          <a:xfrm>
            <a:off x="66520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4" name="Line"/>
          <p:cNvSpPr/>
          <p:nvPr/>
        </p:nvSpPr>
        <p:spPr>
          <a:xfrm>
            <a:off x="7198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5" name="Line"/>
          <p:cNvSpPr/>
          <p:nvPr/>
        </p:nvSpPr>
        <p:spPr>
          <a:xfrm>
            <a:off x="77696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6" name="Line"/>
          <p:cNvSpPr/>
          <p:nvPr/>
        </p:nvSpPr>
        <p:spPr>
          <a:xfrm>
            <a:off x="83411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7" name="Line"/>
          <p:cNvSpPr/>
          <p:nvPr/>
        </p:nvSpPr>
        <p:spPr>
          <a:xfrm>
            <a:off x="88999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8" name="Line"/>
          <p:cNvSpPr/>
          <p:nvPr/>
        </p:nvSpPr>
        <p:spPr>
          <a:xfrm>
            <a:off x="9475391" y="2920095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49" name="Line"/>
          <p:cNvSpPr/>
          <p:nvPr/>
        </p:nvSpPr>
        <p:spPr>
          <a:xfrm>
            <a:off x="100302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0" name="Line"/>
          <p:cNvSpPr/>
          <p:nvPr/>
        </p:nvSpPr>
        <p:spPr>
          <a:xfrm>
            <a:off x="10601700" y="29200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1" name="Line"/>
          <p:cNvSpPr/>
          <p:nvPr/>
        </p:nvSpPr>
        <p:spPr>
          <a:xfrm>
            <a:off x="38194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2" name="Line"/>
          <p:cNvSpPr/>
          <p:nvPr/>
        </p:nvSpPr>
        <p:spPr>
          <a:xfrm>
            <a:off x="43909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3" name="Line"/>
          <p:cNvSpPr/>
          <p:nvPr/>
        </p:nvSpPr>
        <p:spPr>
          <a:xfrm>
            <a:off x="49497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4" name="Line"/>
          <p:cNvSpPr/>
          <p:nvPr/>
        </p:nvSpPr>
        <p:spPr>
          <a:xfrm>
            <a:off x="55212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5" name="Line"/>
          <p:cNvSpPr/>
          <p:nvPr/>
        </p:nvSpPr>
        <p:spPr>
          <a:xfrm>
            <a:off x="60800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6" name="Line"/>
          <p:cNvSpPr/>
          <p:nvPr/>
        </p:nvSpPr>
        <p:spPr>
          <a:xfrm>
            <a:off x="6651575" y="38217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7" name="adjust"/>
          <p:cNvSpPr/>
          <p:nvPr/>
        </p:nvSpPr>
        <p:spPr>
          <a:xfrm>
            <a:off x="5306714" y="42735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58" name="Line"/>
          <p:cNvSpPr/>
          <p:nvPr/>
        </p:nvSpPr>
        <p:spPr>
          <a:xfrm>
            <a:off x="38321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59" name="Line"/>
          <p:cNvSpPr/>
          <p:nvPr/>
        </p:nvSpPr>
        <p:spPr>
          <a:xfrm>
            <a:off x="44036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0" name="Line"/>
          <p:cNvSpPr/>
          <p:nvPr/>
        </p:nvSpPr>
        <p:spPr>
          <a:xfrm>
            <a:off x="49624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1" name="Line"/>
          <p:cNvSpPr/>
          <p:nvPr/>
        </p:nvSpPr>
        <p:spPr>
          <a:xfrm>
            <a:off x="5533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2" name="Line"/>
          <p:cNvSpPr/>
          <p:nvPr/>
        </p:nvSpPr>
        <p:spPr>
          <a:xfrm>
            <a:off x="60927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3" name="Line"/>
          <p:cNvSpPr/>
          <p:nvPr/>
        </p:nvSpPr>
        <p:spPr>
          <a:xfrm>
            <a:off x="66642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4" name="Line"/>
          <p:cNvSpPr/>
          <p:nvPr/>
        </p:nvSpPr>
        <p:spPr>
          <a:xfrm>
            <a:off x="3247975" y="472984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5" name="adjust"/>
          <p:cNvSpPr/>
          <p:nvPr/>
        </p:nvSpPr>
        <p:spPr>
          <a:xfrm>
            <a:off x="5319414" y="51816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66" name="Line"/>
          <p:cNvSpPr/>
          <p:nvPr/>
        </p:nvSpPr>
        <p:spPr>
          <a:xfrm>
            <a:off x="38321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7" name="Line"/>
          <p:cNvSpPr/>
          <p:nvPr/>
        </p:nvSpPr>
        <p:spPr>
          <a:xfrm>
            <a:off x="44036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8" name="Line"/>
          <p:cNvSpPr/>
          <p:nvPr/>
        </p:nvSpPr>
        <p:spPr>
          <a:xfrm>
            <a:off x="4962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69" name="Line"/>
          <p:cNvSpPr/>
          <p:nvPr/>
        </p:nvSpPr>
        <p:spPr>
          <a:xfrm>
            <a:off x="5533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0" name="Line"/>
          <p:cNvSpPr/>
          <p:nvPr/>
        </p:nvSpPr>
        <p:spPr>
          <a:xfrm>
            <a:off x="60927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1" name="Line"/>
          <p:cNvSpPr/>
          <p:nvPr/>
        </p:nvSpPr>
        <p:spPr>
          <a:xfrm>
            <a:off x="66642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2" name="Line"/>
          <p:cNvSpPr/>
          <p:nvPr/>
        </p:nvSpPr>
        <p:spPr>
          <a:xfrm>
            <a:off x="26764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3" name="Line"/>
          <p:cNvSpPr/>
          <p:nvPr/>
        </p:nvSpPr>
        <p:spPr>
          <a:xfrm>
            <a:off x="3247975" y="5625195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4" name="adjust"/>
          <p:cNvSpPr/>
          <p:nvPr/>
        </p:nvSpPr>
        <p:spPr>
          <a:xfrm>
            <a:off x="5319414" y="6076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75" name="Line"/>
          <p:cNvSpPr/>
          <p:nvPr/>
        </p:nvSpPr>
        <p:spPr>
          <a:xfrm>
            <a:off x="38194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6" name="Line"/>
          <p:cNvSpPr/>
          <p:nvPr/>
        </p:nvSpPr>
        <p:spPr>
          <a:xfrm>
            <a:off x="4390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7" name="Line"/>
          <p:cNvSpPr/>
          <p:nvPr/>
        </p:nvSpPr>
        <p:spPr>
          <a:xfrm>
            <a:off x="4949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8" name="Line"/>
          <p:cNvSpPr/>
          <p:nvPr/>
        </p:nvSpPr>
        <p:spPr>
          <a:xfrm>
            <a:off x="5521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79" name="Line"/>
          <p:cNvSpPr/>
          <p:nvPr/>
        </p:nvSpPr>
        <p:spPr>
          <a:xfrm>
            <a:off x="60800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0" name="Line"/>
          <p:cNvSpPr/>
          <p:nvPr/>
        </p:nvSpPr>
        <p:spPr>
          <a:xfrm>
            <a:off x="66515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1" name="Line"/>
          <p:cNvSpPr/>
          <p:nvPr/>
        </p:nvSpPr>
        <p:spPr>
          <a:xfrm>
            <a:off x="21049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2" name="Line"/>
          <p:cNvSpPr/>
          <p:nvPr/>
        </p:nvSpPr>
        <p:spPr>
          <a:xfrm>
            <a:off x="26637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3" name="Line"/>
          <p:cNvSpPr/>
          <p:nvPr/>
        </p:nvSpPr>
        <p:spPr>
          <a:xfrm>
            <a:off x="3235275" y="652054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84" name="adjust"/>
          <p:cNvSpPr/>
          <p:nvPr/>
        </p:nvSpPr>
        <p:spPr>
          <a:xfrm>
            <a:off x="53067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285" name="adjust"/>
          <p:cNvSpPr/>
          <p:nvPr/>
        </p:nvSpPr>
        <p:spPr>
          <a:xfrm>
            <a:off x="30334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grpSp>
        <p:nvGrpSpPr>
          <p:cNvPr id="2290" name="Group"/>
          <p:cNvGrpSpPr/>
          <p:nvPr/>
        </p:nvGrpSpPr>
        <p:grpSpPr>
          <a:xfrm>
            <a:off x="5356842" y="1663699"/>
            <a:ext cx="1958790" cy="431801"/>
            <a:chOff x="-12733" y="-6350"/>
            <a:chExt cx="1958789" cy="431800"/>
          </a:xfrm>
        </p:grpSpPr>
        <p:sp>
          <p:nvSpPr>
            <p:cNvPr id="2286" name="0"/>
            <p:cNvSpPr txBox="1"/>
            <p:nvPr/>
          </p:nvSpPr>
          <p:spPr>
            <a:xfrm>
              <a:off x="167636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7" name="0"/>
            <p:cNvSpPr txBox="1"/>
            <p:nvPr/>
          </p:nvSpPr>
          <p:spPr>
            <a:xfrm>
              <a:off x="111334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8" name="0"/>
            <p:cNvSpPr txBox="1"/>
            <p:nvPr/>
          </p:nvSpPr>
          <p:spPr>
            <a:xfrm>
              <a:off x="558867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289" name="0"/>
            <p:cNvSpPr txBox="1"/>
            <p:nvPr/>
          </p:nvSpPr>
          <p:spPr>
            <a:xfrm>
              <a:off x="-12734" y="-6351"/>
              <a:ext cx="269689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</p:grpSp>
      <p:sp>
        <p:nvSpPr>
          <p:cNvPr id="2291" name="Line"/>
          <p:cNvSpPr/>
          <p:nvPr/>
        </p:nvSpPr>
        <p:spPr>
          <a:xfrm>
            <a:off x="3833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2" name="Line"/>
          <p:cNvSpPr/>
          <p:nvPr/>
        </p:nvSpPr>
        <p:spPr>
          <a:xfrm>
            <a:off x="4405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3" name="Line"/>
          <p:cNvSpPr/>
          <p:nvPr/>
        </p:nvSpPr>
        <p:spPr>
          <a:xfrm>
            <a:off x="4963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4" name="Line"/>
          <p:cNvSpPr/>
          <p:nvPr/>
        </p:nvSpPr>
        <p:spPr>
          <a:xfrm>
            <a:off x="5535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5" name="Line"/>
          <p:cNvSpPr/>
          <p:nvPr/>
        </p:nvSpPr>
        <p:spPr>
          <a:xfrm>
            <a:off x="60942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6" name="Line"/>
          <p:cNvSpPr/>
          <p:nvPr/>
        </p:nvSpPr>
        <p:spPr>
          <a:xfrm>
            <a:off x="66657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7" name="Line"/>
          <p:cNvSpPr/>
          <p:nvPr/>
        </p:nvSpPr>
        <p:spPr>
          <a:xfrm>
            <a:off x="15476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8" name="Line"/>
          <p:cNvSpPr/>
          <p:nvPr/>
        </p:nvSpPr>
        <p:spPr>
          <a:xfrm>
            <a:off x="21191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299" name="Line"/>
          <p:cNvSpPr/>
          <p:nvPr/>
        </p:nvSpPr>
        <p:spPr>
          <a:xfrm>
            <a:off x="26779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0" name="Line"/>
          <p:cNvSpPr/>
          <p:nvPr/>
        </p:nvSpPr>
        <p:spPr>
          <a:xfrm>
            <a:off x="3249466" y="7428596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1" name="adjust"/>
          <p:cNvSpPr/>
          <p:nvPr/>
        </p:nvSpPr>
        <p:spPr>
          <a:xfrm>
            <a:off x="53209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302" name="adjust"/>
          <p:cNvSpPr/>
          <p:nvPr/>
        </p:nvSpPr>
        <p:spPr>
          <a:xfrm>
            <a:off x="30476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303" name="Line"/>
          <p:cNvSpPr/>
          <p:nvPr/>
        </p:nvSpPr>
        <p:spPr>
          <a:xfrm>
            <a:off x="3252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4" name="Line"/>
          <p:cNvSpPr/>
          <p:nvPr/>
        </p:nvSpPr>
        <p:spPr>
          <a:xfrm>
            <a:off x="3823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5" name="Line"/>
          <p:cNvSpPr/>
          <p:nvPr/>
        </p:nvSpPr>
        <p:spPr>
          <a:xfrm>
            <a:off x="4382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6" name="Line"/>
          <p:cNvSpPr/>
          <p:nvPr/>
        </p:nvSpPr>
        <p:spPr>
          <a:xfrm>
            <a:off x="4954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7" name="Line"/>
          <p:cNvSpPr/>
          <p:nvPr/>
        </p:nvSpPr>
        <p:spPr>
          <a:xfrm>
            <a:off x="55128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8" name="Line"/>
          <p:cNvSpPr/>
          <p:nvPr/>
        </p:nvSpPr>
        <p:spPr>
          <a:xfrm>
            <a:off x="60843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09" name="Line"/>
          <p:cNvSpPr/>
          <p:nvPr/>
        </p:nvSpPr>
        <p:spPr>
          <a:xfrm>
            <a:off x="6643197" y="8319404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0" name="Line"/>
          <p:cNvSpPr/>
          <p:nvPr/>
        </p:nvSpPr>
        <p:spPr>
          <a:xfrm>
            <a:off x="9662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1" name="Line"/>
          <p:cNvSpPr/>
          <p:nvPr/>
        </p:nvSpPr>
        <p:spPr>
          <a:xfrm>
            <a:off x="15377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2" name="Line"/>
          <p:cNvSpPr/>
          <p:nvPr/>
        </p:nvSpPr>
        <p:spPr>
          <a:xfrm>
            <a:off x="20965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3" name="Line"/>
          <p:cNvSpPr/>
          <p:nvPr/>
        </p:nvSpPr>
        <p:spPr>
          <a:xfrm>
            <a:off x="2668097" y="831940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4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315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316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sp>
        <p:nvSpPr>
          <p:cNvPr id="2317" name="Line"/>
          <p:cNvSpPr/>
          <p:nvPr/>
        </p:nvSpPr>
        <p:spPr>
          <a:xfrm flipV="1">
            <a:off x="7758653" y="2469153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8" name="Line"/>
          <p:cNvSpPr/>
          <p:nvPr/>
        </p:nvSpPr>
        <p:spPr>
          <a:xfrm flipV="1">
            <a:off x="8338616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19" name="Line"/>
          <p:cNvSpPr/>
          <p:nvPr/>
        </p:nvSpPr>
        <p:spPr>
          <a:xfrm flipV="1">
            <a:off x="8904191" y="246815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0" name="Line"/>
          <p:cNvSpPr/>
          <p:nvPr/>
        </p:nvSpPr>
        <p:spPr>
          <a:xfrm flipV="1">
            <a:off x="9464995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1" name="Line"/>
          <p:cNvSpPr/>
          <p:nvPr/>
        </p:nvSpPr>
        <p:spPr>
          <a:xfrm flipV="1">
            <a:off x="10025233" y="24738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2" name="Line"/>
          <p:cNvSpPr/>
          <p:nvPr/>
        </p:nvSpPr>
        <p:spPr>
          <a:xfrm flipV="1">
            <a:off x="10592496" y="24775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3" name="Line"/>
          <p:cNvSpPr/>
          <p:nvPr/>
        </p:nvSpPr>
        <p:spPr>
          <a:xfrm flipV="1">
            <a:off x="11170770" y="24728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4" name="Line"/>
          <p:cNvSpPr/>
          <p:nvPr/>
        </p:nvSpPr>
        <p:spPr>
          <a:xfrm>
            <a:off x="7204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5" name="Line"/>
          <p:cNvSpPr/>
          <p:nvPr/>
        </p:nvSpPr>
        <p:spPr>
          <a:xfrm>
            <a:off x="77761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6" name="Line"/>
          <p:cNvSpPr/>
          <p:nvPr/>
        </p:nvSpPr>
        <p:spPr>
          <a:xfrm>
            <a:off x="83476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7" name="Line"/>
          <p:cNvSpPr/>
          <p:nvPr/>
        </p:nvSpPr>
        <p:spPr>
          <a:xfrm>
            <a:off x="89064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8" name="Line"/>
          <p:cNvSpPr/>
          <p:nvPr/>
        </p:nvSpPr>
        <p:spPr>
          <a:xfrm>
            <a:off x="9481899" y="3815898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29" name="Line"/>
          <p:cNvSpPr/>
          <p:nvPr/>
        </p:nvSpPr>
        <p:spPr>
          <a:xfrm>
            <a:off x="10036708" y="3815898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0" name="Line"/>
          <p:cNvSpPr/>
          <p:nvPr/>
        </p:nvSpPr>
        <p:spPr>
          <a:xfrm flipV="1">
            <a:off x="7765161" y="336495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1" name="Line"/>
          <p:cNvSpPr/>
          <p:nvPr/>
        </p:nvSpPr>
        <p:spPr>
          <a:xfrm flipV="1">
            <a:off x="834512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2" name="Line"/>
          <p:cNvSpPr/>
          <p:nvPr/>
        </p:nvSpPr>
        <p:spPr>
          <a:xfrm flipV="1">
            <a:off x="8910699" y="336395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3" name="Line"/>
          <p:cNvSpPr/>
          <p:nvPr/>
        </p:nvSpPr>
        <p:spPr>
          <a:xfrm flipV="1">
            <a:off x="9471504" y="33686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4" name="Line"/>
          <p:cNvSpPr/>
          <p:nvPr/>
        </p:nvSpPr>
        <p:spPr>
          <a:xfrm flipV="1">
            <a:off x="10031741" y="33696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5" name="Line"/>
          <p:cNvSpPr/>
          <p:nvPr/>
        </p:nvSpPr>
        <p:spPr>
          <a:xfrm flipV="1">
            <a:off x="10599004" y="33733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6" name="Line"/>
          <p:cNvSpPr/>
          <p:nvPr/>
        </p:nvSpPr>
        <p:spPr>
          <a:xfrm>
            <a:off x="7219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7" name="Line"/>
          <p:cNvSpPr/>
          <p:nvPr/>
        </p:nvSpPr>
        <p:spPr>
          <a:xfrm>
            <a:off x="77906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8" name="Line"/>
          <p:cNvSpPr/>
          <p:nvPr/>
        </p:nvSpPr>
        <p:spPr>
          <a:xfrm>
            <a:off x="83621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39" name="Line"/>
          <p:cNvSpPr/>
          <p:nvPr/>
        </p:nvSpPr>
        <p:spPr>
          <a:xfrm>
            <a:off x="8920945" y="4722396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0" name="Line"/>
          <p:cNvSpPr/>
          <p:nvPr/>
        </p:nvSpPr>
        <p:spPr>
          <a:xfrm>
            <a:off x="9496436" y="4722396"/>
            <a:ext cx="550692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1" name="Line"/>
          <p:cNvSpPr/>
          <p:nvPr/>
        </p:nvSpPr>
        <p:spPr>
          <a:xfrm flipV="1">
            <a:off x="7779698" y="427145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2" name="Line"/>
          <p:cNvSpPr/>
          <p:nvPr/>
        </p:nvSpPr>
        <p:spPr>
          <a:xfrm flipV="1">
            <a:off x="834696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3" name="Line"/>
          <p:cNvSpPr/>
          <p:nvPr/>
        </p:nvSpPr>
        <p:spPr>
          <a:xfrm flipV="1">
            <a:off x="8925236" y="427045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4" name="Line"/>
          <p:cNvSpPr/>
          <p:nvPr/>
        </p:nvSpPr>
        <p:spPr>
          <a:xfrm flipV="1">
            <a:off x="9486041" y="427517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5" name="Line"/>
          <p:cNvSpPr/>
          <p:nvPr/>
        </p:nvSpPr>
        <p:spPr>
          <a:xfrm flipV="1">
            <a:off x="10046278" y="42761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6" name="Line"/>
          <p:cNvSpPr/>
          <p:nvPr/>
        </p:nvSpPr>
        <p:spPr>
          <a:xfrm>
            <a:off x="7221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7" name="Line"/>
          <p:cNvSpPr/>
          <p:nvPr/>
        </p:nvSpPr>
        <p:spPr>
          <a:xfrm>
            <a:off x="77929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8" name="Line"/>
          <p:cNvSpPr/>
          <p:nvPr/>
        </p:nvSpPr>
        <p:spPr>
          <a:xfrm>
            <a:off x="83644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49" name="Line"/>
          <p:cNvSpPr/>
          <p:nvPr/>
        </p:nvSpPr>
        <p:spPr>
          <a:xfrm>
            <a:off x="8923241" y="5629912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0" name="Line"/>
          <p:cNvSpPr/>
          <p:nvPr/>
        </p:nvSpPr>
        <p:spPr>
          <a:xfrm flipV="1">
            <a:off x="7781994" y="517896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1" name="Line"/>
          <p:cNvSpPr/>
          <p:nvPr/>
        </p:nvSpPr>
        <p:spPr>
          <a:xfrm flipV="1">
            <a:off x="836195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2" name="Line"/>
          <p:cNvSpPr/>
          <p:nvPr/>
        </p:nvSpPr>
        <p:spPr>
          <a:xfrm flipV="1">
            <a:off x="8927532" y="51779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3" name="Line"/>
          <p:cNvSpPr/>
          <p:nvPr/>
        </p:nvSpPr>
        <p:spPr>
          <a:xfrm flipV="1">
            <a:off x="9488337" y="51826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4" name="Line"/>
          <p:cNvSpPr/>
          <p:nvPr/>
        </p:nvSpPr>
        <p:spPr>
          <a:xfrm>
            <a:off x="7227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5" name="Line"/>
          <p:cNvSpPr/>
          <p:nvPr/>
        </p:nvSpPr>
        <p:spPr>
          <a:xfrm>
            <a:off x="77994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6" name="Line"/>
          <p:cNvSpPr/>
          <p:nvPr/>
        </p:nvSpPr>
        <p:spPr>
          <a:xfrm>
            <a:off x="8370949" y="6525714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7" name="Line"/>
          <p:cNvSpPr/>
          <p:nvPr/>
        </p:nvSpPr>
        <p:spPr>
          <a:xfrm flipV="1">
            <a:off x="7788502" y="607477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8" name="Line"/>
          <p:cNvSpPr/>
          <p:nvPr/>
        </p:nvSpPr>
        <p:spPr>
          <a:xfrm flipV="1">
            <a:off x="8368465" y="6078491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59" name="Line"/>
          <p:cNvSpPr/>
          <p:nvPr/>
        </p:nvSpPr>
        <p:spPr>
          <a:xfrm flipV="1">
            <a:off x="8934040" y="607377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0" name="Line"/>
          <p:cNvSpPr/>
          <p:nvPr/>
        </p:nvSpPr>
        <p:spPr>
          <a:xfrm>
            <a:off x="72424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1" name="Line"/>
          <p:cNvSpPr/>
          <p:nvPr/>
        </p:nvSpPr>
        <p:spPr>
          <a:xfrm>
            <a:off x="7813986" y="7432213"/>
            <a:ext cx="567384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2" name="Line"/>
          <p:cNvSpPr/>
          <p:nvPr/>
        </p:nvSpPr>
        <p:spPr>
          <a:xfrm flipV="1">
            <a:off x="7803040" y="698127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3" name="Line"/>
          <p:cNvSpPr/>
          <p:nvPr/>
        </p:nvSpPr>
        <p:spPr>
          <a:xfrm flipV="1">
            <a:off x="8370303" y="6984989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4" name="Line"/>
          <p:cNvSpPr/>
          <p:nvPr/>
        </p:nvSpPr>
        <p:spPr>
          <a:xfrm>
            <a:off x="7250841" y="8332289"/>
            <a:ext cx="567383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0" y="15195"/>
                </a:lnTo>
                <a:lnTo>
                  <a:pt x="21600" y="6863"/>
                </a:lnTo>
                <a:lnTo>
                  <a:pt x="21600" y="0"/>
                </a:lnTo>
              </a:path>
            </a:pathLst>
          </a:cu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5" name="Line"/>
          <p:cNvSpPr/>
          <p:nvPr/>
        </p:nvSpPr>
        <p:spPr>
          <a:xfrm flipV="1">
            <a:off x="7811394" y="7881346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6" name="Line"/>
          <p:cNvSpPr/>
          <p:nvPr/>
        </p:nvSpPr>
        <p:spPr>
          <a:xfrm flipV="1">
            <a:off x="4933295" y="2459165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7" name="Line"/>
          <p:cNvSpPr/>
          <p:nvPr/>
        </p:nvSpPr>
        <p:spPr>
          <a:xfrm flipV="1">
            <a:off x="5494100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8" name="Line"/>
          <p:cNvSpPr/>
          <p:nvPr/>
        </p:nvSpPr>
        <p:spPr>
          <a:xfrm flipV="1">
            <a:off x="6054337" y="24648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69" name="Line"/>
          <p:cNvSpPr/>
          <p:nvPr/>
        </p:nvSpPr>
        <p:spPr>
          <a:xfrm flipV="1">
            <a:off x="6621600" y="2468598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0" name="Line"/>
          <p:cNvSpPr/>
          <p:nvPr/>
        </p:nvSpPr>
        <p:spPr>
          <a:xfrm flipV="1">
            <a:off x="7199875" y="246388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1" name="Line"/>
          <p:cNvSpPr/>
          <p:nvPr/>
        </p:nvSpPr>
        <p:spPr>
          <a:xfrm flipV="1">
            <a:off x="437957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2" name="Line"/>
          <p:cNvSpPr/>
          <p:nvPr/>
        </p:nvSpPr>
        <p:spPr>
          <a:xfrm flipV="1">
            <a:off x="4945151" y="336681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3" name="Line"/>
          <p:cNvSpPr/>
          <p:nvPr/>
        </p:nvSpPr>
        <p:spPr>
          <a:xfrm flipV="1">
            <a:off x="5505956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4" name="Line"/>
          <p:cNvSpPr/>
          <p:nvPr/>
        </p:nvSpPr>
        <p:spPr>
          <a:xfrm flipV="1">
            <a:off x="6066193" y="337252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5" name="Line"/>
          <p:cNvSpPr/>
          <p:nvPr/>
        </p:nvSpPr>
        <p:spPr>
          <a:xfrm flipV="1">
            <a:off x="6633456" y="337624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6" name="Line"/>
          <p:cNvSpPr/>
          <p:nvPr/>
        </p:nvSpPr>
        <p:spPr>
          <a:xfrm flipV="1">
            <a:off x="7211731" y="3371527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7" name="Line"/>
          <p:cNvSpPr/>
          <p:nvPr/>
        </p:nvSpPr>
        <p:spPr>
          <a:xfrm flipV="1">
            <a:off x="3811353" y="427666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8" name="Line"/>
          <p:cNvSpPr/>
          <p:nvPr/>
        </p:nvSpPr>
        <p:spPr>
          <a:xfrm flipV="1">
            <a:off x="4391316" y="4280384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79" name="Line"/>
          <p:cNvSpPr/>
          <p:nvPr/>
        </p:nvSpPr>
        <p:spPr>
          <a:xfrm flipV="1">
            <a:off x="4956891" y="427566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0" name="Line"/>
          <p:cNvSpPr/>
          <p:nvPr/>
        </p:nvSpPr>
        <p:spPr>
          <a:xfrm flipV="1">
            <a:off x="3813463" y="520803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1" name="Line"/>
          <p:cNvSpPr/>
          <p:nvPr/>
        </p:nvSpPr>
        <p:spPr>
          <a:xfrm flipV="1">
            <a:off x="4393426" y="5211757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2" name="Line"/>
          <p:cNvSpPr/>
          <p:nvPr/>
        </p:nvSpPr>
        <p:spPr>
          <a:xfrm flipV="1">
            <a:off x="4959001" y="5207041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3" name="Line"/>
          <p:cNvSpPr/>
          <p:nvPr/>
        </p:nvSpPr>
        <p:spPr>
          <a:xfrm flipV="1">
            <a:off x="3250480" y="5198614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4" name="Line"/>
          <p:cNvSpPr/>
          <p:nvPr/>
        </p:nvSpPr>
        <p:spPr>
          <a:xfrm flipV="1">
            <a:off x="3813463" y="609537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5" name="Line"/>
          <p:cNvSpPr/>
          <p:nvPr/>
        </p:nvSpPr>
        <p:spPr>
          <a:xfrm flipV="1">
            <a:off x="4393426" y="6099099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6" name="Line"/>
          <p:cNvSpPr/>
          <p:nvPr/>
        </p:nvSpPr>
        <p:spPr>
          <a:xfrm flipV="1">
            <a:off x="4959001" y="6094382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7" name="Line"/>
          <p:cNvSpPr/>
          <p:nvPr/>
        </p:nvSpPr>
        <p:spPr>
          <a:xfrm flipV="1">
            <a:off x="2672205" y="6090672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8" name="Line"/>
          <p:cNvSpPr/>
          <p:nvPr/>
        </p:nvSpPr>
        <p:spPr>
          <a:xfrm flipV="1">
            <a:off x="3250480" y="6085956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89" name="Line"/>
          <p:cNvSpPr/>
          <p:nvPr/>
        </p:nvSpPr>
        <p:spPr>
          <a:xfrm flipV="1">
            <a:off x="2104521" y="6990200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0" name="Line"/>
          <p:cNvSpPr/>
          <p:nvPr/>
        </p:nvSpPr>
        <p:spPr>
          <a:xfrm flipV="1">
            <a:off x="2670095" y="69854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1" name="Line"/>
          <p:cNvSpPr/>
          <p:nvPr/>
        </p:nvSpPr>
        <p:spPr>
          <a:xfrm flipV="1">
            <a:off x="1540163" y="785418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2" name="Line"/>
          <p:cNvSpPr/>
          <p:nvPr/>
        </p:nvSpPr>
        <p:spPr>
          <a:xfrm flipV="1">
            <a:off x="2120126" y="7857900"/>
            <a:ext cx="1" cy="459194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  <p:sp>
        <p:nvSpPr>
          <p:cNvPr id="2393" name="Line"/>
          <p:cNvSpPr/>
          <p:nvPr/>
        </p:nvSpPr>
        <p:spPr>
          <a:xfrm flipV="1">
            <a:off x="2685701" y="7853183"/>
            <a:ext cx="1" cy="459195"/>
          </a:xfrm>
          <a:prstGeom prst="line">
            <a:avLst/>
          </a:prstGeom>
          <a:ln w="25400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/>
          <a:p>
            <a:pPr>
              <a:defRPr sz="2100" b="1"/>
            </a:pPr>
            <a:endParaRPr/>
          </a:p>
        </p:txBody>
      </p:sp>
    </p:spTree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63</a:t>
            </a:fld>
            <a:endParaRPr/>
          </a:p>
        </p:txBody>
      </p:sp>
      <p:sp>
        <p:nvSpPr>
          <p:cNvPr id="2396" name="B[7:0]"/>
          <p:cNvSpPr/>
          <p:nvPr/>
        </p:nvSpPr>
        <p:spPr>
          <a:xfrm>
            <a:off x="2998362" y="1562100"/>
            <a:ext cx="4391026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B[7:0]</a:t>
            </a:r>
          </a:p>
        </p:txBody>
      </p:sp>
      <p:sp>
        <p:nvSpPr>
          <p:cNvPr id="2397" name="BCD[0]"/>
          <p:cNvSpPr/>
          <p:nvPr/>
        </p:nvSpPr>
        <p:spPr>
          <a:xfrm>
            <a:off x="53257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BCD[0]</a:t>
            </a:r>
          </a:p>
        </p:txBody>
      </p:sp>
      <p:sp>
        <p:nvSpPr>
          <p:cNvPr id="2398" name="BCD[1]"/>
          <p:cNvSpPr/>
          <p:nvPr/>
        </p:nvSpPr>
        <p:spPr>
          <a:xfrm>
            <a:off x="30524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BCD[1]</a:t>
            </a:r>
          </a:p>
        </p:txBody>
      </p:sp>
      <p:sp>
        <p:nvSpPr>
          <p:cNvPr id="2399" name="BCD[2]"/>
          <p:cNvSpPr/>
          <p:nvPr/>
        </p:nvSpPr>
        <p:spPr>
          <a:xfrm>
            <a:off x="791864" y="8775700"/>
            <a:ext cx="2114105" cy="457200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>
                <a:solidFill>
                  <a:srgbClr val="FFFFFF"/>
                </a:solidFill>
              </a:defRPr>
            </a:lvl1pPr>
          </a:lstStyle>
          <a:p>
            <a:r>
              <a:t>BCD[2]</a:t>
            </a:r>
          </a:p>
        </p:txBody>
      </p:sp>
      <p:grpSp>
        <p:nvGrpSpPr>
          <p:cNvPr id="2412" name="Group"/>
          <p:cNvGrpSpPr/>
          <p:nvPr/>
        </p:nvGrpSpPr>
        <p:grpSpPr>
          <a:xfrm>
            <a:off x="975359" y="2012948"/>
            <a:ext cx="6280695" cy="6769103"/>
            <a:chOff x="0" y="0"/>
            <a:chExt cx="6280693" cy="6769101"/>
          </a:xfrm>
        </p:grpSpPr>
        <p:sp>
          <p:nvSpPr>
            <p:cNvPr id="2400" name="Line"/>
            <p:cNvSpPr/>
            <p:nvPr/>
          </p:nvSpPr>
          <p:spPr>
            <a:xfrm flipV="1">
              <a:off x="6280693" y="127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1" name="Line"/>
            <p:cNvSpPr/>
            <p:nvPr/>
          </p:nvSpPr>
          <p:spPr>
            <a:xfrm flipV="1">
              <a:off x="5703793" y="0"/>
              <a:ext cx="1" cy="67691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2" name="Line"/>
            <p:cNvSpPr/>
            <p:nvPr/>
          </p:nvSpPr>
          <p:spPr>
            <a:xfrm flipV="1">
              <a:off x="5126894" y="-1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3" name="Line"/>
            <p:cNvSpPr/>
            <p:nvPr/>
          </p:nvSpPr>
          <p:spPr>
            <a:xfrm flipV="1">
              <a:off x="2819295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4" name="Line"/>
            <p:cNvSpPr/>
            <p:nvPr/>
          </p:nvSpPr>
          <p:spPr>
            <a:xfrm flipV="1">
              <a:off x="4549994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5" name="Line"/>
            <p:cNvSpPr/>
            <p:nvPr/>
          </p:nvSpPr>
          <p:spPr>
            <a:xfrm flipV="1">
              <a:off x="3973094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6" name="Line"/>
            <p:cNvSpPr/>
            <p:nvPr/>
          </p:nvSpPr>
          <p:spPr>
            <a:xfrm flipV="1">
              <a:off x="3396195" y="0"/>
              <a:ext cx="1" cy="67691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7" name="Line"/>
            <p:cNvSpPr/>
            <p:nvPr/>
          </p:nvSpPr>
          <p:spPr>
            <a:xfrm flipV="1">
              <a:off x="2242395" y="0"/>
              <a:ext cx="1" cy="6769102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8" name="Line"/>
            <p:cNvSpPr/>
            <p:nvPr/>
          </p:nvSpPr>
          <p:spPr>
            <a:xfrm flipV="1">
              <a:off x="1665495" y="254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09" name="Line"/>
            <p:cNvSpPr/>
            <p:nvPr/>
          </p:nvSpPr>
          <p:spPr>
            <a:xfrm flipV="1">
              <a:off x="1102475" y="25401"/>
              <a:ext cx="1" cy="6743700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10" name="Line"/>
            <p:cNvSpPr/>
            <p:nvPr/>
          </p:nvSpPr>
          <p:spPr>
            <a:xfrm flipV="1">
              <a:off x="511696" y="25400"/>
              <a:ext cx="1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  <p:sp>
          <p:nvSpPr>
            <p:cNvPr id="2411" name="Line"/>
            <p:cNvSpPr/>
            <p:nvPr/>
          </p:nvSpPr>
          <p:spPr>
            <a:xfrm flipV="1">
              <a:off x="-1" y="25400"/>
              <a:ext cx="2" cy="6743701"/>
            </a:xfrm>
            <a:prstGeom prst="line">
              <a:avLst/>
            </a:prstGeom>
            <a:noFill/>
            <a:ln w="25400" cap="flat">
              <a:solidFill>
                <a:srgbClr val="000000"/>
              </a:solidFill>
              <a:prstDash val="solid"/>
              <a:miter lim="400000"/>
            </a:ln>
            <a:effectLst/>
          </p:spPr>
          <p:txBody>
            <a:bodyPr wrap="square" lIns="50800" tIns="50800" rIns="50800" bIns="50800" numCol="1" anchor="ctr">
              <a:noAutofit/>
            </a:bodyPr>
            <a:lstStyle/>
            <a:p>
              <a:pPr>
                <a:defRPr sz="2100" b="1"/>
              </a:pPr>
              <a:endParaRPr/>
            </a:p>
          </p:txBody>
        </p:sp>
      </p:grpSp>
      <p:sp>
        <p:nvSpPr>
          <p:cNvPr id="2413" name="adjust"/>
          <p:cNvSpPr/>
          <p:nvPr/>
        </p:nvSpPr>
        <p:spPr>
          <a:xfrm>
            <a:off x="2456093" y="42989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4" name="adjust"/>
          <p:cNvSpPr/>
          <p:nvPr/>
        </p:nvSpPr>
        <p:spPr>
          <a:xfrm>
            <a:off x="3026053" y="516890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5" name="adjust"/>
          <p:cNvSpPr/>
          <p:nvPr/>
        </p:nvSpPr>
        <p:spPr>
          <a:xfrm>
            <a:off x="3643014" y="608965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6" name="adjust"/>
          <p:cNvSpPr/>
          <p:nvPr/>
        </p:nvSpPr>
        <p:spPr>
          <a:xfrm>
            <a:off x="4136823" y="697230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7" name="adjust"/>
          <p:cNvSpPr/>
          <p:nvPr/>
        </p:nvSpPr>
        <p:spPr>
          <a:xfrm>
            <a:off x="1865014" y="6972300"/>
            <a:ext cx="2114105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8" name="adjust"/>
          <p:cNvSpPr/>
          <p:nvPr/>
        </p:nvSpPr>
        <p:spPr>
          <a:xfrm>
            <a:off x="47748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sp>
        <p:nvSpPr>
          <p:cNvPr id="2419" name="adjust"/>
          <p:cNvSpPr/>
          <p:nvPr/>
        </p:nvSpPr>
        <p:spPr>
          <a:xfrm>
            <a:off x="2501506" y="7880350"/>
            <a:ext cx="2114104" cy="457200"/>
          </a:xfrm>
          <a:prstGeom prst="rect">
            <a:avLst/>
          </a:prstGeom>
          <a:solidFill>
            <a:srgbClr val="6E8627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lvl1pPr>
              <a:defRPr sz="2100" b="1"/>
            </a:lvl1pPr>
          </a:lstStyle>
          <a:p>
            <a:r>
              <a:t>adjust</a:t>
            </a:r>
          </a:p>
        </p:txBody>
      </p:sp>
      <p:grpSp>
        <p:nvGrpSpPr>
          <p:cNvPr id="2424" name="Group"/>
          <p:cNvGrpSpPr/>
          <p:nvPr/>
        </p:nvGrpSpPr>
        <p:grpSpPr>
          <a:xfrm>
            <a:off x="831422" y="1657349"/>
            <a:ext cx="1958790" cy="431801"/>
            <a:chOff x="-12733" y="-6350"/>
            <a:chExt cx="1958789" cy="431800"/>
          </a:xfrm>
        </p:grpSpPr>
        <p:sp>
          <p:nvSpPr>
            <p:cNvPr id="2420" name="0"/>
            <p:cNvSpPr txBox="1"/>
            <p:nvPr/>
          </p:nvSpPr>
          <p:spPr>
            <a:xfrm>
              <a:off x="167636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1" name="0"/>
            <p:cNvSpPr txBox="1"/>
            <p:nvPr/>
          </p:nvSpPr>
          <p:spPr>
            <a:xfrm>
              <a:off x="1113346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2" name="0"/>
            <p:cNvSpPr txBox="1"/>
            <p:nvPr/>
          </p:nvSpPr>
          <p:spPr>
            <a:xfrm>
              <a:off x="558867" y="-6351"/>
              <a:ext cx="269690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  <p:sp>
          <p:nvSpPr>
            <p:cNvPr id="2423" name="0"/>
            <p:cNvSpPr txBox="1"/>
            <p:nvPr/>
          </p:nvSpPr>
          <p:spPr>
            <a:xfrm>
              <a:off x="-12734" y="-6351"/>
              <a:ext cx="269689" cy="4318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50800" tIns="50800" rIns="50800" bIns="50800" numCol="1" anchor="ctr">
              <a:spAutoFit/>
            </a:bodyPr>
            <a:lstStyle>
              <a:lvl1pPr>
                <a:defRPr sz="2200"/>
              </a:lvl1pPr>
            </a:lstStyle>
            <a:p>
              <a:r>
                <a:t>0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 xmlns:m="http://schemas.openxmlformats.org/officeDocument/2006/math" xmlns:a14="http://schemas.microsoft.com/office/drawing/2010/main"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6" name="Binary to BCD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Binary to BCD</a:t>
            </a:r>
          </a:p>
        </p:txBody>
      </p:sp>
      <p:sp>
        <p:nvSpPr>
          <p:cNvPr id="2427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64</a:t>
            </a:fld>
            <a:endParaRPr/>
          </a:p>
        </p:txBody>
      </p:sp>
      <p:pic>
        <p:nvPicPr>
          <p:cNvPr id="2428" name="Image" descr="Imag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2" y="2091129"/>
            <a:ext cx="9629016" cy="7298542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0" name="This lectur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This lecture</a:t>
            </a:r>
          </a:p>
        </p:txBody>
      </p:sp>
      <p:sp>
        <p:nvSpPr>
          <p:cNvPr id="2431" name="Arithmetic and logical operators in Verilog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Arithmetic and logical operators in Verilog</a:t>
            </a:r>
          </a:p>
          <a:p>
            <a:r>
              <a:t>Clocked circuits</a:t>
            </a:r>
          </a:p>
          <a:p>
            <a:r>
              <a:t>Shift registers</a:t>
            </a:r>
          </a:p>
          <a:p>
            <a:r>
              <a:t>Converting from binary to binary-coded decimal (BCD)</a:t>
            </a:r>
          </a:p>
        </p:txBody>
      </p:sp>
      <p:sp>
        <p:nvSpPr>
          <p:cNvPr id="243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/>
          <a:lstStyle/>
          <a:p>
            <a:fld id="{86CB4B4D-7CA3-9044-876B-883B54F8677D}" type="slidenum">
              <a:rPr/>
              <a:t>65</a:t>
            </a:fld>
            <a:endParaRPr/>
          </a:p>
        </p:txBody>
      </p:sp>
    </p:spTree>
  </p:cSld>
  <p:clrMapOvr>
    <a:masterClrMapping/>
  </p:clrMapOvr>
  <p:transition spd="med"/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910-8B73-00AE-C4D4-A2405A59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Backup Bin2BCD Proof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1059A74D-60F4-41DD-8D98-4870E2AAC2A2}"/>
              </a:ext>
            </a:extLst>
          </p:cNvPr>
          <p:cNvSpPr>
            <a:spLocks noGrp="1"/>
          </p:cNvSpPr>
          <p:nvPr/>
        </p:nvSpPr>
        <p:spPr>
          <a:xfrm>
            <a:off x="1000125" y="27146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1. What each step must compute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15A0363-E58B-4505-8BEB-DAFADC3BA63F}"/>
              </a:ext>
            </a:extLst>
          </p:cNvPr>
          <p:cNvSpPr>
            <a:spLocks noGrp="1"/>
          </p:cNvSpPr>
          <p:nvPr/>
        </p:nvSpPr>
        <p:spPr>
          <a:xfrm>
            <a:off x="1000125" y="3476625"/>
            <a:ext cx="11001375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Read the binary input from left to right. Appending a bit</a:t>
            </a:r>
          </a:p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 ∈ {0, 1} to a prefix of value V gives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78EE66A9-3F6B-4DA0-827B-CC6B3DB3AD12}"/>
              </a:ext>
            </a:extLst>
          </p:cNvPr>
          <p:cNvSpPr>
            <a:spLocks noGrp="1"/>
          </p:cNvSpPr>
          <p:nvPr/>
        </p:nvSpPr>
        <p:spPr>
          <a:xfrm>
            <a:off x="1000125" y="4667250"/>
            <a:ext cx="11001375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4050" b="1">
                <a:solidFill>
                  <a:srgbClr val="9E7D22"/>
                </a:solidFill>
                <a:latin typeface="Helvetica"/>
                <a:ea typeface="Helvetica"/>
                <a:cs typeface="Helvetica"/>
              </a:defRPr>
            </a:pPr>
            <a:r>
              <a:rPr sz="4050" b="1">
                <a:solidFill>
                  <a:srgbClr val="9E7D22"/>
                </a:solidFill>
                <a:latin typeface="Helvetica"/>
                <a:ea typeface="Helvetica"/>
                <a:cs typeface="Helvetica"/>
              </a:rPr>
              <a:t>V′ = 2V + b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4872FFE3-0040-464D-9611-F9DBC1B75D28}"/>
              </a:ext>
            </a:extLst>
          </p:cNvPr>
          <p:cNvSpPr>
            <a:spLocks noGrp="1"/>
          </p:cNvSpPr>
          <p:nvPr/>
        </p:nvSpPr>
        <p:spPr>
          <a:xfrm>
            <a:off x="1000125" y="57626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Example: appending 1 to binary 111 gives binary 1111.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BD31E0D-E99A-42D6-87F2-085ACF7B1C83}"/>
              </a:ext>
            </a:extLst>
          </p:cNvPr>
          <p:cNvSpPr>
            <a:spLocks noGrp="1"/>
          </p:cNvSpPr>
          <p:nvPr/>
        </p:nvSpPr>
        <p:spPr>
          <a:xfrm>
            <a:off x="1000125" y="6477000"/>
            <a:ext cx="11001375" cy="7143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6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15 = 2 × 7 + 1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47F40FE9-064E-4194-BD7B-A198D190ED56}"/>
              </a:ext>
            </a:extLst>
          </p:cNvPr>
          <p:cNvSpPr>
            <a:spLocks noGrp="1"/>
          </p:cNvSpPr>
          <p:nvPr/>
        </p:nvSpPr>
        <p:spPr>
          <a:xfrm>
            <a:off x="1000125" y="7620000"/>
            <a:ext cx="11001375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Each step must therefore double the current value and add</a:t>
            </a:r>
          </a:p>
          <a:p>
            <a:pPr algn="l">
              <a:def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8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the next input bit, keeping the result in BCD.</a:t>
            </a:r>
          </a:p>
        </p:txBody>
      </p:sp>
    </p:spTree>
    <p:extLst>
      <p:ext uri="{BB962C8B-B14F-4D97-AF65-F5344CB8AC3E}">
        <p14:creationId xmlns:p14="http://schemas.microsoft.com/office/powerpoint/2010/main" val="361289987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BD910-8B73-00AE-C4D4-A2405A59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Backup Bin2BCD Proof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1D4AA07-ACF5-439F-AACD-67CDF4F2307A}"/>
              </a:ext>
            </a:extLst>
          </p:cNvPr>
          <p:cNvSpPr>
            <a:spLocks noGrp="1"/>
          </p:cNvSpPr>
          <p:nvPr/>
        </p:nvSpPr>
        <p:spPr>
          <a:xfrm>
            <a:off x="1000125" y="2667000"/>
            <a:ext cx="11001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322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2. Why adding 3 works for one digit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16C7E58B-DDD2-4A0E-894E-31EE40942978}"/>
              </a:ext>
            </a:extLst>
          </p:cNvPr>
          <p:cNvSpPr>
            <a:spLocks noGrp="1"/>
          </p:cNvSpPr>
          <p:nvPr/>
        </p:nvSpPr>
        <p:spPr>
          <a:xfrm>
            <a:off x="1000125" y="3333750"/>
            <a:ext cx="11001375" cy="904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Let d ∈ {0, …, 9} be a decimal digit and c ∈ {0, 1} the incoming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bit: the next input bit for units, or a carry for other digits.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527BD19-D5B8-4789-A270-EDAB20A5A2FF}"/>
              </a:ext>
            </a:extLst>
          </p:cNvPr>
          <p:cNvSpPr>
            <a:spLocks noGrp="1"/>
          </p:cNvSpPr>
          <p:nvPr/>
        </p:nvSpPr>
        <p:spPr>
          <a:xfrm>
            <a:off x="1000125" y="4333875"/>
            <a:ext cx="1100137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Required: digit = (2d + c) mod 10,  carry = ⌊(2d + c) / 10⌋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57F4E23-1122-4198-BC27-F50876395C78}"/>
              </a:ext>
            </a:extLst>
          </p:cNvPr>
          <p:cNvSpPr>
            <a:spLocks noGrp="1"/>
          </p:cNvSpPr>
          <p:nvPr/>
        </p:nvSpPr>
        <p:spPr>
          <a:xfrm>
            <a:off x="1000125" y="5095875"/>
            <a:ext cx="1100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If d &lt; 5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7EAA6C0-D651-48FF-8768-F04E7E2C8B3A}"/>
              </a:ext>
            </a:extLst>
          </p:cNvPr>
          <p:cNvSpPr>
            <a:spLocks noGrp="1"/>
          </p:cNvSpPr>
          <p:nvPr/>
        </p:nvSpPr>
        <p:spPr>
          <a:xfrm>
            <a:off x="1000125" y="5572125"/>
            <a:ext cx="110013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0 ≤ 2d + c ≤ 9, so a normal shift gives the correct digit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and no carry. No adjustment is needed.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55C02865-0F30-4C97-A7B4-944A28541ED3}"/>
              </a:ext>
            </a:extLst>
          </p:cNvPr>
          <p:cNvSpPr>
            <a:spLocks noGrp="1"/>
          </p:cNvSpPr>
          <p:nvPr/>
        </p:nvSpPr>
        <p:spPr>
          <a:xfrm>
            <a:off x="1000125" y="6572250"/>
            <a:ext cx="11001375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775" b="1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If d ≥ 5</a:t>
            </a:r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97DDF723-F0F5-44A0-AFC9-C6077175699B}"/>
              </a:ext>
            </a:extLst>
          </p:cNvPr>
          <p:cNvSpPr>
            <a:spLocks noGrp="1"/>
          </p:cNvSpPr>
          <p:nvPr/>
        </p:nvSpPr>
        <p:spPr>
          <a:xfrm>
            <a:off x="1000125" y="7048500"/>
            <a:ext cx="11001375" cy="1285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Add 3 before shifting:  2(d + 3) + c = 2d + c + 6.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This lies between 16 and 25, so the 4-bit group carries 1.</a:t>
            </a:r>
          </a:p>
          <a:p>
            <a:pPr algn="l">
              <a:def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defRPr>
            </a:pPr>
            <a:r>
              <a:rPr sz="2550" b="0">
                <a:solidFill>
                  <a:srgbClr val="000000"/>
                </a:solidFill>
                <a:latin typeface="Helvetica"/>
                <a:ea typeface="Helvetica"/>
                <a:cs typeface="Helvetica"/>
              </a:rPr>
              <a:t>The remaining digit is 2d + c + 6 − 16 = 2d + c − 10.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E50EB29-F1A8-4359-8C92-EDF7AF98C149}"/>
              </a:ext>
            </a:extLst>
          </p:cNvPr>
          <p:cNvSpPr>
            <a:spLocks noGrp="1"/>
          </p:cNvSpPr>
          <p:nvPr/>
        </p:nvSpPr>
        <p:spPr>
          <a:xfrm>
            <a:off x="1000125" y="8620125"/>
            <a:ext cx="11001375" cy="619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150" b="1">
                <a:solidFill>
                  <a:srgbClr val="9E7D22"/>
                </a:solidFill>
                <a:latin typeface="Helvetica"/>
                <a:ea typeface="Helvetica"/>
                <a:cs typeface="Helvetica"/>
              </a:defRPr>
            </a:pPr>
            <a:r>
              <a:rPr sz="3150" b="1">
                <a:solidFill>
                  <a:srgbClr val="9E7D22"/>
                </a:solidFill>
                <a:latin typeface="Helvetica"/>
                <a:ea typeface="Helvetica"/>
                <a:cs typeface="Helvetica"/>
              </a:rPr>
              <a:t>Why 3?  (16 − 10) / 2 = 3</a:t>
            </a:r>
          </a:p>
        </p:txBody>
      </p:sp>
    </p:spTree>
    <p:extLst>
      <p:ext uri="{BB962C8B-B14F-4D97-AF65-F5344CB8AC3E}">
        <p14:creationId xmlns:p14="http://schemas.microsoft.com/office/powerpoint/2010/main" val="361289987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6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White">
      <a:majorFont>
        <a:latin typeface="Helvetica"/>
        <a:ea typeface="Helvetica"/>
        <a:cs typeface="Helvetica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6E8627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100" b="1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3656</Words>
  <Application>Microsoft Macintosh PowerPoint</Application>
  <PresentationFormat>Custom</PresentationFormat>
  <Paragraphs>1016</Paragraphs>
  <Slides>67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2" baseType="lpstr">
      <vt:lpstr>Courier</vt:lpstr>
      <vt:lpstr>Helvetica</vt:lpstr>
      <vt:lpstr>Helvetica Neue</vt:lpstr>
      <vt:lpstr>Helvetica Neue Thin</vt:lpstr>
      <vt:lpstr>White</vt:lpstr>
      <vt:lpstr>Mastering  Digital Design</vt:lpstr>
      <vt:lpstr>This lecture</vt:lpstr>
      <vt:lpstr>Arithmetic and Logical Operators in Verilog</vt:lpstr>
      <vt:lpstr>Integer Arithmetic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Boolean operators</vt:lpstr>
      <vt:lpstr>Incomplete specification</vt:lpstr>
      <vt:lpstr>Incomplete specification</vt:lpstr>
      <vt:lpstr>Incomplete specification</vt:lpstr>
      <vt:lpstr>Incomplete specification</vt:lpstr>
      <vt:lpstr>An ALU</vt:lpstr>
      <vt:lpstr>An ALU</vt:lpstr>
      <vt:lpstr>Clocked circuits</vt:lpstr>
      <vt:lpstr>Sequential logic</vt:lpstr>
      <vt:lpstr>Flip flop vs latch</vt:lpstr>
      <vt:lpstr>Defining a flip flop</vt:lpstr>
      <vt:lpstr>Blocking vs non-blocking assignment</vt:lpstr>
      <vt:lpstr>Blocking vs non-blocking assignment</vt:lpstr>
      <vt:lpstr>A flexible clock tick</vt:lpstr>
      <vt:lpstr>A flexible clock tick</vt:lpstr>
      <vt:lpstr>Cascading counters</vt:lpstr>
      <vt:lpstr>A clock divider</vt:lpstr>
      <vt:lpstr>Shift registers</vt:lpstr>
      <vt:lpstr>A shift register</vt:lpstr>
      <vt:lpstr>A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Linear feedback shift register</vt:lpstr>
      <vt:lpstr>Binary to BCD</vt:lpstr>
      <vt:lpstr>Binary to BCD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Binary to BCD</vt:lpstr>
      <vt:lpstr>This lecture</vt:lpstr>
      <vt:lpstr>Backup Bin2BCD Proof</vt:lpstr>
      <vt:lpstr>Backup Bin2BCD Proof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Coward, Samuel R</cp:lastModifiedBy>
  <cp:revision>2</cp:revision>
  <dcterms:modified xsi:type="dcterms:W3CDTF">2026-09-15T08:53:29Z</dcterms:modified>
</cp:coreProperties>
</file>