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charts/chart1.xml" ContentType="application/vnd.openxmlformats-officedocument.drawingml.char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2"/>
  </p:notesMasterIdLst>
  <p:sldIdLst>
    <p:sldId id="256" r:id="rId2"/>
    <p:sldId id="257" r:id="rId3"/>
    <p:sldId id="258" r:id="rId4"/>
    <p:sldId id="259" r:id="rId5"/>
    <p:sldId id="324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323" r:id="rId28"/>
    <p:sldId id="325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E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A9BC294-FFE2-49D5-8D69-9E1BD2C41BD5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81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38100" cap="flat">
              <a:solidFill>
                <a:srgbClr val="000000"/>
              </a:solidFill>
              <a:prstDash val="solid"/>
              <a:miter lim="400000"/>
            </a:ln>
          </a:insideH>
          <a:insideV>
            <a:ln w="381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381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81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81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81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81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3"/>
    <p:restoredTop sz="94744"/>
  </p:normalViewPr>
  <p:slideViewPr>
    <p:cSldViewPr snapToGrid="0">
      <p:cViewPr varScale="1">
        <p:scale>
          <a:sx n="83" d="100"/>
          <a:sy n="83" d="100"/>
        </p:scale>
        <p:origin x="204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0"/>
  <c:style val="2"/>
  <c:chart>
    <c:title>
      <c:tx>
        <c:rich>
          <a:bodyPr rot="0"/>
          <a:lstStyle/>
          <a:p>
            <a:pPr>
              <a:defRPr sz="3400" b="0" i="0" u="none" strike="noStrike">
                <a:solidFill>
                  <a:srgbClr val="000000"/>
                </a:solidFill>
                <a:latin typeface="Helvetica"/>
              </a:defRPr>
            </a:pPr>
            <a:r>
              <a:rPr sz="3400" b="0" i="0" u="none" strike="noStrike">
                <a:solidFill>
                  <a:srgbClr val="000000"/>
                </a:solidFill>
                <a:latin typeface="Helvetica"/>
              </a:rPr>
              <a:t>Title</a:t>
            </a:r>
          </a:p>
        </c:rich>
      </c:tx>
      <c:layout>
        <c:manualLayout>
          <c:xMode val="edge"/>
          <c:yMode val="edge"/>
          <c:x val="0.239345"/>
          <c:y val="0"/>
          <c:w val="0.12750300000000001"/>
          <c:h val="0.32723000000000002"/>
        </c:manualLayout>
      </c:layout>
      <c:overlay val="1"/>
      <c:spPr>
        <a:noFill/>
        <a:effectLst/>
      </c:spPr>
    </c:title>
    <c:autoTitleDeleted val="0"/>
    <c:plotArea>
      <c:layout>
        <c:manualLayout>
          <c:layoutTarget val="inner"/>
          <c:xMode val="edge"/>
          <c:yMode val="edge"/>
          <c:x val="0.23563799999999999"/>
          <c:y val="0.32723000000000002"/>
          <c:w val="0.370556"/>
          <c:h val="0.29641000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Region 1</c:v>
                </c:pt>
              </c:strCache>
            </c:strRef>
          </c:tx>
          <c:spPr>
            <a:solidFill>
              <a:schemeClr val="accent1"/>
            </a:solidFill>
            <a:ln w="12700" cap="flat">
              <a:noFill/>
              <a:miter lim="400000"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17</c:v>
                </c:pt>
                <c:pt idx="1">
                  <c:v>26</c:v>
                </c:pt>
                <c:pt idx="2">
                  <c:v>53</c:v>
                </c:pt>
                <c:pt idx="3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3A-1F49-BE71-CDA839BFA278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Region 2</c:v>
                </c:pt>
              </c:strCache>
            </c:strRef>
          </c:tx>
          <c:spPr>
            <a:solidFill>
              <a:schemeClr val="accent3"/>
            </a:solidFill>
            <a:ln w="12700" cap="flat">
              <a:noFill/>
              <a:miter lim="400000"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</c:strCache>
            </c:strRef>
          </c:cat>
          <c:val>
            <c:numRef>
              <c:f>Sheet1!$B$3:$E$3</c:f>
              <c:numCache>
                <c:formatCode>General</c:formatCode>
                <c:ptCount val="4"/>
                <c:pt idx="0">
                  <c:v>55</c:v>
                </c:pt>
                <c:pt idx="1">
                  <c:v>43</c:v>
                </c:pt>
                <c:pt idx="2">
                  <c:v>70</c:v>
                </c:pt>
                <c:pt idx="3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3A-1F49-BE71-CDA839BFA2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-1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sz="2200" b="0" i="0" u="none" strike="noStrike">
                    <a:solidFill>
                      <a:srgbClr val="000000"/>
                    </a:solidFill>
                    <a:latin typeface="Helvetica"/>
                  </a:defRPr>
                </a:pPr>
                <a:r>
                  <a:rPr sz="2200" b="0" i="0" u="none" strike="noStrike">
                    <a:solidFill>
                      <a:srgbClr val="000000"/>
                    </a:solidFill>
                    <a:latin typeface="Helvetica"/>
                  </a:rPr>
                  <a:t>Category Axis</a:t>
                </a:r>
              </a:p>
            </c:rich>
          </c:tx>
          <c:overlay val="1"/>
        </c:title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sz="2200" b="0" i="0" u="none" strike="noStrike">
                <a:solidFill>
                  <a:srgbClr val="000000"/>
                </a:solidFill>
                <a:latin typeface="Helvetica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B8B8B8"/>
              </a:solidFill>
              <a:prstDash val="solid"/>
              <a:miter lim="400000"/>
            </a:ln>
          </c:spPr>
        </c:majorGridlines>
        <c:title>
          <c:tx>
            <c:rich>
              <a:bodyPr rot="-5400000"/>
              <a:lstStyle/>
              <a:p>
                <a:pPr>
                  <a:defRPr sz="2200" b="0" i="0" u="none" strike="noStrike">
                    <a:solidFill>
                      <a:srgbClr val="000000"/>
                    </a:solidFill>
                    <a:latin typeface="Helvetica"/>
                  </a:defRPr>
                </a:pPr>
                <a:r>
                  <a:rPr sz="2200" b="0" i="0" u="none" strike="noStrike">
                    <a:solidFill>
                      <a:srgbClr val="000000"/>
                    </a:solidFill>
                    <a:latin typeface="Helvetica"/>
                  </a:rPr>
                  <a:t>Value Axis</a:t>
                </a:r>
              </a:p>
            </c:rich>
          </c:tx>
          <c:overlay val="1"/>
        </c:title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sz="2200" b="0" i="0" u="none" strike="noStrike">
                <a:solidFill>
                  <a:srgbClr val="000000"/>
                </a:solidFill>
                <a:latin typeface="Helvetica"/>
              </a:defRPr>
            </a:pPr>
            <a:endParaRPr lang="en-US"/>
          </a:p>
        </c:txPr>
        <c:crossAx val="2094734552"/>
        <c:crosses val="autoZero"/>
        <c:crossBetween val="between"/>
        <c:majorUnit val="25"/>
        <c:minorUnit val="12.5"/>
      </c:valAx>
      <c:spPr>
        <a:noFill/>
        <a:ln w="12700" cap="flat">
          <a:noFill/>
          <a:miter lim="400000"/>
        </a:ln>
        <a:effectLst/>
      </c:spPr>
    </c:plotArea>
    <c:legend>
      <c:legendPos val="r"/>
      <c:layout>
        <c:manualLayout>
          <c:xMode val="edge"/>
          <c:yMode val="edge"/>
          <c:x val="0.56615400000000005"/>
          <c:y val="0.32270199999999999"/>
          <c:w val="0.43384600000000001"/>
          <c:h val="0.32780999999999999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2600" b="0" i="0" u="none" strike="noStrike">
              <a:solidFill>
                <a:srgbClr val="000000"/>
              </a:solidFill>
              <a:latin typeface="Helvetica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0" name="Shape 6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00" y="8267700"/>
            <a:ext cx="10464800" cy="914400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SzTx/>
              <a:buNone/>
              <a:defRPr sz="2500"/>
            </a:lvl1pPr>
            <a:lvl2pPr marL="0" indent="0" algn="ctr">
              <a:spcBef>
                <a:spcPts val="0"/>
              </a:spcBef>
              <a:buSzTx/>
              <a:buNone/>
              <a:defRPr sz="2500"/>
            </a:lvl2pPr>
            <a:lvl3pPr marL="0" indent="0" algn="ctr">
              <a:spcBef>
                <a:spcPts val="0"/>
              </a:spcBef>
              <a:buSzTx/>
              <a:buNone/>
              <a:defRPr sz="2500"/>
            </a:lvl3pPr>
            <a:lvl4pPr marL="0" indent="0" algn="ctr">
              <a:spcBef>
                <a:spcPts val="0"/>
              </a:spcBef>
              <a:buSzTx/>
              <a:buNone/>
              <a:defRPr sz="2500"/>
            </a:lvl4pPr>
            <a:lvl5pPr marL="0" indent="0" algn="ctr">
              <a:spcBef>
                <a:spcPts val="0"/>
              </a:spcBef>
              <a:buSzTx/>
              <a:buNone/>
              <a:defRPr sz="25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6" name="Sam Coward"/>
          <p:cNvSpPr txBox="1"/>
          <p:nvPr/>
        </p:nvSpPr>
        <p:spPr>
          <a:xfrm>
            <a:off x="5087289" y="5854700"/>
            <a:ext cx="2830222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/>
            </a:lvl1pPr>
          </a:lstStyle>
          <a:p>
            <a:r>
              <a:t>Sam Coward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00639" y="9296400"/>
            <a:ext cx="396749" cy="399033"/>
          </a:xfrm>
          <a:prstGeom prst="rect">
            <a:avLst/>
          </a:prstGeom>
        </p:spPr>
        <p:txBody>
          <a:bodyPr/>
          <a:lstStyle>
            <a:lvl1pPr algn="ctr">
              <a:defRPr b="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Text"/>
          <p:cNvSpPr txBox="1"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3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u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502988" y="31749"/>
            <a:ext cx="396826" cy="406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2" name="Square"/>
          <p:cNvSpPr/>
          <p:nvPr/>
        </p:nvSpPr>
        <p:spPr>
          <a:xfrm>
            <a:off x="1155700" y="1682750"/>
            <a:ext cx="1270000" cy="12700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3" name="Square"/>
          <p:cNvSpPr/>
          <p:nvPr/>
        </p:nvSpPr>
        <p:spPr>
          <a:xfrm>
            <a:off x="3403600" y="1682750"/>
            <a:ext cx="1270000" cy="1270000"/>
          </a:xfrm>
          <a:prstGeom prst="rect">
            <a:avLst/>
          </a:prstGeom>
          <a:solidFill>
            <a:srgbClr val="9D7A2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4" name="Rectangle"/>
          <p:cNvSpPr/>
          <p:nvPr/>
        </p:nvSpPr>
        <p:spPr>
          <a:xfrm>
            <a:off x="876300" y="7512050"/>
            <a:ext cx="5867210" cy="1270000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5" name="Square"/>
          <p:cNvSpPr/>
          <p:nvPr/>
        </p:nvSpPr>
        <p:spPr>
          <a:xfrm>
            <a:off x="546100" y="876300"/>
            <a:ext cx="1270000" cy="1270000"/>
          </a:xfrm>
          <a:prstGeom prst="rect">
            <a:avLst/>
          </a:prstGeom>
          <a:solidFill>
            <a:srgbClr val="50979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6" name="Square"/>
          <p:cNvSpPr/>
          <p:nvPr/>
        </p:nvSpPr>
        <p:spPr>
          <a:xfrm>
            <a:off x="2336800" y="876300"/>
            <a:ext cx="1270000" cy="1270000"/>
          </a:xfrm>
          <a:prstGeom prst="rect">
            <a:avLst/>
          </a:prstGeom>
          <a:solidFill>
            <a:srgbClr val="0023E4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7" name="Line"/>
          <p:cNvSpPr/>
          <p:nvPr/>
        </p:nvSpPr>
        <p:spPr>
          <a:xfrm flipV="1">
            <a:off x="4889499" y="742950"/>
            <a:ext cx="1270001" cy="127000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graphicFrame>
        <p:nvGraphicFramePr>
          <p:cNvPr id="48" name="Table 1"/>
          <p:cNvGraphicFramePr/>
          <p:nvPr/>
        </p:nvGraphicFramePr>
        <p:xfrm>
          <a:off x="7124700" y="4616450"/>
          <a:ext cx="4236244" cy="3128268"/>
        </p:xfrm>
        <a:graphic>
          <a:graphicData uri="http://schemas.openxmlformats.org/drawingml/2006/table">
            <a:tbl>
              <a:tblPr firstRow="1" firstCol="1" lastRow="1">
                <a:tableStyleId>{4A9BC294-FFE2-49D5-8D69-9E1BD2C41BD5}</a:tableStyleId>
              </a:tblPr>
              <a:tblGrid>
                <a:gridCol w="2118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81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2756">
                <a:tc>
                  <a:txBody>
                    <a:bodyPr/>
                    <a:lstStyle/>
                    <a:p>
                      <a:pPr algn="l">
                        <a:spcBef>
                          <a:spcPts val="4200"/>
                        </a:spcBef>
                        <a:defRPr sz="1800" b="0"/>
                      </a:pPr>
                      <a:r>
                        <a:rPr sz="3200" b="1">
                          <a:latin typeface="+mn-lt"/>
                          <a:ea typeface="+mn-ea"/>
                          <a:cs typeface="+mn-cs"/>
                        </a:rPr>
                        <a:t>Corner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200"/>
                        </a:spcBef>
                        <a:defRPr sz="1800" b="0"/>
                      </a:pPr>
                      <a:r>
                        <a:rPr sz="3200" b="1">
                          <a:latin typeface="+mn-lt"/>
                          <a:ea typeface="+mn-ea"/>
                          <a:cs typeface="+mn-cs"/>
                        </a:rPr>
                        <a:t>Head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2756">
                <a:tc>
                  <a:txBody>
                    <a:bodyPr/>
                    <a:lstStyle/>
                    <a:p>
                      <a:pPr algn="l">
                        <a:spcBef>
                          <a:spcPts val="4200"/>
                        </a:spcBef>
                        <a:defRPr sz="1800" b="0"/>
                      </a:pPr>
                      <a:r>
                        <a:rPr sz="3200">
                          <a:latin typeface="+mn-lt"/>
                          <a:ea typeface="+mn-ea"/>
                          <a:cs typeface="+mn-cs"/>
                        </a:rPr>
                        <a:t>Side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Cell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2756">
                <a:tc>
                  <a:txBody>
                    <a:bodyPr/>
                    <a:lstStyle/>
                    <a:p>
                      <a:pPr algn="l">
                        <a:spcBef>
                          <a:spcPts val="4200"/>
                        </a:spcBef>
                        <a:defRPr sz="1800" b="0"/>
                      </a:pPr>
                      <a:r>
                        <a:rPr sz="3200">
                          <a:latin typeface="+mn-lt"/>
                          <a:ea typeface="+mn-ea"/>
                          <a:cs typeface="+mn-cs"/>
                        </a:rPr>
                        <a:t>Bottom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200"/>
                        </a:spcBef>
                        <a:defRPr sz="1800" b="0"/>
                      </a:pPr>
                      <a:r>
                        <a:rPr sz="3200">
                          <a:latin typeface="+mn-lt"/>
                          <a:ea typeface="+mn-ea"/>
                          <a:cs typeface="+mn-cs"/>
                        </a:rPr>
                        <a:t>Foot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9" name="Wickerson et al., &quot;Blah&quot;, in PLDI, 2018."/>
          <p:cNvSpPr txBox="1"/>
          <p:nvPr/>
        </p:nvSpPr>
        <p:spPr>
          <a:xfrm>
            <a:off x="1219200" y="7912099"/>
            <a:ext cx="579487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b">
            <a:spAutoFit/>
          </a:bodyPr>
          <a:lstStyle/>
          <a:p>
            <a:pPr marL="635000" indent="-635000" algn="l">
              <a:buSzPct val="100000"/>
              <a:buAutoNum type="arabicParenBoth"/>
              <a:defRPr sz="2300">
                <a:solidFill>
                  <a:srgbClr val="6E8627"/>
                </a:solidFill>
              </a:defRPr>
            </a:pPr>
            <a:r>
              <a:t>Wickerson et al., "Blah", in </a:t>
            </a:r>
            <a:r>
              <a:rPr i="1"/>
              <a:t>PLDI</a:t>
            </a:r>
            <a:r>
              <a:t>, 2018.</a:t>
            </a:r>
          </a:p>
        </p:txBody>
      </p:sp>
      <p:sp>
        <p:nvSpPr>
          <p:cNvPr id="50" name="Square"/>
          <p:cNvSpPr/>
          <p:nvPr/>
        </p:nvSpPr>
        <p:spPr>
          <a:xfrm>
            <a:off x="5651500" y="1682750"/>
            <a:ext cx="1270000" cy="1270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1" name="Some code."/>
          <p:cNvSpPr txBox="1"/>
          <p:nvPr/>
        </p:nvSpPr>
        <p:spPr>
          <a:xfrm>
            <a:off x="8271123" y="1276349"/>
            <a:ext cx="1943398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r>
              <a:t>Some code.</a:t>
            </a:r>
          </a:p>
        </p:txBody>
      </p:sp>
      <p:sp>
        <p:nvSpPr>
          <p:cNvPr id="52" name="Here is a cite.(1)"/>
          <p:cNvSpPr txBox="1"/>
          <p:nvPr/>
        </p:nvSpPr>
        <p:spPr>
          <a:xfrm>
            <a:off x="7777890" y="3111499"/>
            <a:ext cx="2929864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Here is a cite.</a:t>
            </a:r>
            <a:r>
              <a:rPr baseline="31999"/>
              <a:t>(1)</a:t>
            </a:r>
          </a:p>
        </p:txBody>
      </p:sp>
      <p:graphicFrame>
        <p:nvGraphicFramePr>
          <p:cNvPr id="53" name="Title"/>
          <p:cNvGraphicFramePr/>
          <p:nvPr/>
        </p:nvGraphicFramePr>
        <p:xfrm>
          <a:off x="278861" y="4584700"/>
          <a:ext cx="6397805" cy="26003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52500" y="5461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268605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Rectangle"/>
          <p:cNvSpPr/>
          <p:nvPr/>
        </p:nvSpPr>
        <p:spPr>
          <a:xfrm>
            <a:off x="0" y="-1"/>
            <a:ext cx="13004800" cy="4572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" name="Sam Coward"/>
          <p:cNvSpPr txBox="1"/>
          <p:nvPr/>
        </p:nvSpPr>
        <p:spPr>
          <a:xfrm>
            <a:off x="87122" y="25400"/>
            <a:ext cx="165281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000" b="1">
                <a:solidFill>
                  <a:srgbClr val="FFFFFF"/>
                </a:solidFill>
              </a:defRPr>
            </a:lvl1pPr>
          </a:lstStyle>
          <a:p>
            <a:r>
              <a:t>Sam Coward</a:t>
            </a:r>
          </a:p>
        </p:txBody>
      </p:sp>
      <p:sp>
        <p:nvSpPr>
          <p:cNvPr id="6" name="Mastering Digital Design"/>
          <p:cNvSpPr txBox="1"/>
          <p:nvPr/>
        </p:nvSpPr>
        <p:spPr>
          <a:xfrm>
            <a:off x="4963355" y="25400"/>
            <a:ext cx="3078089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Mastering Digital Design</a:t>
            </a:r>
          </a:p>
        </p:txBody>
      </p:sp>
      <p:sp>
        <p:nvSpPr>
          <p:cNvPr id="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502988" y="31750"/>
            <a:ext cx="396826" cy="4064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r">
              <a:defRPr sz="2000"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1" i="0" u="none" strike="noStrike" cap="none" spc="0" baseline="0">
          <a:solidFill>
            <a:srgbClr val="9D7A2D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1" i="0" u="none" strike="noStrike" cap="none" spc="0" baseline="0">
          <a:solidFill>
            <a:srgbClr val="9D7A2D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1" i="0" u="none" strike="noStrike" cap="none" spc="0" baseline="0">
          <a:solidFill>
            <a:srgbClr val="9D7A2D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1" i="0" u="none" strike="noStrike" cap="none" spc="0" baseline="0">
          <a:solidFill>
            <a:srgbClr val="9D7A2D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1" i="0" u="none" strike="noStrike" cap="none" spc="0" baseline="0">
          <a:solidFill>
            <a:srgbClr val="9D7A2D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1" i="0" u="none" strike="noStrike" cap="none" spc="0" baseline="0">
          <a:solidFill>
            <a:srgbClr val="9D7A2D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1" i="0" u="none" strike="noStrike" cap="none" spc="0" baseline="0">
          <a:solidFill>
            <a:srgbClr val="9D7A2D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1" i="0" u="none" strike="noStrike" cap="none" spc="0" baseline="0">
          <a:solidFill>
            <a:srgbClr val="9D7A2D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1" i="0" u="none" strike="noStrike" cap="none" spc="0" baseline="0">
          <a:solidFill>
            <a:srgbClr val="9D7A2D"/>
          </a:solidFill>
          <a:uFillTx/>
          <a:latin typeface="+mn-lt"/>
          <a:ea typeface="+mn-ea"/>
          <a:cs typeface="+mn-cs"/>
          <a:sym typeface="Helvetica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228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457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685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914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11430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1371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1600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1828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Lecture 2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Lecture 2</a:t>
            </a:r>
          </a:p>
        </p:txBody>
      </p:sp>
      <p:sp>
        <p:nvSpPr>
          <p:cNvPr id="63" name="Mastering  Digital Design"/>
          <p:cNvSpPr txBox="1">
            <a:spLocks noGrp="1"/>
          </p:cNvSpPr>
          <p:nvPr>
            <p:ph type="ctrTitle"/>
          </p:nvPr>
        </p:nvSpPr>
        <p:spPr>
          <a:xfrm>
            <a:off x="1270000" y="11303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t>Mastering </a:t>
            </a:r>
            <a:br/>
            <a:r>
              <a:t>Digital Design</a:t>
            </a:r>
          </a:p>
        </p:txBody>
      </p:sp>
      <p:sp>
        <p:nvSpPr>
          <p:cNvPr id="64" name="with Verilog on FPGAs"/>
          <p:cNvSpPr txBox="1"/>
          <p:nvPr/>
        </p:nvSpPr>
        <p:spPr>
          <a:xfrm>
            <a:off x="2861180" y="4614322"/>
            <a:ext cx="7282443" cy="702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900" b="1">
                <a:solidFill>
                  <a:srgbClr val="9D7A2D"/>
                </a:solidFill>
              </a:defRPr>
            </a:lvl1pPr>
          </a:lstStyle>
          <a:p>
            <a:r>
              <a:rPr dirty="0"/>
              <a:t>with </a:t>
            </a:r>
            <a:r>
              <a:rPr lang="en-GB" dirty="0"/>
              <a:t>System</a:t>
            </a:r>
            <a:r>
              <a:rPr dirty="0"/>
              <a:t>Verilog on FPGAs</a:t>
            </a:r>
          </a:p>
        </p:txBody>
      </p:sp>
      <p:sp>
        <p:nvSpPr>
          <p:cNvPr id="2" name="Slides by John Wickerson">
            <a:extLst>
              <a:ext uri="{FF2B5EF4-FFF2-40B4-BE49-F238E27FC236}">
                <a16:creationId xmlns:a16="http://schemas.microsoft.com/office/drawing/2014/main" id="{D353BE6D-8EF9-7569-F438-60B46EC3AED4}"/>
              </a:ext>
            </a:extLst>
          </p:cNvPr>
          <p:cNvSpPr txBox="1"/>
          <p:nvPr/>
        </p:nvSpPr>
        <p:spPr>
          <a:xfrm>
            <a:off x="4355281" y="6537324"/>
            <a:ext cx="4040238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700"/>
            </a:lvl1pPr>
          </a:lstStyle>
          <a:p>
            <a:r>
              <a:t>Slides by John Wickerson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his lectu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This lecture</a:t>
            </a:r>
          </a:p>
        </p:txBody>
      </p:sp>
      <p:sp>
        <p:nvSpPr>
          <p:cNvPr id="67" name="Arithmetic and logical operators in Verilog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Arithmetic and logical operators in Verilog</a:t>
            </a:r>
          </a:p>
          <a:p>
            <a:r>
              <a:t>Clocked circuits</a:t>
            </a:r>
          </a:p>
          <a:p>
            <a:r>
              <a:t>Shift registers</a:t>
            </a:r>
          </a:p>
          <a:p>
            <a:r>
              <a:t>Converting from binary to binary-coded decimal (BCD)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44250" y="31750"/>
            <a:ext cx="255564" cy="4064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Arithmetic and Logical Operators in Verilo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549148">
              <a:defRPr sz="7519"/>
            </a:lvl1pPr>
          </a:lstStyle>
          <a:p>
            <a:r>
              <a:rPr dirty="0"/>
              <a:t>Arithmetic and Logical Operator</a:t>
            </a:r>
            <a:r>
              <a:rPr lang="en-GB" dirty="0"/>
              <a:t>s</a:t>
            </a:r>
            <a:endParaRPr dirty="0"/>
          </a:p>
        </p:txBody>
      </p:sp>
      <p:sp>
        <p:nvSpPr>
          <p:cNvPr id="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44250" y="31750"/>
            <a:ext cx="255564" cy="4064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Integer Arithmetic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Integer Arithmetic</a:t>
            </a:r>
          </a:p>
        </p:txBody>
      </p:sp>
      <p:sp>
        <p:nvSpPr>
          <p:cNvPr id="74" name="Integer arithmetic without carries:…"/>
          <p:cNvSpPr txBox="1">
            <a:spLocks noGrp="1"/>
          </p:cNvSpPr>
          <p:nvPr>
            <p:ph type="body" idx="1"/>
          </p:nvPr>
        </p:nvSpPr>
        <p:spPr>
          <a:xfrm>
            <a:off x="952500" y="2582355"/>
            <a:ext cx="11099800" cy="6286500"/>
          </a:xfrm>
          <a:prstGeom prst="rect">
            <a:avLst/>
          </a:prstGeom>
        </p:spPr>
        <p:txBody>
          <a:bodyPr/>
          <a:lstStyle/>
          <a:p>
            <a:r>
              <a:rPr dirty="0"/>
              <a:t>Integer arithmetic without carries:</a:t>
            </a:r>
          </a:p>
          <a:p>
            <a:endParaRPr dirty="0"/>
          </a:p>
          <a:p>
            <a:endParaRPr dirty="0"/>
          </a:p>
          <a:p>
            <a:r>
              <a:rPr dirty="0"/>
              <a:t>Integer arithmetic with carry-in and carry-out:</a:t>
            </a:r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44250" y="31750"/>
            <a:ext cx="255564" cy="4064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76" name="module add32 (a, b, sum);…"/>
          <p:cNvSpPr txBox="1"/>
          <p:nvPr/>
        </p:nvSpPr>
        <p:spPr>
          <a:xfrm>
            <a:off x="1902967" y="3251042"/>
            <a:ext cx="4690387" cy="2133918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module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add32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(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[31:0] a, b,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output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[31:0] sum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);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assign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sum = a + b;</a:t>
            </a:r>
          </a:p>
          <a:p>
            <a:pPr algn="l">
              <a:defRPr sz="2200"/>
            </a:pP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endmodule</a:t>
            </a:r>
            <a:endParaRPr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77" name="module add32_carry (a, b, cin, sum, cout);…"/>
          <p:cNvSpPr txBox="1"/>
          <p:nvPr/>
        </p:nvSpPr>
        <p:spPr>
          <a:xfrm>
            <a:off x="1902967" y="6241755"/>
            <a:ext cx="6049733" cy="2811026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module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add32_carry 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(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[31:0] a, b,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      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cin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,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output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[31:0] sum,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output logic       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cout</a:t>
            </a:r>
            <a:endParaRPr lang="en-GB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);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assign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{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cout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, sum} = a + b +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cin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algn="l">
              <a:defRPr sz="2200"/>
            </a:pP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endmodule</a:t>
            </a:r>
            <a:endParaRPr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grpSp>
        <p:nvGrpSpPr>
          <p:cNvPr id="80" name="Group"/>
          <p:cNvGrpSpPr/>
          <p:nvPr/>
        </p:nvGrpSpPr>
        <p:grpSpPr>
          <a:xfrm>
            <a:off x="3565476" y="8644381"/>
            <a:ext cx="6635385" cy="665527"/>
            <a:chOff x="0" y="244138"/>
            <a:chExt cx="6635384" cy="665526"/>
          </a:xfrm>
        </p:grpSpPr>
        <p:sp>
          <p:nvSpPr>
            <p:cNvPr id="78" name="What is the width of the +-operator?"/>
            <p:cNvSpPr/>
            <p:nvPr/>
          </p:nvSpPr>
          <p:spPr>
            <a:xfrm>
              <a:off x="0" y="909663"/>
              <a:ext cx="6635384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r>
                <a:t>What is the width of the </a:t>
              </a:r>
              <a:r>
                <a:rPr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+</a:t>
              </a:r>
              <a:r>
                <a:t>-operator?</a:t>
              </a:r>
            </a:p>
          </p:txBody>
        </p:sp>
        <p:sp>
          <p:nvSpPr>
            <p:cNvPr id="79" name="Line"/>
            <p:cNvSpPr/>
            <p:nvPr/>
          </p:nvSpPr>
          <p:spPr>
            <a:xfrm flipH="1" flipV="1">
              <a:off x="2778762" y="244138"/>
              <a:ext cx="505861" cy="40839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1" build="p" bldLvl="5" animBg="1" advAuto="0"/>
      <p:bldP spid="76" grpId="2" animBg="1" advAuto="0"/>
      <p:bldP spid="77" grpId="3" animBg="1" advAuto="0"/>
      <p:bldP spid="80" grpId="4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900FC-DB75-42D6-9BB6-76D8F9618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B3E10-C204-73EE-3E53-1C2A2FE5D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5467673"/>
            <a:ext cx="11099800" cy="731649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Prove </a:t>
            </a:r>
            <a:r>
              <a:rPr lang="en-GB" i="1" dirty="0"/>
              <a:t>mathematically</a:t>
            </a:r>
            <a:r>
              <a:rPr lang="en-GB" dirty="0"/>
              <a:t> that the addition cannot overflow?</a:t>
            </a:r>
          </a:p>
        </p:txBody>
      </p:sp>
      <p:sp>
        <p:nvSpPr>
          <p:cNvPr id="4" name="module add32_carry (a, b, cin, sum, cout);…">
            <a:extLst>
              <a:ext uri="{FF2B5EF4-FFF2-40B4-BE49-F238E27FC236}">
                <a16:creationId xmlns:a16="http://schemas.microsoft.com/office/drawing/2014/main" id="{AB6D6ADE-B15A-DEC5-8159-605BF100DD3E}"/>
              </a:ext>
            </a:extLst>
          </p:cNvPr>
          <p:cNvSpPr txBox="1"/>
          <p:nvPr/>
        </p:nvSpPr>
        <p:spPr>
          <a:xfrm>
            <a:off x="647605" y="2506664"/>
            <a:ext cx="6049733" cy="2811026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module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add32_carry 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(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[31:0] a, b,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      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cin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,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output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[31:0] sum,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output logic       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cout</a:t>
            </a:r>
            <a:endParaRPr lang="en-GB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);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assign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{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cout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, sum} = a + b +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cin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algn="l">
              <a:defRPr sz="2200"/>
            </a:pP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endmodule</a:t>
            </a:r>
            <a:endParaRPr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" name="module add32_carry (a, b, cin, sum, cout);…">
            <a:extLst>
              <a:ext uri="{FF2B5EF4-FFF2-40B4-BE49-F238E27FC236}">
                <a16:creationId xmlns:a16="http://schemas.microsoft.com/office/drawing/2014/main" id="{9B2E35DE-DD6A-7C43-E0ED-351C4FB83DA8}"/>
              </a:ext>
            </a:extLst>
          </p:cNvPr>
          <p:cNvSpPr txBox="1"/>
          <p:nvPr/>
        </p:nvSpPr>
        <p:spPr>
          <a:xfrm>
            <a:off x="68943" y="6537876"/>
            <a:ext cx="5030223" cy="2133918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module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mul_add_32 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(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[15:0] a, b, c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output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[31:0] out,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);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assign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out = (a * b) + c;</a:t>
            </a:r>
          </a:p>
          <a:p>
            <a:pPr algn="l">
              <a:defRPr sz="2200"/>
            </a:pP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endmodule</a:t>
            </a:r>
            <a:endParaRPr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5439589-AB59-A4FA-5FCE-BF8D166758DB}"/>
              </a:ext>
            </a:extLst>
          </p:cNvPr>
          <p:cNvSpPr txBox="1">
            <a:spLocks/>
          </p:cNvSpPr>
          <p:nvPr/>
        </p:nvSpPr>
        <p:spPr>
          <a:xfrm>
            <a:off x="5529943" y="6787264"/>
            <a:ext cx="6522357" cy="1292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444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1pPr>
            <a:lvl2pPr marL="889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2pPr>
            <a:lvl3pPr marL="1333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3pPr>
            <a:lvl4pPr marL="1778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4pPr>
            <a:lvl5pPr marL="2222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5pPr>
            <a:lvl6pPr marL="2667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6pPr>
            <a:lvl7pPr marL="3111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7pPr>
            <a:lvl8pPr marL="3556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8pPr>
            <a:lvl9pPr marL="4000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9pPr>
          </a:lstStyle>
          <a:p>
            <a:pPr marL="0" indent="0" hangingPunct="1">
              <a:buFontTx/>
              <a:buNone/>
            </a:pPr>
            <a:r>
              <a:rPr lang="en-GB" dirty="0"/>
              <a:t>Can this arithmetic overflow?</a:t>
            </a:r>
          </a:p>
        </p:txBody>
      </p:sp>
    </p:spTree>
    <p:extLst>
      <p:ext uri="{BB962C8B-B14F-4D97-AF65-F5344CB8AC3E}">
        <p14:creationId xmlns:p14="http://schemas.microsoft.com/office/powerpoint/2010/main" val="90889251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dvAuto="0"/>
      <p:bldP spid="5" grpId="0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Boolean operato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Boolean operators</a:t>
            </a:r>
          </a:p>
        </p:txBody>
      </p:sp>
      <p:sp>
        <p:nvSpPr>
          <p:cNvPr id="83" name="Bitwise operators: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Bitwise operators: 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44250" y="31750"/>
            <a:ext cx="255564" cy="4064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1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Boolean operato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Boolean operators</a:t>
            </a:r>
          </a:p>
        </p:txBody>
      </p:sp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44250" y="31750"/>
            <a:ext cx="255564" cy="4064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5" name="Bitwise operators:  ~(4'b0101) = {~0,~1,~0,~1}">
            <a:extLst>
              <a:ext uri="{FF2B5EF4-FFF2-40B4-BE49-F238E27FC236}">
                <a16:creationId xmlns:a16="http://schemas.microsoft.com/office/drawing/2014/main" id="{F39FA2D7-A2E7-46BC-95DD-8E2E82F3D4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52500" y="2686050"/>
            <a:ext cx="11099800" cy="6286500"/>
          </a:xfrm>
          <a:prstGeom prst="rect">
            <a:avLst/>
          </a:prstGeom>
        </p:spPr>
        <p:txBody>
          <a:bodyPr/>
          <a:lstStyle/>
          <a:p>
            <a:r>
              <a:t>Bitwise operators: </a:t>
            </a:r>
            <a:br/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~(4'b0101)</a:t>
            </a:r>
            <a:r>
              <a:rPr lang="en-GB"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>
                <a:solidFill>
                  <a:srgbClr val="FFFED2"/>
                </a:solidFill>
              </a:rPr>
              <a:t>=</a:t>
            </a:r>
            <a:r>
              <a:rPr lang="en-GB" sz="2800">
                <a:solidFill>
                  <a:srgbClr val="FFFED2"/>
                </a:solidFill>
                <a:latin typeface="Courier"/>
                <a:ea typeface="Courier"/>
                <a:cs typeface="Courier"/>
                <a:sym typeface="Courier"/>
              </a:rPr>
              <a:t> {~0,~1,~0,~1}</a:t>
            </a:r>
            <a:endParaRPr sz="2800">
              <a:solidFill>
                <a:srgbClr val="FFFED2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Boolean operato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Boolean operators</a:t>
            </a:r>
          </a:p>
        </p:txBody>
      </p:sp>
      <p:sp>
        <p:nvSpPr>
          <p:cNvPr id="91" name="Bitwise operators:  ~(4'b0101) = {~0,~1,~0,~1}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Bitwise operators: </a:t>
            </a:r>
            <a:br/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~(4'b0101)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{~0,~1,~0,~1}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44250" y="31750"/>
            <a:ext cx="255564" cy="4064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Boolean operato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Boolean operators</a:t>
            </a:r>
          </a:p>
        </p:txBody>
      </p:sp>
      <p:sp>
        <p:nvSpPr>
          <p:cNvPr id="95" name="Bitwise operators:  ~(4'b0101) = {~0,~1,~0,~1} = {1,0,1,0}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Bitwise operators: </a:t>
            </a:r>
            <a:br/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~(4'b0101)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{~0,~1,~0,~1}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{1,0,1,0}</a:t>
            </a:r>
          </a:p>
        </p:txBody>
      </p:sp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44250" y="31750"/>
            <a:ext cx="255564" cy="4064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olean operato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Boolean operators</a:t>
            </a:r>
          </a:p>
        </p:txBody>
      </p:sp>
      <p:sp>
        <p:nvSpPr>
          <p:cNvPr id="99" name="Bitwise operators:  ~(4'b0101) = {~0,~1,~0,~1} = {1,0,1,0} = 4'b10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Bitwise operators: </a:t>
            </a:r>
            <a:br/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~(4'b0101)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{~0,~1,~0,~1}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{1,0,1,0}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4'b1010</a:t>
            </a:r>
          </a:p>
        </p:txBody>
      </p:sp>
      <p:sp>
        <p:nvSpPr>
          <p:cNvPr id="10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44250" y="31750"/>
            <a:ext cx="255564" cy="4064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Boolean operato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Boolean operators</a:t>
            </a:r>
          </a:p>
        </p:txBody>
      </p:sp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sp>
        <p:nvSpPr>
          <p:cNvPr id="5" name="Bitwise operators:  ~(4'b0101) = {~0,~1,~0,~1} = {1,0,1,0} = 4'b1010 4'b0101 &amp; 4'b0011 = 4'b0001">
            <a:extLst>
              <a:ext uri="{FF2B5EF4-FFF2-40B4-BE49-F238E27FC236}">
                <a16:creationId xmlns:a16="http://schemas.microsoft.com/office/drawing/2014/main" id="{48F0E956-C8EC-6E56-D438-2E294992FB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52500" y="2686050"/>
            <a:ext cx="11099800" cy="6286500"/>
          </a:xfrm>
          <a:prstGeom prst="rect">
            <a:avLst/>
          </a:prstGeom>
        </p:spPr>
        <p:txBody>
          <a:bodyPr/>
          <a:lstStyle/>
          <a:p>
            <a:r>
              <a:t>Bitwise operators: </a:t>
            </a:r>
            <a:br/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~(4'b0101)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{~0,~1,~0,~1}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{1,0,1,0}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4'b1010</a:t>
            </a:r>
            <a:b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4'b0101 &amp; 4'b0011</a:t>
            </a:r>
            <a:r>
              <a:rPr sz="2800">
                <a:solidFill>
                  <a:srgbClr val="FFFED2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>
                <a:solidFill>
                  <a:srgbClr val="FFFED2"/>
                </a:solidFill>
              </a:rPr>
              <a:t>=</a:t>
            </a:r>
            <a:r>
              <a:rPr sz="2800">
                <a:solidFill>
                  <a:srgbClr val="FFFED2"/>
                </a:solidFill>
                <a:latin typeface="Courier"/>
                <a:ea typeface="Courier"/>
                <a:cs typeface="Courier"/>
                <a:sym typeface="Courier"/>
              </a:rPr>
              <a:t> 4'b0001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olean operato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Boolean operators</a:t>
            </a:r>
          </a:p>
        </p:txBody>
      </p:sp>
      <p:sp>
        <p:nvSpPr>
          <p:cNvPr id="107" name="Bitwise operators:  ~(4'b0101) = {~0,~1,~0,~1} = {1,0,1,0} = 4'b1010 4'b0101 &amp; 4'b0011 = 4'b000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Bitwise operators: </a:t>
            </a:r>
            <a:br/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~(4'b0101)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{~0,~1,~0,~1}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{1,0,1,0}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4'b1010</a:t>
            </a:r>
            <a:b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4'b0101 &amp; 4'b0011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4'b0001</a:t>
            </a:r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516878" y="31750"/>
            <a:ext cx="382936" cy="4064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Boolean operato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Boolean operators</a:t>
            </a:r>
          </a:p>
        </p:txBody>
      </p:sp>
      <p:sp>
        <p:nvSpPr>
          <p:cNvPr id="111" name="Bitwise operators:  ~(4'b0101) = {~0,~1,~0,~1} = {1,0,1,0} = 4'b1010 4'b0101 &amp; 4'b0011 = 4'b000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Bitwise operators: </a:t>
            </a:r>
            <a:br/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~(4'b0101)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{~0,~1,~0,~1}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{1,0,1,0}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4'b1010</a:t>
            </a:r>
            <a:b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4'b0101 &amp; 4'b0011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4'b0001</a:t>
            </a:r>
          </a:p>
          <a:p>
            <a:r>
              <a:t>Logical operators:</a:t>
            </a:r>
          </a:p>
        </p:txBody>
      </p:sp>
      <p:sp>
        <p:nvSpPr>
          <p:cNvPr id="1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13</a:t>
            </a:fld>
            <a:endParaRPr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Boolean operato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Boolean operators</a:t>
            </a:r>
          </a:p>
        </p:txBody>
      </p:sp>
      <p:sp>
        <p:nvSpPr>
          <p:cNvPr id="1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14</a:t>
            </a:fld>
            <a:endParaRPr/>
          </a:p>
        </p:txBody>
      </p:sp>
      <p:sp>
        <p:nvSpPr>
          <p:cNvPr id="4" name="Bitwise operators:  ~(4'b0101) = {~0,~1,~0,~1} = {1,0,1,0} = 4'b1010 4'b0101 &amp; 4'b0011 = 4'b0001…">
            <a:extLst>
              <a:ext uri="{FF2B5EF4-FFF2-40B4-BE49-F238E27FC236}">
                <a16:creationId xmlns:a16="http://schemas.microsoft.com/office/drawing/2014/main" id="{05012C80-F772-3787-1D5E-9FAAEA64A0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52500" y="2686050"/>
            <a:ext cx="11099800" cy="6286500"/>
          </a:xfrm>
          <a:prstGeom prst="rect">
            <a:avLst/>
          </a:prstGeom>
        </p:spPr>
        <p:txBody>
          <a:bodyPr/>
          <a:lstStyle/>
          <a:p>
            <a:r>
              <a:t>Bitwise operators: </a:t>
            </a:r>
            <a:br/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~(4'b0101)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{~0,~1,~0,~1}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{1,0,1,0}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4'b1010</a:t>
            </a:r>
            <a:b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4'b0101 &amp; 4'b0011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4'b0001</a:t>
            </a:r>
          </a:p>
          <a:p>
            <a:r>
              <a:t>Logical operators:</a:t>
            </a:r>
            <a:br/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!(4'b0101)</a:t>
            </a:r>
            <a:r>
              <a:rPr sz="2800">
                <a:solidFill>
                  <a:srgbClr val="FFFED2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>
                <a:solidFill>
                  <a:srgbClr val="FFFED2"/>
                </a:solidFill>
              </a:rPr>
              <a:t>=</a:t>
            </a:r>
            <a:r>
              <a:rPr sz="2800">
                <a:solidFill>
                  <a:srgbClr val="FFFED2"/>
                </a:solidFill>
                <a:latin typeface="Courier"/>
                <a:ea typeface="Courier"/>
                <a:cs typeface="Courier"/>
                <a:sym typeface="Courier"/>
              </a:rPr>
              <a:t> 0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olean operato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Boolean operators</a:t>
            </a:r>
          </a:p>
        </p:txBody>
      </p:sp>
      <p:sp>
        <p:nvSpPr>
          <p:cNvPr id="119" name="Bitwise operators:  ~(4'b0101) = {~0,~1,~0,~1} = {1,0,1,0} = 4'b1010 4'b0101 &amp; 4'b0011 = 4'b000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Bitwise operators: </a:t>
            </a:r>
            <a:br/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~(4'b0101)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{~0,~1,~0,~1}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{1,0,1,0}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4'b1010</a:t>
            </a:r>
            <a:b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4'b0101 &amp; 4'b0011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4'b0001</a:t>
            </a:r>
          </a:p>
          <a:p>
            <a:r>
              <a:t>Logical operators:</a:t>
            </a:r>
            <a:br/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!(4'b0101)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0</a:t>
            </a:r>
          </a:p>
        </p:txBody>
      </p:sp>
      <p:sp>
        <p:nvSpPr>
          <p:cNvPr id="1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Boolean operato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Boolean operators</a:t>
            </a:r>
          </a:p>
        </p:txBody>
      </p:sp>
      <p:sp>
        <p:nvSpPr>
          <p:cNvPr id="123" name="Bitwise operators:  ~(4'b0101) = {~0,~1,~0,~1} = {1,0,1,0} = 4'b1010 4'b0101 &amp; 4'b0011 = 4'b000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Bitwise operators: </a:t>
            </a:r>
            <a:br/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~(4'b0101)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{~0,~1,~0,~1}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{1,0,1,0}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4'b1010</a:t>
            </a:r>
            <a:b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4'b0101 &amp; 4'b0011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4'b0001</a:t>
            </a:r>
          </a:p>
          <a:p>
            <a:r>
              <a:t>Logical operators:</a:t>
            </a:r>
            <a:br/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!(4'b0101)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0</a:t>
            </a:r>
          </a:p>
          <a:p>
            <a:r>
              <a:t>Reduction operators:</a:t>
            </a:r>
          </a:p>
        </p:txBody>
      </p:sp>
      <p:sp>
        <p:nvSpPr>
          <p:cNvPr id="1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16</a:t>
            </a:fld>
            <a:endParaRPr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olean operato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Boolean operators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17</a:t>
            </a:fld>
            <a:endParaRPr/>
          </a:p>
        </p:txBody>
      </p:sp>
      <p:sp>
        <p:nvSpPr>
          <p:cNvPr id="4" name="Bitwise operators:  ~(4'b0101) = {~0,~1,~0,~1} = {1,0,1,0} = 4'b1010 4'b0101 &amp; 4'b0011 = 4'b0001…">
            <a:extLst>
              <a:ext uri="{FF2B5EF4-FFF2-40B4-BE49-F238E27FC236}">
                <a16:creationId xmlns:a16="http://schemas.microsoft.com/office/drawing/2014/main" id="{3AE9B749-FEE2-82D5-CB1D-5B3D18E381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52500" y="2686050"/>
            <a:ext cx="11099800" cy="6286500"/>
          </a:xfrm>
          <a:prstGeom prst="rect">
            <a:avLst/>
          </a:prstGeom>
        </p:spPr>
        <p:txBody>
          <a:bodyPr/>
          <a:lstStyle/>
          <a:p>
            <a:r>
              <a:t>Bitwise operators: </a:t>
            </a:r>
            <a:br/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~(4'b0101)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{~0,~1,~0,~1}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{1,0,1,0}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4'b1010</a:t>
            </a:r>
            <a:b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4'b0101 &amp; 4'b0011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4'b0001</a:t>
            </a:r>
          </a:p>
          <a:p>
            <a:r>
              <a:t>Logical operators:</a:t>
            </a:r>
            <a:br/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!(4'b0101)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0</a:t>
            </a:r>
          </a:p>
          <a:p>
            <a:r>
              <a:t>Reduction operators:</a:t>
            </a:r>
            <a:br/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&amp;(4'b0101) </a:t>
            </a:r>
            <a:r>
              <a:rPr>
                <a:solidFill>
                  <a:srgbClr val="FFFED2"/>
                </a:solidFill>
              </a:rPr>
              <a:t>=</a:t>
            </a:r>
            <a:r>
              <a:rPr sz="2800">
                <a:solidFill>
                  <a:srgbClr val="FFFED2"/>
                </a:solidFill>
                <a:latin typeface="Courier"/>
                <a:ea typeface="Courier"/>
                <a:cs typeface="Courier"/>
                <a:sym typeface="Courier"/>
              </a:rPr>
              <a:t> 0 &amp; 1 &amp; 0 &amp; 1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Boolean operato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Boolean operators</a:t>
            </a:r>
          </a:p>
        </p:txBody>
      </p:sp>
      <p:sp>
        <p:nvSpPr>
          <p:cNvPr id="131" name="Bitwise operators:  ~(4'b0101) = {~0,~1,~0,~1} = {1,0,1,0} = 4'b1010 4'b0101 &amp; 4'b0011 = 4'b000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Bitwise operators: </a:t>
            </a:r>
            <a:br/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~(4'b0101)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{~0,~1,~0,~1}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{1,0,1,0}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4'b1010</a:t>
            </a:r>
            <a:b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4'b0101 &amp; 4'b0011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4'b0001</a:t>
            </a:r>
          </a:p>
          <a:p>
            <a:r>
              <a:t>Logical operators:</a:t>
            </a:r>
            <a:br/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!(4'b0101)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0</a:t>
            </a:r>
          </a:p>
          <a:p>
            <a:r>
              <a:t>Reduction operators:</a:t>
            </a:r>
            <a:br/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&amp;(4'b0101)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0 &amp; 1 &amp; 0 &amp; 1</a:t>
            </a:r>
          </a:p>
        </p:txBody>
      </p:sp>
      <p:sp>
        <p:nvSpPr>
          <p:cNvPr id="1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18</a:t>
            </a:fld>
            <a:endParaRPr/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olean operato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Boolean operators</a:t>
            </a:r>
          </a:p>
        </p:txBody>
      </p:sp>
      <p:sp>
        <p:nvSpPr>
          <p:cNvPr id="135" name="Bitwise operators:  ~(4'b0101) = {~0,~1,~0,~1} = {1,0,1,0} = 4'b1010 4'b0101 &amp; 4'b0011 = 4'b000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Bitwise operators: </a:t>
            </a:r>
            <a:br/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~(4'b0101)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{~0,~1,~0,~1}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{1,0,1,0}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4'b1010</a:t>
            </a:r>
            <a:b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4'b0101 &amp; 4'b0011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4'b0001</a:t>
            </a:r>
          </a:p>
          <a:p>
            <a:r>
              <a:t>Logical operators:</a:t>
            </a:r>
            <a:br/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!(4'b0101)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0</a:t>
            </a:r>
          </a:p>
          <a:p>
            <a:r>
              <a:t>Reduction operators:</a:t>
            </a:r>
            <a:br/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&amp;(4'b0101)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0 &amp; 1 &amp; 0 &amp; 1 </a:t>
            </a:r>
            <a:r>
              <a:t>=</a:t>
            </a:r>
            <a:r>
              <a:rPr sz="2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1'b0</a:t>
            </a:r>
          </a:p>
        </p:txBody>
      </p:sp>
      <p:sp>
        <p:nvSpPr>
          <p:cNvPr id="13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19</a:t>
            </a:fld>
            <a:endParaRPr/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Boolean operato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Boolean operators</a:t>
            </a:r>
          </a:p>
        </p:txBody>
      </p:sp>
      <p:sp>
        <p:nvSpPr>
          <p:cNvPr id="1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20</a:t>
            </a:fld>
            <a:endParaRPr/>
          </a:p>
        </p:txBody>
      </p:sp>
      <p:pic>
        <p:nvPicPr>
          <p:cNvPr id="14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92" y="2794000"/>
            <a:ext cx="12188016" cy="382749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3" name="Group"/>
          <p:cNvGrpSpPr/>
          <p:nvPr/>
        </p:nvGrpSpPr>
        <p:grpSpPr>
          <a:xfrm>
            <a:off x="4194765" y="5885643"/>
            <a:ext cx="4026676" cy="1100164"/>
            <a:chOff x="0" y="0"/>
            <a:chExt cx="4026674" cy="1100163"/>
          </a:xfrm>
        </p:grpSpPr>
        <p:sp>
          <p:nvSpPr>
            <p:cNvPr id="141" name="What is the difference between ~a and !a?"/>
            <p:cNvSpPr/>
            <p:nvPr/>
          </p:nvSpPr>
          <p:spPr>
            <a:xfrm>
              <a:off x="0" y="1100163"/>
              <a:ext cx="402667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r>
                <a:t>What is the difference between ~a and !a?</a:t>
              </a:r>
            </a:p>
          </p:txBody>
        </p:sp>
        <p:sp>
          <p:nvSpPr>
            <p:cNvPr id="142" name="Line"/>
            <p:cNvSpPr/>
            <p:nvPr/>
          </p:nvSpPr>
          <p:spPr>
            <a:xfrm flipH="1" flipV="1">
              <a:off x="1932069" y="0"/>
              <a:ext cx="177165" cy="652537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1" animBg="1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Incomplete specific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37463">
              <a:defRPr sz="7360"/>
            </a:lvl1pPr>
          </a:lstStyle>
          <a:p>
            <a:r>
              <a:t>Incomplete specification</a:t>
            </a:r>
          </a:p>
        </p:txBody>
      </p:sp>
      <p:sp>
        <p:nvSpPr>
          <p:cNvPr id="146" name="If out is not assigned in an always block, the previous value must be retained.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If </a:t>
            </a:r>
            <a:r>
              <a:rPr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out</a:t>
            </a:r>
            <a:r>
              <a:rPr dirty="0"/>
              <a:t> is not assigned in an always block, the previous value must be retained.</a:t>
            </a:r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21</a:t>
            </a:fld>
            <a:endParaRPr/>
          </a:p>
        </p:txBody>
      </p:sp>
      <p:sp>
        <p:nvSpPr>
          <p:cNvPr id="148" name="module maybe_mux_3to1…"/>
          <p:cNvSpPr txBox="1"/>
          <p:nvPr/>
        </p:nvSpPr>
        <p:spPr>
          <a:xfrm>
            <a:off x="1483867" y="4225101"/>
            <a:ext cx="4350550" cy="4503797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module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maybe_mux_3to1 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(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a, b, c,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[1:0]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sel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,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output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out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);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always_comb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begin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case (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sel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2'b00: out = a;</a:t>
            </a:r>
          </a:p>
          <a:p>
            <a:pPr algn="l">
              <a:defRPr sz="22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2'b01: out = b;</a:t>
            </a:r>
          </a:p>
          <a:p>
            <a:pPr algn="l">
              <a:defRPr sz="22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2'b10: out = c;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endcase</a:t>
            </a:r>
            <a:endParaRPr lang="en-GB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end</a:t>
            </a:r>
          </a:p>
          <a:p>
            <a:pPr algn="l">
              <a:defRPr sz="2200"/>
            </a:pP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endmodule</a:t>
            </a:r>
            <a:endParaRPr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grpSp>
        <p:nvGrpSpPr>
          <p:cNvPr id="151" name="Group"/>
          <p:cNvGrpSpPr/>
          <p:nvPr/>
        </p:nvGrpSpPr>
        <p:grpSpPr>
          <a:xfrm>
            <a:off x="6863658" y="3790570"/>
            <a:ext cx="2694377" cy="3622394"/>
            <a:chOff x="0" y="0"/>
            <a:chExt cx="2694375" cy="3622392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rcRect r="58229" b="28881"/>
            <a:stretch>
              <a:fillRect/>
            </a:stretch>
          </p:blipFill>
          <p:spPr>
            <a:xfrm>
              <a:off x="0" y="0"/>
              <a:ext cx="2133393" cy="36223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2"/>
            <a:srcRect l="89169" b="29357"/>
            <a:stretch>
              <a:fillRect/>
            </a:stretch>
          </p:blipFill>
          <p:spPr>
            <a:xfrm>
              <a:off x="2141239" y="0"/>
              <a:ext cx="553137" cy="359813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B46EAF4-6BDC-8182-C7F1-AE86EBE56019}"/>
              </a:ext>
            </a:extLst>
          </p:cNvPr>
          <p:cNvSpPr txBox="1"/>
          <p:nvPr/>
        </p:nvSpPr>
        <p:spPr>
          <a:xfrm>
            <a:off x="6672123" y="8185159"/>
            <a:ext cx="5894798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Missing assignment – what </a:t>
            </a:r>
            <a:r>
              <a:rPr lang="en-GB" dirty="0"/>
              <a:t>about </a:t>
            </a:r>
            <a:r>
              <a:rPr kumimoji="0" lang="en-GB" sz="32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"/>
              </a:rPr>
              <a:t>sel</a:t>
            </a: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"/>
              </a:rPr>
              <a:t> = 2’b11</a:t>
            </a: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cs typeface="Courier New" panose="02070309020205020404" pitchFamily="49" charset="0"/>
                <a:sym typeface="Helvetica"/>
              </a:rPr>
              <a:t>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3" animBg="1" advAuto="0"/>
      <p:bldP spid="148" grpId="2" animBg="1" advAuto="0"/>
      <p:bldP spid="151" grpId="1" animBg="1" advAuto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Incomplete specific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37463">
              <a:defRPr sz="7360"/>
            </a:lvl1pPr>
          </a:lstStyle>
          <a:p>
            <a:r>
              <a:t>Incomplete specification</a:t>
            </a:r>
          </a:p>
        </p:txBody>
      </p:sp>
      <p:sp>
        <p:nvSpPr>
          <p:cNvPr id="154" name="If out is not assigned in an always block, the previous value must be retained.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If </a:t>
            </a: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out</a:t>
            </a:r>
            <a:r>
              <a:t> is not assigned in an always block, the previous value must be retained</a:t>
            </a:r>
            <a:r>
              <a:rPr lang="en-GB"/>
              <a:t> (a latch)</a:t>
            </a:r>
            <a:r>
              <a:t>.</a:t>
            </a:r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22</a:t>
            </a:fld>
            <a:endParaRPr/>
          </a:p>
        </p:txBody>
      </p:sp>
      <p:pic>
        <p:nvPicPr>
          <p:cNvPr id="15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3658" y="3790570"/>
            <a:ext cx="5107377" cy="509346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module maybe_mux_3to1…">
            <a:extLst>
              <a:ext uri="{FF2B5EF4-FFF2-40B4-BE49-F238E27FC236}">
                <a16:creationId xmlns:a16="http://schemas.microsoft.com/office/drawing/2014/main" id="{896F9D79-4E23-990A-9548-213C1B97B96E}"/>
              </a:ext>
            </a:extLst>
          </p:cNvPr>
          <p:cNvSpPr txBox="1"/>
          <p:nvPr/>
        </p:nvSpPr>
        <p:spPr>
          <a:xfrm>
            <a:off x="1483867" y="4225101"/>
            <a:ext cx="4350550" cy="4503797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module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maybe_mux_3to1 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(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a, b, c,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[1:0]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sel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,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output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out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);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always_comb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begin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case (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sel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2'b00: out = a;</a:t>
            </a:r>
          </a:p>
          <a:p>
            <a:pPr algn="l">
              <a:defRPr sz="22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2'b01: out = b;</a:t>
            </a:r>
          </a:p>
          <a:p>
            <a:pPr algn="l">
              <a:defRPr sz="22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2'b10: out = c;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endcase</a:t>
            </a:r>
            <a:endParaRPr lang="en-GB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end</a:t>
            </a:r>
          </a:p>
          <a:p>
            <a:pPr algn="l">
              <a:defRPr sz="2200"/>
            </a:pP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endmodule</a:t>
            </a:r>
            <a:endParaRPr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Incomplete specific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37463">
              <a:defRPr sz="7360"/>
            </a:lvl1pPr>
          </a:lstStyle>
          <a:p>
            <a:r>
              <a:t>Incomplete specification</a:t>
            </a:r>
          </a:p>
        </p:txBody>
      </p:sp>
      <p:sp>
        <p:nvSpPr>
          <p:cNvPr id="160" name="Could fix by preceding with a default assignment...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Could fix by preceding with a default assignment...</a:t>
            </a:r>
          </a:p>
        </p:txBody>
      </p:sp>
      <p:sp>
        <p:nvSpPr>
          <p:cNvPr id="16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23</a:t>
            </a:fld>
            <a:endParaRPr/>
          </a:p>
        </p:txBody>
      </p:sp>
      <p:sp>
        <p:nvSpPr>
          <p:cNvPr id="162" name="module maybe_mux_3to1…"/>
          <p:cNvSpPr txBox="1"/>
          <p:nvPr/>
        </p:nvSpPr>
        <p:spPr>
          <a:xfrm>
            <a:off x="1483867" y="4055825"/>
            <a:ext cx="4350550" cy="4842351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module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maybe_mux_3to1 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(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a, b, c,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[1:0]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sel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,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output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out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);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always_comb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begin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out = 'x;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case (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sel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2'b00: out = a;</a:t>
            </a:r>
          </a:p>
          <a:p>
            <a:pPr algn="l">
              <a:defRPr sz="22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2'b01: out = b;</a:t>
            </a:r>
          </a:p>
          <a:p>
            <a:pPr algn="l">
              <a:defRPr sz="22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2'b10: out = c;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endcase</a:t>
            </a:r>
            <a:endParaRPr lang="en-GB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end</a:t>
            </a:r>
          </a:p>
          <a:p>
            <a:pPr algn="l">
              <a:defRPr sz="2200"/>
            </a:pP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endmodule</a:t>
            </a:r>
            <a:endParaRPr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grpSp>
        <p:nvGrpSpPr>
          <p:cNvPr id="165" name="Group"/>
          <p:cNvGrpSpPr/>
          <p:nvPr/>
        </p:nvGrpSpPr>
        <p:grpSpPr>
          <a:xfrm>
            <a:off x="6863658" y="3790570"/>
            <a:ext cx="2694377" cy="3622394"/>
            <a:chOff x="0" y="0"/>
            <a:chExt cx="2694375" cy="3622392"/>
          </a:xfrm>
        </p:grpSpPr>
        <p:pic>
          <p:nvPicPr>
            <p:cNvPr id="163" name="Image" descr="Image"/>
            <p:cNvPicPr>
              <a:picLocks noChangeAspect="1"/>
            </p:cNvPicPr>
            <p:nvPr/>
          </p:nvPicPr>
          <p:blipFill>
            <a:blip r:embed="rId2"/>
            <a:srcRect r="58229" b="28881"/>
            <a:stretch>
              <a:fillRect/>
            </a:stretch>
          </p:blipFill>
          <p:spPr>
            <a:xfrm>
              <a:off x="0" y="0"/>
              <a:ext cx="2133393" cy="36223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4" name="Image" descr="Image"/>
            <p:cNvPicPr>
              <a:picLocks noChangeAspect="1"/>
            </p:cNvPicPr>
            <p:nvPr/>
          </p:nvPicPr>
          <p:blipFill>
            <a:blip r:embed="rId2"/>
            <a:srcRect l="89169" b="29357"/>
            <a:stretch>
              <a:fillRect/>
            </a:stretch>
          </p:blipFill>
          <p:spPr>
            <a:xfrm>
              <a:off x="2141239" y="0"/>
              <a:ext cx="553137" cy="359813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Incomplete specific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37463">
              <a:defRPr sz="7360"/>
            </a:lvl1pPr>
          </a:lstStyle>
          <a:p>
            <a:r>
              <a:t>Incomplete specification</a:t>
            </a:r>
          </a:p>
        </p:txBody>
      </p:sp>
      <p:sp>
        <p:nvSpPr>
          <p:cNvPr id="168" name="Could fix by preceding with a default assignment... ... or by using a default case.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Could fix by preceding with a default assignment...</a:t>
            </a:r>
            <a:br>
              <a:rPr dirty="0"/>
            </a:br>
            <a:r>
              <a:rPr dirty="0"/>
              <a:t>... or by using a </a:t>
            </a:r>
            <a:r>
              <a:rPr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default</a:t>
            </a:r>
            <a:r>
              <a:rPr dirty="0"/>
              <a:t> case.</a:t>
            </a:r>
          </a:p>
        </p:txBody>
      </p:sp>
      <p:sp>
        <p:nvSpPr>
          <p:cNvPr id="1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24</a:t>
            </a:fld>
            <a:endParaRPr/>
          </a:p>
        </p:txBody>
      </p:sp>
      <p:sp>
        <p:nvSpPr>
          <p:cNvPr id="170" name="module maybe_mux_3to1…"/>
          <p:cNvSpPr txBox="1"/>
          <p:nvPr/>
        </p:nvSpPr>
        <p:spPr>
          <a:xfrm>
            <a:off x="1483867" y="4055825"/>
            <a:ext cx="4350550" cy="4842351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module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maybe_mux_3to1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(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a, b, c,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[1:0]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sel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,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output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out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);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always_comb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begin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case (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sel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2'b00: out = a;</a:t>
            </a:r>
          </a:p>
          <a:p>
            <a:pPr algn="l">
              <a:defRPr sz="22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2'b01: out = b;</a:t>
            </a:r>
          </a:p>
          <a:p>
            <a:pPr algn="l">
              <a:defRPr sz="22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2'b10: out = c;</a:t>
            </a:r>
          </a:p>
          <a:p>
            <a:pPr algn="l">
              <a:defRPr sz="22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default: out = 'x;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endcase</a:t>
            </a:r>
            <a:endParaRPr lang="en-GB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end</a:t>
            </a:r>
          </a:p>
          <a:p>
            <a:pPr algn="l">
              <a:defRPr sz="2200"/>
            </a:pP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endmodule</a:t>
            </a:r>
            <a:endParaRPr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grpSp>
        <p:nvGrpSpPr>
          <p:cNvPr id="173" name="Group"/>
          <p:cNvGrpSpPr/>
          <p:nvPr/>
        </p:nvGrpSpPr>
        <p:grpSpPr>
          <a:xfrm>
            <a:off x="6863658" y="3790570"/>
            <a:ext cx="2694377" cy="3622394"/>
            <a:chOff x="0" y="0"/>
            <a:chExt cx="2694375" cy="3622392"/>
          </a:xfrm>
        </p:grpSpPr>
        <p:pic>
          <p:nvPicPr>
            <p:cNvPr id="171" name="Image" descr="Image"/>
            <p:cNvPicPr>
              <a:picLocks noChangeAspect="1"/>
            </p:cNvPicPr>
            <p:nvPr/>
          </p:nvPicPr>
          <p:blipFill>
            <a:blip r:embed="rId2"/>
            <a:srcRect r="58229" b="28881"/>
            <a:stretch>
              <a:fillRect/>
            </a:stretch>
          </p:blipFill>
          <p:spPr>
            <a:xfrm>
              <a:off x="0" y="0"/>
              <a:ext cx="2133393" cy="36223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2" name="Image" descr="Image"/>
            <p:cNvPicPr>
              <a:picLocks noChangeAspect="1"/>
            </p:cNvPicPr>
            <p:nvPr/>
          </p:nvPicPr>
          <p:blipFill>
            <a:blip r:embed="rId2"/>
            <a:srcRect l="89169" b="29357"/>
            <a:stretch>
              <a:fillRect/>
            </a:stretch>
          </p:blipFill>
          <p:spPr>
            <a:xfrm>
              <a:off x="2141239" y="0"/>
              <a:ext cx="553137" cy="359813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B44806B4-69FD-BCDF-ED13-4C088E8D1A7A}"/>
              </a:ext>
            </a:extLst>
          </p:cNvPr>
          <p:cNvSpPr/>
          <p:nvPr/>
        </p:nvSpPr>
        <p:spPr>
          <a:xfrm>
            <a:off x="568076" y="2838451"/>
            <a:ext cx="6828782" cy="5345670"/>
          </a:xfrm>
          <a:prstGeom prst="rect">
            <a:avLst/>
          </a:prstGeom>
          <a:solidFill>
            <a:srgbClr val="E9E6B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5" name="An ALU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An ALU</a:t>
            </a:r>
          </a:p>
        </p:txBody>
      </p:sp>
      <p:sp>
        <p:nvSpPr>
          <p:cNvPr id="1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25</a:t>
            </a:fld>
            <a:endParaRPr/>
          </a:p>
        </p:txBody>
      </p:sp>
      <p:sp>
        <p:nvSpPr>
          <p:cNvPr id="177" name="Line"/>
          <p:cNvSpPr/>
          <p:nvPr/>
        </p:nvSpPr>
        <p:spPr>
          <a:xfrm flipV="1">
            <a:off x="2582272" y="2427889"/>
            <a:ext cx="1" cy="910022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8" name="Line"/>
          <p:cNvSpPr/>
          <p:nvPr/>
        </p:nvSpPr>
        <p:spPr>
          <a:xfrm flipV="1">
            <a:off x="4919072" y="2440589"/>
            <a:ext cx="1" cy="1134023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9" name="Line"/>
          <p:cNvSpPr/>
          <p:nvPr/>
        </p:nvSpPr>
        <p:spPr>
          <a:xfrm flipH="1">
            <a:off x="6800695" y="5921789"/>
            <a:ext cx="112023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0" name="A[31:0]"/>
          <p:cNvSpPr txBox="1"/>
          <p:nvPr/>
        </p:nvSpPr>
        <p:spPr>
          <a:xfrm>
            <a:off x="1134236" y="2127895"/>
            <a:ext cx="1501366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A[31:0]</a:t>
            </a:r>
          </a:p>
        </p:txBody>
      </p:sp>
      <p:sp>
        <p:nvSpPr>
          <p:cNvPr id="181" name="B[31:0]"/>
          <p:cNvSpPr txBox="1"/>
          <p:nvPr/>
        </p:nvSpPr>
        <p:spPr>
          <a:xfrm>
            <a:off x="3449778" y="2171700"/>
            <a:ext cx="1501367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B[31:0]</a:t>
            </a:r>
          </a:p>
        </p:txBody>
      </p:sp>
      <p:sp>
        <p:nvSpPr>
          <p:cNvPr id="182" name="F[2:0]"/>
          <p:cNvSpPr txBox="1"/>
          <p:nvPr/>
        </p:nvSpPr>
        <p:spPr>
          <a:xfrm>
            <a:off x="7381799" y="5343939"/>
            <a:ext cx="130321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F[2:0]</a:t>
            </a:r>
          </a:p>
        </p:txBody>
      </p:sp>
      <p:sp>
        <p:nvSpPr>
          <p:cNvPr id="183" name="Line"/>
          <p:cNvSpPr/>
          <p:nvPr/>
        </p:nvSpPr>
        <p:spPr>
          <a:xfrm flipV="1">
            <a:off x="3852388" y="7913426"/>
            <a:ext cx="1" cy="1134023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4" name="R[31:0]"/>
          <p:cNvSpPr txBox="1"/>
          <p:nvPr/>
        </p:nvSpPr>
        <p:spPr>
          <a:xfrm>
            <a:off x="2416936" y="8872349"/>
            <a:ext cx="1501366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R[31:0]</a:t>
            </a:r>
          </a:p>
        </p:txBody>
      </p:sp>
      <p:graphicFrame>
        <p:nvGraphicFramePr>
          <p:cNvPr id="186" name="Table 1"/>
          <p:cNvGraphicFramePr/>
          <p:nvPr/>
        </p:nvGraphicFramePr>
        <p:xfrm>
          <a:off x="9368454" y="956592"/>
          <a:ext cx="3255196" cy="2925510"/>
        </p:xfrm>
        <a:graphic>
          <a:graphicData uri="http://schemas.openxmlformats.org/drawingml/2006/table">
            <a:tbl>
              <a:tblPr firstRow="1">
                <a:tableStyleId>{4A9BC294-FFE2-49D5-8D69-9E1BD2C41BD5}</a:tableStyleId>
              </a:tblPr>
              <a:tblGrid>
                <a:gridCol w="16275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7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585"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81100" algn="l"/>
                        </a:tabLst>
                        <a:defRPr sz="2400" b="0">
                          <a:sym typeface="Helvetica Neue"/>
                        </a:defRPr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F[2:0]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T w="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81100" algn="l"/>
                        </a:tabLst>
                        <a:defRPr sz="2400" b="0">
                          <a:sym typeface="Helvetica Neue"/>
                        </a:defRPr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R</a:t>
                      </a:r>
                    </a:p>
                  </a:txBody>
                  <a:tcPr marL="50800" marR="50800" marT="50800" marB="50800" anchor="ctr" horzOverflow="overflow">
                    <a:lnR w="0">
                      <a:miter lim="400000"/>
                    </a:lnR>
                    <a:lnT w="0"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585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4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{0,0,0}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4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A + B</a:t>
                      </a:r>
                    </a:p>
                  </a:txBody>
                  <a:tcPr marL="50800" marR="50800" marT="50800" marB="50800" anchor="ctr" horzOverflow="overflow">
                    <a:lnR w="0">
                      <a:miter lim="400000"/>
                    </a:lnR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585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4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{0,0,1}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4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A + 1</a:t>
                      </a:r>
                    </a:p>
                  </a:txBody>
                  <a:tcPr marL="50800" marR="50800" marT="50800" marB="50800" anchor="ctr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585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4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{0,1,0}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4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A - B</a:t>
                      </a:r>
                    </a:p>
                  </a:txBody>
                  <a:tcPr marL="50800" marR="50800" marT="50800" marB="50800" anchor="ctr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585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4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{0,1,1}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4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A - 1</a:t>
                      </a:r>
                    </a:p>
                  </a:txBody>
                  <a:tcPr marL="50800" marR="50800" marT="50800" marB="50800" anchor="ctr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585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4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{1,0,X}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4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A * B</a:t>
                      </a:r>
                    </a:p>
                  </a:txBody>
                  <a:tcPr marL="50800" marR="50800" marT="50800" marB="50800" anchor="ctr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" grpId="1" animBg="1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8EBAE626-8E5F-D35C-3110-E2B709BE9D68}"/>
              </a:ext>
            </a:extLst>
          </p:cNvPr>
          <p:cNvSpPr/>
          <p:nvPr/>
        </p:nvSpPr>
        <p:spPr>
          <a:xfrm>
            <a:off x="568076" y="2838451"/>
            <a:ext cx="6828782" cy="5345670"/>
          </a:xfrm>
          <a:prstGeom prst="rect">
            <a:avLst/>
          </a:prstGeom>
          <a:solidFill>
            <a:srgbClr val="E9E6B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8" name="An ALU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An ALU</a:t>
            </a:r>
          </a:p>
        </p:txBody>
      </p:sp>
      <p:sp>
        <p:nvSpPr>
          <p:cNvPr id="18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26</a:t>
            </a:fld>
            <a:endParaRPr/>
          </a:p>
        </p:txBody>
      </p:sp>
      <p:sp>
        <p:nvSpPr>
          <p:cNvPr id="191" name="Line"/>
          <p:cNvSpPr/>
          <p:nvPr/>
        </p:nvSpPr>
        <p:spPr>
          <a:xfrm flipV="1">
            <a:off x="2582272" y="2427889"/>
            <a:ext cx="1" cy="910022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2" name="Line"/>
          <p:cNvSpPr/>
          <p:nvPr/>
        </p:nvSpPr>
        <p:spPr>
          <a:xfrm>
            <a:off x="1212987" y="3350610"/>
            <a:ext cx="4311133" cy="1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3" name="Line"/>
          <p:cNvSpPr/>
          <p:nvPr/>
        </p:nvSpPr>
        <p:spPr>
          <a:xfrm flipH="1">
            <a:off x="1212987" y="3350610"/>
            <a:ext cx="1" cy="2330669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4" name="Line"/>
          <p:cNvSpPr/>
          <p:nvPr/>
        </p:nvSpPr>
        <p:spPr>
          <a:xfrm flipH="1">
            <a:off x="3283087" y="3350610"/>
            <a:ext cx="1" cy="2330669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5" name="Line"/>
          <p:cNvSpPr/>
          <p:nvPr/>
        </p:nvSpPr>
        <p:spPr>
          <a:xfrm flipH="1">
            <a:off x="5518287" y="3350610"/>
            <a:ext cx="1" cy="2330669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6" name="Line"/>
          <p:cNvSpPr/>
          <p:nvPr/>
        </p:nvSpPr>
        <p:spPr>
          <a:xfrm>
            <a:off x="1699479" y="3587838"/>
            <a:ext cx="4311133" cy="1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7" name="Line"/>
          <p:cNvSpPr/>
          <p:nvPr/>
        </p:nvSpPr>
        <p:spPr>
          <a:xfrm>
            <a:off x="1699479" y="3587838"/>
            <a:ext cx="1" cy="745914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8" name="Line"/>
          <p:cNvSpPr/>
          <p:nvPr/>
        </p:nvSpPr>
        <p:spPr>
          <a:xfrm>
            <a:off x="3855045" y="3587838"/>
            <a:ext cx="1" cy="745914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9" name="Line"/>
          <p:cNvSpPr/>
          <p:nvPr/>
        </p:nvSpPr>
        <p:spPr>
          <a:xfrm flipH="1">
            <a:off x="6010611" y="3562438"/>
            <a:ext cx="1" cy="2115774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0" name="32'd1"/>
          <p:cNvSpPr txBox="1"/>
          <p:nvPr/>
        </p:nvSpPr>
        <p:spPr>
          <a:xfrm>
            <a:off x="1847931" y="3619588"/>
            <a:ext cx="800213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32'd1</a:t>
            </a:r>
          </a:p>
        </p:txBody>
      </p:sp>
      <p:sp>
        <p:nvSpPr>
          <p:cNvPr id="201" name="Line"/>
          <p:cNvSpPr/>
          <p:nvPr/>
        </p:nvSpPr>
        <p:spPr>
          <a:xfrm>
            <a:off x="2185971" y="3996121"/>
            <a:ext cx="1" cy="337632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2" name="32'd1"/>
          <p:cNvSpPr txBox="1"/>
          <p:nvPr/>
        </p:nvSpPr>
        <p:spPr>
          <a:xfrm>
            <a:off x="3862422" y="3619588"/>
            <a:ext cx="800213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32'd1</a:t>
            </a:r>
          </a:p>
        </p:txBody>
      </p:sp>
      <p:sp>
        <p:nvSpPr>
          <p:cNvPr id="203" name="Line"/>
          <p:cNvSpPr/>
          <p:nvPr/>
        </p:nvSpPr>
        <p:spPr>
          <a:xfrm>
            <a:off x="4200461" y="3996121"/>
            <a:ext cx="1" cy="337632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grpSp>
        <p:nvGrpSpPr>
          <p:cNvPr id="206" name="Group"/>
          <p:cNvGrpSpPr/>
          <p:nvPr/>
        </p:nvGrpSpPr>
        <p:grpSpPr>
          <a:xfrm>
            <a:off x="1386080" y="4253558"/>
            <a:ext cx="1120232" cy="643707"/>
            <a:chOff x="0" y="-12700"/>
            <a:chExt cx="1120230" cy="643706"/>
          </a:xfrm>
        </p:grpSpPr>
        <p:sp>
          <p:nvSpPr>
            <p:cNvPr id="204" name="Shape"/>
            <p:cNvSpPr/>
            <p:nvPr/>
          </p:nvSpPr>
          <p:spPr>
            <a:xfrm rot="5400000">
              <a:off x="278358" y="-210866"/>
              <a:ext cx="563514" cy="11202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17302"/>
                  </a:lnTo>
                  <a:lnTo>
                    <a:pt x="21600" y="5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1300" b="1"/>
              </a:pPr>
              <a:endParaRPr/>
            </a:p>
          </p:txBody>
        </p:sp>
        <p:sp>
          <p:nvSpPr>
            <p:cNvPr id="205" name="0    1"/>
            <p:cNvSpPr txBox="1"/>
            <p:nvPr/>
          </p:nvSpPr>
          <p:spPr>
            <a:xfrm>
              <a:off x="165160" y="-12701"/>
              <a:ext cx="792064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r>
                <a:t>0    1</a:t>
              </a:r>
            </a:p>
          </p:txBody>
        </p:sp>
      </p:grpSp>
      <p:sp>
        <p:nvSpPr>
          <p:cNvPr id="207" name="Line"/>
          <p:cNvSpPr/>
          <p:nvPr/>
        </p:nvSpPr>
        <p:spPr>
          <a:xfrm>
            <a:off x="1577156" y="6551317"/>
            <a:ext cx="1" cy="457201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8" name="Line"/>
          <p:cNvSpPr/>
          <p:nvPr/>
        </p:nvSpPr>
        <p:spPr>
          <a:xfrm flipH="1">
            <a:off x="1577156" y="7008517"/>
            <a:ext cx="1691843" cy="1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9" name="Line"/>
          <p:cNvSpPr/>
          <p:nvPr/>
        </p:nvSpPr>
        <p:spPr>
          <a:xfrm>
            <a:off x="3268998" y="7008517"/>
            <a:ext cx="1" cy="337631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0" name="Line"/>
          <p:cNvSpPr/>
          <p:nvPr/>
        </p:nvSpPr>
        <p:spPr>
          <a:xfrm>
            <a:off x="5740400" y="6551317"/>
            <a:ext cx="0" cy="457201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1" name="Line"/>
          <p:cNvSpPr/>
          <p:nvPr/>
        </p:nvSpPr>
        <p:spPr>
          <a:xfrm flipH="1">
            <a:off x="4472756" y="7008517"/>
            <a:ext cx="1274552" cy="1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2" name="Line"/>
          <p:cNvSpPr/>
          <p:nvPr/>
        </p:nvSpPr>
        <p:spPr>
          <a:xfrm>
            <a:off x="4475498" y="7008517"/>
            <a:ext cx="1" cy="337631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3" name="Line"/>
          <p:cNvSpPr/>
          <p:nvPr/>
        </p:nvSpPr>
        <p:spPr>
          <a:xfrm>
            <a:off x="3855045" y="6551317"/>
            <a:ext cx="1" cy="806426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4" name="Line"/>
          <p:cNvSpPr/>
          <p:nvPr/>
        </p:nvSpPr>
        <p:spPr>
          <a:xfrm>
            <a:off x="4041766" y="4909964"/>
            <a:ext cx="1" cy="806426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5" name="Line"/>
          <p:cNvSpPr/>
          <p:nvPr/>
        </p:nvSpPr>
        <p:spPr>
          <a:xfrm>
            <a:off x="1884919" y="4894965"/>
            <a:ext cx="1" cy="806426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6" name="Line"/>
          <p:cNvSpPr/>
          <p:nvPr/>
        </p:nvSpPr>
        <p:spPr>
          <a:xfrm flipV="1">
            <a:off x="4919072" y="2440589"/>
            <a:ext cx="1" cy="1134023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7" name="Line"/>
          <p:cNvSpPr/>
          <p:nvPr/>
        </p:nvSpPr>
        <p:spPr>
          <a:xfrm flipH="1" flipV="1">
            <a:off x="2353013" y="4645724"/>
            <a:ext cx="4457195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8" name="Line"/>
          <p:cNvSpPr/>
          <p:nvPr/>
        </p:nvSpPr>
        <p:spPr>
          <a:xfrm flipV="1">
            <a:off x="6813395" y="4645725"/>
            <a:ext cx="1" cy="2955729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9" name="Line"/>
          <p:cNvSpPr/>
          <p:nvPr/>
        </p:nvSpPr>
        <p:spPr>
          <a:xfrm flipH="1">
            <a:off x="4584798" y="7593569"/>
            <a:ext cx="223085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grpSp>
        <p:nvGrpSpPr>
          <p:cNvPr id="222" name="Group"/>
          <p:cNvGrpSpPr/>
          <p:nvPr/>
        </p:nvGrpSpPr>
        <p:grpSpPr>
          <a:xfrm>
            <a:off x="3506980" y="4259908"/>
            <a:ext cx="1120232" cy="637357"/>
            <a:chOff x="0" y="-12700"/>
            <a:chExt cx="1120230" cy="637356"/>
          </a:xfrm>
        </p:grpSpPr>
        <p:sp>
          <p:nvSpPr>
            <p:cNvPr id="220" name="Shape"/>
            <p:cNvSpPr/>
            <p:nvPr/>
          </p:nvSpPr>
          <p:spPr>
            <a:xfrm rot="5400000">
              <a:off x="278358" y="-217216"/>
              <a:ext cx="563514" cy="11202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17302"/>
                  </a:lnTo>
                  <a:lnTo>
                    <a:pt x="21600" y="5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1300" b="1"/>
              </a:pPr>
              <a:endParaRPr/>
            </a:p>
          </p:txBody>
        </p:sp>
        <p:sp>
          <p:nvSpPr>
            <p:cNvPr id="221" name="0   1"/>
            <p:cNvSpPr txBox="1"/>
            <p:nvPr/>
          </p:nvSpPr>
          <p:spPr>
            <a:xfrm>
              <a:off x="181095" y="-12701"/>
              <a:ext cx="707381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r>
                <a:t>0   1</a:t>
              </a:r>
            </a:p>
          </p:txBody>
        </p:sp>
      </p:grpSp>
      <p:sp>
        <p:nvSpPr>
          <p:cNvPr id="223" name="Line"/>
          <p:cNvSpPr/>
          <p:nvPr/>
        </p:nvSpPr>
        <p:spPr>
          <a:xfrm flipH="1">
            <a:off x="6800695" y="5921789"/>
            <a:ext cx="112023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4" name="A[31:0]"/>
          <p:cNvSpPr txBox="1"/>
          <p:nvPr/>
        </p:nvSpPr>
        <p:spPr>
          <a:xfrm>
            <a:off x="1134236" y="2127895"/>
            <a:ext cx="1501366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A[31:0]</a:t>
            </a:r>
          </a:p>
        </p:txBody>
      </p:sp>
      <p:sp>
        <p:nvSpPr>
          <p:cNvPr id="225" name="B[31:0]"/>
          <p:cNvSpPr txBox="1"/>
          <p:nvPr/>
        </p:nvSpPr>
        <p:spPr>
          <a:xfrm>
            <a:off x="3449778" y="2171700"/>
            <a:ext cx="1501367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B[31:0]</a:t>
            </a:r>
          </a:p>
        </p:txBody>
      </p:sp>
      <p:sp>
        <p:nvSpPr>
          <p:cNvPr id="226" name="F[2:0]"/>
          <p:cNvSpPr txBox="1"/>
          <p:nvPr/>
        </p:nvSpPr>
        <p:spPr>
          <a:xfrm>
            <a:off x="7381799" y="5343939"/>
            <a:ext cx="130321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F[2:0]</a:t>
            </a:r>
          </a:p>
        </p:txBody>
      </p:sp>
      <p:sp>
        <p:nvSpPr>
          <p:cNvPr id="227" name="F[2:1]"/>
          <p:cNvSpPr txBox="1"/>
          <p:nvPr/>
        </p:nvSpPr>
        <p:spPr>
          <a:xfrm>
            <a:off x="5359004" y="7618969"/>
            <a:ext cx="1303215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F[2:1]</a:t>
            </a:r>
          </a:p>
        </p:txBody>
      </p:sp>
      <p:sp>
        <p:nvSpPr>
          <p:cNvPr id="228" name="F[0]"/>
          <p:cNvSpPr txBox="1"/>
          <p:nvPr/>
        </p:nvSpPr>
        <p:spPr>
          <a:xfrm>
            <a:off x="6172251" y="4125024"/>
            <a:ext cx="90691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F[0]</a:t>
            </a:r>
          </a:p>
        </p:txBody>
      </p:sp>
      <p:sp>
        <p:nvSpPr>
          <p:cNvPr id="229" name="-"/>
          <p:cNvSpPr/>
          <p:nvPr/>
        </p:nvSpPr>
        <p:spPr>
          <a:xfrm>
            <a:off x="2999264" y="5681278"/>
            <a:ext cx="1326098" cy="884622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-</a:t>
            </a:r>
          </a:p>
        </p:txBody>
      </p:sp>
      <p:sp>
        <p:nvSpPr>
          <p:cNvPr id="230" name="+"/>
          <p:cNvSpPr/>
          <p:nvPr/>
        </p:nvSpPr>
        <p:spPr>
          <a:xfrm>
            <a:off x="914107" y="5681278"/>
            <a:ext cx="1326099" cy="884622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+</a:t>
            </a:r>
          </a:p>
        </p:txBody>
      </p:sp>
      <p:sp>
        <p:nvSpPr>
          <p:cNvPr id="231" name="*"/>
          <p:cNvSpPr/>
          <p:nvPr/>
        </p:nvSpPr>
        <p:spPr>
          <a:xfrm>
            <a:off x="5270083" y="5681278"/>
            <a:ext cx="940634" cy="884622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*</a:t>
            </a:r>
          </a:p>
        </p:txBody>
      </p:sp>
      <p:sp>
        <p:nvSpPr>
          <p:cNvPr id="232" name="Line"/>
          <p:cNvSpPr/>
          <p:nvPr/>
        </p:nvSpPr>
        <p:spPr>
          <a:xfrm flipV="1">
            <a:off x="3852388" y="7913426"/>
            <a:ext cx="1" cy="1134023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grpSp>
        <p:nvGrpSpPr>
          <p:cNvPr id="235" name="Group"/>
          <p:cNvGrpSpPr/>
          <p:nvPr/>
        </p:nvGrpSpPr>
        <p:grpSpPr>
          <a:xfrm>
            <a:off x="2692347" y="7324513"/>
            <a:ext cx="2320083" cy="588914"/>
            <a:chOff x="0" y="-12700"/>
            <a:chExt cx="2320082" cy="588913"/>
          </a:xfrm>
        </p:grpSpPr>
        <p:sp>
          <p:nvSpPr>
            <p:cNvPr id="233" name="Shape"/>
            <p:cNvSpPr/>
            <p:nvPr/>
          </p:nvSpPr>
          <p:spPr>
            <a:xfrm rot="5400000">
              <a:off x="878284" y="-865585"/>
              <a:ext cx="563514" cy="23200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17302"/>
                  </a:lnTo>
                  <a:lnTo>
                    <a:pt x="21600" y="5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1300" b="1"/>
              </a:pPr>
              <a:endParaRPr/>
            </a:p>
          </p:txBody>
        </p:sp>
        <p:sp>
          <p:nvSpPr>
            <p:cNvPr id="234" name="00    01    10"/>
            <p:cNvSpPr txBox="1"/>
            <p:nvPr/>
          </p:nvSpPr>
          <p:spPr>
            <a:xfrm>
              <a:off x="258269" y="-12701"/>
              <a:ext cx="1808858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r>
                <a:t>00    01    10</a:t>
              </a:r>
            </a:p>
          </p:txBody>
        </p:sp>
      </p:grpSp>
      <p:sp>
        <p:nvSpPr>
          <p:cNvPr id="236" name="R[31:0]"/>
          <p:cNvSpPr txBox="1"/>
          <p:nvPr/>
        </p:nvSpPr>
        <p:spPr>
          <a:xfrm>
            <a:off x="2416936" y="8872349"/>
            <a:ext cx="1501366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R[31:0]</a:t>
            </a:r>
          </a:p>
        </p:txBody>
      </p:sp>
      <p:graphicFrame>
        <p:nvGraphicFramePr>
          <p:cNvPr id="237" name="Table 1"/>
          <p:cNvGraphicFramePr/>
          <p:nvPr/>
        </p:nvGraphicFramePr>
        <p:xfrm>
          <a:off x="9368454" y="956592"/>
          <a:ext cx="3255196" cy="2925510"/>
        </p:xfrm>
        <a:graphic>
          <a:graphicData uri="http://schemas.openxmlformats.org/drawingml/2006/table">
            <a:tbl>
              <a:tblPr firstRow="1">
                <a:tableStyleId>{4A9BC294-FFE2-49D5-8D69-9E1BD2C41BD5}</a:tableStyleId>
              </a:tblPr>
              <a:tblGrid>
                <a:gridCol w="16275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7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585"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81100" algn="l"/>
                        </a:tabLst>
                        <a:defRPr sz="2400" b="0">
                          <a:sym typeface="Helvetica Neue"/>
                        </a:defRPr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F[2:0]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T w="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81100" algn="l"/>
                        </a:tabLst>
                        <a:defRPr sz="2400" b="0">
                          <a:sym typeface="Helvetica Neue"/>
                        </a:defRPr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R</a:t>
                      </a:r>
                    </a:p>
                  </a:txBody>
                  <a:tcPr marL="50800" marR="50800" marT="50800" marB="50800" anchor="ctr" horzOverflow="overflow">
                    <a:lnR w="0">
                      <a:miter lim="400000"/>
                    </a:lnR>
                    <a:lnT w="0"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585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4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{0,0,0}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4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A + B</a:t>
                      </a:r>
                    </a:p>
                  </a:txBody>
                  <a:tcPr marL="50800" marR="50800" marT="50800" marB="50800" anchor="ctr" horzOverflow="overflow">
                    <a:lnR w="0">
                      <a:miter lim="400000"/>
                    </a:lnR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585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4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{0,0,1}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4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A + 1</a:t>
                      </a:r>
                    </a:p>
                  </a:txBody>
                  <a:tcPr marL="50800" marR="50800" marT="50800" marB="50800" anchor="ctr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585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4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{0,1,0}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4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A - B</a:t>
                      </a:r>
                    </a:p>
                  </a:txBody>
                  <a:tcPr marL="50800" marR="50800" marT="50800" marB="50800" anchor="ctr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585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4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{0,1,1}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4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A - 1</a:t>
                      </a:r>
                    </a:p>
                  </a:txBody>
                  <a:tcPr marL="50800" marR="50800" marT="50800" marB="50800" anchor="ctr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585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4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{1,0,X}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4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A * B</a:t>
                      </a:r>
                    </a:p>
                  </a:txBody>
                  <a:tcPr marL="50800" marR="50800" marT="50800" marB="50800" anchor="ctr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6" name="w1"/>
          <p:cNvSpPr txBox="1"/>
          <p:nvPr/>
        </p:nvSpPr>
        <p:spPr>
          <a:xfrm>
            <a:off x="1881732" y="5092421"/>
            <a:ext cx="38866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w1</a:t>
            </a:r>
          </a:p>
        </p:txBody>
      </p:sp>
      <p:sp>
        <p:nvSpPr>
          <p:cNvPr id="257" name="w2"/>
          <p:cNvSpPr txBox="1"/>
          <p:nvPr/>
        </p:nvSpPr>
        <p:spPr>
          <a:xfrm>
            <a:off x="4067095" y="5092421"/>
            <a:ext cx="38866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w2</a:t>
            </a:r>
          </a:p>
        </p:txBody>
      </p:sp>
      <p:sp>
        <p:nvSpPr>
          <p:cNvPr id="258" name="w3"/>
          <p:cNvSpPr txBox="1"/>
          <p:nvPr/>
        </p:nvSpPr>
        <p:spPr>
          <a:xfrm>
            <a:off x="2359247" y="6589417"/>
            <a:ext cx="38866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w3</a:t>
            </a:r>
          </a:p>
        </p:txBody>
      </p:sp>
      <p:sp>
        <p:nvSpPr>
          <p:cNvPr id="259" name="w4"/>
          <p:cNvSpPr txBox="1"/>
          <p:nvPr/>
        </p:nvSpPr>
        <p:spPr>
          <a:xfrm>
            <a:off x="3906747" y="6551317"/>
            <a:ext cx="38866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w4</a:t>
            </a:r>
          </a:p>
        </p:txBody>
      </p:sp>
      <p:sp>
        <p:nvSpPr>
          <p:cNvPr id="260" name="w5"/>
          <p:cNvSpPr txBox="1"/>
          <p:nvPr/>
        </p:nvSpPr>
        <p:spPr>
          <a:xfrm>
            <a:off x="4925811" y="6631074"/>
            <a:ext cx="38866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w5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EBB42-66F3-D47A-8553-F2AD24845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An ALU">
            <a:extLst>
              <a:ext uri="{FF2B5EF4-FFF2-40B4-BE49-F238E27FC236}">
                <a16:creationId xmlns:a16="http://schemas.microsoft.com/office/drawing/2014/main" id="{173989D3-F073-E122-C8ED-061AC26E3A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An ALU</a:t>
            </a:r>
          </a:p>
        </p:txBody>
      </p:sp>
      <p:sp>
        <p:nvSpPr>
          <p:cNvPr id="189" name="Slide Number">
            <a:extLst>
              <a:ext uri="{FF2B5EF4-FFF2-40B4-BE49-F238E27FC236}">
                <a16:creationId xmlns:a16="http://schemas.microsoft.com/office/drawing/2014/main" id="{58CB1D7A-ACDF-C66E-A09A-3EB132A2243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27</a:t>
            </a:fld>
            <a:endParaRPr/>
          </a:p>
        </p:txBody>
      </p:sp>
      <p:sp>
        <p:nvSpPr>
          <p:cNvPr id="190" name="Rectangle">
            <a:extLst>
              <a:ext uri="{FF2B5EF4-FFF2-40B4-BE49-F238E27FC236}">
                <a16:creationId xmlns:a16="http://schemas.microsoft.com/office/drawing/2014/main" id="{AD30BDD5-8E3E-AA55-2A77-D496B685EB35}"/>
              </a:ext>
            </a:extLst>
          </p:cNvPr>
          <p:cNvSpPr/>
          <p:nvPr/>
        </p:nvSpPr>
        <p:spPr>
          <a:xfrm>
            <a:off x="568076" y="2838451"/>
            <a:ext cx="6828782" cy="5345670"/>
          </a:xfrm>
          <a:prstGeom prst="rect">
            <a:avLst/>
          </a:prstGeom>
          <a:solidFill>
            <a:srgbClr val="E9E6B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1" name="Line">
            <a:extLst>
              <a:ext uri="{FF2B5EF4-FFF2-40B4-BE49-F238E27FC236}">
                <a16:creationId xmlns:a16="http://schemas.microsoft.com/office/drawing/2014/main" id="{0110C746-4819-1001-F6FD-1BA4C2202993}"/>
              </a:ext>
            </a:extLst>
          </p:cNvPr>
          <p:cNvSpPr/>
          <p:nvPr/>
        </p:nvSpPr>
        <p:spPr>
          <a:xfrm flipV="1">
            <a:off x="2582272" y="2427889"/>
            <a:ext cx="1" cy="910022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2" name="Line">
            <a:extLst>
              <a:ext uri="{FF2B5EF4-FFF2-40B4-BE49-F238E27FC236}">
                <a16:creationId xmlns:a16="http://schemas.microsoft.com/office/drawing/2014/main" id="{F79B3809-37A6-DC7A-1FB9-027080CF9FC2}"/>
              </a:ext>
            </a:extLst>
          </p:cNvPr>
          <p:cNvSpPr/>
          <p:nvPr/>
        </p:nvSpPr>
        <p:spPr>
          <a:xfrm>
            <a:off x="1212987" y="3350610"/>
            <a:ext cx="4311133" cy="1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3" name="Line">
            <a:extLst>
              <a:ext uri="{FF2B5EF4-FFF2-40B4-BE49-F238E27FC236}">
                <a16:creationId xmlns:a16="http://schemas.microsoft.com/office/drawing/2014/main" id="{909E1ACB-B142-499B-EEBA-B818622828EC}"/>
              </a:ext>
            </a:extLst>
          </p:cNvPr>
          <p:cNvSpPr/>
          <p:nvPr/>
        </p:nvSpPr>
        <p:spPr>
          <a:xfrm flipH="1">
            <a:off x="1212987" y="3350610"/>
            <a:ext cx="1" cy="2330669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4" name="Line">
            <a:extLst>
              <a:ext uri="{FF2B5EF4-FFF2-40B4-BE49-F238E27FC236}">
                <a16:creationId xmlns:a16="http://schemas.microsoft.com/office/drawing/2014/main" id="{6BD762A4-D4F9-5994-9CC0-F9A1B07F057E}"/>
              </a:ext>
            </a:extLst>
          </p:cNvPr>
          <p:cNvSpPr/>
          <p:nvPr/>
        </p:nvSpPr>
        <p:spPr>
          <a:xfrm flipH="1">
            <a:off x="3283087" y="3350610"/>
            <a:ext cx="1" cy="2330669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5" name="Line">
            <a:extLst>
              <a:ext uri="{FF2B5EF4-FFF2-40B4-BE49-F238E27FC236}">
                <a16:creationId xmlns:a16="http://schemas.microsoft.com/office/drawing/2014/main" id="{060DA9D6-6F1D-6FEF-7979-86089172FEBF}"/>
              </a:ext>
            </a:extLst>
          </p:cNvPr>
          <p:cNvSpPr/>
          <p:nvPr/>
        </p:nvSpPr>
        <p:spPr>
          <a:xfrm flipH="1">
            <a:off x="5518287" y="3350610"/>
            <a:ext cx="1" cy="2330669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6" name="Line">
            <a:extLst>
              <a:ext uri="{FF2B5EF4-FFF2-40B4-BE49-F238E27FC236}">
                <a16:creationId xmlns:a16="http://schemas.microsoft.com/office/drawing/2014/main" id="{1C0FB5EF-E70B-8BBC-F4DF-201907DC4F9A}"/>
              </a:ext>
            </a:extLst>
          </p:cNvPr>
          <p:cNvSpPr/>
          <p:nvPr/>
        </p:nvSpPr>
        <p:spPr>
          <a:xfrm>
            <a:off x="1699479" y="3587838"/>
            <a:ext cx="4311133" cy="1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7" name="Line">
            <a:extLst>
              <a:ext uri="{FF2B5EF4-FFF2-40B4-BE49-F238E27FC236}">
                <a16:creationId xmlns:a16="http://schemas.microsoft.com/office/drawing/2014/main" id="{50CC876F-8F56-348F-0482-279A0F9F379D}"/>
              </a:ext>
            </a:extLst>
          </p:cNvPr>
          <p:cNvSpPr/>
          <p:nvPr/>
        </p:nvSpPr>
        <p:spPr>
          <a:xfrm>
            <a:off x="1699479" y="3587838"/>
            <a:ext cx="1" cy="745914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8" name="Line">
            <a:extLst>
              <a:ext uri="{FF2B5EF4-FFF2-40B4-BE49-F238E27FC236}">
                <a16:creationId xmlns:a16="http://schemas.microsoft.com/office/drawing/2014/main" id="{DD133EF6-3E6D-8C97-6F7C-639CD3E7F29D}"/>
              </a:ext>
            </a:extLst>
          </p:cNvPr>
          <p:cNvSpPr/>
          <p:nvPr/>
        </p:nvSpPr>
        <p:spPr>
          <a:xfrm>
            <a:off x="3855045" y="3587838"/>
            <a:ext cx="1" cy="745914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9" name="Line">
            <a:extLst>
              <a:ext uri="{FF2B5EF4-FFF2-40B4-BE49-F238E27FC236}">
                <a16:creationId xmlns:a16="http://schemas.microsoft.com/office/drawing/2014/main" id="{5F6DBD89-C519-9B8C-DF37-D68B0B77B397}"/>
              </a:ext>
            </a:extLst>
          </p:cNvPr>
          <p:cNvSpPr/>
          <p:nvPr/>
        </p:nvSpPr>
        <p:spPr>
          <a:xfrm flipH="1">
            <a:off x="6010611" y="3562438"/>
            <a:ext cx="1" cy="2115774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0" name="32'd1">
            <a:extLst>
              <a:ext uri="{FF2B5EF4-FFF2-40B4-BE49-F238E27FC236}">
                <a16:creationId xmlns:a16="http://schemas.microsoft.com/office/drawing/2014/main" id="{B17AF80E-D152-CACB-C986-39E2256F824D}"/>
              </a:ext>
            </a:extLst>
          </p:cNvPr>
          <p:cNvSpPr txBox="1"/>
          <p:nvPr/>
        </p:nvSpPr>
        <p:spPr>
          <a:xfrm>
            <a:off x="1847931" y="3619588"/>
            <a:ext cx="800213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32'd1</a:t>
            </a:r>
          </a:p>
        </p:txBody>
      </p:sp>
      <p:sp>
        <p:nvSpPr>
          <p:cNvPr id="201" name="Line">
            <a:extLst>
              <a:ext uri="{FF2B5EF4-FFF2-40B4-BE49-F238E27FC236}">
                <a16:creationId xmlns:a16="http://schemas.microsoft.com/office/drawing/2014/main" id="{A83C8076-BE85-5067-2852-C436B58DF89D}"/>
              </a:ext>
            </a:extLst>
          </p:cNvPr>
          <p:cNvSpPr/>
          <p:nvPr/>
        </p:nvSpPr>
        <p:spPr>
          <a:xfrm>
            <a:off x="2185971" y="3996121"/>
            <a:ext cx="1" cy="337632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2" name="32'd1">
            <a:extLst>
              <a:ext uri="{FF2B5EF4-FFF2-40B4-BE49-F238E27FC236}">
                <a16:creationId xmlns:a16="http://schemas.microsoft.com/office/drawing/2014/main" id="{E35BE3D4-77E6-C097-51CA-0F822EC497C7}"/>
              </a:ext>
            </a:extLst>
          </p:cNvPr>
          <p:cNvSpPr txBox="1"/>
          <p:nvPr/>
        </p:nvSpPr>
        <p:spPr>
          <a:xfrm>
            <a:off x="3862422" y="3619588"/>
            <a:ext cx="800213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32'd1</a:t>
            </a:r>
          </a:p>
        </p:txBody>
      </p:sp>
      <p:sp>
        <p:nvSpPr>
          <p:cNvPr id="203" name="Line">
            <a:extLst>
              <a:ext uri="{FF2B5EF4-FFF2-40B4-BE49-F238E27FC236}">
                <a16:creationId xmlns:a16="http://schemas.microsoft.com/office/drawing/2014/main" id="{41EAB5B3-8245-7270-5BAA-0C433680E958}"/>
              </a:ext>
            </a:extLst>
          </p:cNvPr>
          <p:cNvSpPr/>
          <p:nvPr/>
        </p:nvSpPr>
        <p:spPr>
          <a:xfrm>
            <a:off x="4200461" y="3996121"/>
            <a:ext cx="1" cy="337632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grpSp>
        <p:nvGrpSpPr>
          <p:cNvPr id="206" name="Group">
            <a:extLst>
              <a:ext uri="{FF2B5EF4-FFF2-40B4-BE49-F238E27FC236}">
                <a16:creationId xmlns:a16="http://schemas.microsoft.com/office/drawing/2014/main" id="{521DB6DD-AD61-2B9C-1ED1-A15A7020638B}"/>
              </a:ext>
            </a:extLst>
          </p:cNvPr>
          <p:cNvGrpSpPr/>
          <p:nvPr/>
        </p:nvGrpSpPr>
        <p:grpSpPr>
          <a:xfrm>
            <a:off x="1386080" y="4253558"/>
            <a:ext cx="1120232" cy="643707"/>
            <a:chOff x="0" y="-12700"/>
            <a:chExt cx="1120230" cy="643706"/>
          </a:xfrm>
        </p:grpSpPr>
        <p:sp>
          <p:nvSpPr>
            <p:cNvPr id="204" name="Shape">
              <a:extLst>
                <a:ext uri="{FF2B5EF4-FFF2-40B4-BE49-F238E27FC236}">
                  <a16:creationId xmlns:a16="http://schemas.microsoft.com/office/drawing/2014/main" id="{B6347644-73C2-FCA9-168B-5BFC322B42DA}"/>
                </a:ext>
              </a:extLst>
            </p:cNvPr>
            <p:cNvSpPr/>
            <p:nvPr/>
          </p:nvSpPr>
          <p:spPr>
            <a:xfrm rot="5400000">
              <a:off x="278358" y="-210866"/>
              <a:ext cx="563514" cy="11202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17302"/>
                  </a:lnTo>
                  <a:lnTo>
                    <a:pt x="21600" y="5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1300" b="1"/>
              </a:pPr>
              <a:endParaRPr/>
            </a:p>
          </p:txBody>
        </p:sp>
        <p:sp>
          <p:nvSpPr>
            <p:cNvPr id="205" name="0    1">
              <a:extLst>
                <a:ext uri="{FF2B5EF4-FFF2-40B4-BE49-F238E27FC236}">
                  <a16:creationId xmlns:a16="http://schemas.microsoft.com/office/drawing/2014/main" id="{A2751728-319A-2092-4D7E-E1F25AD4A258}"/>
                </a:ext>
              </a:extLst>
            </p:cNvPr>
            <p:cNvSpPr txBox="1"/>
            <p:nvPr/>
          </p:nvSpPr>
          <p:spPr>
            <a:xfrm>
              <a:off x="165160" y="-12701"/>
              <a:ext cx="792064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r>
                <a:t>0    1</a:t>
              </a:r>
            </a:p>
          </p:txBody>
        </p:sp>
      </p:grpSp>
      <p:sp>
        <p:nvSpPr>
          <p:cNvPr id="207" name="Line">
            <a:extLst>
              <a:ext uri="{FF2B5EF4-FFF2-40B4-BE49-F238E27FC236}">
                <a16:creationId xmlns:a16="http://schemas.microsoft.com/office/drawing/2014/main" id="{144952F5-B53B-5F19-6573-A9F3F244FB78}"/>
              </a:ext>
            </a:extLst>
          </p:cNvPr>
          <p:cNvSpPr/>
          <p:nvPr/>
        </p:nvSpPr>
        <p:spPr>
          <a:xfrm>
            <a:off x="1577156" y="6551317"/>
            <a:ext cx="1" cy="457201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8" name="Line">
            <a:extLst>
              <a:ext uri="{FF2B5EF4-FFF2-40B4-BE49-F238E27FC236}">
                <a16:creationId xmlns:a16="http://schemas.microsoft.com/office/drawing/2014/main" id="{A8CD6462-78BC-BA4C-AA5B-678AE04C75DF}"/>
              </a:ext>
            </a:extLst>
          </p:cNvPr>
          <p:cNvSpPr/>
          <p:nvPr/>
        </p:nvSpPr>
        <p:spPr>
          <a:xfrm flipH="1">
            <a:off x="1577156" y="7008517"/>
            <a:ext cx="1691843" cy="1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9" name="Line">
            <a:extLst>
              <a:ext uri="{FF2B5EF4-FFF2-40B4-BE49-F238E27FC236}">
                <a16:creationId xmlns:a16="http://schemas.microsoft.com/office/drawing/2014/main" id="{9ECB7706-3493-47BC-2D2C-BF50DFD2E987}"/>
              </a:ext>
            </a:extLst>
          </p:cNvPr>
          <p:cNvSpPr/>
          <p:nvPr/>
        </p:nvSpPr>
        <p:spPr>
          <a:xfrm>
            <a:off x="3268998" y="7008517"/>
            <a:ext cx="1" cy="337631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0" name="Line">
            <a:extLst>
              <a:ext uri="{FF2B5EF4-FFF2-40B4-BE49-F238E27FC236}">
                <a16:creationId xmlns:a16="http://schemas.microsoft.com/office/drawing/2014/main" id="{449D5802-82BE-2C66-5AC2-A7A00065B080}"/>
              </a:ext>
            </a:extLst>
          </p:cNvPr>
          <p:cNvSpPr/>
          <p:nvPr/>
        </p:nvSpPr>
        <p:spPr>
          <a:xfrm>
            <a:off x="5740400" y="6551317"/>
            <a:ext cx="0" cy="457201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1" name="Line">
            <a:extLst>
              <a:ext uri="{FF2B5EF4-FFF2-40B4-BE49-F238E27FC236}">
                <a16:creationId xmlns:a16="http://schemas.microsoft.com/office/drawing/2014/main" id="{5D9E522D-4CBA-63EA-69F9-AE63EF488178}"/>
              </a:ext>
            </a:extLst>
          </p:cNvPr>
          <p:cNvSpPr/>
          <p:nvPr/>
        </p:nvSpPr>
        <p:spPr>
          <a:xfrm flipH="1">
            <a:off x="4472756" y="7008517"/>
            <a:ext cx="1274552" cy="1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2" name="Line">
            <a:extLst>
              <a:ext uri="{FF2B5EF4-FFF2-40B4-BE49-F238E27FC236}">
                <a16:creationId xmlns:a16="http://schemas.microsoft.com/office/drawing/2014/main" id="{7329985F-9AF2-D60C-CA1C-4025A22817BD}"/>
              </a:ext>
            </a:extLst>
          </p:cNvPr>
          <p:cNvSpPr/>
          <p:nvPr/>
        </p:nvSpPr>
        <p:spPr>
          <a:xfrm>
            <a:off x="4475498" y="7008517"/>
            <a:ext cx="1" cy="337631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3" name="Line">
            <a:extLst>
              <a:ext uri="{FF2B5EF4-FFF2-40B4-BE49-F238E27FC236}">
                <a16:creationId xmlns:a16="http://schemas.microsoft.com/office/drawing/2014/main" id="{B5ED6818-6378-BA84-A2FD-6208AFB25C00}"/>
              </a:ext>
            </a:extLst>
          </p:cNvPr>
          <p:cNvSpPr/>
          <p:nvPr/>
        </p:nvSpPr>
        <p:spPr>
          <a:xfrm>
            <a:off x="3855045" y="6551317"/>
            <a:ext cx="1" cy="806426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4" name="Line">
            <a:extLst>
              <a:ext uri="{FF2B5EF4-FFF2-40B4-BE49-F238E27FC236}">
                <a16:creationId xmlns:a16="http://schemas.microsoft.com/office/drawing/2014/main" id="{B3164351-74C6-B6DA-9886-B1DB9100E618}"/>
              </a:ext>
            </a:extLst>
          </p:cNvPr>
          <p:cNvSpPr/>
          <p:nvPr/>
        </p:nvSpPr>
        <p:spPr>
          <a:xfrm>
            <a:off x="4041766" y="4909964"/>
            <a:ext cx="1" cy="806426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5" name="Line">
            <a:extLst>
              <a:ext uri="{FF2B5EF4-FFF2-40B4-BE49-F238E27FC236}">
                <a16:creationId xmlns:a16="http://schemas.microsoft.com/office/drawing/2014/main" id="{900561C9-DD2E-E52E-9143-C5B85A143561}"/>
              </a:ext>
            </a:extLst>
          </p:cNvPr>
          <p:cNvSpPr/>
          <p:nvPr/>
        </p:nvSpPr>
        <p:spPr>
          <a:xfrm>
            <a:off x="1884919" y="4894965"/>
            <a:ext cx="1" cy="806426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6" name="Line">
            <a:extLst>
              <a:ext uri="{FF2B5EF4-FFF2-40B4-BE49-F238E27FC236}">
                <a16:creationId xmlns:a16="http://schemas.microsoft.com/office/drawing/2014/main" id="{8A33BE28-B197-E4D4-3108-20088391F9F7}"/>
              </a:ext>
            </a:extLst>
          </p:cNvPr>
          <p:cNvSpPr/>
          <p:nvPr/>
        </p:nvSpPr>
        <p:spPr>
          <a:xfrm flipV="1">
            <a:off x="4919072" y="2440589"/>
            <a:ext cx="1" cy="1134023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7" name="Line">
            <a:extLst>
              <a:ext uri="{FF2B5EF4-FFF2-40B4-BE49-F238E27FC236}">
                <a16:creationId xmlns:a16="http://schemas.microsoft.com/office/drawing/2014/main" id="{750A03AA-B579-0B0D-2A77-31B855039CC6}"/>
              </a:ext>
            </a:extLst>
          </p:cNvPr>
          <p:cNvSpPr/>
          <p:nvPr/>
        </p:nvSpPr>
        <p:spPr>
          <a:xfrm flipH="1" flipV="1">
            <a:off x="2353013" y="4645724"/>
            <a:ext cx="4457195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8" name="Line">
            <a:extLst>
              <a:ext uri="{FF2B5EF4-FFF2-40B4-BE49-F238E27FC236}">
                <a16:creationId xmlns:a16="http://schemas.microsoft.com/office/drawing/2014/main" id="{CE7BF322-9C44-9F1B-3393-7E90E8A41E43}"/>
              </a:ext>
            </a:extLst>
          </p:cNvPr>
          <p:cNvSpPr/>
          <p:nvPr/>
        </p:nvSpPr>
        <p:spPr>
          <a:xfrm flipV="1">
            <a:off x="6813395" y="4645725"/>
            <a:ext cx="1" cy="2955729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9" name="Line">
            <a:extLst>
              <a:ext uri="{FF2B5EF4-FFF2-40B4-BE49-F238E27FC236}">
                <a16:creationId xmlns:a16="http://schemas.microsoft.com/office/drawing/2014/main" id="{30C3423C-5FCB-2A33-DF25-1693A44DA45E}"/>
              </a:ext>
            </a:extLst>
          </p:cNvPr>
          <p:cNvSpPr/>
          <p:nvPr/>
        </p:nvSpPr>
        <p:spPr>
          <a:xfrm flipH="1">
            <a:off x="4584798" y="7593569"/>
            <a:ext cx="223085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grpSp>
        <p:nvGrpSpPr>
          <p:cNvPr id="222" name="Group">
            <a:extLst>
              <a:ext uri="{FF2B5EF4-FFF2-40B4-BE49-F238E27FC236}">
                <a16:creationId xmlns:a16="http://schemas.microsoft.com/office/drawing/2014/main" id="{9C7B38C9-2071-CE13-1F08-A47C99D13F9D}"/>
              </a:ext>
            </a:extLst>
          </p:cNvPr>
          <p:cNvGrpSpPr/>
          <p:nvPr/>
        </p:nvGrpSpPr>
        <p:grpSpPr>
          <a:xfrm>
            <a:off x="3506980" y="4259908"/>
            <a:ext cx="1120232" cy="637357"/>
            <a:chOff x="0" y="-12700"/>
            <a:chExt cx="1120230" cy="637356"/>
          </a:xfrm>
        </p:grpSpPr>
        <p:sp>
          <p:nvSpPr>
            <p:cNvPr id="220" name="Shape">
              <a:extLst>
                <a:ext uri="{FF2B5EF4-FFF2-40B4-BE49-F238E27FC236}">
                  <a16:creationId xmlns:a16="http://schemas.microsoft.com/office/drawing/2014/main" id="{9ADB90CA-62AE-7FE9-DF7B-C4FBB1C78DE7}"/>
                </a:ext>
              </a:extLst>
            </p:cNvPr>
            <p:cNvSpPr/>
            <p:nvPr/>
          </p:nvSpPr>
          <p:spPr>
            <a:xfrm rot="5400000">
              <a:off x="278358" y="-217216"/>
              <a:ext cx="563514" cy="11202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17302"/>
                  </a:lnTo>
                  <a:lnTo>
                    <a:pt x="21600" y="5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1300" b="1"/>
              </a:pPr>
              <a:endParaRPr/>
            </a:p>
          </p:txBody>
        </p:sp>
        <p:sp>
          <p:nvSpPr>
            <p:cNvPr id="221" name="0   1">
              <a:extLst>
                <a:ext uri="{FF2B5EF4-FFF2-40B4-BE49-F238E27FC236}">
                  <a16:creationId xmlns:a16="http://schemas.microsoft.com/office/drawing/2014/main" id="{98E2289E-DBFD-C205-9451-A02DAB47DAA8}"/>
                </a:ext>
              </a:extLst>
            </p:cNvPr>
            <p:cNvSpPr txBox="1"/>
            <p:nvPr/>
          </p:nvSpPr>
          <p:spPr>
            <a:xfrm>
              <a:off x="181095" y="-12701"/>
              <a:ext cx="707381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r>
                <a:t>0   1</a:t>
              </a:r>
            </a:p>
          </p:txBody>
        </p:sp>
      </p:grpSp>
      <p:sp>
        <p:nvSpPr>
          <p:cNvPr id="223" name="Line">
            <a:extLst>
              <a:ext uri="{FF2B5EF4-FFF2-40B4-BE49-F238E27FC236}">
                <a16:creationId xmlns:a16="http://schemas.microsoft.com/office/drawing/2014/main" id="{36706270-CD7A-1A1A-F317-5FBC24127A80}"/>
              </a:ext>
            </a:extLst>
          </p:cNvPr>
          <p:cNvSpPr/>
          <p:nvPr/>
        </p:nvSpPr>
        <p:spPr>
          <a:xfrm flipH="1">
            <a:off x="6800695" y="5921789"/>
            <a:ext cx="112023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4" name="A[31:0]">
            <a:extLst>
              <a:ext uri="{FF2B5EF4-FFF2-40B4-BE49-F238E27FC236}">
                <a16:creationId xmlns:a16="http://schemas.microsoft.com/office/drawing/2014/main" id="{67B31D08-0B3F-3CBB-91D6-26AE7E6C5432}"/>
              </a:ext>
            </a:extLst>
          </p:cNvPr>
          <p:cNvSpPr txBox="1"/>
          <p:nvPr/>
        </p:nvSpPr>
        <p:spPr>
          <a:xfrm>
            <a:off x="1134236" y="2127895"/>
            <a:ext cx="1501366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A[31:0]</a:t>
            </a:r>
          </a:p>
        </p:txBody>
      </p:sp>
      <p:sp>
        <p:nvSpPr>
          <p:cNvPr id="225" name="B[31:0]">
            <a:extLst>
              <a:ext uri="{FF2B5EF4-FFF2-40B4-BE49-F238E27FC236}">
                <a16:creationId xmlns:a16="http://schemas.microsoft.com/office/drawing/2014/main" id="{6331E421-0C63-322E-CF1D-7979F6ABC2DD}"/>
              </a:ext>
            </a:extLst>
          </p:cNvPr>
          <p:cNvSpPr txBox="1"/>
          <p:nvPr/>
        </p:nvSpPr>
        <p:spPr>
          <a:xfrm>
            <a:off x="3449778" y="2171700"/>
            <a:ext cx="1501367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B[31:0]</a:t>
            </a:r>
          </a:p>
        </p:txBody>
      </p:sp>
      <p:sp>
        <p:nvSpPr>
          <p:cNvPr id="226" name="F[2:0]">
            <a:extLst>
              <a:ext uri="{FF2B5EF4-FFF2-40B4-BE49-F238E27FC236}">
                <a16:creationId xmlns:a16="http://schemas.microsoft.com/office/drawing/2014/main" id="{23E7CFDA-3384-0219-75FB-74C0CC34B9F3}"/>
              </a:ext>
            </a:extLst>
          </p:cNvPr>
          <p:cNvSpPr txBox="1"/>
          <p:nvPr/>
        </p:nvSpPr>
        <p:spPr>
          <a:xfrm>
            <a:off x="7381799" y="5343939"/>
            <a:ext cx="130321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F[2:0]</a:t>
            </a:r>
          </a:p>
        </p:txBody>
      </p:sp>
      <p:sp>
        <p:nvSpPr>
          <p:cNvPr id="227" name="F[2:1]">
            <a:extLst>
              <a:ext uri="{FF2B5EF4-FFF2-40B4-BE49-F238E27FC236}">
                <a16:creationId xmlns:a16="http://schemas.microsoft.com/office/drawing/2014/main" id="{9EB98AEA-D50D-BD40-FAA9-A886513D1BBB}"/>
              </a:ext>
            </a:extLst>
          </p:cNvPr>
          <p:cNvSpPr txBox="1"/>
          <p:nvPr/>
        </p:nvSpPr>
        <p:spPr>
          <a:xfrm>
            <a:off x="5359004" y="7618969"/>
            <a:ext cx="1303215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F[2:1]</a:t>
            </a:r>
          </a:p>
        </p:txBody>
      </p:sp>
      <p:sp>
        <p:nvSpPr>
          <p:cNvPr id="228" name="F[0]">
            <a:extLst>
              <a:ext uri="{FF2B5EF4-FFF2-40B4-BE49-F238E27FC236}">
                <a16:creationId xmlns:a16="http://schemas.microsoft.com/office/drawing/2014/main" id="{115EDCE4-FAEF-1DBB-95A0-89FD33FA569F}"/>
              </a:ext>
            </a:extLst>
          </p:cNvPr>
          <p:cNvSpPr txBox="1"/>
          <p:nvPr/>
        </p:nvSpPr>
        <p:spPr>
          <a:xfrm>
            <a:off x="6172251" y="4125024"/>
            <a:ext cx="90691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F[0]</a:t>
            </a:r>
          </a:p>
        </p:txBody>
      </p:sp>
      <p:sp>
        <p:nvSpPr>
          <p:cNvPr id="229" name="-">
            <a:extLst>
              <a:ext uri="{FF2B5EF4-FFF2-40B4-BE49-F238E27FC236}">
                <a16:creationId xmlns:a16="http://schemas.microsoft.com/office/drawing/2014/main" id="{3198134E-72A2-2587-1EF9-486FE05E5570}"/>
              </a:ext>
            </a:extLst>
          </p:cNvPr>
          <p:cNvSpPr/>
          <p:nvPr/>
        </p:nvSpPr>
        <p:spPr>
          <a:xfrm>
            <a:off x="2999264" y="5681278"/>
            <a:ext cx="1326098" cy="884622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-</a:t>
            </a:r>
          </a:p>
        </p:txBody>
      </p:sp>
      <p:sp>
        <p:nvSpPr>
          <p:cNvPr id="230" name="+">
            <a:extLst>
              <a:ext uri="{FF2B5EF4-FFF2-40B4-BE49-F238E27FC236}">
                <a16:creationId xmlns:a16="http://schemas.microsoft.com/office/drawing/2014/main" id="{E9C94C55-D609-4F11-CBAE-AEDAA66A1572}"/>
              </a:ext>
            </a:extLst>
          </p:cNvPr>
          <p:cNvSpPr/>
          <p:nvPr/>
        </p:nvSpPr>
        <p:spPr>
          <a:xfrm>
            <a:off x="914107" y="5681278"/>
            <a:ext cx="1326099" cy="884622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+</a:t>
            </a:r>
          </a:p>
        </p:txBody>
      </p:sp>
      <p:sp>
        <p:nvSpPr>
          <p:cNvPr id="231" name="*">
            <a:extLst>
              <a:ext uri="{FF2B5EF4-FFF2-40B4-BE49-F238E27FC236}">
                <a16:creationId xmlns:a16="http://schemas.microsoft.com/office/drawing/2014/main" id="{E17569E2-FF25-BF2E-023F-35A7177CF843}"/>
              </a:ext>
            </a:extLst>
          </p:cNvPr>
          <p:cNvSpPr/>
          <p:nvPr/>
        </p:nvSpPr>
        <p:spPr>
          <a:xfrm>
            <a:off x="5270083" y="5681278"/>
            <a:ext cx="940634" cy="884622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*</a:t>
            </a:r>
          </a:p>
        </p:txBody>
      </p:sp>
      <p:sp>
        <p:nvSpPr>
          <p:cNvPr id="232" name="Line">
            <a:extLst>
              <a:ext uri="{FF2B5EF4-FFF2-40B4-BE49-F238E27FC236}">
                <a16:creationId xmlns:a16="http://schemas.microsoft.com/office/drawing/2014/main" id="{71513AF6-3A19-AF30-F246-F7DEAC864F0F}"/>
              </a:ext>
            </a:extLst>
          </p:cNvPr>
          <p:cNvSpPr/>
          <p:nvPr/>
        </p:nvSpPr>
        <p:spPr>
          <a:xfrm flipV="1">
            <a:off x="3852388" y="7913426"/>
            <a:ext cx="1" cy="1134023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grpSp>
        <p:nvGrpSpPr>
          <p:cNvPr id="235" name="Group">
            <a:extLst>
              <a:ext uri="{FF2B5EF4-FFF2-40B4-BE49-F238E27FC236}">
                <a16:creationId xmlns:a16="http://schemas.microsoft.com/office/drawing/2014/main" id="{DA7FB8F7-66BF-C232-A687-5CF19162C53C}"/>
              </a:ext>
            </a:extLst>
          </p:cNvPr>
          <p:cNvGrpSpPr/>
          <p:nvPr/>
        </p:nvGrpSpPr>
        <p:grpSpPr>
          <a:xfrm>
            <a:off x="2692347" y="7324513"/>
            <a:ext cx="2320083" cy="588914"/>
            <a:chOff x="0" y="-12700"/>
            <a:chExt cx="2320082" cy="588913"/>
          </a:xfrm>
        </p:grpSpPr>
        <p:sp>
          <p:nvSpPr>
            <p:cNvPr id="233" name="Shape">
              <a:extLst>
                <a:ext uri="{FF2B5EF4-FFF2-40B4-BE49-F238E27FC236}">
                  <a16:creationId xmlns:a16="http://schemas.microsoft.com/office/drawing/2014/main" id="{4A571024-C2F0-B448-65ED-33A50AD3A519}"/>
                </a:ext>
              </a:extLst>
            </p:cNvPr>
            <p:cNvSpPr/>
            <p:nvPr/>
          </p:nvSpPr>
          <p:spPr>
            <a:xfrm rot="5400000">
              <a:off x="878284" y="-865585"/>
              <a:ext cx="563514" cy="23200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17302"/>
                  </a:lnTo>
                  <a:lnTo>
                    <a:pt x="21600" y="5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1300" b="1"/>
              </a:pPr>
              <a:endParaRPr/>
            </a:p>
          </p:txBody>
        </p:sp>
        <p:sp>
          <p:nvSpPr>
            <p:cNvPr id="234" name="00    01    10">
              <a:extLst>
                <a:ext uri="{FF2B5EF4-FFF2-40B4-BE49-F238E27FC236}">
                  <a16:creationId xmlns:a16="http://schemas.microsoft.com/office/drawing/2014/main" id="{A02BD350-FBFD-1585-4863-7899558B4AC6}"/>
                </a:ext>
              </a:extLst>
            </p:cNvPr>
            <p:cNvSpPr txBox="1"/>
            <p:nvPr/>
          </p:nvSpPr>
          <p:spPr>
            <a:xfrm>
              <a:off x="258269" y="-12701"/>
              <a:ext cx="1808858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r>
                <a:t>00    01    10</a:t>
              </a:r>
            </a:p>
          </p:txBody>
        </p:sp>
      </p:grpSp>
      <p:sp>
        <p:nvSpPr>
          <p:cNvPr id="236" name="R[31:0]">
            <a:extLst>
              <a:ext uri="{FF2B5EF4-FFF2-40B4-BE49-F238E27FC236}">
                <a16:creationId xmlns:a16="http://schemas.microsoft.com/office/drawing/2014/main" id="{71B91856-F7A5-326D-5CDA-DB99A26C5CCF}"/>
              </a:ext>
            </a:extLst>
          </p:cNvPr>
          <p:cNvSpPr txBox="1"/>
          <p:nvPr/>
        </p:nvSpPr>
        <p:spPr>
          <a:xfrm>
            <a:off x="2416936" y="8872349"/>
            <a:ext cx="1501366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R[31:0]</a:t>
            </a:r>
          </a:p>
        </p:txBody>
      </p:sp>
      <p:sp>
        <p:nvSpPr>
          <p:cNvPr id="238" name="module mul16 (a, b, out);…">
            <a:extLst>
              <a:ext uri="{FF2B5EF4-FFF2-40B4-BE49-F238E27FC236}">
                <a16:creationId xmlns:a16="http://schemas.microsoft.com/office/drawing/2014/main" id="{AC1EA186-5DA3-7672-8600-7C20125601DD}"/>
              </a:ext>
            </a:extLst>
          </p:cNvPr>
          <p:cNvSpPr/>
          <p:nvPr/>
        </p:nvSpPr>
        <p:spPr>
          <a:xfrm>
            <a:off x="7780863" y="8320175"/>
            <a:ext cx="1092316" cy="711942"/>
          </a:xfrm>
          <a:prstGeom prst="line">
            <a:avLst/>
          </a:prstGeom>
          <a:solidFill>
            <a:srgbClr val="E9E6BF"/>
          </a:solidFill>
          <a:ln w="12700" cap="flat">
            <a:noFill/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/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module mul16 (</a:t>
            </a: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[15:0] a, b,</a:t>
            </a: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output logic [31:0] out</a:t>
            </a: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);</a:t>
            </a: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assign out = a * b;</a:t>
            </a:r>
          </a:p>
          <a:p>
            <a:pPr algn="l">
              <a:defRPr sz="1300"/>
            </a:pP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endmodule</a:t>
            </a:r>
            <a:endParaRPr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39" name="Line">
            <a:extLst>
              <a:ext uri="{FF2B5EF4-FFF2-40B4-BE49-F238E27FC236}">
                <a16:creationId xmlns:a16="http://schemas.microsoft.com/office/drawing/2014/main" id="{D16A70B9-4D9B-06C8-EFD5-47275A2A1180}"/>
              </a:ext>
            </a:extLst>
          </p:cNvPr>
          <p:cNvSpPr/>
          <p:nvPr/>
        </p:nvSpPr>
        <p:spPr>
          <a:xfrm flipH="1" flipV="1">
            <a:off x="5944873" y="6341637"/>
            <a:ext cx="1738628" cy="1360114"/>
          </a:xfrm>
          <a:prstGeom prst="line">
            <a:avLst/>
          </a:prstGeom>
          <a:noFill/>
          <a:ln w="88900" cap="flat">
            <a:solidFill>
              <a:schemeClr val="accent3"/>
            </a:solidFill>
            <a:prstDash val="solid"/>
            <a:miter lim="400000"/>
            <a:tailEnd type="arrow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>
              <a:defRPr sz="2100" b="1"/>
            </a:pPr>
            <a:endParaRPr/>
          </a:p>
        </p:txBody>
      </p:sp>
      <p:sp>
        <p:nvSpPr>
          <p:cNvPr id="241" name="module sub32 (a, b, out);…">
            <a:extLst>
              <a:ext uri="{FF2B5EF4-FFF2-40B4-BE49-F238E27FC236}">
                <a16:creationId xmlns:a16="http://schemas.microsoft.com/office/drawing/2014/main" id="{B2BA99B5-BA41-F623-69FD-CA997749119C}"/>
              </a:ext>
            </a:extLst>
          </p:cNvPr>
          <p:cNvSpPr/>
          <p:nvPr/>
        </p:nvSpPr>
        <p:spPr>
          <a:xfrm>
            <a:off x="4662634" y="9047449"/>
            <a:ext cx="1002627" cy="1111067"/>
          </a:xfrm>
          <a:prstGeom prst="line">
            <a:avLst/>
          </a:prstGeom>
          <a:solidFill>
            <a:srgbClr val="E9E6BF"/>
          </a:solidFill>
          <a:ln w="12700" cap="flat">
            <a:noFill/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/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module sub32 (</a:t>
            </a: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[31:0] a, b,</a:t>
            </a: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output logic [31:0] out</a:t>
            </a: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);</a:t>
            </a: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assign out = a - b;</a:t>
            </a:r>
          </a:p>
          <a:p>
            <a:pPr algn="l">
              <a:defRPr sz="1300"/>
            </a:pP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endmodule</a:t>
            </a:r>
            <a:endParaRPr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42" name="Line">
            <a:extLst>
              <a:ext uri="{FF2B5EF4-FFF2-40B4-BE49-F238E27FC236}">
                <a16:creationId xmlns:a16="http://schemas.microsoft.com/office/drawing/2014/main" id="{976236BB-A653-48B6-265B-1316E232E7A2}"/>
              </a:ext>
            </a:extLst>
          </p:cNvPr>
          <p:cNvSpPr/>
          <p:nvPr/>
        </p:nvSpPr>
        <p:spPr>
          <a:xfrm flipH="1" flipV="1">
            <a:off x="3495898" y="6334880"/>
            <a:ext cx="1092316" cy="2032122"/>
          </a:xfrm>
          <a:prstGeom prst="line">
            <a:avLst/>
          </a:prstGeom>
          <a:noFill/>
          <a:ln w="88900" cap="flat">
            <a:solidFill>
              <a:schemeClr val="accent3"/>
            </a:solidFill>
            <a:prstDash val="solid"/>
            <a:miter lim="400000"/>
            <a:tailEnd type="arrow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>
              <a:defRPr sz="2100" b="1"/>
            </a:pPr>
            <a:endParaRPr/>
          </a:p>
        </p:txBody>
      </p:sp>
      <p:sp>
        <p:nvSpPr>
          <p:cNvPr id="244" name="module add32 (a, b, out);…">
            <a:extLst>
              <a:ext uri="{FF2B5EF4-FFF2-40B4-BE49-F238E27FC236}">
                <a16:creationId xmlns:a16="http://schemas.microsoft.com/office/drawing/2014/main" id="{9EE7DBF8-2973-5FF0-3AAC-DB48E15B83EA}"/>
              </a:ext>
            </a:extLst>
          </p:cNvPr>
          <p:cNvSpPr/>
          <p:nvPr/>
        </p:nvSpPr>
        <p:spPr>
          <a:xfrm>
            <a:off x="71760" y="8899887"/>
            <a:ext cx="1154062" cy="849159"/>
          </a:xfrm>
          <a:prstGeom prst="line">
            <a:avLst/>
          </a:prstGeom>
          <a:solidFill>
            <a:srgbClr val="E9E6BF"/>
          </a:solidFill>
          <a:ln w="12700" cap="flat">
            <a:noFill/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/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module add32 (</a:t>
            </a: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[31:0] a, b,</a:t>
            </a: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output logic [31:0] out</a:t>
            </a: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);</a:t>
            </a: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assign out = a + b;</a:t>
            </a:r>
          </a:p>
          <a:p>
            <a:pPr algn="l">
              <a:defRPr sz="1300"/>
            </a:pP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endmodule</a:t>
            </a:r>
            <a:endParaRPr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45" name="Line">
            <a:extLst>
              <a:ext uri="{FF2B5EF4-FFF2-40B4-BE49-F238E27FC236}">
                <a16:creationId xmlns:a16="http://schemas.microsoft.com/office/drawing/2014/main" id="{FD178832-2536-F35F-FBC6-DF4D9BC3CE02}"/>
              </a:ext>
            </a:extLst>
          </p:cNvPr>
          <p:cNvSpPr/>
          <p:nvPr/>
        </p:nvSpPr>
        <p:spPr>
          <a:xfrm flipH="1" flipV="1">
            <a:off x="1790830" y="6414549"/>
            <a:ext cx="376273" cy="1177112"/>
          </a:xfrm>
          <a:prstGeom prst="line">
            <a:avLst/>
          </a:prstGeom>
          <a:noFill/>
          <a:ln w="88900" cap="flat">
            <a:solidFill>
              <a:schemeClr val="accent3"/>
            </a:solidFill>
            <a:prstDash val="solid"/>
            <a:miter lim="400000"/>
            <a:tailEnd type="arrow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>
              <a:defRPr sz="2100" b="1"/>
            </a:pPr>
            <a:endParaRPr/>
          </a:p>
        </p:txBody>
      </p:sp>
      <p:sp>
        <p:nvSpPr>
          <p:cNvPr id="247" name="module mux32three (a, b, c, sel, out);…">
            <a:extLst>
              <a:ext uri="{FF2B5EF4-FFF2-40B4-BE49-F238E27FC236}">
                <a16:creationId xmlns:a16="http://schemas.microsoft.com/office/drawing/2014/main" id="{E55A5689-FA84-3AB2-16DC-F0F2586A805B}"/>
              </a:ext>
            </a:extLst>
          </p:cNvPr>
          <p:cNvSpPr/>
          <p:nvPr/>
        </p:nvSpPr>
        <p:spPr>
          <a:xfrm>
            <a:off x="8818855" y="5701106"/>
            <a:ext cx="1270001" cy="1270002"/>
          </a:xfrm>
          <a:prstGeom prst="line">
            <a:avLst/>
          </a:prstGeom>
          <a:solidFill>
            <a:srgbClr val="E9E6BF"/>
          </a:solidFill>
          <a:ln w="12700" cap="flat">
            <a:noFill/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numCol="1" anchor="ctr">
            <a:spAutoFit/>
          </a:bodyPr>
          <a:lstStyle/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module mux32three (</a:t>
            </a: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[31:0] a, b, c,</a:t>
            </a: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[1:0] 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sel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,</a:t>
            </a: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output logic [31:0] out</a:t>
            </a: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);</a:t>
            </a: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always_comb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begin</a:t>
            </a: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case (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sel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2'b00: out = a;</a:t>
            </a: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2'b01: out = b;</a:t>
            </a: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2'b10: out = c;</a:t>
            </a: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default: out = 'x;</a:t>
            </a: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endcase</a:t>
            </a:r>
            <a:endParaRPr lang="en-GB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end</a:t>
            </a:r>
          </a:p>
          <a:p>
            <a:pPr algn="l">
              <a:defRPr sz="1300"/>
            </a:pP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endmodule</a:t>
            </a:r>
            <a:endParaRPr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48" name="Line">
            <a:extLst>
              <a:ext uri="{FF2B5EF4-FFF2-40B4-BE49-F238E27FC236}">
                <a16:creationId xmlns:a16="http://schemas.microsoft.com/office/drawing/2014/main" id="{D5516AC7-E48D-E13A-8B88-8A8DA7177909}"/>
              </a:ext>
            </a:extLst>
          </p:cNvPr>
          <p:cNvSpPr/>
          <p:nvPr/>
        </p:nvSpPr>
        <p:spPr>
          <a:xfrm flipH="1">
            <a:off x="4766149" y="6145672"/>
            <a:ext cx="4106953" cy="1273004"/>
          </a:xfrm>
          <a:prstGeom prst="line">
            <a:avLst/>
          </a:prstGeom>
          <a:noFill/>
          <a:ln w="88900" cap="flat">
            <a:solidFill>
              <a:schemeClr val="accent3"/>
            </a:solidFill>
            <a:prstDash val="solid"/>
            <a:miter lim="400000"/>
            <a:tailEnd type="arrow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>
              <a:defRPr sz="2100" b="1"/>
            </a:pPr>
            <a:endParaRPr/>
          </a:p>
        </p:txBody>
      </p:sp>
      <p:sp>
        <p:nvSpPr>
          <p:cNvPr id="250" name="module alu (A, B, F, R);…">
            <a:extLst>
              <a:ext uri="{FF2B5EF4-FFF2-40B4-BE49-F238E27FC236}">
                <a16:creationId xmlns:a16="http://schemas.microsoft.com/office/drawing/2014/main" id="{BD23AE34-B325-B546-5888-FF9505B97B17}"/>
              </a:ext>
            </a:extLst>
          </p:cNvPr>
          <p:cNvSpPr/>
          <p:nvPr/>
        </p:nvSpPr>
        <p:spPr>
          <a:xfrm>
            <a:off x="8818855" y="2334924"/>
            <a:ext cx="915774" cy="837888"/>
          </a:xfrm>
          <a:prstGeom prst="line">
            <a:avLst/>
          </a:prstGeom>
          <a:solidFill>
            <a:srgbClr val="E9E6BF"/>
          </a:solidFill>
          <a:ln w="12700" cap="flat">
            <a:noFill/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/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module alu (</a:t>
            </a: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[31:0] A, B,</a:t>
            </a: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[2:0]  F,</a:t>
            </a: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output logic [31:0] R</a:t>
            </a: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);</a:t>
            </a: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logic [31:0] w1, w2, w3, w4, w5;</a:t>
            </a:r>
          </a:p>
          <a:p>
            <a:pPr algn="l">
              <a:defRPr sz="1300"/>
            </a:pPr>
            <a:endParaRPr lang="en-GB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mux32two  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amux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(…);</a:t>
            </a: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mux32two  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smux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(…);</a:t>
            </a: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add32      add  (…);</a:t>
            </a: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sub32      sub  (…);</a:t>
            </a: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mul16     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mul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(…);</a:t>
            </a: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mux32three res  (…);</a:t>
            </a:r>
          </a:p>
          <a:p>
            <a:pPr algn="l">
              <a:defRPr sz="1300"/>
            </a:pP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endmodule</a:t>
            </a:r>
            <a:endParaRPr lang="en-GB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51" name="Line">
            <a:extLst>
              <a:ext uri="{FF2B5EF4-FFF2-40B4-BE49-F238E27FC236}">
                <a16:creationId xmlns:a16="http://schemas.microsoft.com/office/drawing/2014/main" id="{3DC2D49D-D9D7-4605-745C-ECFA2ADE80CD}"/>
              </a:ext>
            </a:extLst>
          </p:cNvPr>
          <p:cNvSpPr/>
          <p:nvPr/>
        </p:nvSpPr>
        <p:spPr>
          <a:xfrm flipH="1">
            <a:off x="6964336" y="2608223"/>
            <a:ext cx="1669246" cy="698862"/>
          </a:xfrm>
          <a:prstGeom prst="line">
            <a:avLst/>
          </a:prstGeom>
          <a:noFill/>
          <a:ln w="88900" cap="flat">
            <a:solidFill>
              <a:schemeClr val="accent3"/>
            </a:solidFill>
            <a:prstDash val="solid"/>
            <a:miter lim="400000"/>
            <a:tailEnd type="arrow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>
              <a:defRPr sz="2100" b="1"/>
            </a:pPr>
            <a:endParaRPr/>
          </a:p>
        </p:txBody>
      </p:sp>
      <p:sp>
        <p:nvSpPr>
          <p:cNvPr id="253" name="module mux32two (a, b, sel, out);…">
            <a:extLst>
              <a:ext uri="{FF2B5EF4-FFF2-40B4-BE49-F238E27FC236}">
                <a16:creationId xmlns:a16="http://schemas.microsoft.com/office/drawing/2014/main" id="{86B490F1-E813-EAD6-9290-323585DD2511}"/>
              </a:ext>
            </a:extLst>
          </p:cNvPr>
          <p:cNvSpPr/>
          <p:nvPr/>
        </p:nvSpPr>
        <p:spPr>
          <a:xfrm>
            <a:off x="334620" y="1262017"/>
            <a:ext cx="1270001" cy="1270002"/>
          </a:xfrm>
          <a:prstGeom prst="line">
            <a:avLst/>
          </a:prstGeom>
          <a:solidFill>
            <a:srgbClr val="E9E6BF"/>
          </a:solidFill>
          <a:ln w="12700" cap="flat">
            <a:noFill/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numCol="1" anchor="ctr">
            <a:spAutoFit/>
          </a:bodyPr>
          <a:lstStyle/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module mux32two (</a:t>
            </a: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[31:0] a, b,</a:t>
            </a: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      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sel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,</a:t>
            </a: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output logic [31:0] out</a:t>
            </a: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);</a:t>
            </a:r>
          </a:p>
          <a:p>
            <a:pPr algn="l">
              <a:defRPr sz="1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assign out =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sel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? b : a;</a:t>
            </a:r>
          </a:p>
          <a:p>
            <a:pPr algn="l">
              <a:defRPr sz="1300"/>
            </a:pP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endmodule</a:t>
            </a:r>
            <a:endParaRPr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54" name="Line">
            <a:extLst>
              <a:ext uri="{FF2B5EF4-FFF2-40B4-BE49-F238E27FC236}">
                <a16:creationId xmlns:a16="http://schemas.microsoft.com/office/drawing/2014/main" id="{675EEB4D-5D26-488C-5F64-D48BF2EAD029}"/>
              </a:ext>
            </a:extLst>
          </p:cNvPr>
          <p:cNvSpPr/>
          <p:nvPr/>
        </p:nvSpPr>
        <p:spPr>
          <a:xfrm>
            <a:off x="893756" y="1970205"/>
            <a:ext cx="622203" cy="2488071"/>
          </a:xfrm>
          <a:prstGeom prst="line">
            <a:avLst/>
          </a:prstGeom>
          <a:noFill/>
          <a:ln w="88900" cap="flat">
            <a:solidFill>
              <a:schemeClr val="accent3"/>
            </a:solidFill>
            <a:prstDash val="solid"/>
            <a:miter lim="400000"/>
            <a:tailEnd type="arrow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>
              <a:defRPr sz="2100" b="1"/>
            </a:pPr>
            <a:endParaRPr/>
          </a:p>
        </p:txBody>
      </p:sp>
      <p:sp>
        <p:nvSpPr>
          <p:cNvPr id="256" name="w1">
            <a:extLst>
              <a:ext uri="{FF2B5EF4-FFF2-40B4-BE49-F238E27FC236}">
                <a16:creationId xmlns:a16="http://schemas.microsoft.com/office/drawing/2014/main" id="{C1BF51CA-C7AD-F28A-BFDD-4175F9AD5271}"/>
              </a:ext>
            </a:extLst>
          </p:cNvPr>
          <p:cNvSpPr txBox="1"/>
          <p:nvPr/>
        </p:nvSpPr>
        <p:spPr>
          <a:xfrm>
            <a:off x="1881732" y="5092421"/>
            <a:ext cx="38866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w1</a:t>
            </a:r>
          </a:p>
        </p:txBody>
      </p:sp>
      <p:sp>
        <p:nvSpPr>
          <p:cNvPr id="257" name="w2">
            <a:extLst>
              <a:ext uri="{FF2B5EF4-FFF2-40B4-BE49-F238E27FC236}">
                <a16:creationId xmlns:a16="http://schemas.microsoft.com/office/drawing/2014/main" id="{7BC70037-4A3F-0507-E068-996E42E4CC7B}"/>
              </a:ext>
            </a:extLst>
          </p:cNvPr>
          <p:cNvSpPr txBox="1"/>
          <p:nvPr/>
        </p:nvSpPr>
        <p:spPr>
          <a:xfrm>
            <a:off x="4067095" y="5092421"/>
            <a:ext cx="38866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w2</a:t>
            </a:r>
          </a:p>
        </p:txBody>
      </p:sp>
      <p:sp>
        <p:nvSpPr>
          <p:cNvPr id="258" name="w3">
            <a:extLst>
              <a:ext uri="{FF2B5EF4-FFF2-40B4-BE49-F238E27FC236}">
                <a16:creationId xmlns:a16="http://schemas.microsoft.com/office/drawing/2014/main" id="{C97F8F68-8078-49ED-797A-189129E62FD5}"/>
              </a:ext>
            </a:extLst>
          </p:cNvPr>
          <p:cNvSpPr txBox="1"/>
          <p:nvPr/>
        </p:nvSpPr>
        <p:spPr>
          <a:xfrm>
            <a:off x="2359247" y="6589417"/>
            <a:ext cx="38866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w3</a:t>
            </a:r>
          </a:p>
        </p:txBody>
      </p:sp>
      <p:sp>
        <p:nvSpPr>
          <p:cNvPr id="259" name="w4">
            <a:extLst>
              <a:ext uri="{FF2B5EF4-FFF2-40B4-BE49-F238E27FC236}">
                <a16:creationId xmlns:a16="http://schemas.microsoft.com/office/drawing/2014/main" id="{5E33BBC5-FBD6-6084-5D83-6457050EF834}"/>
              </a:ext>
            </a:extLst>
          </p:cNvPr>
          <p:cNvSpPr txBox="1"/>
          <p:nvPr/>
        </p:nvSpPr>
        <p:spPr>
          <a:xfrm>
            <a:off x="3906747" y="6551317"/>
            <a:ext cx="38866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w4</a:t>
            </a:r>
          </a:p>
        </p:txBody>
      </p:sp>
      <p:sp>
        <p:nvSpPr>
          <p:cNvPr id="260" name="w5">
            <a:extLst>
              <a:ext uri="{FF2B5EF4-FFF2-40B4-BE49-F238E27FC236}">
                <a16:creationId xmlns:a16="http://schemas.microsoft.com/office/drawing/2014/main" id="{0039A2EC-16CB-B228-FBA9-F9AB39D13D88}"/>
              </a:ext>
            </a:extLst>
          </p:cNvPr>
          <p:cNvSpPr txBox="1"/>
          <p:nvPr/>
        </p:nvSpPr>
        <p:spPr>
          <a:xfrm>
            <a:off x="4925811" y="6631074"/>
            <a:ext cx="38866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8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w5</a:t>
            </a:r>
          </a:p>
        </p:txBody>
      </p:sp>
    </p:spTree>
    <p:extLst>
      <p:ext uri="{BB962C8B-B14F-4D97-AF65-F5344CB8AC3E}">
        <p14:creationId xmlns:p14="http://schemas.microsoft.com/office/powerpoint/2010/main" val="2054497937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6DA6F-A869-4FC7-46B1-CB43F09BA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44B57-EE93-1B7F-57A8-60A3DC4B97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Prove that the following two computations are identical:</a:t>
            </a:r>
          </a:p>
          <a:p>
            <a:pPr marL="0" indent="0" algn="ctr">
              <a:buNone/>
            </a:pPr>
            <a:r>
              <a:rPr lang="en-GB" dirty="0"/>
              <a:t>A[7:0] – B[7:0] == A[7:0] + ~B[7:0] + 1’b1</a:t>
            </a:r>
          </a:p>
          <a:p>
            <a:pPr marL="0" indent="0" algn="ctr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ADVANCED - Prove the following:</a:t>
            </a:r>
          </a:p>
          <a:p>
            <a:pPr marL="0" indent="0" algn="ctr">
              <a:buNone/>
            </a:pPr>
            <a:r>
              <a:rPr lang="en-GB" dirty="0"/>
              <a:t>A[7:0] + B[7:0] == (A[7:0] &amp; B[7:0]) + (A[7:0] | B[7:0]) </a:t>
            </a:r>
          </a:p>
        </p:txBody>
      </p:sp>
    </p:spTree>
    <p:extLst>
      <p:ext uri="{BB962C8B-B14F-4D97-AF65-F5344CB8AC3E}">
        <p14:creationId xmlns:p14="http://schemas.microsoft.com/office/powerpoint/2010/main" val="1867331416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locked circui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Clocked circuits</a:t>
            </a:r>
          </a:p>
        </p:txBody>
      </p:sp>
      <p:sp>
        <p:nvSpPr>
          <p:cNvPr id="26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29</a:t>
            </a:fld>
            <a:endParaRPr/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equential logic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Sequential logic</a:t>
            </a:r>
          </a:p>
        </p:txBody>
      </p:sp>
      <p:sp>
        <p:nvSpPr>
          <p:cNvPr id="26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30</a:t>
            </a:fld>
            <a:endParaRPr/>
          </a:p>
        </p:txBody>
      </p:sp>
      <p:sp>
        <p:nvSpPr>
          <p:cNvPr id="267" name="module comb (a, b, sel, out);…"/>
          <p:cNvSpPr txBox="1"/>
          <p:nvPr/>
        </p:nvSpPr>
        <p:spPr>
          <a:xfrm>
            <a:off x="925416" y="2982889"/>
            <a:ext cx="4510850" cy="3288080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module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comb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(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a, b,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sel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,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output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out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);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always_comb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begin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if (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sel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out = a;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else    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out = b;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end</a:t>
            </a:r>
          </a:p>
          <a:p>
            <a:pPr algn="l">
              <a:defRPr sz="2300"/>
            </a:pP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endmodule</a:t>
            </a:r>
            <a:endParaRPr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pic>
        <p:nvPicPr>
          <p:cNvPr id="268" name="Image" descr="Image"/>
          <p:cNvPicPr>
            <a:picLocks noChangeAspect="1"/>
          </p:cNvPicPr>
          <p:nvPr/>
        </p:nvPicPr>
        <p:blipFill>
          <a:blip r:embed="rId2"/>
          <a:srcRect l="57416" t="68918" r="4988"/>
          <a:stretch>
            <a:fillRect/>
          </a:stretch>
        </p:blipFill>
        <p:spPr>
          <a:xfrm>
            <a:off x="2424841" y="6701470"/>
            <a:ext cx="2373994" cy="2158961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module seq (a, b, sel, clk, out);…"/>
          <p:cNvSpPr txBox="1"/>
          <p:nvPr/>
        </p:nvSpPr>
        <p:spPr>
          <a:xfrm>
            <a:off x="6881716" y="2982889"/>
            <a:ext cx="5745163" cy="3288080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module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seq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(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a, b,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sel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, clk,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output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out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);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always_ff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@(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posedge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 begin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if (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sel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out &lt;= a;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else    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out &lt;= b;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end</a:t>
            </a:r>
          </a:p>
          <a:p>
            <a:pPr algn="l">
              <a:defRPr sz="2300"/>
            </a:pP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endmodule</a:t>
            </a:r>
            <a:endParaRPr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pic>
        <p:nvPicPr>
          <p:cNvPr id="270" name="Image" descr="Image"/>
          <p:cNvPicPr>
            <a:picLocks noChangeAspect="1"/>
          </p:cNvPicPr>
          <p:nvPr/>
        </p:nvPicPr>
        <p:blipFill>
          <a:blip r:embed="rId3"/>
          <a:srcRect l="36350" t="66809"/>
          <a:stretch>
            <a:fillRect/>
          </a:stretch>
        </p:blipFill>
        <p:spPr>
          <a:xfrm>
            <a:off x="7764462" y="6701469"/>
            <a:ext cx="3432374" cy="21591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" grpId="1" animBg="1" advAuto="0"/>
      <p:bldP spid="268" grpId="2" animBg="1" advAuto="0"/>
      <p:bldP spid="269" grpId="3" animBg="1" advAuto="0"/>
      <p:bldP spid="270" grpId="4" animBg="1" advAuto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Flip flop vs latch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Flip flop vs latch</a:t>
            </a:r>
          </a:p>
        </p:txBody>
      </p:sp>
      <p:sp>
        <p:nvSpPr>
          <p:cNvPr id="273" name="Latch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Latch:</a:t>
            </a:r>
            <a:br/>
            <a:br/>
            <a:br/>
            <a:br/>
            <a:br/>
            <a:endParaRPr/>
          </a:p>
          <a:p>
            <a:r>
              <a:t>Flip flop:</a:t>
            </a:r>
          </a:p>
        </p:txBody>
      </p:sp>
      <p:sp>
        <p:nvSpPr>
          <p:cNvPr id="2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31</a:t>
            </a:fld>
            <a:endParaRPr/>
          </a:p>
        </p:txBody>
      </p:sp>
      <p:grpSp>
        <p:nvGrpSpPr>
          <p:cNvPr id="277" name="Group"/>
          <p:cNvGrpSpPr/>
          <p:nvPr/>
        </p:nvGrpSpPr>
        <p:grpSpPr>
          <a:xfrm>
            <a:off x="1891604" y="3555998"/>
            <a:ext cx="7397744" cy="584202"/>
            <a:chOff x="-2473" y="-6351"/>
            <a:chExt cx="7397742" cy="584201"/>
          </a:xfrm>
        </p:grpSpPr>
        <p:sp>
          <p:nvSpPr>
            <p:cNvPr id="275" name="D"/>
            <p:cNvSpPr txBox="1"/>
            <p:nvPr/>
          </p:nvSpPr>
          <p:spPr>
            <a:xfrm>
              <a:off x="-2473" y="-6351"/>
              <a:ext cx="407790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D</a:t>
              </a:r>
            </a:p>
          </p:txBody>
        </p:sp>
        <p:graphicFrame>
          <p:nvGraphicFramePr>
            <p:cNvPr id="276" name="Table 1"/>
            <p:cNvGraphicFramePr/>
            <p:nvPr/>
          </p:nvGraphicFramePr>
          <p:xfrm>
            <a:off x="836422" y="57149"/>
            <a:ext cx="6558847" cy="457199"/>
          </p:xfrm>
          <a:graphic>
            <a:graphicData uri="http://schemas.openxmlformats.org/drawingml/2006/table">
              <a:tbl>
                <a:tblPr firstCol="1">
                  <a:tableStyleId>{4A9BC294-FFE2-49D5-8D69-9E1BD2C41BD5}</a:tableStyleId>
                </a:tblPr>
                <a:tblGrid>
                  <a:gridCol w="596259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08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09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10"/>
                      </a:ext>
                    </a:extLst>
                  </a:gridCol>
                </a:tblGrid>
                <a:tr h="457200">
                  <a:tc>
                    <a:txBody>
                      <a:bodyPr/>
                      <a:lstStyle/>
                      <a:p>
                        <a:pPr defTabSz="914400">
                          <a:tabLst>
                            <a:tab pos="1181100" algn="l"/>
                          </a:tabLst>
                          <a:defRPr sz="2200"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0">
                        <a:miter lim="400000"/>
                      </a:lnR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0">
                        <a:miter lim="400000"/>
                      </a:lnR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0">
                        <a:miter lim="400000"/>
                      </a:lnR>
                      <a:lnT w="0">
                        <a:miter lim="400000"/>
                      </a:lnT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grpSp>
        <p:nvGrpSpPr>
          <p:cNvPr id="280" name="Group"/>
          <p:cNvGrpSpPr/>
          <p:nvPr/>
        </p:nvGrpSpPr>
        <p:grpSpPr>
          <a:xfrm>
            <a:off x="1880293" y="4870448"/>
            <a:ext cx="7409055" cy="584202"/>
            <a:chOff x="-7485" y="-6351"/>
            <a:chExt cx="7409053" cy="584201"/>
          </a:xfrm>
        </p:grpSpPr>
        <p:sp>
          <p:nvSpPr>
            <p:cNvPr id="278" name="Q"/>
            <p:cNvSpPr txBox="1"/>
            <p:nvPr/>
          </p:nvSpPr>
          <p:spPr>
            <a:xfrm>
              <a:off x="-7485" y="-6351"/>
              <a:ext cx="430412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Q</a:t>
              </a:r>
            </a:p>
          </p:txBody>
        </p:sp>
        <p:graphicFrame>
          <p:nvGraphicFramePr>
            <p:cNvPr id="279" name="Table 1-1"/>
            <p:cNvGraphicFramePr/>
            <p:nvPr/>
          </p:nvGraphicFramePr>
          <p:xfrm>
            <a:off x="842721" y="57149"/>
            <a:ext cx="6558847" cy="457199"/>
          </p:xfrm>
          <a:graphic>
            <a:graphicData uri="http://schemas.openxmlformats.org/drawingml/2006/table">
              <a:tbl>
                <a:tblPr firstCol="1">
                  <a:tableStyleId>{4A9BC294-FFE2-49D5-8D69-9E1BD2C41BD5}</a:tableStyleId>
                </a:tblPr>
                <a:tblGrid>
                  <a:gridCol w="596259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08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09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10"/>
                      </a:ext>
                    </a:extLst>
                  </a:gridCol>
                </a:tblGrid>
                <a:tr h="457200">
                  <a:tc>
                    <a:txBody>
                      <a:bodyPr/>
                      <a:lstStyle/>
                      <a:p>
                        <a:pPr defTabSz="914400">
                          <a:tabLst>
                            <a:tab pos="1181100" algn="l"/>
                          </a:tabLst>
                          <a:defRPr sz="2200"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0">
                        <a:miter lim="400000"/>
                      </a:lnR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0">
                        <a:miter lim="400000"/>
                      </a:lnR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0">
                        <a:miter lim="400000"/>
                      </a:lnR>
                      <a:lnT w="0">
                        <a:miter lim="400000"/>
                      </a:lnT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grpSp>
        <p:nvGrpSpPr>
          <p:cNvPr id="283" name="Group"/>
          <p:cNvGrpSpPr/>
          <p:nvPr/>
        </p:nvGrpSpPr>
        <p:grpSpPr>
          <a:xfrm>
            <a:off x="1880293" y="4216398"/>
            <a:ext cx="7409055" cy="584202"/>
            <a:chOff x="-12362" y="-6351"/>
            <a:chExt cx="7409053" cy="584201"/>
          </a:xfrm>
        </p:grpSpPr>
        <p:sp>
          <p:nvSpPr>
            <p:cNvPr id="281" name="G"/>
            <p:cNvSpPr txBox="1"/>
            <p:nvPr/>
          </p:nvSpPr>
          <p:spPr>
            <a:xfrm>
              <a:off x="-12362" y="-6351"/>
              <a:ext cx="430412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G</a:t>
              </a:r>
            </a:p>
          </p:txBody>
        </p:sp>
        <p:graphicFrame>
          <p:nvGraphicFramePr>
            <p:cNvPr id="282" name="Table 1-2"/>
            <p:cNvGraphicFramePr/>
            <p:nvPr/>
          </p:nvGraphicFramePr>
          <p:xfrm>
            <a:off x="837844" y="57149"/>
            <a:ext cx="6558847" cy="457199"/>
          </p:xfrm>
          <a:graphic>
            <a:graphicData uri="http://schemas.openxmlformats.org/drawingml/2006/table">
              <a:tbl>
                <a:tblPr firstCol="1">
                  <a:tableStyleId>{4A9BC294-FFE2-49D5-8D69-9E1BD2C41BD5}</a:tableStyleId>
                </a:tblPr>
                <a:tblGrid>
                  <a:gridCol w="596259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08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09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10"/>
                      </a:ext>
                    </a:extLst>
                  </a:gridCol>
                </a:tblGrid>
                <a:tr h="457200">
                  <a:tc>
                    <a:txBody>
                      <a:bodyPr/>
                      <a:lstStyle/>
                      <a:p>
                        <a:pPr defTabSz="914400">
                          <a:tabLst>
                            <a:tab pos="1181100" algn="l"/>
                          </a:tabLst>
                          <a:defRPr sz="2200"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381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381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T w="381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0">
                        <a:miter lim="400000"/>
                      </a:lnR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0">
                        <a:miter lim="400000"/>
                      </a:lnR>
                      <a:lnT w="381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381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T w="381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0">
                        <a:miter lim="400000"/>
                      </a:lnR>
                      <a:lnT w="381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381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  <a:lnB w="0">
                        <a:miter lim="400000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grpSp>
        <p:nvGrpSpPr>
          <p:cNvPr id="286" name="Group"/>
          <p:cNvGrpSpPr/>
          <p:nvPr/>
        </p:nvGrpSpPr>
        <p:grpSpPr>
          <a:xfrm>
            <a:off x="1878904" y="6908798"/>
            <a:ext cx="7397744" cy="584202"/>
            <a:chOff x="-2473" y="-6351"/>
            <a:chExt cx="7397742" cy="584201"/>
          </a:xfrm>
        </p:grpSpPr>
        <p:sp>
          <p:nvSpPr>
            <p:cNvPr id="284" name="D"/>
            <p:cNvSpPr txBox="1"/>
            <p:nvPr/>
          </p:nvSpPr>
          <p:spPr>
            <a:xfrm>
              <a:off x="-2473" y="-6351"/>
              <a:ext cx="407790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D</a:t>
              </a:r>
            </a:p>
          </p:txBody>
        </p:sp>
        <p:graphicFrame>
          <p:nvGraphicFramePr>
            <p:cNvPr id="285" name="Table 1-3"/>
            <p:cNvGraphicFramePr/>
            <p:nvPr/>
          </p:nvGraphicFramePr>
          <p:xfrm>
            <a:off x="836422" y="57149"/>
            <a:ext cx="6558847" cy="457199"/>
          </p:xfrm>
          <a:graphic>
            <a:graphicData uri="http://schemas.openxmlformats.org/drawingml/2006/table">
              <a:tbl>
                <a:tblPr firstCol="1">
                  <a:tableStyleId>{4A9BC294-FFE2-49D5-8D69-9E1BD2C41BD5}</a:tableStyleId>
                </a:tblPr>
                <a:tblGrid>
                  <a:gridCol w="596259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08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09"/>
                      </a:ext>
                    </a:extLst>
                  </a:gridCol>
                  <a:gridCol w="596259">
                    <a:extLst>
                      <a:ext uri="{9D8B030D-6E8A-4147-A177-3AD203B41FA5}">
                        <a16:colId xmlns:a16="http://schemas.microsoft.com/office/drawing/2014/main" val="20010"/>
                      </a:ext>
                    </a:extLst>
                  </a:gridCol>
                </a:tblGrid>
                <a:tr h="457200">
                  <a:tc>
                    <a:txBody>
                      <a:bodyPr/>
                      <a:lstStyle/>
                      <a:p>
                        <a:pPr defTabSz="914400">
                          <a:tabLst>
                            <a:tab pos="1181100" algn="l"/>
                          </a:tabLst>
                          <a:defRPr sz="2200"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0">
                        <a:miter lim="400000"/>
                      </a:lnR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0">
                        <a:miter lim="400000"/>
                      </a:lnR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0">
                        <a:miter lim="400000"/>
                      </a:lnR>
                      <a:lnT w="0">
                        <a:miter lim="400000"/>
                      </a:lnT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grpSp>
        <p:nvGrpSpPr>
          <p:cNvPr id="289" name="Group"/>
          <p:cNvGrpSpPr/>
          <p:nvPr/>
        </p:nvGrpSpPr>
        <p:grpSpPr>
          <a:xfrm>
            <a:off x="1777304" y="7569198"/>
            <a:ext cx="7499334" cy="584202"/>
            <a:chOff x="-7756" y="-6351"/>
            <a:chExt cx="7499333" cy="584201"/>
          </a:xfrm>
        </p:grpSpPr>
        <p:sp>
          <p:nvSpPr>
            <p:cNvPr id="287" name="clk"/>
            <p:cNvSpPr txBox="1"/>
            <p:nvPr/>
          </p:nvSpPr>
          <p:spPr>
            <a:xfrm>
              <a:off x="-7756" y="-6351"/>
              <a:ext cx="610990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clk</a:t>
              </a:r>
            </a:p>
          </p:txBody>
        </p:sp>
        <p:graphicFrame>
          <p:nvGraphicFramePr>
            <p:cNvPr id="288" name="Table 1-2-1"/>
            <p:cNvGraphicFramePr/>
            <p:nvPr/>
          </p:nvGraphicFramePr>
          <p:xfrm>
            <a:off x="932738" y="57149"/>
            <a:ext cx="6558839" cy="457199"/>
          </p:xfrm>
          <a:graphic>
            <a:graphicData uri="http://schemas.openxmlformats.org/drawingml/2006/table">
              <a:tbl>
                <a:tblPr firstCol="1">
                  <a:tableStyleId>{4A9BC294-FFE2-49D5-8D69-9E1BD2C41BD5}</a:tableStyleId>
                </a:tblPr>
                <a:tblGrid>
                  <a:gridCol w="36438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36438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36438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36438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36438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364380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364380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364380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  <a:gridCol w="364380">
                    <a:extLst>
                      <a:ext uri="{9D8B030D-6E8A-4147-A177-3AD203B41FA5}">
                        <a16:colId xmlns:a16="http://schemas.microsoft.com/office/drawing/2014/main" val="20008"/>
                      </a:ext>
                    </a:extLst>
                  </a:gridCol>
                  <a:gridCol w="364380">
                    <a:extLst>
                      <a:ext uri="{9D8B030D-6E8A-4147-A177-3AD203B41FA5}">
                        <a16:colId xmlns:a16="http://schemas.microsoft.com/office/drawing/2014/main" val="20009"/>
                      </a:ext>
                    </a:extLst>
                  </a:gridCol>
                  <a:gridCol w="364380">
                    <a:extLst>
                      <a:ext uri="{9D8B030D-6E8A-4147-A177-3AD203B41FA5}">
                        <a16:colId xmlns:a16="http://schemas.microsoft.com/office/drawing/2014/main" val="20010"/>
                      </a:ext>
                    </a:extLst>
                  </a:gridCol>
                  <a:gridCol w="364380">
                    <a:extLst>
                      <a:ext uri="{9D8B030D-6E8A-4147-A177-3AD203B41FA5}">
                        <a16:colId xmlns:a16="http://schemas.microsoft.com/office/drawing/2014/main" val="20011"/>
                      </a:ext>
                    </a:extLst>
                  </a:gridCol>
                  <a:gridCol w="364380">
                    <a:extLst>
                      <a:ext uri="{9D8B030D-6E8A-4147-A177-3AD203B41FA5}">
                        <a16:colId xmlns:a16="http://schemas.microsoft.com/office/drawing/2014/main" val="20012"/>
                      </a:ext>
                    </a:extLst>
                  </a:gridCol>
                  <a:gridCol w="364380">
                    <a:extLst>
                      <a:ext uri="{9D8B030D-6E8A-4147-A177-3AD203B41FA5}">
                        <a16:colId xmlns:a16="http://schemas.microsoft.com/office/drawing/2014/main" val="20013"/>
                      </a:ext>
                    </a:extLst>
                  </a:gridCol>
                  <a:gridCol w="364380">
                    <a:extLst>
                      <a:ext uri="{9D8B030D-6E8A-4147-A177-3AD203B41FA5}">
                        <a16:colId xmlns:a16="http://schemas.microsoft.com/office/drawing/2014/main" val="20014"/>
                      </a:ext>
                    </a:extLst>
                  </a:gridCol>
                  <a:gridCol w="364380">
                    <a:extLst>
                      <a:ext uri="{9D8B030D-6E8A-4147-A177-3AD203B41FA5}">
                        <a16:colId xmlns:a16="http://schemas.microsoft.com/office/drawing/2014/main" val="20015"/>
                      </a:ext>
                    </a:extLst>
                  </a:gridCol>
                  <a:gridCol w="364380">
                    <a:extLst>
                      <a:ext uri="{9D8B030D-6E8A-4147-A177-3AD203B41FA5}">
                        <a16:colId xmlns:a16="http://schemas.microsoft.com/office/drawing/2014/main" val="20016"/>
                      </a:ext>
                    </a:extLst>
                  </a:gridCol>
                  <a:gridCol w="364380">
                    <a:extLst>
                      <a:ext uri="{9D8B030D-6E8A-4147-A177-3AD203B41FA5}">
                        <a16:colId xmlns:a16="http://schemas.microsoft.com/office/drawing/2014/main" val="20017"/>
                      </a:ext>
                    </a:extLst>
                  </a:gridCol>
                </a:tblGrid>
                <a:tr h="457200">
                  <a:tc>
                    <a:txBody>
                      <a:bodyPr/>
                      <a:lstStyle/>
                      <a:p>
                        <a:pPr defTabSz="914400">
                          <a:tabLst>
                            <a:tab pos="1181100" algn="l"/>
                          </a:tabLst>
                          <a:defRPr sz="2200"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381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381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381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381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381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381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381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381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381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381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381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381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381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381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381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381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381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381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R w="0">
                        <a:miter lim="400000"/>
                      </a:lnR>
                      <a:lnB w="0">
                        <a:miter lim="400000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grpSp>
        <p:nvGrpSpPr>
          <p:cNvPr id="292" name="Group"/>
          <p:cNvGrpSpPr/>
          <p:nvPr/>
        </p:nvGrpSpPr>
        <p:grpSpPr>
          <a:xfrm>
            <a:off x="1867593" y="8223248"/>
            <a:ext cx="7485246" cy="584202"/>
            <a:chOff x="-7485" y="-6351"/>
            <a:chExt cx="7485244" cy="584201"/>
          </a:xfrm>
        </p:grpSpPr>
        <p:sp>
          <p:nvSpPr>
            <p:cNvPr id="290" name="Q"/>
            <p:cNvSpPr txBox="1"/>
            <p:nvPr/>
          </p:nvSpPr>
          <p:spPr>
            <a:xfrm>
              <a:off x="-7485" y="-6351"/>
              <a:ext cx="430412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Q</a:t>
              </a:r>
            </a:p>
          </p:txBody>
        </p:sp>
        <p:graphicFrame>
          <p:nvGraphicFramePr>
            <p:cNvPr id="291" name="Table 1-2-1-1"/>
            <p:cNvGraphicFramePr/>
            <p:nvPr/>
          </p:nvGraphicFramePr>
          <p:xfrm>
            <a:off x="918921" y="57149"/>
            <a:ext cx="6558838" cy="457199"/>
          </p:xfrm>
          <a:graphic>
            <a:graphicData uri="http://schemas.openxmlformats.org/drawingml/2006/table">
              <a:tbl>
                <a:tblPr firstCol="1">
                  <a:tableStyleId>{4A9BC294-FFE2-49D5-8D69-9E1BD2C41BD5}</a:tableStyleId>
                </a:tblPr>
                <a:tblGrid>
                  <a:gridCol w="36438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36438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36438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36438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36438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364380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364380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364380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  <a:gridCol w="364380">
                    <a:extLst>
                      <a:ext uri="{9D8B030D-6E8A-4147-A177-3AD203B41FA5}">
                        <a16:colId xmlns:a16="http://schemas.microsoft.com/office/drawing/2014/main" val="20008"/>
                      </a:ext>
                    </a:extLst>
                  </a:gridCol>
                  <a:gridCol w="364380">
                    <a:extLst>
                      <a:ext uri="{9D8B030D-6E8A-4147-A177-3AD203B41FA5}">
                        <a16:colId xmlns:a16="http://schemas.microsoft.com/office/drawing/2014/main" val="20009"/>
                      </a:ext>
                    </a:extLst>
                  </a:gridCol>
                  <a:gridCol w="364380">
                    <a:extLst>
                      <a:ext uri="{9D8B030D-6E8A-4147-A177-3AD203B41FA5}">
                        <a16:colId xmlns:a16="http://schemas.microsoft.com/office/drawing/2014/main" val="20010"/>
                      </a:ext>
                    </a:extLst>
                  </a:gridCol>
                  <a:gridCol w="364380">
                    <a:extLst>
                      <a:ext uri="{9D8B030D-6E8A-4147-A177-3AD203B41FA5}">
                        <a16:colId xmlns:a16="http://schemas.microsoft.com/office/drawing/2014/main" val="20011"/>
                      </a:ext>
                    </a:extLst>
                  </a:gridCol>
                  <a:gridCol w="364380">
                    <a:extLst>
                      <a:ext uri="{9D8B030D-6E8A-4147-A177-3AD203B41FA5}">
                        <a16:colId xmlns:a16="http://schemas.microsoft.com/office/drawing/2014/main" val="20012"/>
                      </a:ext>
                    </a:extLst>
                  </a:gridCol>
                  <a:gridCol w="364380">
                    <a:extLst>
                      <a:ext uri="{9D8B030D-6E8A-4147-A177-3AD203B41FA5}">
                        <a16:colId xmlns:a16="http://schemas.microsoft.com/office/drawing/2014/main" val="20013"/>
                      </a:ext>
                    </a:extLst>
                  </a:gridCol>
                  <a:gridCol w="364380">
                    <a:extLst>
                      <a:ext uri="{9D8B030D-6E8A-4147-A177-3AD203B41FA5}">
                        <a16:colId xmlns:a16="http://schemas.microsoft.com/office/drawing/2014/main" val="20014"/>
                      </a:ext>
                    </a:extLst>
                  </a:gridCol>
                  <a:gridCol w="364380">
                    <a:extLst>
                      <a:ext uri="{9D8B030D-6E8A-4147-A177-3AD203B41FA5}">
                        <a16:colId xmlns:a16="http://schemas.microsoft.com/office/drawing/2014/main" val="20015"/>
                      </a:ext>
                    </a:extLst>
                  </a:gridCol>
                  <a:gridCol w="364380">
                    <a:extLst>
                      <a:ext uri="{9D8B030D-6E8A-4147-A177-3AD203B41FA5}">
                        <a16:colId xmlns:a16="http://schemas.microsoft.com/office/drawing/2014/main" val="20016"/>
                      </a:ext>
                    </a:extLst>
                  </a:gridCol>
                  <a:gridCol w="364380">
                    <a:extLst>
                      <a:ext uri="{9D8B030D-6E8A-4147-A177-3AD203B41FA5}">
                        <a16:colId xmlns:a16="http://schemas.microsoft.com/office/drawing/2014/main" val="20017"/>
                      </a:ext>
                    </a:extLst>
                  </a:gridCol>
                </a:tblGrid>
                <a:tr h="457200">
                  <a:tc>
                    <a:txBody>
                      <a:bodyPr/>
                      <a:lstStyle/>
                      <a:p>
                        <a:pPr defTabSz="914400">
                          <a:tabLst>
                            <a:tab pos="1181100" algn="l"/>
                          </a:tabLst>
                          <a:defRPr sz="2200"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0">
                        <a:miter lim="400000"/>
                      </a:lnR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0">
                        <a:miter lim="400000"/>
                      </a:lnR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0">
                        <a:miter lim="400000"/>
                      </a:lnR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0">
                        <a:miter lim="400000"/>
                      </a:lnR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0">
                        <a:miter lim="400000"/>
                      </a:lnR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0">
                        <a:miter lim="400000"/>
                      </a:lnR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T w="0"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0">
                        <a:miter lim="400000"/>
                      </a:lnR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B w="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spcBef>
                            <a:spcPts val="4200"/>
                          </a:spcBef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0">
                        <a:miter lim="400000"/>
                      </a:lnR>
                      <a:lnT w="0">
                        <a:miter lim="400000"/>
                      </a:lnT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grpSp>
        <p:nvGrpSpPr>
          <p:cNvPr id="297" name="Group"/>
          <p:cNvGrpSpPr/>
          <p:nvPr/>
        </p:nvGrpSpPr>
        <p:grpSpPr>
          <a:xfrm>
            <a:off x="9892605" y="3695699"/>
            <a:ext cx="2082801" cy="1828801"/>
            <a:chOff x="-2472" y="0"/>
            <a:chExt cx="2082799" cy="1828799"/>
          </a:xfrm>
        </p:grpSpPr>
        <p:sp>
          <p:nvSpPr>
            <p:cNvPr id="293" name="Square"/>
            <p:cNvSpPr/>
            <p:nvPr/>
          </p:nvSpPr>
          <p:spPr>
            <a:xfrm>
              <a:off x="379222" y="0"/>
              <a:ext cx="1270001" cy="1270000"/>
            </a:xfrm>
            <a:prstGeom prst="rect">
              <a:avLst/>
            </a:prstGeom>
            <a:solidFill>
              <a:srgbClr val="FFFFFF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294" name="D"/>
            <p:cNvSpPr txBox="1"/>
            <p:nvPr/>
          </p:nvSpPr>
          <p:spPr>
            <a:xfrm>
              <a:off x="-2473" y="63499"/>
              <a:ext cx="407790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D</a:t>
              </a:r>
            </a:p>
          </p:txBody>
        </p:sp>
        <p:sp>
          <p:nvSpPr>
            <p:cNvPr id="295" name="Q"/>
            <p:cNvSpPr txBox="1"/>
            <p:nvPr/>
          </p:nvSpPr>
          <p:spPr>
            <a:xfrm>
              <a:off x="1649916" y="63499"/>
              <a:ext cx="430412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Q</a:t>
              </a:r>
            </a:p>
          </p:txBody>
        </p:sp>
        <p:sp>
          <p:nvSpPr>
            <p:cNvPr id="296" name="G"/>
            <p:cNvSpPr txBox="1"/>
            <p:nvPr/>
          </p:nvSpPr>
          <p:spPr>
            <a:xfrm>
              <a:off x="799016" y="1244599"/>
              <a:ext cx="430412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G</a:t>
              </a:r>
            </a:p>
          </p:txBody>
        </p:sp>
      </p:grpSp>
      <p:grpSp>
        <p:nvGrpSpPr>
          <p:cNvPr id="303" name="Group"/>
          <p:cNvGrpSpPr/>
          <p:nvPr/>
        </p:nvGrpSpPr>
        <p:grpSpPr>
          <a:xfrm>
            <a:off x="9606160" y="7124699"/>
            <a:ext cx="2343846" cy="1282701"/>
            <a:chOff x="-7755" y="-6350"/>
            <a:chExt cx="2343844" cy="1282699"/>
          </a:xfrm>
        </p:grpSpPr>
        <p:sp>
          <p:nvSpPr>
            <p:cNvPr id="298" name="Square"/>
            <p:cNvSpPr/>
            <p:nvPr/>
          </p:nvSpPr>
          <p:spPr>
            <a:xfrm>
              <a:off x="634983" y="6349"/>
              <a:ext cx="1270001" cy="1270001"/>
            </a:xfrm>
            <a:prstGeom prst="rect">
              <a:avLst/>
            </a:prstGeom>
            <a:solidFill>
              <a:srgbClr val="FFFFFF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299" name="D"/>
            <p:cNvSpPr txBox="1"/>
            <p:nvPr/>
          </p:nvSpPr>
          <p:spPr>
            <a:xfrm>
              <a:off x="253288" y="-6351"/>
              <a:ext cx="407790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D</a:t>
              </a:r>
            </a:p>
          </p:txBody>
        </p:sp>
        <p:sp>
          <p:nvSpPr>
            <p:cNvPr id="300" name="Q"/>
            <p:cNvSpPr txBox="1"/>
            <p:nvPr/>
          </p:nvSpPr>
          <p:spPr>
            <a:xfrm>
              <a:off x="1905677" y="-6351"/>
              <a:ext cx="430412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Q</a:t>
              </a:r>
            </a:p>
          </p:txBody>
        </p:sp>
        <p:sp>
          <p:nvSpPr>
            <p:cNvPr id="301" name="clk"/>
            <p:cNvSpPr txBox="1"/>
            <p:nvPr/>
          </p:nvSpPr>
          <p:spPr>
            <a:xfrm>
              <a:off x="-7756" y="654049"/>
              <a:ext cx="610990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clk</a:t>
              </a:r>
            </a:p>
          </p:txBody>
        </p:sp>
        <p:sp>
          <p:nvSpPr>
            <p:cNvPr id="302" name="Triangle"/>
            <p:cNvSpPr/>
            <p:nvPr/>
          </p:nvSpPr>
          <p:spPr>
            <a:xfrm rot="5400000">
              <a:off x="626093" y="770890"/>
              <a:ext cx="368301" cy="3505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3BD01AE-2E92-68F2-8F11-9AAC05E0814E}"/>
              </a:ext>
            </a:extLst>
          </p:cNvPr>
          <p:cNvSpPr txBox="1"/>
          <p:nvPr/>
        </p:nvSpPr>
        <p:spPr>
          <a:xfrm>
            <a:off x="11760201" y="5429662"/>
            <a:ext cx="989351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/>
              <a:t>G</a:t>
            </a: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ate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AA2B255-78B2-81E6-70CD-BCE2311D6962}"/>
              </a:ext>
            </a:extLst>
          </p:cNvPr>
          <p:cNvCxnSpPr>
            <a:stCxn id="2" idx="1"/>
            <a:endCxn id="296" idx="3"/>
          </p:cNvCxnSpPr>
          <p:nvPr/>
        </p:nvCxnSpPr>
        <p:spPr>
          <a:xfrm flipH="1" flipV="1">
            <a:off x="11124506" y="5232400"/>
            <a:ext cx="635695" cy="494780"/>
          </a:xfrm>
          <a:prstGeom prst="straightConnector1">
            <a:avLst/>
          </a:prstGeom>
          <a:noFill/>
          <a:ln w="25400" cap="flat">
            <a:solidFill>
              <a:schemeClr val="accent3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" grpId="1" build="p" bldLvl="5" animBg="1" advAuto="0"/>
      <p:bldP spid="277" grpId="3" animBg="1" advAuto="0"/>
      <p:bldP spid="280" grpId="5" animBg="1" advAuto="0"/>
      <p:bldP spid="283" grpId="4" animBg="1" advAuto="0"/>
      <p:bldP spid="286" grpId="7" animBg="1" advAuto="0"/>
      <p:bldP spid="289" grpId="8" animBg="1" advAuto="0"/>
      <p:bldP spid="292" grpId="9" animBg="1" advAuto="0"/>
      <p:bldP spid="297" grpId="2" animBg="1" advAuto="0"/>
      <p:bldP spid="303" grpId="6" animBg="1" advAuto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Defining a flip flop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Defining a flip flop</a:t>
            </a:r>
          </a:p>
        </p:txBody>
      </p:sp>
      <p:sp>
        <p:nvSpPr>
          <p:cNvPr id="30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16097" y="31750"/>
            <a:ext cx="283717" cy="4064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32</a:t>
            </a:fld>
            <a:endParaRPr/>
          </a:p>
        </p:txBody>
      </p:sp>
      <p:sp>
        <p:nvSpPr>
          <p:cNvPr id="307" name="module dff (d, rst, clk, q);…"/>
          <p:cNvSpPr txBox="1"/>
          <p:nvPr/>
        </p:nvSpPr>
        <p:spPr>
          <a:xfrm>
            <a:off x="925416" y="2798129"/>
            <a:ext cx="5022380" cy="3657601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300"/>
            </a:pPr>
            <a:r>
              <a:rPr b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module</a:t>
            </a: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dff (d, rst, clk, q);</a:t>
            </a:r>
          </a:p>
          <a:p>
            <a:pPr algn="l">
              <a:defRPr sz="2300"/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b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input</a:t>
            </a: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d, rst, clk;</a:t>
            </a:r>
          </a:p>
          <a:p>
            <a:pPr algn="l">
              <a:defRPr sz="2300"/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b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output</a:t>
            </a: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q;</a:t>
            </a:r>
          </a:p>
          <a:p>
            <a:pPr algn="l">
              <a:defRPr sz="2300"/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b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reg</a:t>
            </a: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q;</a:t>
            </a:r>
          </a:p>
          <a:p>
            <a:pPr algn="l">
              <a:defRPr sz="2300"/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b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always</a:t>
            </a: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@ (</a:t>
            </a:r>
            <a:r>
              <a:rPr b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posedge</a:t>
            </a: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clk)</a:t>
            </a:r>
          </a:p>
          <a:p>
            <a:pPr algn="l">
              <a:defRPr sz="2300"/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b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begin</a:t>
            </a:r>
            <a:endParaRPr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2300"/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b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if</a:t>
            </a: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(!rst) q &lt;= 1'b0;</a:t>
            </a:r>
          </a:p>
          <a:p>
            <a:pPr algn="l">
              <a:defRPr sz="2300"/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b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else</a:t>
            </a: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q &lt;= d;</a:t>
            </a:r>
          </a:p>
          <a:p>
            <a:pPr algn="l">
              <a:defRPr sz="2300"/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b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</a:t>
            </a:r>
            <a:endParaRPr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2300" b="1"/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endmodule</a:t>
            </a:r>
          </a:p>
        </p:txBody>
      </p:sp>
      <p:grpSp>
        <p:nvGrpSpPr>
          <p:cNvPr id="314" name="Group"/>
          <p:cNvGrpSpPr/>
          <p:nvPr/>
        </p:nvGrpSpPr>
        <p:grpSpPr>
          <a:xfrm>
            <a:off x="2176660" y="6811329"/>
            <a:ext cx="2331146" cy="1801516"/>
            <a:chOff x="-7755" y="0"/>
            <a:chExt cx="2331144" cy="1801514"/>
          </a:xfrm>
        </p:grpSpPr>
        <p:sp>
          <p:nvSpPr>
            <p:cNvPr id="308" name="Rectangle"/>
            <p:cNvSpPr/>
            <p:nvPr/>
          </p:nvSpPr>
          <p:spPr>
            <a:xfrm>
              <a:off x="634983" y="0"/>
              <a:ext cx="1270001" cy="1801515"/>
            </a:xfrm>
            <a:prstGeom prst="rect">
              <a:avLst/>
            </a:prstGeom>
            <a:solidFill>
              <a:srgbClr val="FFFFFF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09" name="D"/>
            <p:cNvSpPr txBox="1"/>
            <p:nvPr/>
          </p:nvSpPr>
          <p:spPr>
            <a:xfrm>
              <a:off x="240588" y="23514"/>
              <a:ext cx="407790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D</a:t>
              </a:r>
            </a:p>
          </p:txBody>
        </p:sp>
        <p:sp>
          <p:nvSpPr>
            <p:cNvPr id="310" name="Q"/>
            <p:cNvSpPr txBox="1"/>
            <p:nvPr/>
          </p:nvSpPr>
          <p:spPr>
            <a:xfrm>
              <a:off x="1892977" y="23514"/>
              <a:ext cx="430412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Q</a:t>
              </a:r>
            </a:p>
          </p:txBody>
        </p:sp>
        <p:sp>
          <p:nvSpPr>
            <p:cNvPr id="311" name="clk"/>
            <p:cNvSpPr txBox="1"/>
            <p:nvPr/>
          </p:nvSpPr>
          <p:spPr>
            <a:xfrm>
              <a:off x="-7756" y="1179214"/>
              <a:ext cx="610990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clk</a:t>
              </a:r>
            </a:p>
          </p:txBody>
        </p:sp>
        <p:sp>
          <p:nvSpPr>
            <p:cNvPr id="312" name="Triangle"/>
            <p:cNvSpPr/>
            <p:nvPr/>
          </p:nvSpPr>
          <p:spPr>
            <a:xfrm rot="5400000">
              <a:off x="626093" y="1296054"/>
              <a:ext cx="368301" cy="3505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13" name="rst"/>
            <p:cNvSpPr txBox="1"/>
            <p:nvPr/>
          </p:nvSpPr>
          <p:spPr>
            <a:xfrm>
              <a:off x="34610" y="593712"/>
              <a:ext cx="565746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rst</a:t>
              </a:r>
            </a:p>
          </p:txBody>
        </p:sp>
      </p:grpSp>
      <p:grpSp>
        <p:nvGrpSpPr>
          <p:cNvPr id="317" name="Group"/>
          <p:cNvGrpSpPr/>
          <p:nvPr/>
        </p:nvGrpSpPr>
        <p:grpSpPr>
          <a:xfrm>
            <a:off x="5155483" y="4705684"/>
            <a:ext cx="7572677" cy="2664398"/>
            <a:chOff x="-2165151" y="3403127"/>
            <a:chExt cx="7572675" cy="2664396"/>
          </a:xfrm>
        </p:grpSpPr>
        <p:sp>
          <p:nvSpPr>
            <p:cNvPr id="315" name="Note that you can have multiple always blocks with the same sensitivity list. They'll be run in parallel, so watch out for races!"/>
            <p:cNvSpPr txBox="1"/>
            <p:nvPr/>
          </p:nvSpPr>
          <p:spPr>
            <a:xfrm>
              <a:off x="-1227860" y="4028975"/>
              <a:ext cx="6635384" cy="20385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r>
                <a:t>Note that you can have multiple </a:t>
              </a:r>
              <a:r>
                <a:rPr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always</a:t>
              </a:r>
              <a:r>
                <a:t> blocks with the same sensitivity list. They'll be run in parallel, so watch out for races!</a:t>
              </a:r>
            </a:p>
          </p:txBody>
        </p:sp>
        <p:sp>
          <p:nvSpPr>
            <p:cNvPr id="316" name="Line"/>
            <p:cNvSpPr/>
            <p:nvPr/>
          </p:nvSpPr>
          <p:spPr>
            <a:xfrm flipH="1" flipV="1">
              <a:off x="-2165152" y="3403127"/>
              <a:ext cx="1478717" cy="981597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" grpId="2" animBg="1" advAuto="0"/>
      <p:bldP spid="314" grpId="1" animBg="1" advAuto="0"/>
      <p:bldP spid="317" grpId="3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Blocking vs non-blocking assignmen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t>Blocking vs non-blocking assignment</a:t>
            </a:r>
          </a:p>
        </p:txBody>
      </p:sp>
      <p:sp>
        <p:nvSpPr>
          <p:cNvPr id="320" name="Two different types of procedural assigments: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Two different types of procedural </a:t>
            </a:r>
            <a:r>
              <a:rPr dirty="0" err="1"/>
              <a:t>assigments</a:t>
            </a:r>
            <a:r>
              <a:rPr dirty="0"/>
              <a:t>:</a:t>
            </a:r>
          </a:p>
        </p:txBody>
      </p:sp>
      <p:sp>
        <p:nvSpPr>
          <p:cNvPr id="3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33</a:t>
            </a:fld>
            <a:endParaRPr/>
          </a:p>
        </p:txBody>
      </p:sp>
      <p:sp>
        <p:nvSpPr>
          <p:cNvPr id="322" name="always @*…"/>
          <p:cNvSpPr txBox="1"/>
          <p:nvPr/>
        </p:nvSpPr>
        <p:spPr>
          <a:xfrm>
            <a:off x="741311" y="3983834"/>
            <a:ext cx="5200142" cy="1456809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200"/>
            </a:pP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always_ff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@(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posedge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 begin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 = b &amp; c;</a:t>
            </a:r>
          </a:p>
          <a:p>
            <a:pPr algn="l">
              <a:defRPr sz="22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b = a + c;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</a:t>
            </a:r>
            <a:endParaRPr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23" name="always @*…"/>
          <p:cNvSpPr txBox="1"/>
          <p:nvPr/>
        </p:nvSpPr>
        <p:spPr>
          <a:xfrm>
            <a:off x="741311" y="6452660"/>
            <a:ext cx="5200142" cy="1456809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200"/>
            </a:pP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always_ff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@(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posedge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 begin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 &lt;= b &amp; c;</a:t>
            </a:r>
          </a:p>
          <a:p>
            <a:pPr algn="l">
              <a:defRPr sz="22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b &lt;= a + c;</a:t>
            </a:r>
          </a:p>
          <a:p>
            <a:pPr algn="l">
              <a:defRPr sz="22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</a:t>
            </a:r>
            <a:endParaRPr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24" name="The second statement is blocked from executing until the first statement has finished."/>
          <p:cNvSpPr/>
          <p:nvPr/>
        </p:nvSpPr>
        <p:spPr>
          <a:xfrm>
            <a:off x="6665908" y="4055090"/>
            <a:ext cx="5386392" cy="15799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ctr">
            <a:spAutoFit/>
          </a:bodyPr>
          <a:lstStyle/>
          <a:p>
            <a:r>
              <a:rPr lang="en-GB" b="1" dirty="0"/>
              <a:t>Blocking</a:t>
            </a:r>
            <a:r>
              <a:rPr lang="en-GB" dirty="0"/>
              <a:t>: </a:t>
            </a:r>
            <a:r>
              <a:rPr dirty="0"/>
              <a:t>second statement </a:t>
            </a:r>
            <a:r>
              <a:rPr lang="en-GB" dirty="0"/>
              <a:t>waits for first to finish.</a:t>
            </a:r>
          </a:p>
          <a:p>
            <a:r>
              <a:rPr lang="en-GB" dirty="0"/>
              <a:t>Uses </a:t>
            </a:r>
            <a:r>
              <a:rPr lang="en-GB" b="1" dirty="0"/>
              <a:t>new</a:t>
            </a:r>
            <a:r>
              <a:rPr lang="en-GB" dirty="0"/>
              <a:t> value of a</a:t>
            </a:r>
            <a:endParaRPr dirty="0"/>
          </a:p>
        </p:txBody>
      </p:sp>
      <p:sp>
        <p:nvSpPr>
          <p:cNvPr id="327" name="All assignments performed in parallel."/>
          <p:cNvSpPr txBox="1"/>
          <p:nvPr/>
        </p:nvSpPr>
        <p:spPr>
          <a:xfrm>
            <a:off x="6300498" y="6335547"/>
            <a:ext cx="5586702" cy="15799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ctr">
            <a:spAutoFit/>
          </a:bodyPr>
          <a:lstStyle/>
          <a:p>
            <a:r>
              <a:rPr lang="en-GB" b="1" dirty="0"/>
              <a:t>Non-Blocking</a:t>
            </a:r>
            <a:r>
              <a:rPr lang="en-GB" dirty="0"/>
              <a:t>: statements execute in parallel using </a:t>
            </a:r>
            <a:r>
              <a:rPr lang="en-GB" b="1" dirty="0"/>
              <a:t>old </a:t>
            </a:r>
            <a:r>
              <a:rPr lang="en-GB" dirty="0"/>
              <a:t>values of a and b.</a:t>
            </a:r>
            <a:endParaRPr b="1" dirty="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" grpId="1" animBg="1" advAuto="0"/>
      <p:bldP spid="323" grpId="2" animBg="1" advAuto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Blocking vs non-blocking assignmen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t>Blocking vs non-blocking assignment</a:t>
            </a:r>
          </a:p>
        </p:txBody>
      </p:sp>
      <p:sp>
        <p:nvSpPr>
          <p:cNvPr id="3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34</a:t>
            </a:fld>
            <a:endParaRPr/>
          </a:p>
        </p:txBody>
      </p:sp>
      <p:grpSp>
        <p:nvGrpSpPr>
          <p:cNvPr id="358" name="Group"/>
          <p:cNvGrpSpPr/>
          <p:nvPr/>
        </p:nvGrpSpPr>
        <p:grpSpPr>
          <a:xfrm>
            <a:off x="2106581" y="2296583"/>
            <a:ext cx="8791638" cy="2846103"/>
            <a:chOff x="0" y="0"/>
            <a:chExt cx="8791637" cy="2846101"/>
          </a:xfrm>
        </p:grpSpPr>
        <p:sp>
          <p:nvSpPr>
            <p:cNvPr id="333" name="Line"/>
            <p:cNvSpPr/>
            <p:nvPr/>
          </p:nvSpPr>
          <p:spPr>
            <a:xfrm>
              <a:off x="310664" y="451593"/>
              <a:ext cx="8480914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34" name="Rectangle"/>
            <p:cNvSpPr/>
            <p:nvPr/>
          </p:nvSpPr>
          <p:spPr>
            <a:xfrm>
              <a:off x="1223720" y="135979"/>
              <a:ext cx="1270001" cy="1801516"/>
            </a:xfrm>
            <a:prstGeom prst="rect">
              <a:avLst/>
            </a:prstGeom>
            <a:solidFill>
              <a:srgbClr val="FFFFFF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35" name="D"/>
            <p:cNvSpPr txBox="1"/>
            <p:nvPr/>
          </p:nvSpPr>
          <p:spPr>
            <a:xfrm>
              <a:off x="1209884" y="159493"/>
              <a:ext cx="407790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D</a:t>
              </a:r>
            </a:p>
          </p:txBody>
        </p:sp>
        <p:sp>
          <p:nvSpPr>
            <p:cNvPr id="336" name="Q"/>
            <p:cNvSpPr txBox="1"/>
            <p:nvPr/>
          </p:nvSpPr>
          <p:spPr>
            <a:xfrm>
              <a:off x="2037215" y="159493"/>
              <a:ext cx="430412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Q</a:t>
              </a:r>
            </a:p>
          </p:txBody>
        </p:sp>
        <p:sp>
          <p:nvSpPr>
            <p:cNvPr id="337" name="Triangle"/>
            <p:cNvSpPr/>
            <p:nvPr/>
          </p:nvSpPr>
          <p:spPr>
            <a:xfrm rot="5400000">
              <a:off x="1214830" y="1432033"/>
              <a:ext cx="368301" cy="3505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38" name="Rectangle"/>
            <p:cNvSpPr/>
            <p:nvPr/>
          </p:nvSpPr>
          <p:spPr>
            <a:xfrm>
              <a:off x="3916121" y="121034"/>
              <a:ext cx="1270001" cy="1801516"/>
            </a:xfrm>
            <a:prstGeom prst="rect">
              <a:avLst/>
            </a:prstGeom>
            <a:solidFill>
              <a:srgbClr val="FFFFFF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39" name="Triangle"/>
            <p:cNvSpPr/>
            <p:nvPr/>
          </p:nvSpPr>
          <p:spPr>
            <a:xfrm rot="5400000">
              <a:off x="3907230" y="1417089"/>
              <a:ext cx="368301" cy="3505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40" name="Rectangle"/>
            <p:cNvSpPr/>
            <p:nvPr/>
          </p:nvSpPr>
          <p:spPr>
            <a:xfrm>
              <a:off x="6608520" y="135979"/>
              <a:ext cx="1270001" cy="1801516"/>
            </a:xfrm>
            <a:prstGeom prst="rect">
              <a:avLst/>
            </a:prstGeom>
            <a:solidFill>
              <a:srgbClr val="FFFFFF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41" name="Triangle"/>
            <p:cNvSpPr/>
            <p:nvPr/>
          </p:nvSpPr>
          <p:spPr>
            <a:xfrm rot="5400000">
              <a:off x="6599630" y="1432033"/>
              <a:ext cx="368301" cy="3505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42" name="D"/>
            <p:cNvSpPr txBox="1"/>
            <p:nvPr/>
          </p:nvSpPr>
          <p:spPr>
            <a:xfrm>
              <a:off x="3916813" y="159493"/>
              <a:ext cx="407790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D</a:t>
              </a:r>
            </a:p>
          </p:txBody>
        </p:sp>
        <p:sp>
          <p:nvSpPr>
            <p:cNvPr id="343" name="Q"/>
            <p:cNvSpPr txBox="1"/>
            <p:nvPr/>
          </p:nvSpPr>
          <p:spPr>
            <a:xfrm>
              <a:off x="4744144" y="159493"/>
              <a:ext cx="430412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Q</a:t>
              </a:r>
            </a:p>
          </p:txBody>
        </p:sp>
        <p:sp>
          <p:nvSpPr>
            <p:cNvPr id="344" name="D"/>
            <p:cNvSpPr txBox="1"/>
            <p:nvPr/>
          </p:nvSpPr>
          <p:spPr>
            <a:xfrm>
              <a:off x="6598105" y="159493"/>
              <a:ext cx="407790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D</a:t>
              </a:r>
            </a:p>
          </p:txBody>
        </p:sp>
        <p:sp>
          <p:nvSpPr>
            <p:cNvPr id="345" name="Q"/>
            <p:cNvSpPr txBox="1"/>
            <p:nvPr/>
          </p:nvSpPr>
          <p:spPr>
            <a:xfrm>
              <a:off x="7425436" y="159493"/>
              <a:ext cx="430412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Q</a:t>
              </a:r>
            </a:p>
          </p:txBody>
        </p:sp>
        <p:sp>
          <p:nvSpPr>
            <p:cNvPr id="346" name="Line"/>
            <p:cNvSpPr/>
            <p:nvPr/>
          </p:nvSpPr>
          <p:spPr>
            <a:xfrm flipV="1">
              <a:off x="867678" y="1603746"/>
              <a:ext cx="350521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47" name="Line"/>
            <p:cNvSpPr/>
            <p:nvPr/>
          </p:nvSpPr>
          <p:spPr>
            <a:xfrm flipH="1">
              <a:off x="867678" y="1592348"/>
              <a:ext cx="1" cy="841164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48" name="Line"/>
            <p:cNvSpPr/>
            <p:nvPr/>
          </p:nvSpPr>
          <p:spPr>
            <a:xfrm flipV="1">
              <a:off x="3566014" y="1604397"/>
              <a:ext cx="350521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49" name="Line"/>
            <p:cNvSpPr/>
            <p:nvPr/>
          </p:nvSpPr>
          <p:spPr>
            <a:xfrm>
              <a:off x="3566014" y="1593000"/>
              <a:ext cx="1" cy="841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50" name="Line"/>
            <p:cNvSpPr/>
            <p:nvPr/>
          </p:nvSpPr>
          <p:spPr>
            <a:xfrm flipV="1">
              <a:off x="6264350" y="1604397"/>
              <a:ext cx="350521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51" name="Line"/>
            <p:cNvSpPr/>
            <p:nvPr/>
          </p:nvSpPr>
          <p:spPr>
            <a:xfrm>
              <a:off x="6264351" y="1593000"/>
              <a:ext cx="1" cy="8411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52" name="Line"/>
            <p:cNvSpPr/>
            <p:nvPr/>
          </p:nvSpPr>
          <p:spPr>
            <a:xfrm>
              <a:off x="259864" y="2441946"/>
              <a:ext cx="6019612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53" name="in"/>
            <p:cNvSpPr txBox="1"/>
            <p:nvPr/>
          </p:nvSpPr>
          <p:spPr>
            <a:xfrm>
              <a:off x="59103" y="-1"/>
              <a:ext cx="449636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pPr>
                <a:defRPr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r>
                <a:rPr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in</a:t>
              </a:r>
            </a:p>
          </p:txBody>
        </p:sp>
        <p:sp>
          <p:nvSpPr>
            <p:cNvPr id="354" name="q1"/>
            <p:cNvSpPr txBox="1"/>
            <p:nvPr/>
          </p:nvSpPr>
          <p:spPr>
            <a:xfrm>
              <a:off x="2958597" y="-1"/>
              <a:ext cx="449635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pPr>
                <a:defRPr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r>
                <a:rPr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q1</a:t>
              </a:r>
            </a:p>
          </p:txBody>
        </p:sp>
        <p:sp>
          <p:nvSpPr>
            <p:cNvPr id="355" name="q2"/>
            <p:cNvSpPr txBox="1"/>
            <p:nvPr/>
          </p:nvSpPr>
          <p:spPr>
            <a:xfrm>
              <a:off x="5698794" y="-1"/>
              <a:ext cx="449635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pPr>
                <a:defRPr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r>
                <a:rPr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q2</a:t>
              </a:r>
            </a:p>
          </p:txBody>
        </p:sp>
        <p:sp>
          <p:nvSpPr>
            <p:cNvPr id="356" name="clk"/>
            <p:cNvSpPr txBox="1"/>
            <p:nvPr/>
          </p:nvSpPr>
          <p:spPr>
            <a:xfrm>
              <a:off x="-1" y="2414301"/>
              <a:ext cx="617303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pPr>
                <a:defRPr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r>
                <a:rPr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clk</a:t>
              </a:r>
            </a:p>
          </p:txBody>
        </p:sp>
        <p:sp>
          <p:nvSpPr>
            <p:cNvPr id="357" name="out"/>
            <p:cNvSpPr txBox="1"/>
            <p:nvPr/>
          </p:nvSpPr>
          <p:spPr>
            <a:xfrm>
              <a:off x="8174335" y="-1"/>
              <a:ext cx="617303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pPr>
                <a:defRPr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r>
                <a:rPr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out</a:t>
              </a:r>
            </a:p>
          </p:txBody>
        </p:sp>
      </p:grpSp>
      <p:sp>
        <p:nvSpPr>
          <p:cNvPr id="359" name="module sr_v1 (in, clk, out);…"/>
          <p:cNvSpPr txBox="1"/>
          <p:nvPr/>
        </p:nvSpPr>
        <p:spPr>
          <a:xfrm>
            <a:off x="840749" y="5127442"/>
            <a:ext cx="5745163" cy="4349909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module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sr_v1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(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in, clk,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output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out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);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q1, q2;</a:t>
            </a:r>
          </a:p>
          <a:p>
            <a:pPr algn="l">
              <a:defRPr sz="2300"/>
            </a:pPr>
            <a:endParaRPr lang="en-GB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always_ff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@(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posedge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 begin</a:t>
            </a:r>
          </a:p>
          <a:p>
            <a:pPr algn="l">
              <a:defRPr sz="23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q1  = in;</a:t>
            </a:r>
          </a:p>
          <a:p>
            <a:pPr algn="l">
              <a:defRPr sz="23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q2  = q1;</a:t>
            </a:r>
          </a:p>
          <a:p>
            <a:pPr algn="l">
              <a:defRPr sz="23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out = q2;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end</a:t>
            </a:r>
          </a:p>
          <a:p>
            <a:pPr algn="l">
              <a:defRPr sz="2300"/>
            </a:pP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endmodule</a:t>
            </a:r>
            <a:endParaRPr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60" name="module sr_v2 (in, clk, out);…"/>
          <p:cNvSpPr txBox="1"/>
          <p:nvPr/>
        </p:nvSpPr>
        <p:spPr>
          <a:xfrm>
            <a:off x="7012949" y="5127442"/>
            <a:ext cx="5745163" cy="4349909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module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sr_v2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(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in, clk,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output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out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);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q1, q2;</a:t>
            </a:r>
          </a:p>
          <a:p>
            <a:pPr algn="l">
              <a:defRPr sz="2300"/>
            </a:pPr>
            <a:endParaRPr lang="en-GB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always_ff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@(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posedge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 begin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q1  &lt;= in;</a:t>
            </a:r>
          </a:p>
          <a:p>
            <a:pPr algn="l">
              <a:defRPr sz="23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q2  &lt;= q1;</a:t>
            </a:r>
          </a:p>
          <a:p>
            <a:pPr algn="l">
              <a:defRPr sz="23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out &lt;= q2;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end</a:t>
            </a:r>
          </a:p>
          <a:p>
            <a:pPr algn="l">
              <a:defRPr sz="2300"/>
            </a:pP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endmodule</a:t>
            </a:r>
            <a:endParaRPr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pic>
        <p:nvPicPr>
          <p:cNvPr id="3" name="Graphic 2" descr="Close with solid fill">
            <a:extLst>
              <a:ext uri="{FF2B5EF4-FFF2-40B4-BE49-F238E27FC236}">
                <a16:creationId xmlns:a16="http://schemas.microsoft.com/office/drawing/2014/main" id="{EB93815A-35C9-3779-B54E-E4E3A5FD50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89373" y="5059977"/>
            <a:ext cx="914400" cy="914400"/>
          </a:xfrm>
          <a:prstGeom prst="rect">
            <a:avLst/>
          </a:prstGeom>
        </p:spPr>
      </p:pic>
      <p:pic>
        <p:nvPicPr>
          <p:cNvPr id="5" name="Graphic 4" descr="Tick with solid fill">
            <a:extLst>
              <a:ext uri="{FF2B5EF4-FFF2-40B4-BE49-F238E27FC236}">
                <a16:creationId xmlns:a16="http://schemas.microsoft.com/office/drawing/2014/main" id="{000152AE-1333-2760-B19A-608A81C1B1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07990" y="5011945"/>
            <a:ext cx="914400" cy="9144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" grpId="1" animBg="1" advAuto="0"/>
      <p:bldP spid="360" grpId="2" animBg="1" advAuto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35</a:t>
            </a:fld>
            <a:endParaRPr/>
          </a:p>
        </p:txBody>
      </p:sp>
      <p:sp>
        <p:nvSpPr>
          <p:cNvPr id="364" name="module clktick (clkin, enable, N, tick);…"/>
          <p:cNvSpPr txBox="1"/>
          <p:nvPr/>
        </p:nvSpPr>
        <p:spPr>
          <a:xfrm>
            <a:off x="388743" y="7141717"/>
            <a:ext cx="7332135" cy="7889339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module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clktick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#(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parameter int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N_BIT = 16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)(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           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clkin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, enable,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[N_BIT-1:0]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N,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output logic            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tick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);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[N_BIT-1:0] count = '0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algn="l">
              <a:defRPr sz="2300"/>
            </a:pPr>
            <a:endParaRPr lang="en-GB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always_ff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@(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posedge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clkin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 begin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tick &lt;= 1'b0;</a:t>
            </a:r>
          </a:p>
          <a:p>
            <a:pPr algn="l">
              <a:defRPr sz="2300"/>
            </a:pPr>
            <a:endParaRPr lang="en-GB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if (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enable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 begin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if (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count == '0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 begin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 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tick  &lt;= 1'b1;</a:t>
            </a:r>
          </a:p>
          <a:p>
            <a:pPr algn="l">
              <a:defRPr sz="23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  count &lt;= N;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end else begin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 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count &lt;= count - 1'b1;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end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end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end</a:t>
            </a:r>
          </a:p>
          <a:p>
            <a:pPr algn="l">
              <a:defRPr sz="2300"/>
            </a:pP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endmodule</a:t>
            </a:r>
            <a:endParaRPr lang="en-GB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grpSp>
        <p:nvGrpSpPr>
          <p:cNvPr id="367" name="Group"/>
          <p:cNvGrpSpPr/>
          <p:nvPr/>
        </p:nvGrpSpPr>
        <p:grpSpPr>
          <a:xfrm>
            <a:off x="7861300" y="2349500"/>
            <a:ext cx="4544914" cy="3047207"/>
            <a:chOff x="0" y="0"/>
            <a:chExt cx="4544913" cy="3047206"/>
          </a:xfrm>
        </p:grpSpPr>
        <p:sp>
          <p:nvSpPr>
            <p:cNvPr id="365" name="Rectangle"/>
            <p:cNvSpPr/>
            <p:nvPr/>
          </p:nvSpPr>
          <p:spPr>
            <a:xfrm>
              <a:off x="0" y="0"/>
              <a:ext cx="4544914" cy="3047207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pic>
          <p:nvPicPr>
            <p:cNvPr id="366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600" y="44450"/>
              <a:ext cx="4241800" cy="28321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4" name="A flexible clock tick">
            <a:extLst>
              <a:ext uri="{FF2B5EF4-FFF2-40B4-BE49-F238E27FC236}">
                <a16:creationId xmlns:a16="http://schemas.microsoft.com/office/drawing/2014/main" id="{A9C56C7D-2B9C-5E58-484C-1E63616869E5}"/>
              </a:ext>
            </a:extLst>
          </p:cNvPr>
          <p:cNvSpPr txBox="1">
            <a:spLocks/>
          </p:cNvSpPr>
          <p:nvPr/>
        </p:nvSpPr>
        <p:spPr>
          <a:xfrm>
            <a:off x="952500" y="23495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1" i="0" u="none" strike="noStrike" cap="none" spc="0" baseline="0">
                <a:solidFill>
                  <a:srgbClr val="9D7A2D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1" i="0" u="none" strike="noStrike" cap="none" spc="0" baseline="0">
                <a:solidFill>
                  <a:srgbClr val="9D7A2D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1" i="0" u="none" strike="noStrike" cap="none" spc="0" baseline="0">
                <a:solidFill>
                  <a:srgbClr val="9D7A2D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1" i="0" u="none" strike="noStrike" cap="none" spc="0" baseline="0">
                <a:solidFill>
                  <a:srgbClr val="9D7A2D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1" i="0" u="none" strike="noStrike" cap="none" spc="0" baseline="0">
                <a:solidFill>
                  <a:srgbClr val="9D7A2D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1" i="0" u="none" strike="noStrike" cap="none" spc="0" baseline="0">
                <a:solidFill>
                  <a:srgbClr val="9D7A2D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1" i="0" u="none" strike="noStrike" cap="none" spc="0" baseline="0">
                <a:solidFill>
                  <a:srgbClr val="9D7A2D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1" i="0" u="none" strike="noStrike" cap="none" spc="0" baseline="0">
                <a:solidFill>
                  <a:srgbClr val="9D7A2D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1" i="0" u="none" strike="noStrike" cap="none" spc="0" baseline="0">
                <a:solidFill>
                  <a:srgbClr val="9D7A2D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9pPr>
          </a:lstStyle>
          <a:p>
            <a:pPr hangingPunct="1"/>
            <a:r>
              <a:rPr lang="en-GB"/>
              <a:t>A flexible clock tick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9F0613-9D47-C3C1-0956-ADCB35B6F1AC}"/>
              </a:ext>
            </a:extLst>
          </p:cNvPr>
          <p:cNvSpPr txBox="1"/>
          <p:nvPr/>
        </p:nvSpPr>
        <p:spPr>
          <a:xfrm>
            <a:off x="7962900" y="6361395"/>
            <a:ext cx="4540088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Pulse </a:t>
            </a: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"/>
              </a:rPr>
              <a:t>tick</a:t>
            </a: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 every N+1 cycles of </a:t>
            </a:r>
            <a:r>
              <a:rPr kumimoji="0" lang="en-GB" sz="32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"/>
              </a:rPr>
              <a:t>clkin</a:t>
            </a: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 </a:t>
            </a:r>
            <a:endParaRPr kumimoji="0" lang="en-GB" sz="32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4" grpId="1" animBg="1" advAuto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A flexible clock tick"/>
          <p:cNvSpPr txBox="1">
            <a:spLocks noGrp="1"/>
          </p:cNvSpPr>
          <p:nvPr>
            <p:ph type="title"/>
          </p:nvPr>
        </p:nvSpPr>
        <p:spPr>
          <a:xfrm>
            <a:off x="952500" y="234950"/>
            <a:ext cx="11099800" cy="2159000"/>
          </a:xfrm>
          <a:prstGeom prst="rect">
            <a:avLst/>
          </a:prstGeom>
        </p:spPr>
        <p:txBody>
          <a:bodyPr/>
          <a:lstStyle/>
          <a:p>
            <a:r>
              <a:rPr dirty="0"/>
              <a:t>A flexible clock tick</a:t>
            </a:r>
          </a:p>
        </p:txBody>
      </p:sp>
      <p:sp>
        <p:nvSpPr>
          <p:cNvPr id="37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36</a:t>
            </a:fld>
            <a:endParaRPr/>
          </a:p>
        </p:txBody>
      </p:sp>
      <p:sp>
        <p:nvSpPr>
          <p:cNvPr id="374" name="module clktick (clkin, enable, N, tick);…"/>
          <p:cNvSpPr txBox="1"/>
          <p:nvPr/>
        </p:nvSpPr>
        <p:spPr>
          <a:xfrm>
            <a:off x="175251" y="1864261"/>
            <a:ext cx="7332135" cy="7889339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module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clktick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#(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parameter int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N_BIT = 16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)(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           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clkin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, enable,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[N_BIT-1:0]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N,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output logic            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tick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);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[N_BIT-1:0] count = '0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algn="l">
              <a:defRPr sz="2300"/>
            </a:pPr>
            <a:endParaRPr lang="en-GB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always_ff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@(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posedge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clkin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 begin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tick &lt;= 1'b0;</a:t>
            </a:r>
          </a:p>
          <a:p>
            <a:pPr algn="l">
              <a:defRPr sz="2300"/>
            </a:pPr>
            <a:endParaRPr lang="en-GB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if (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enable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 begin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if (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count == '0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 begin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 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tick  &lt;= 1'b1;</a:t>
            </a:r>
          </a:p>
          <a:p>
            <a:pPr algn="l">
              <a:defRPr sz="23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  count &lt;= N;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end else begin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 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count &lt;= count - 1'b1;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end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end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end</a:t>
            </a:r>
          </a:p>
          <a:p>
            <a:pPr algn="l">
              <a:defRPr sz="2300"/>
            </a:pP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endmodule</a:t>
            </a:r>
            <a:endParaRPr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grpSp>
        <p:nvGrpSpPr>
          <p:cNvPr id="2" name="Group">
            <a:extLst>
              <a:ext uri="{FF2B5EF4-FFF2-40B4-BE49-F238E27FC236}">
                <a16:creationId xmlns:a16="http://schemas.microsoft.com/office/drawing/2014/main" id="{DEAFBC73-86E1-275A-7160-00102F08268D}"/>
              </a:ext>
            </a:extLst>
          </p:cNvPr>
          <p:cNvGrpSpPr/>
          <p:nvPr/>
        </p:nvGrpSpPr>
        <p:grpSpPr>
          <a:xfrm>
            <a:off x="7861300" y="2349500"/>
            <a:ext cx="4544914" cy="3047207"/>
            <a:chOff x="0" y="0"/>
            <a:chExt cx="4544913" cy="3047206"/>
          </a:xfrm>
        </p:grpSpPr>
        <p:sp>
          <p:nvSpPr>
            <p:cNvPr id="3" name="Rectangle">
              <a:extLst>
                <a:ext uri="{FF2B5EF4-FFF2-40B4-BE49-F238E27FC236}">
                  <a16:creationId xmlns:a16="http://schemas.microsoft.com/office/drawing/2014/main" id="{3FC35910-09B4-E426-809E-00DF2AC352AC}"/>
                </a:ext>
              </a:extLst>
            </p:cNvPr>
            <p:cNvSpPr/>
            <p:nvPr/>
          </p:nvSpPr>
          <p:spPr>
            <a:xfrm>
              <a:off x="0" y="0"/>
              <a:ext cx="4544914" cy="3047207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C6127796-1D7C-6A6E-A5FD-DED5DB23F6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600" y="44450"/>
              <a:ext cx="4241800" cy="28321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AA2C290-428E-BA2D-F2CF-8E7BBEDAE540}"/>
              </a:ext>
            </a:extLst>
          </p:cNvPr>
          <p:cNvSpPr txBox="1"/>
          <p:nvPr/>
        </p:nvSpPr>
        <p:spPr>
          <a:xfrm>
            <a:off x="7962900" y="5868953"/>
            <a:ext cx="4540088" cy="20723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Two assignments to </a:t>
            </a:r>
            <a:r>
              <a:rPr kumimoji="0" lang="en-GB" sz="3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"/>
              </a:rPr>
              <a:t>tick </a:t>
            </a:r>
            <a:r>
              <a:rPr kumimoji="0" lang="en-GB" sz="32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cs typeface="Courier New" panose="02070309020205020404" pitchFamily="49" charset="0"/>
                <a:sym typeface="Helvetica"/>
              </a:rPr>
              <a:t>in same block.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GB" b="1" dirty="0">
              <a:latin typeface="+mn-lt"/>
              <a:ea typeface="+mn-ea"/>
              <a:cs typeface="Courier New" panose="02070309020205020404" pitchFamily="49" charset="0"/>
            </a:endParaRP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cs typeface="Courier New" panose="02070309020205020404" pitchFamily="49" charset="0"/>
                <a:sym typeface="Helvetica"/>
              </a:rPr>
              <a:t>Last one wins!</a:t>
            </a:r>
            <a:endParaRPr kumimoji="0" lang="en-GB" sz="32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Cascading counte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Cascading counters</a:t>
            </a:r>
          </a:p>
        </p:txBody>
      </p:sp>
      <p:sp>
        <p:nvSpPr>
          <p:cNvPr id="377" name="By connecting our clock tick module in series with a counter module, we can count milliseconds: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By connecting our clock tick module in series with a counter module, we can count milliseconds:</a:t>
            </a:r>
          </a:p>
        </p:txBody>
      </p:sp>
      <p:sp>
        <p:nvSpPr>
          <p:cNvPr id="3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37</a:t>
            </a:fld>
            <a:endParaRPr/>
          </a:p>
        </p:txBody>
      </p:sp>
      <p:grpSp>
        <p:nvGrpSpPr>
          <p:cNvPr id="381" name="Group"/>
          <p:cNvGrpSpPr/>
          <p:nvPr/>
        </p:nvGrpSpPr>
        <p:grpSpPr>
          <a:xfrm>
            <a:off x="1041474" y="3996928"/>
            <a:ext cx="10921852" cy="5173068"/>
            <a:chOff x="0" y="0"/>
            <a:chExt cx="10921851" cy="5173067"/>
          </a:xfrm>
        </p:grpSpPr>
        <p:sp>
          <p:nvSpPr>
            <p:cNvPr id="379" name="Rectangle"/>
            <p:cNvSpPr/>
            <p:nvPr/>
          </p:nvSpPr>
          <p:spPr>
            <a:xfrm>
              <a:off x="0" y="0"/>
              <a:ext cx="10921852" cy="5173068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pic>
          <p:nvPicPr>
            <p:cNvPr id="380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3851" y="136921"/>
              <a:ext cx="10590839" cy="498703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A clock divid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clock divider</a:t>
            </a:r>
          </a:p>
        </p:txBody>
      </p:sp>
      <p:sp>
        <p:nvSpPr>
          <p:cNvPr id="3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38</a:t>
            </a:fld>
            <a:endParaRPr/>
          </a:p>
        </p:txBody>
      </p:sp>
      <p:sp>
        <p:nvSpPr>
          <p:cNvPr id="385" name="module clkdiv (clkin, enable, K, clkout);…"/>
          <p:cNvSpPr txBox="1"/>
          <p:nvPr/>
        </p:nvSpPr>
        <p:spPr>
          <a:xfrm>
            <a:off x="175249" y="2480338"/>
            <a:ext cx="7332135" cy="7181453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module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clkdiv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#(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parameter int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K_BIT = 16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)(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           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clkin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, enable,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[K_BIT-1:0] K,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output logic            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clkout</a:t>
            </a:r>
            <a:endParaRPr lang="en-GB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);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[K_BIT-1:0] count = '0;</a:t>
            </a:r>
          </a:p>
          <a:p>
            <a:pPr algn="l">
              <a:defRPr sz="2300"/>
            </a:pPr>
            <a:endParaRPr lang="en-GB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always_ff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@(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posedge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clkin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 begin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if (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enable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 begin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if (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count == '0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 begin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 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clkout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&lt;= ~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clkout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algn="l">
              <a:defRPr sz="23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  count  &lt;= K;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end else begin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 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count &lt;= count - 1'b1;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end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end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end</a:t>
            </a:r>
          </a:p>
          <a:p>
            <a:pPr algn="l">
              <a:defRPr sz="2300"/>
            </a:pP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endmodule</a:t>
            </a:r>
            <a:endParaRPr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grpSp>
        <p:nvGrpSpPr>
          <p:cNvPr id="388" name="Group"/>
          <p:cNvGrpSpPr/>
          <p:nvPr/>
        </p:nvGrpSpPr>
        <p:grpSpPr>
          <a:xfrm>
            <a:off x="7914725" y="5187796"/>
            <a:ext cx="4975739" cy="1448656"/>
            <a:chOff x="0" y="0"/>
            <a:chExt cx="4975737" cy="1448655"/>
          </a:xfrm>
        </p:grpSpPr>
        <p:sp>
          <p:nvSpPr>
            <p:cNvPr id="386" name="Rectangle"/>
            <p:cNvSpPr/>
            <p:nvPr/>
          </p:nvSpPr>
          <p:spPr>
            <a:xfrm>
              <a:off x="0" y="0"/>
              <a:ext cx="4975738" cy="144865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pic>
          <p:nvPicPr>
            <p:cNvPr id="387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858" y="92096"/>
              <a:ext cx="4590546" cy="12644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391" name="Group"/>
          <p:cNvGrpSpPr/>
          <p:nvPr/>
        </p:nvGrpSpPr>
        <p:grpSpPr>
          <a:xfrm>
            <a:off x="8130137" y="2659112"/>
            <a:ext cx="4544915" cy="2159001"/>
            <a:chOff x="0" y="0"/>
            <a:chExt cx="4544913" cy="2159000"/>
          </a:xfrm>
        </p:grpSpPr>
        <p:sp>
          <p:nvSpPr>
            <p:cNvPr id="389" name="Rectangle"/>
            <p:cNvSpPr/>
            <p:nvPr/>
          </p:nvSpPr>
          <p:spPr>
            <a:xfrm>
              <a:off x="0" y="0"/>
              <a:ext cx="4544914" cy="21590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pic>
          <p:nvPicPr>
            <p:cNvPr id="390" name="Image" descr="Imag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362" y="134887"/>
              <a:ext cx="4422190" cy="17448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BAEF45D-A576-8B2B-4473-1EBD53447C26}"/>
              </a:ext>
            </a:extLst>
          </p:cNvPr>
          <p:cNvSpPr txBox="1"/>
          <p:nvPr/>
        </p:nvSpPr>
        <p:spPr>
          <a:xfrm>
            <a:off x="7469892" y="7585780"/>
            <a:ext cx="5534908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F(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clkout</a:t>
            </a:r>
            <a:r>
              <a:rPr lang="en-GB" dirty="0"/>
              <a:t>) = 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F(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clkin</a:t>
            </a:r>
            <a:r>
              <a:rPr lang="en-GB" dirty="0"/>
              <a:t>) / 2*(K+1)</a:t>
            </a:r>
            <a:endParaRPr kumimoji="0" lang="en-GB" sz="32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Shift registe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Shift registers</a:t>
            </a:r>
          </a:p>
        </p:txBody>
      </p:sp>
      <p:sp>
        <p:nvSpPr>
          <p:cNvPr id="3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39</a:t>
            </a:fld>
            <a:endParaRPr/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Line"/>
          <p:cNvSpPr/>
          <p:nvPr/>
        </p:nvSpPr>
        <p:spPr>
          <a:xfrm>
            <a:off x="977373" y="2758144"/>
            <a:ext cx="1087915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397" name="A shift regis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shift register</a:t>
            </a:r>
          </a:p>
        </p:txBody>
      </p:sp>
      <p:sp>
        <p:nvSpPr>
          <p:cNvPr id="39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40</a:t>
            </a:fld>
            <a:endParaRPr/>
          </a:p>
        </p:txBody>
      </p:sp>
      <p:sp>
        <p:nvSpPr>
          <p:cNvPr id="399" name="Rectangle"/>
          <p:cNvSpPr/>
          <p:nvPr/>
        </p:nvSpPr>
        <p:spPr>
          <a:xfrm>
            <a:off x="1890429" y="2442529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00" name="D"/>
          <p:cNvSpPr txBox="1"/>
          <p:nvPr/>
        </p:nvSpPr>
        <p:spPr>
          <a:xfrm>
            <a:off x="1876593" y="2466044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401" name="Q"/>
          <p:cNvSpPr txBox="1"/>
          <p:nvPr/>
        </p:nvSpPr>
        <p:spPr>
          <a:xfrm>
            <a:off x="2703924" y="2466044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402" name="Triangle"/>
          <p:cNvSpPr/>
          <p:nvPr/>
        </p:nvSpPr>
        <p:spPr>
          <a:xfrm rot="5400000">
            <a:off x="1881539" y="3738584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03" name="Rectangle"/>
          <p:cNvSpPr/>
          <p:nvPr/>
        </p:nvSpPr>
        <p:spPr>
          <a:xfrm>
            <a:off x="4582829" y="2427585"/>
            <a:ext cx="1270001" cy="180151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04" name="Triangle"/>
          <p:cNvSpPr/>
          <p:nvPr/>
        </p:nvSpPr>
        <p:spPr>
          <a:xfrm rot="5400000">
            <a:off x="4573939" y="3723640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05" name="Rectangle"/>
          <p:cNvSpPr/>
          <p:nvPr/>
        </p:nvSpPr>
        <p:spPr>
          <a:xfrm>
            <a:off x="7275229" y="2442529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06" name="Triangle"/>
          <p:cNvSpPr/>
          <p:nvPr/>
        </p:nvSpPr>
        <p:spPr>
          <a:xfrm rot="5400000">
            <a:off x="7266339" y="3738584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07" name="Rectangle"/>
          <p:cNvSpPr/>
          <p:nvPr/>
        </p:nvSpPr>
        <p:spPr>
          <a:xfrm>
            <a:off x="9967629" y="2412640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08" name="Triangle"/>
          <p:cNvSpPr/>
          <p:nvPr/>
        </p:nvSpPr>
        <p:spPr>
          <a:xfrm rot="5400000">
            <a:off x="9958739" y="3708695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09" name="D"/>
          <p:cNvSpPr txBox="1"/>
          <p:nvPr/>
        </p:nvSpPr>
        <p:spPr>
          <a:xfrm>
            <a:off x="4583522" y="2466044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410" name="Q"/>
          <p:cNvSpPr txBox="1"/>
          <p:nvPr/>
        </p:nvSpPr>
        <p:spPr>
          <a:xfrm>
            <a:off x="5410853" y="2466044"/>
            <a:ext cx="43041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411" name="D"/>
          <p:cNvSpPr txBox="1"/>
          <p:nvPr/>
        </p:nvSpPr>
        <p:spPr>
          <a:xfrm>
            <a:off x="7264814" y="2466044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412" name="Q"/>
          <p:cNvSpPr txBox="1"/>
          <p:nvPr/>
        </p:nvSpPr>
        <p:spPr>
          <a:xfrm>
            <a:off x="8092145" y="2466044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413" name="D"/>
          <p:cNvSpPr txBox="1"/>
          <p:nvPr/>
        </p:nvSpPr>
        <p:spPr>
          <a:xfrm>
            <a:off x="9958807" y="2466044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414" name="Q"/>
          <p:cNvSpPr txBox="1"/>
          <p:nvPr/>
        </p:nvSpPr>
        <p:spPr>
          <a:xfrm>
            <a:off x="10786138" y="2466044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415" name="Line"/>
          <p:cNvSpPr/>
          <p:nvPr/>
        </p:nvSpPr>
        <p:spPr>
          <a:xfrm>
            <a:off x="1534387" y="39102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16" name="Line"/>
          <p:cNvSpPr/>
          <p:nvPr/>
        </p:nvSpPr>
        <p:spPr>
          <a:xfrm flipH="1">
            <a:off x="1534387" y="3898899"/>
            <a:ext cx="1" cy="84116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17" name="Line"/>
          <p:cNvSpPr/>
          <p:nvPr/>
        </p:nvSpPr>
        <p:spPr>
          <a:xfrm>
            <a:off x="4232723" y="3910948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18" name="Line"/>
          <p:cNvSpPr/>
          <p:nvPr/>
        </p:nvSpPr>
        <p:spPr>
          <a:xfrm>
            <a:off x="4232723" y="3899551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19" name="Line"/>
          <p:cNvSpPr/>
          <p:nvPr/>
        </p:nvSpPr>
        <p:spPr>
          <a:xfrm>
            <a:off x="6931059" y="3910948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20" name="Line"/>
          <p:cNvSpPr/>
          <p:nvPr/>
        </p:nvSpPr>
        <p:spPr>
          <a:xfrm>
            <a:off x="6931059" y="3899551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21" name="Line"/>
          <p:cNvSpPr/>
          <p:nvPr/>
        </p:nvSpPr>
        <p:spPr>
          <a:xfrm>
            <a:off x="9623459" y="3910948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22" name="Line"/>
          <p:cNvSpPr/>
          <p:nvPr/>
        </p:nvSpPr>
        <p:spPr>
          <a:xfrm>
            <a:off x="9623459" y="3899551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23" name="Line"/>
          <p:cNvSpPr/>
          <p:nvPr/>
        </p:nvSpPr>
        <p:spPr>
          <a:xfrm>
            <a:off x="863073" y="4748497"/>
            <a:ext cx="876612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24" name="data_in"/>
          <p:cNvSpPr txBox="1"/>
          <p:nvPr/>
        </p:nvSpPr>
        <p:spPr>
          <a:xfrm>
            <a:off x="306644" y="2306550"/>
            <a:ext cx="128797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data_in</a:t>
            </a:r>
          </a:p>
        </p:txBody>
      </p:sp>
      <p:sp>
        <p:nvSpPr>
          <p:cNvPr id="425" name="sreg[1]"/>
          <p:cNvSpPr txBox="1"/>
          <p:nvPr/>
        </p:nvSpPr>
        <p:spPr>
          <a:xfrm>
            <a:off x="3206138" y="2306550"/>
            <a:ext cx="128797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sreg[1]</a:t>
            </a:r>
          </a:p>
        </p:txBody>
      </p:sp>
      <p:sp>
        <p:nvSpPr>
          <p:cNvPr id="426" name="sreg[2]"/>
          <p:cNvSpPr txBox="1"/>
          <p:nvPr/>
        </p:nvSpPr>
        <p:spPr>
          <a:xfrm>
            <a:off x="5946334" y="2306550"/>
            <a:ext cx="128797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sreg[2]</a:t>
            </a:r>
          </a:p>
        </p:txBody>
      </p:sp>
      <p:sp>
        <p:nvSpPr>
          <p:cNvPr id="427" name="sreg[3]"/>
          <p:cNvSpPr txBox="1"/>
          <p:nvPr/>
        </p:nvSpPr>
        <p:spPr>
          <a:xfrm>
            <a:off x="8612444" y="2306550"/>
            <a:ext cx="128797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sreg[3]</a:t>
            </a:r>
          </a:p>
        </p:txBody>
      </p:sp>
      <p:sp>
        <p:nvSpPr>
          <p:cNvPr id="428" name="sreg[4]"/>
          <p:cNvSpPr txBox="1"/>
          <p:nvPr/>
        </p:nvSpPr>
        <p:spPr>
          <a:xfrm>
            <a:off x="11326350" y="1975385"/>
            <a:ext cx="128797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sreg[4]</a:t>
            </a:r>
          </a:p>
        </p:txBody>
      </p:sp>
      <p:sp>
        <p:nvSpPr>
          <p:cNvPr id="429" name="data_out"/>
          <p:cNvSpPr txBox="1"/>
          <p:nvPr/>
        </p:nvSpPr>
        <p:spPr>
          <a:xfrm>
            <a:off x="11326350" y="2306550"/>
            <a:ext cx="1455639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data_out</a:t>
            </a:r>
          </a:p>
        </p:txBody>
      </p:sp>
      <p:sp>
        <p:nvSpPr>
          <p:cNvPr id="430" name="clk"/>
          <p:cNvSpPr txBox="1"/>
          <p:nvPr/>
        </p:nvSpPr>
        <p:spPr>
          <a:xfrm>
            <a:off x="666709" y="4720852"/>
            <a:ext cx="61730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</a:t>
            </a:r>
          </a:p>
        </p:txBody>
      </p:sp>
      <p:sp>
        <p:nvSpPr>
          <p:cNvPr id="431" name="module sreg4 (data_out, data_in, clk);…"/>
          <p:cNvSpPr txBox="1"/>
          <p:nvPr/>
        </p:nvSpPr>
        <p:spPr>
          <a:xfrm>
            <a:off x="3073752" y="4970189"/>
            <a:ext cx="5745163" cy="4703852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module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sreg4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(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output logic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data_out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,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data_in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, clk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);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[4:1]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sreg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= '0;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always_ff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@(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posedge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 begin</a:t>
            </a:r>
          </a:p>
          <a:p>
            <a:pPr algn="l">
              <a:defRPr sz="23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sreg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[4] &lt;=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sreg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[3];</a:t>
            </a:r>
          </a:p>
          <a:p>
            <a:pPr algn="l">
              <a:defRPr sz="23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sreg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[3] &lt;=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sreg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[2];</a:t>
            </a:r>
          </a:p>
          <a:p>
            <a:pPr algn="l">
              <a:defRPr sz="23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sreg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[2] &lt;=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sreg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[1];</a:t>
            </a:r>
          </a:p>
          <a:p>
            <a:pPr algn="l">
              <a:defRPr sz="23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sreg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[1] &lt;=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data_in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end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assign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data_out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=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sreg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[4];</a:t>
            </a:r>
          </a:p>
          <a:p>
            <a:pPr algn="l">
              <a:defRPr sz="2300"/>
            </a:pP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endmodule</a:t>
            </a:r>
            <a:endParaRPr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" grpId="2" animBg="1" advAuto="0"/>
      <p:bldP spid="426" grpId="3" animBg="1" advAuto="0"/>
      <p:bldP spid="427" grpId="4" animBg="1" advAuto="0"/>
      <p:bldP spid="428" grpId="5" animBg="1" advAuto="0"/>
      <p:bldP spid="431" grpId="1" animBg="1" advAuto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Line"/>
          <p:cNvSpPr/>
          <p:nvPr/>
        </p:nvSpPr>
        <p:spPr>
          <a:xfrm>
            <a:off x="977373" y="2758144"/>
            <a:ext cx="1087915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34" name="A shift regis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shift register</a:t>
            </a:r>
          </a:p>
        </p:txBody>
      </p:sp>
      <p:sp>
        <p:nvSpPr>
          <p:cNvPr id="4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41</a:t>
            </a:fld>
            <a:endParaRPr/>
          </a:p>
        </p:txBody>
      </p:sp>
      <p:sp>
        <p:nvSpPr>
          <p:cNvPr id="436" name="Rectangle"/>
          <p:cNvSpPr/>
          <p:nvPr/>
        </p:nvSpPr>
        <p:spPr>
          <a:xfrm>
            <a:off x="1890429" y="2442529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37" name="D"/>
          <p:cNvSpPr txBox="1"/>
          <p:nvPr/>
        </p:nvSpPr>
        <p:spPr>
          <a:xfrm>
            <a:off x="1876593" y="2466044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438" name="Q"/>
          <p:cNvSpPr txBox="1"/>
          <p:nvPr/>
        </p:nvSpPr>
        <p:spPr>
          <a:xfrm>
            <a:off x="2703924" y="2466044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439" name="Triangle"/>
          <p:cNvSpPr/>
          <p:nvPr/>
        </p:nvSpPr>
        <p:spPr>
          <a:xfrm rot="5400000">
            <a:off x="1881539" y="3738584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40" name="Rectangle"/>
          <p:cNvSpPr/>
          <p:nvPr/>
        </p:nvSpPr>
        <p:spPr>
          <a:xfrm>
            <a:off x="4582829" y="2427585"/>
            <a:ext cx="1270001" cy="180151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41" name="Triangle"/>
          <p:cNvSpPr/>
          <p:nvPr/>
        </p:nvSpPr>
        <p:spPr>
          <a:xfrm rot="5400000">
            <a:off x="4573939" y="3723640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42" name="Rectangle"/>
          <p:cNvSpPr/>
          <p:nvPr/>
        </p:nvSpPr>
        <p:spPr>
          <a:xfrm>
            <a:off x="7275229" y="2442529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43" name="Triangle"/>
          <p:cNvSpPr/>
          <p:nvPr/>
        </p:nvSpPr>
        <p:spPr>
          <a:xfrm rot="5400000">
            <a:off x="7266339" y="3738584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44" name="Rectangle"/>
          <p:cNvSpPr/>
          <p:nvPr/>
        </p:nvSpPr>
        <p:spPr>
          <a:xfrm>
            <a:off x="9967629" y="2412640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45" name="Triangle"/>
          <p:cNvSpPr/>
          <p:nvPr/>
        </p:nvSpPr>
        <p:spPr>
          <a:xfrm rot="5400000">
            <a:off x="9958739" y="3708695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46" name="D"/>
          <p:cNvSpPr txBox="1"/>
          <p:nvPr/>
        </p:nvSpPr>
        <p:spPr>
          <a:xfrm>
            <a:off x="4583522" y="2466044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447" name="Q"/>
          <p:cNvSpPr txBox="1"/>
          <p:nvPr/>
        </p:nvSpPr>
        <p:spPr>
          <a:xfrm>
            <a:off x="5410853" y="2466044"/>
            <a:ext cx="43041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448" name="D"/>
          <p:cNvSpPr txBox="1"/>
          <p:nvPr/>
        </p:nvSpPr>
        <p:spPr>
          <a:xfrm>
            <a:off x="7264814" y="2466044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449" name="Q"/>
          <p:cNvSpPr txBox="1"/>
          <p:nvPr/>
        </p:nvSpPr>
        <p:spPr>
          <a:xfrm>
            <a:off x="8092145" y="2466044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450" name="D"/>
          <p:cNvSpPr txBox="1"/>
          <p:nvPr/>
        </p:nvSpPr>
        <p:spPr>
          <a:xfrm>
            <a:off x="9958807" y="2466044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451" name="Q"/>
          <p:cNvSpPr txBox="1"/>
          <p:nvPr/>
        </p:nvSpPr>
        <p:spPr>
          <a:xfrm>
            <a:off x="10786138" y="2466044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452" name="Line"/>
          <p:cNvSpPr/>
          <p:nvPr/>
        </p:nvSpPr>
        <p:spPr>
          <a:xfrm>
            <a:off x="1534387" y="39102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53" name="Line"/>
          <p:cNvSpPr/>
          <p:nvPr/>
        </p:nvSpPr>
        <p:spPr>
          <a:xfrm flipH="1">
            <a:off x="1534387" y="3898899"/>
            <a:ext cx="1" cy="84116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54" name="Line"/>
          <p:cNvSpPr/>
          <p:nvPr/>
        </p:nvSpPr>
        <p:spPr>
          <a:xfrm>
            <a:off x="4232723" y="3910948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55" name="Line"/>
          <p:cNvSpPr/>
          <p:nvPr/>
        </p:nvSpPr>
        <p:spPr>
          <a:xfrm>
            <a:off x="4232723" y="3899551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56" name="Line"/>
          <p:cNvSpPr/>
          <p:nvPr/>
        </p:nvSpPr>
        <p:spPr>
          <a:xfrm>
            <a:off x="6931059" y="3910948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57" name="Line"/>
          <p:cNvSpPr/>
          <p:nvPr/>
        </p:nvSpPr>
        <p:spPr>
          <a:xfrm>
            <a:off x="6931059" y="3899551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58" name="Line"/>
          <p:cNvSpPr/>
          <p:nvPr/>
        </p:nvSpPr>
        <p:spPr>
          <a:xfrm>
            <a:off x="9623459" y="3910948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59" name="Line"/>
          <p:cNvSpPr/>
          <p:nvPr/>
        </p:nvSpPr>
        <p:spPr>
          <a:xfrm>
            <a:off x="9623459" y="3899551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60" name="Line"/>
          <p:cNvSpPr/>
          <p:nvPr/>
        </p:nvSpPr>
        <p:spPr>
          <a:xfrm>
            <a:off x="863073" y="4748497"/>
            <a:ext cx="876612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61" name="data_in"/>
          <p:cNvSpPr txBox="1"/>
          <p:nvPr/>
        </p:nvSpPr>
        <p:spPr>
          <a:xfrm>
            <a:off x="306644" y="2306550"/>
            <a:ext cx="128797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data_in</a:t>
            </a:r>
          </a:p>
        </p:txBody>
      </p:sp>
      <p:sp>
        <p:nvSpPr>
          <p:cNvPr id="462" name="sreg[1]"/>
          <p:cNvSpPr txBox="1"/>
          <p:nvPr/>
        </p:nvSpPr>
        <p:spPr>
          <a:xfrm>
            <a:off x="3206138" y="2306550"/>
            <a:ext cx="128797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sreg[1]</a:t>
            </a:r>
          </a:p>
        </p:txBody>
      </p:sp>
      <p:sp>
        <p:nvSpPr>
          <p:cNvPr id="463" name="sreg[2]"/>
          <p:cNvSpPr txBox="1"/>
          <p:nvPr/>
        </p:nvSpPr>
        <p:spPr>
          <a:xfrm>
            <a:off x="5946334" y="2306550"/>
            <a:ext cx="128797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sreg[2]</a:t>
            </a:r>
          </a:p>
        </p:txBody>
      </p:sp>
      <p:sp>
        <p:nvSpPr>
          <p:cNvPr id="464" name="sreg[3]"/>
          <p:cNvSpPr txBox="1"/>
          <p:nvPr/>
        </p:nvSpPr>
        <p:spPr>
          <a:xfrm>
            <a:off x="8612444" y="2306550"/>
            <a:ext cx="128797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sreg[3]</a:t>
            </a:r>
          </a:p>
        </p:txBody>
      </p:sp>
      <p:sp>
        <p:nvSpPr>
          <p:cNvPr id="465" name="clk"/>
          <p:cNvSpPr txBox="1"/>
          <p:nvPr/>
        </p:nvSpPr>
        <p:spPr>
          <a:xfrm>
            <a:off x="666709" y="4720852"/>
            <a:ext cx="61730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</a:t>
            </a:r>
          </a:p>
        </p:txBody>
      </p:sp>
      <p:sp>
        <p:nvSpPr>
          <p:cNvPr id="466" name="module sreg4 (data_out, data_in, clk);…"/>
          <p:cNvSpPr txBox="1"/>
          <p:nvPr/>
        </p:nvSpPr>
        <p:spPr>
          <a:xfrm>
            <a:off x="3456244" y="5480296"/>
            <a:ext cx="5921493" cy="3995966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module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sreg4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(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output logic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data_out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,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data_in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, clk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);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logic [4:1]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sreg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= '0;</a:t>
            </a:r>
          </a:p>
          <a:p>
            <a:pPr algn="l">
              <a:defRPr sz="2300"/>
            </a:pPr>
            <a:endParaRPr lang="en-GB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always_ff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@(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posedge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</a:p>
          <a:p>
            <a:pPr algn="l">
              <a:defRPr sz="23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sreg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&lt;= {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sreg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[3:1],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data_in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};</a:t>
            </a:r>
          </a:p>
          <a:p>
            <a:pPr algn="l">
              <a:defRPr sz="2300"/>
            </a:pPr>
            <a:endParaRPr lang="en-GB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assign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data_out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=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sreg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[4];</a:t>
            </a:r>
          </a:p>
          <a:p>
            <a:pPr algn="l">
              <a:defRPr sz="2300"/>
            </a:pP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endmodule</a:t>
            </a:r>
            <a:endParaRPr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67" name="sreg[4]"/>
          <p:cNvSpPr txBox="1"/>
          <p:nvPr/>
        </p:nvSpPr>
        <p:spPr>
          <a:xfrm>
            <a:off x="11326350" y="1975385"/>
            <a:ext cx="128797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sreg[4]</a:t>
            </a:r>
          </a:p>
        </p:txBody>
      </p:sp>
      <p:sp>
        <p:nvSpPr>
          <p:cNvPr id="468" name="data_out"/>
          <p:cNvSpPr txBox="1"/>
          <p:nvPr/>
        </p:nvSpPr>
        <p:spPr>
          <a:xfrm>
            <a:off x="11326350" y="2306550"/>
            <a:ext cx="1455639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data_out</a:t>
            </a:r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Linear feedback shift regis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90727">
              <a:defRPr sz="6719"/>
            </a:lvl1pPr>
          </a:lstStyle>
          <a:p>
            <a:r>
              <a:t>Linear feedback shift register</a:t>
            </a:r>
          </a:p>
        </p:txBody>
      </p:sp>
      <p:sp>
        <p:nvSpPr>
          <p:cNvPr id="47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42</a:t>
            </a:fld>
            <a:endParaRPr/>
          </a:p>
        </p:txBody>
      </p:sp>
      <p:sp>
        <p:nvSpPr>
          <p:cNvPr id="472" name="Line"/>
          <p:cNvSpPr/>
          <p:nvPr/>
        </p:nvSpPr>
        <p:spPr>
          <a:xfrm>
            <a:off x="1324116" y="4953093"/>
            <a:ext cx="1048247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73" name="Rectangle"/>
          <p:cNvSpPr/>
          <p:nvPr/>
        </p:nvSpPr>
        <p:spPr>
          <a:xfrm>
            <a:off x="1890429" y="463747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74" name="D"/>
          <p:cNvSpPr txBox="1"/>
          <p:nvPr/>
        </p:nvSpPr>
        <p:spPr>
          <a:xfrm>
            <a:off x="1876593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475" name="Q"/>
          <p:cNvSpPr txBox="1"/>
          <p:nvPr/>
        </p:nvSpPr>
        <p:spPr>
          <a:xfrm>
            <a:off x="2703924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476" name="Triangle"/>
          <p:cNvSpPr/>
          <p:nvPr/>
        </p:nvSpPr>
        <p:spPr>
          <a:xfrm rot="5400000">
            <a:off x="1881539" y="593353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77" name="Rectangle"/>
          <p:cNvSpPr/>
          <p:nvPr/>
        </p:nvSpPr>
        <p:spPr>
          <a:xfrm>
            <a:off x="4582829" y="4622533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78" name="Triangle"/>
          <p:cNvSpPr/>
          <p:nvPr/>
        </p:nvSpPr>
        <p:spPr>
          <a:xfrm rot="5400000">
            <a:off x="4573939" y="5918588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79" name="Rectangle"/>
          <p:cNvSpPr/>
          <p:nvPr/>
        </p:nvSpPr>
        <p:spPr>
          <a:xfrm>
            <a:off x="7275229" y="463747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80" name="Triangle"/>
          <p:cNvSpPr/>
          <p:nvPr/>
        </p:nvSpPr>
        <p:spPr>
          <a:xfrm rot="5400000">
            <a:off x="7266339" y="593353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81" name="Rectangle"/>
          <p:cNvSpPr/>
          <p:nvPr/>
        </p:nvSpPr>
        <p:spPr>
          <a:xfrm>
            <a:off x="9967629" y="460758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82" name="Triangle"/>
          <p:cNvSpPr/>
          <p:nvPr/>
        </p:nvSpPr>
        <p:spPr>
          <a:xfrm rot="5400000">
            <a:off x="9958739" y="590364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83" name="D"/>
          <p:cNvSpPr txBox="1"/>
          <p:nvPr/>
        </p:nvSpPr>
        <p:spPr>
          <a:xfrm>
            <a:off x="4583522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484" name="Q"/>
          <p:cNvSpPr txBox="1"/>
          <p:nvPr/>
        </p:nvSpPr>
        <p:spPr>
          <a:xfrm>
            <a:off x="5410853" y="4660993"/>
            <a:ext cx="43041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485" name="D"/>
          <p:cNvSpPr txBox="1"/>
          <p:nvPr/>
        </p:nvSpPr>
        <p:spPr>
          <a:xfrm>
            <a:off x="7264814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486" name="Q"/>
          <p:cNvSpPr txBox="1"/>
          <p:nvPr/>
        </p:nvSpPr>
        <p:spPr>
          <a:xfrm>
            <a:off x="8092145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487" name="D"/>
          <p:cNvSpPr txBox="1"/>
          <p:nvPr/>
        </p:nvSpPr>
        <p:spPr>
          <a:xfrm>
            <a:off x="9958807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488" name="Q"/>
          <p:cNvSpPr txBox="1"/>
          <p:nvPr/>
        </p:nvSpPr>
        <p:spPr>
          <a:xfrm>
            <a:off x="10786138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489" name="Line"/>
          <p:cNvSpPr/>
          <p:nvPr/>
        </p:nvSpPr>
        <p:spPr>
          <a:xfrm>
            <a:off x="1534387" y="6105245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90" name="Line"/>
          <p:cNvSpPr/>
          <p:nvPr/>
        </p:nvSpPr>
        <p:spPr>
          <a:xfrm flipH="1">
            <a:off x="1534387" y="6093848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91" name="Line"/>
          <p:cNvSpPr/>
          <p:nvPr/>
        </p:nvSpPr>
        <p:spPr>
          <a:xfrm>
            <a:off x="4232723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92" name="Line"/>
          <p:cNvSpPr/>
          <p:nvPr/>
        </p:nvSpPr>
        <p:spPr>
          <a:xfrm>
            <a:off x="4232723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93" name="Line"/>
          <p:cNvSpPr/>
          <p:nvPr/>
        </p:nvSpPr>
        <p:spPr>
          <a:xfrm>
            <a:off x="6931059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94" name="Line"/>
          <p:cNvSpPr/>
          <p:nvPr/>
        </p:nvSpPr>
        <p:spPr>
          <a:xfrm>
            <a:off x="6931059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95" name="Line"/>
          <p:cNvSpPr/>
          <p:nvPr/>
        </p:nvSpPr>
        <p:spPr>
          <a:xfrm>
            <a:off x="9623459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96" name="Line"/>
          <p:cNvSpPr/>
          <p:nvPr/>
        </p:nvSpPr>
        <p:spPr>
          <a:xfrm>
            <a:off x="9623459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97" name="Line"/>
          <p:cNvSpPr/>
          <p:nvPr/>
        </p:nvSpPr>
        <p:spPr>
          <a:xfrm>
            <a:off x="863073" y="6943445"/>
            <a:ext cx="876612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98" name="clk"/>
          <p:cNvSpPr txBox="1"/>
          <p:nvPr/>
        </p:nvSpPr>
        <p:spPr>
          <a:xfrm>
            <a:off x="666709" y="6915801"/>
            <a:ext cx="61730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</a:t>
            </a:r>
          </a:p>
        </p:txBody>
      </p:sp>
      <p:sp>
        <p:nvSpPr>
          <p:cNvPr id="499" name="Line"/>
          <p:cNvSpPr/>
          <p:nvPr/>
        </p:nvSpPr>
        <p:spPr>
          <a:xfrm flipV="1">
            <a:off x="1324116" y="3546442"/>
            <a:ext cx="1" cy="140936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00" name="Line"/>
          <p:cNvSpPr/>
          <p:nvPr/>
        </p:nvSpPr>
        <p:spPr>
          <a:xfrm flipH="1" flipV="1">
            <a:off x="1324116" y="3556432"/>
            <a:ext cx="319002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grpSp>
        <p:nvGrpSpPr>
          <p:cNvPr id="503" name="Group"/>
          <p:cNvGrpSpPr/>
          <p:nvPr/>
        </p:nvGrpSpPr>
        <p:grpSpPr>
          <a:xfrm>
            <a:off x="4532174" y="3166371"/>
            <a:ext cx="983938" cy="780118"/>
            <a:chOff x="0" y="0"/>
            <a:chExt cx="983936" cy="780116"/>
          </a:xfrm>
        </p:grpSpPr>
        <p:sp>
          <p:nvSpPr>
            <p:cNvPr id="501" name="Shape"/>
            <p:cNvSpPr/>
            <p:nvPr/>
          </p:nvSpPr>
          <p:spPr>
            <a:xfrm rot="10800000">
              <a:off x="-1" y="0"/>
              <a:ext cx="841590" cy="7801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1" h="21600" extrusionOk="0">
                  <a:moveTo>
                    <a:pt x="0" y="0"/>
                  </a:moveTo>
                  <a:cubicBezTo>
                    <a:pt x="3847" y="2001"/>
                    <a:pt x="6286" y="6234"/>
                    <a:pt x="6263" y="10869"/>
                  </a:cubicBezTo>
                  <a:cubicBezTo>
                    <a:pt x="6240" y="15455"/>
                    <a:pt x="3808" y="19623"/>
                    <a:pt x="0" y="21600"/>
                  </a:cubicBezTo>
                  <a:cubicBezTo>
                    <a:pt x="4027" y="20643"/>
                    <a:pt x="7906" y="19793"/>
                    <a:pt x="11741" y="19018"/>
                  </a:cubicBezTo>
                  <a:cubicBezTo>
                    <a:pt x="16228" y="18111"/>
                    <a:pt x="21285" y="16281"/>
                    <a:pt x="21437" y="11339"/>
                  </a:cubicBezTo>
                  <a:cubicBezTo>
                    <a:pt x="21600" y="6073"/>
                    <a:pt x="16411" y="3944"/>
                    <a:pt x="11803" y="2826"/>
                  </a:cubicBezTo>
                  <a:cubicBezTo>
                    <a:pt x="7962" y="1895"/>
                    <a:pt x="4099" y="96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502" name="Line"/>
            <p:cNvSpPr/>
            <p:nvPr/>
          </p:nvSpPr>
          <p:spPr>
            <a:xfrm>
              <a:off x="699203" y="29910"/>
              <a:ext cx="284734" cy="7435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7" h="21600" extrusionOk="0">
                  <a:moveTo>
                    <a:pt x="21537" y="0"/>
                  </a:moveTo>
                  <a:cubicBezTo>
                    <a:pt x="8749" y="1382"/>
                    <a:pt x="-63" y="5872"/>
                    <a:pt x="1" y="10974"/>
                  </a:cubicBezTo>
                  <a:cubicBezTo>
                    <a:pt x="61" y="15792"/>
                    <a:pt x="8086" y="20062"/>
                    <a:pt x="19972" y="2160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</p:grpSp>
      <p:sp>
        <p:nvSpPr>
          <p:cNvPr id="504" name="Line"/>
          <p:cNvSpPr/>
          <p:nvPr/>
        </p:nvSpPr>
        <p:spPr>
          <a:xfrm flipH="1" flipV="1">
            <a:off x="5297946" y="3773586"/>
            <a:ext cx="391199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05" name="Line"/>
          <p:cNvSpPr/>
          <p:nvPr/>
        </p:nvSpPr>
        <p:spPr>
          <a:xfrm flipH="1" flipV="1">
            <a:off x="5297946" y="3367186"/>
            <a:ext cx="649174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06" name="Line"/>
          <p:cNvSpPr/>
          <p:nvPr/>
        </p:nvSpPr>
        <p:spPr>
          <a:xfrm flipV="1">
            <a:off x="9206425" y="3760886"/>
            <a:ext cx="1" cy="120761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07" name="Line"/>
          <p:cNvSpPr/>
          <p:nvPr/>
        </p:nvSpPr>
        <p:spPr>
          <a:xfrm flipV="1">
            <a:off x="11797225" y="3354486"/>
            <a:ext cx="1" cy="1611308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08" name="1"/>
          <p:cNvSpPr txBox="1"/>
          <p:nvPr/>
        </p:nvSpPr>
        <p:spPr>
          <a:xfrm>
            <a:off x="23120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</a:p>
        </p:txBody>
      </p:sp>
      <p:sp>
        <p:nvSpPr>
          <p:cNvPr id="509" name="0"/>
          <p:cNvSpPr txBox="1"/>
          <p:nvPr/>
        </p:nvSpPr>
        <p:spPr>
          <a:xfrm>
            <a:off x="50044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0</a:t>
            </a:r>
          </a:p>
        </p:txBody>
      </p:sp>
      <p:sp>
        <p:nvSpPr>
          <p:cNvPr id="510" name="0"/>
          <p:cNvSpPr txBox="1"/>
          <p:nvPr/>
        </p:nvSpPr>
        <p:spPr>
          <a:xfrm>
            <a:off x="76968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0</a:t>
            </a:r>
          </a:p>
        </p:txBody>
      </p:sp>
      <p:sp>
        <p:nvSpPr>
          <p:cNvPr id="511" name="0"/>
          <p:cNvSpPr txBox="1"/>
          <p:nvPr/>
        </p:nvSpPr>
        <p:spPr>
          <a:xfrm>
            <a:off x="10389244" y="5176285"/>
            <a:ext cx="426771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0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8" grpId="1" animBg="1" advAuto="0"/>
      <p:bldP spid="509" grpId="2" animBg="1" advAuto="0"/>
      <p:bldP spid="510" grpId="3" animBg="1" advAuto="0"/>
      <p:bldP spid="511" grpId="4" animBg="1" advAuto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Linear feedback shift regis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90727">
              <a:defRPr sz="6719"/>
            </a:lvl1pPr>
          </a:lstStyle>
          <a:p>
            <a:r>
              <a:t>Linear feedback shift register</a:t>
            </a:r>
          </a:p>
        </p:txBody>
      </p:sp>
      <p:sp>
        <p:nvSpPr>
          <p:cNvPr id="5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43</a:t>
            </a:fld>
            <a:endParaRPr/>
          </a:p>
        </p:txBody>
      </p:sp>
      <p:sp>
        <p:nvSpPr>
          <p:cNvPr id="515" name="Line"/>
          <p:cNvSpPr/>
          <p:nvPr/>
        </p:nvSpPr>
        <p:spPr>
          <a:xfrm>
            <a:off x="1324116" y="4953093"/>
            <a:ext cx="1048247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16" name="Rectangle"/>
          <p:cNvSpPr/>
          <p:nvPr/>
        </p:nvSpPr>
        <p:spPr>
          <a:xfrm>
            <a:off x="1890429" y="463747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17" name="D"/>
          <p:cNvSpPr txBox="1"/>
          <p:nvPr/>
        </p:nvSpPr>
        <p:spPr>
          <a:xfrm>
            <a:off x="1876593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518" name="Q"/>
          <p:cNvSpPr txBox="1"/>
          <p:nvPr/>
        </p:nvSpPr>
        <p:spPr>
          <a:xfrm>
            <a:off x="2703924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519" name="Triangle"/>
          <p:cNvSpPr/>
          <p:nvPr/>
        </p:nvSpPr>
        <p:spPr>
          <a:xfrm rot="5400000">
            <a:off x="1881539" y="593353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20" name="Rectangle"/>
          <p:cNvSpPr/>
          <p:nvPr/>
        </p:nvSpPr>
        <p:spPr>
          <a:xfrm>
            <a:off x="4582829" y="4622533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21" name="Triangle"/>
          <p:cNvSpPr/>
          <p:nvPr/>
        </p:nvSpPr>
        <p:spPr>
          <a:xfrm rot="5400000">
            <a:off x="4573939" y="5918588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22" name="Rectangle"/>
          <p:cNvSpPr/>
          <p:nvPr/>
        </p:nvSpPr>
        <p:spPr>
          <a:xfrm>
            <a:off x="7275229" y="463747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23" name="Triangle"/>
          <p:cNvSpPr/>
          <p:nvPr/>
        </p:nvSpPr>
        <p:spPr>
          <a:xfrm rot="5400000">
            <a:off x="7266339" y="593353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24" name="Rectangle"/>
          <p:cNvSpPr/>
          <p:nvPr/>
        </p:nvSpPr>
        <p:spPr>
          <a:xfrm>
            <a:off x="9967629" y="460758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25" name="Triangle"/>
          <p:cNvSpPr/>
          <p:nvPr/>
        </p:nvSpPr>
        <p:spPr>
          <a:xfrm rot="5400000">
            <a:off x="9958739" y="590364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26" name="D"/>
          <p:cNvSpPr txBox="1"/>
          <p:nvPr/>
        </p:nvSpPr>
        <p:spPr>
          <a:xfrm>
            <a:off x="4583522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527" name="Q"/>
          <p:cNvSpPr txBox="1"/>
          <p:nvPr/>
        </p:nvSpPr>
        <p:spPr>
          <a:xfrm>
            <a:off x="5410853" y="4660993"/>
            <a:ext cx="43041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528" name="D"/>
          <p:cNvSpPr txBox="1"/>
          <p:nvPr/>
        </p:nvSpPr>
        <p:spPr>
          <a:xfrm>
            <a:off x="7264814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529" name="Q"/>
          <p:cNvSpPr txBox="1"/>
          <p:nvPr/>
        </p:nvSpPr>
        <p:spPr>
          <a:xfrm>
            <a:off x="8092145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530" name="D"/>
          <p:cNvSpPr txBox="1"/>
          <p:nvPr/>
        </p:nvSpPr>
        <p:spPr>
          <a:xfrm>
            <a:off x="9958807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531" name="Q"/>
          <p:cNvSpPr txBox="1"/>
          <p:nvPr/>
        </p:nvSpPr>
        <p:spPr>
          <a:xfrm>
            <a:off x="10786138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532" name="Line"/>
          <p:cNvSpPr/>
          <p:nvPr/>
        </p:nvSpPr>
        <p:spPr>
          <a:xfrm>
            <a:off x="1534387" y="6105245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33" name="Line"/>
          <p:cNvSpPr/>
          <p:nvPr/>
        </p:nvSpPr>
        <p:spPr>
          <a:xfrm flipH="1">
            <a:off x="1534387" y="6093848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34" name="Line"/>
          <p:cNvSpPr/>
          <p:nvPr/>
        </p:nvSpPr>
        <p:spPr>
          <a:xfrm>
            <a:off x="4232723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35" name="Line"/>
          <p:cNvSpPr/>
          <p:nvPr/>
        </p:nvSpPr>
        <p:spPr>
          <a:xfrm>
            <a:off x="4232723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36" name="Line"/>
          <p:cNvSpPr/>
          <p:nvPr/>
        </p:nvSpPr>
        <p:spPr>
          <a:xfrm>
            <a:off x="6931059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37" name="Line"/>
          <p:cNvSpPr/>
          <p:nvPr/>
        </p:nvSpPr>
        <p:spPr>
          <a:xfrm>
            <a:off x="6931059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38" name="Line"/>
          <p:cNvSpPr/>
          <p:nvPr/>
        </p:nvSpPr>
        <p:spPr>
          <a:xfrm>
            <a:off x="9623459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39" name="Line"/>
          <p:cNvSpPr/>
          <p:nvPr/>
        </p:nvSpPr>
        <p:spPr>
          <a:xfrm>
            <a:off x="9623459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40" name="Line"/>
          <p:cNvSpPr/>
          <p:nvPr/>
        </p:nvSpPr>
        <p:spPr>
          <a:xfrm>
            <a:off x="863073" y="6943445"/>
            <a:ext cx="876612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41" name="clk"/>
          <p:cNvSpPr txBox="1"/>
          <p:nvPr/>
        </p:nvSpPr>
        <p:spPr>
          <a:xfrm>
            <a:off x="666709" y="6915801"/>
            <a:ext cx="61730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</a:t>
            </a:r>
          </a:p>
        </p:txBody>
      </p:sp>
      <p:sp>
        <p:nvSpPr>
          <p:cNvPr id="542" name="Line"/>
          <p:cNvSpPr/>
          <p:nvPr/>
        </p:nvSpPr>
        <p:spPr>
          <a:xfrm flipV="1">
            <a:off x="1324116" y="3546442"/>
            <a:ext cx="1" cy="140936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43" name="Line"/>
          <p:cNvSpPr/>
          <p:nvPr/>
        </p:nvSpPr>
        <p:spPr>
          <a:xfrm flipH="1" flipV="1">
            <a:off x="1324116" y="3556432"/>
            <a:ext cx="319002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grpSp>
        <p:nvGrpSpPr>
          <p:cNvPr id="546" name="Group"/>
          <p:cNvGrpSpPr/>
          <p:nvPr/>
        </p:nvGrpSpPr>
        <p:grpSpPr>
          <a:xfrm>
            <a:off x="4532174" y="3166371"/>
            <a:ext cx="983938" cy="780118"/>
            <a:chOff x="0" y="0"/>
            <a:chExt cx="983936" cy="780116"/>
          </a:xfrm>
        </p:grpSpPr>
        <p:sp>
          <p:nvSpPr>
            <p:cNvPr id="544" name="Shape"/>
            <p:cNvSpPr/>
            <p:nvPr/>
          </p:nvSpPr>
          <p:spPr>
            <a:xfrm rot="10800000">
              <a:off x="-1" y="0"/>
              <a:ext cx="841590" cy="7801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1" h="21600" extrusionOk="0">
                  <a:moveTo>
                    <a:pt x="0" y="0"/>
                  </a:moveTo>
                  <a:cubicBezTo>
                    <a:pt x="3847" y="2001"/>
                    <a:pt x="6286" y="6234"/>
                    <a:pt x="6263" y="10869"/>
                  </a:cubicBezTo>
                  <a:cubicBezTo>
                    <a:pt x="6240" y="15455"/>
                    <a:pt x="3808" y="19623"/>
                    <a:pt x="0" y="21600"/>
                  </a:cubicBezTo>
                  <a:cubicBezTo>
                    <a:pt x="4027" y="20643"/>
                    <a:pt x="7906" y="19793"/>
                    <a:pt x="11741" y="19018"/>
                  </a:cubicBezTo>
                  <a:cubicBezTo>
                    <a:pt x="16228" y="18111"/>
                    <a:pt x="21285" y="16281"/>
                    <a:pt x="21437" y="11339"/>
                  </a:cubicBezTo>
                  <a:cubicBezTo>
                    <a:pt x="21600" y="6073"/>
                    <a:pt x="16411" y="3944"/>
                    <a:pt x="11803" y="2826"/>
                  </a:cubicBezTo>
                  <a:cubicBezTo>
                    <a:pt x="7962" y="1895"/>
                    <a:pt x="4099" y="96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545" name="Line"/>
            <p:cNvSpPr/>
            <p:nvPr/>
          </p:nvSpPr>
          <p:spPr>
            <a:xfrm>
              <a:off x="699203" y="29910"/>
              <a:ext cx="284734" cy="7435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7" h="21600" extrusionOk="0">
                  <a:moveTo>
                    <a:pt x="21537" y="0"/>
                  </a:moveTo>
                  <a:cubicBezTo>
                    <a:pt x="8749" y="1382"/>
                    <a:pt x="-63" y="5872"/>
                    <a:pt x="1" y="10974"/>
                  </a:cubicBezTo>
                  <a:cubicBezTo>
                    <a:pt x="61" y="15792"/>
                    <a:pt x="8086" y="20062"/>
                    <a:pt x="19972" y="2160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</p:grpSp>
      <p:sp>
        <p:nvSpPr>
          <p:cNvPr id="547" name="Line"/>
          <p:cNvSpPr/>
          <p:nvPr/>
        </p:nvSpPr>
        <p:spPr>
          <a:xfrm flipH="1" flipV="1">
            <a:off x="5297946" y="3773586"/>
            <a:ext cx="391199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48" name="Line"/>
          <p:cNvSpPr/>
          <p:nvPr/>
        </p:nvSpPr>
        <p:spPr>
          <a:xfrm flipH="1" flipV="1">
            <a:off x="5297946" y="3367186"/>
            <a:ext cx="649174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49" name="Line"/>
          <p:cNvSpPr/>
          <p:nvPr/>
        </p:nvSpPr>
        <p:spPr>
          <a:xfrm flipV="1">
            <a:off x="9206425" y="3760886"/>
            <a:ext cx="1" cy="120761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50" name="Line"/>
          <p:cNvSpPr/>
          <p:nvPr/>
        </p:nvSpPr>
        <p:spPr>
          <a:xfrm flipV="1">
            <a:off x="11797225" y="3354486"/>
            <a:ext cx="1" cy="1611308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51" name="0"/>
          <p:cNvSpPr txBox="1"/>
          <p:nvPr/>
        </p:nvSpPr>
        <p:spPr>
          <a:xfrm>
            <a:off x="23120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0</a:t>
            </a:r>
          </a:p>
        </p:txBody>
      </p:sp>
      <p:sp>
        <p:nvSpPr>
          <p:cNvPr id="552" name="1"/>
          <p:cNvSpPr txBox="1"/>
          <p:nvPr/>
        </p:nvSpPr>
        <p:spPr>
          <a:xfrm>
            <a:off x="50044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</a:p>
        </p:txBody>
      </p:sp>
      <p:sp>
        <p:nvSpPr>
          <p:cNvPr id="553" name="0"/>
          <p:cNvSpPr txBox="1"/>
          <p:nvPr/>
        </p:nvSpPr>
        <p:spPr>
          <a:xfrm>
            <a:off x="76968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0</a:t>
            </a:r>
          </a:p>
        </p:txBody>
      </p:sp>
      <p:sp>
        <p:nvSpPr>
          <p:cNvPr id="554" name="0"/>
          <p:cNvSpPr txBox="1"/>
          <p:nvPr/>
        </p:nvSpPr>
        <p:spPr>
          <a:xfrm>
            <a:off x="10389244" y="5176285"/>
            <a:ext cx="426771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0</a:t>
            </a:r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Linear feedback shift regis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90727">
              <a:defRPr sz="6719"/>
            </a:lvl1pPr>
          </a:lstStyle>
          <a:p>
            <a:r>
              <a:t>Linear feedback shift register</a:t>
            </a:r>
          </a:p>
        </p:txBody>
      </p:sp>
      <p:sp>
        <p:nvSpPr>
          <p:cNvPr id="55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44</a:t>
            </a:fld>
            <a:endParaRPr/>
          </a:p>
        </p:txBody>
      </p:sp>
      <p:sp>
        <p:nvSpPr>
          <p:cNvPr id="558" name="Line"/>
          <p:cNvSpPr/>
          <p:nvPr/>
        </p:nvSpPr>
        <p:spPr>
          <a:xfrm>
            <a:off x="1324116" y="4953093"/>
            <a:ext cx="1048247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59" name="Rectangle"/>
          <p:cNvSpPr/>
          <p:nvPr/>
        </p:nvSpPr>
        <p:spPr>
          <a:xfrm>
            <a:off x="1890429" y="463747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60" name="D"/>
          <p:cNvSpPr txBox="1"/>
          <p:nvPr/>
        </p:nvSpPr>
        <p:spPr>
          <a:xfrm>
            <a:off x="1876593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561" name="Q"/>
          <p:cNvSpPr txBox="1"/>
          <p:nvPr/>
        </p:nvSpPr>
        <p:spPr>
          <a:xfrm>
            <a:off x="2703924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562" name="Triangle"/>
          <p:cNvSpPr/>
          <p:nvPr/>
        </p:nvSpPr>
        <p:spPr>
          <a:xfrm rot="5400000">
            <a:off x="1881539" y="593353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63" name="Rectangle"/>
          <p:cNvSpPr/>
          <p:nvPr/>
        </p:nvSpPr>
        <p:spPr>
          <a:xfrm>
            <a:off x="4582829" y="4622533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64" name="Triangle"/>
          <p:cNvSpPr/>
          <p:nvPr/>
        </p:nvSpPr>
        <p:spPr>
          <a:xfrm rot="5400000">
            <a:off x="4573939" y="5918588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65" name="Rectangle"/>
          <p:cNvSpPr/>
          <p:nvPr/>
        </p:nvSpPr>
        <p:spPr>
          <a:xfrm>
            <a:off x="7275229" y="463747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66" name="Triangle"/>
          <p:cNvSpPr/>
          <p:nvPr/>
        </p:nvSpPr>
        <p:spPr>
          <a:xfrm rot="5400000">
            <a:off x="7266339" y="593353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67" name="Rectangle"/>
          <p:cNvSpPr/>
          <p:nvPr/>
        </p:nvSpPr>
        <p:spPr>
          <a:xfrm>
            <a:off x="9967629" y="460758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68" name="Triangle"/>
          <p:cNvSpPr/>
          <p:nvPr/>
        </p:nvSpPr>
        <p:spPr>
          <a:xfrm rot="5400000">
            <a:off x="9958739" y="590364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69" name="D"/>
          <p:cNvSpPr txBox="1"/>
          <p:nvPr/>
        </p:nvSpPr>
        <p:spPr>
          <a:xfrm>
            <a:off x="4583522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570" name="Q"/>
          <p:cNvSpPr txBox="1"/>
          <p:nvPr/>
        </p:nvSpPr>
        <p:spPr>
          <a:xfrm>
            <a:off x="5410853" y="4660993"/>
            <a:ext cx="43041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571" name="D"/>
          <p:cNvSpPr txBox="1"/>
          <p:nvPr/>
        </p:nvSpPr>
        <p:spPr>
          <a:xfrm>
            <a:off x="7264814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572" name="Q"/>
          <p:cNvSpPr txBox="1"/>
          <p:nvPr/>
        </p:nvSpPr>
        <p:spPr>
          <a:xfrm>
            <a:off x="8092145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573" name="D"/>
          <p:cNvSpPr txBox="1"/>
          <p:nvPr/>
        </p:nvSpPr>
        <p:spPr>
          <a:xfrm>
            <a:off x="9958807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574" name="Q"/>
          <p:cNvSpPr txBox="1"/>
          <p:nvPr/>
        </p:nvSpPr>
        <p:spPr>
          <a:xfrm>
            <a:off x="10786138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575" name="Line"/>
          <p:cNvSpPr/>
          <p:nvPr/>
        </p:nvSpPr>
        <p:spPr>
          <a:xfrm>
            <a:off x="1534387" y="6105245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76" name="Line"/>
          <p:cNvSpPr/>
          <p:nvPr/>
        </p:nvSpPr>
        <p:spPr>
          <a:xfrm flipH="1">
            <a:off x="1534387" y="6093848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77" name="Line"/>
          <p:cNvSpPr/>
          <p:nvPr/>
        </p:nvSpPr>
        <p:spPr>
          <a:xfrm>
            <a:off x="4232723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78" name="Line"/>
          <p:cNvSpPr/>
          <p:nvPr/>
        </p:nvSpPr>
        <p:spPr>
          <a:xfrm>
            <a:off x="4232723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79" name="Line"/>
          <p:cNvSpPr/>
          <p:nvPr/>
        </p:nvSpPr>
        <p:spPr>
          <a:xfrm>
            <a:off x="6931059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80" name="Line"/>
          <p:cNvSpPr/>
          <p:nvPr/>
        </p:nvSpPr>
        <p:spPr>
          <a:xfrm>
            <a:off x="6931059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81" name="Line"/>
          <p:cNvSpPr/>
          <p:nvPr/>
        </p:nvSpPr>
        <p:spPr>
          <a:xfrm>
            <a:off x="9623459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82" name="Line"/>
          <p:cNvSpPr/>
          <p:nvPr/>
        </p:nvSpPr>
        <p:spPr>
          <a:xfrm>
            <a:off x="9623459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83" name="Line"/>
          <p:cNvSpPr/>
          <p:nvPr/>
        </p:nvSpPr>
        <p:spPr>
          <a:xfrm>
            <a:off x="863073" y="6943445"/>
            <a:ext cx="876612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84" name="clk"/>
          <p:cNvSpPr txBox="1"/>
          <p:nvPr/>
        </p:nvSpPr>
        <p:spPr>
          <a:xfrm>
            <a:off x="666709" y="6915801"/>
            <a:ext cx="61730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</a:t>
            </a:r>
          </a:p>
        </p:txBody>
      </p:sp>
      <p:sp>
        <p:nvSpPr>
          <p:cNvPr id="585" name="Line"/>
          <p:cNvSpPr/>
          <p:nvPr/>
        </p:nvSpPr>
        <p:spPr>
          <a:xfrm flipV="1">
            <a:off x="1324116" y="3546442"/>
            <a:ext cx="1" cy="140936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86" name="Line"/>
          <p:cNvSpPr/>
          <p:nvPr/>
        </p:nvSpPr>
        <p:spPr>
          <a:xfrm flipH="1" flipV="1">
            <a:off x="1324116" y="3556432"/>
            <a:ext cx="319002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grpSp>
        <p:nvGrpSpPr>
          <p:cNvPr id="589" name="Group"/>
          <p:cNvGrpSpPr/>
          <p:nvPr/>
        </p:nvGrpSpPr>
        <p:grpSpPr>
          <a:xfrm>
            <a:off x="4532174" y="3166371"/>
            <a:ext cx="983938" cy="780118"/>
            <a:chOff x="0" y="0"/>
            <a:chExt cx="983936" cy="780116"/>
          </a:xfrm>
        </p:grpSpPr>
        <p:sp>
          <p:nvSpPr>
            <p:cNvPr id="587" name="Shape"/>
            <p:cNvSpPr/>
            <p:nvPr/>
          </p:nvSpPr>
          <p:spPr>
            <a:xfrm rot="10800000">
              <a:off x="-1" y="0"/>
              <a:ext cx="841590" cy="7801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1" h="21600" extrusionOk="0">
                  <a:moveTo>
                    <a:pt x="0" y="0"/>
                  </a:moveTo>
                  <a:cubicBezTo>
                    <a:pt x="3847" y="2001"/>
                    <a:pt x="6286" y="6234"/>
                    <a:pt x="6263" y="10869"/>
                  </a:cubicBezTo>
                  <a:cubicBezTo>
                    <a:pt x="6240" y="15455"/>
                    <a:pt x="3808" y="19623"/>
                    <a:pt x="0" y="21600"/>
                  </a:cubicBezTo>
                  <a:cubicBezTo>
                    <a:pt x="4027" y="20643"/>
                    <a:pt x="7906" y="19793"/>
                    <a:pt x="11741" y="19018"/>
                  </a:cubicBezTo>
                  <a:cubicBezTo>
                    <a:pt x="16228" y="18111"/>
                    <a:pt x="21285" y="16281"/>
                    <a:pt x="21437" y="11339"/>
                  </a:cubicBezTo>
                  <a:cubicBezTo>
                    <a:pt x="21600" y="6073"/>
                    <a:pt x="16411" y="3944"/>
                    <a:pt x="11803" y="2826"/>
                  </a:cubicBezTo>
                  <a:cubicBezTo>
                    <a:pt x="7962" y="1895"/>
                    <a:pt x="4099" y="96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588" name="Line"/>
            <p:cNvSpPr/>
            <p:nvPr/>
          </p:nvSpPr>
          <p:spPr>
            <a:xfrm>
              <a:off x="699203" y="29910"/>
              <a:ext cx="284734" cy="7435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7" h="21600" extrusionOk="0">
                  <a:moveTo>
                    <a:pt x="21537" y="0"/>
                  </a:moveTo>
                  <a:cubicBezTo>
                    <a:pt x="8749" y="1382"/>
                    <a:pt x="-63" y="5872"/>
                    <a:pt x="1" y="10974"/>
                  </a:cubicBezTo>
                  <a:cubicBezTo>
                    <a:pt x="61" y="15792"/>
                    <a:pt x="8086" y="20062"/>
                    <a:pt x="19972" y="2160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</p:grpSp>
      <p:sp>
        <p:nvSpPr>
          <p:cNvPr id="590" name="Line"/>
          <p:cNvSpPr/>
          <p:nvPr/>
        </p:nvSpPr>
        <p:spPr>
          <a:xfrm flipH="1" flipV="1">
            <a:off x="5297946" y="3773586"/>
            <a:ext cx="391199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91" name="Line"/>
          <p:cNvSpPr/>
          <p:nvPr/>
        </p:nvSpPr>
        <p:spPr>
          <a:xfrm flipH="1" flipV="1">
            <a:off x="5297946" y="3367186"/>
            <a:ext cx="649174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92" name="Line"/>
          <p:cNvSpPr/>
          <p:nvPr/>
        </p:nvSpPr>
        <p:spPr>
          <a:xfrm flipV="1">
            <a:off x="9206425" y="3760886"/>
            <a:ext cx="1" cy="120761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93" name="Line"/>
          <p:cNvSpPr/>
          <p:nvPr/>
        </p:nvSpPr>
        <p:spPr>
          <a:xfrm flipV="1">
            <a:off x="11797225" y="3354486"/>
            <a:ext cx="1" cy="1611308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94" name="0"/>
          <p:cNvSpPr txBox="1"/>
          <p:nvPr/>
        </p:nvSpPr>
        <p:spPr>
          <a:xfrm>
            <a:off x="23120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0</a:t>
            </a:r>
          </a:p>
        </p:txBody>
      </p:sp>
      <p:sp>
        <p:nvSpPr>
          <p:cNvPr id="595" name="0"/>
          <p:cNvSpPr txBox="1"/>
          <p:nvPr/>
        </p:nvSpPr>
        <p:spPr>
          <a:xfrm>
            <a:off x="50044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0</a:t>
            </a:r>
          </a:p>
        </p:txBody>
      </p:sp>
      <p:sp>
        <p:nvSpPr>
          <p:cNvPr id="596" name="1"/>
          <p:cNvSpPr txBox="1"/>
          <p:nvPr/>
        </p:nvSpPr>
        <p:spPr>
          <a:xfrm>
            <a:off x="76968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</a:p>
        </p:txBody>
      </p:sp>
      <p:sp>
        <p:nvSpPr>
          <p:cNvPr id="597" name="0"/>
          <p:cNvSpPr txBox="1"/>
          <p:nvPr/>
        </p:nvSpPr>
        <p:spPr>
          <a:xfrm>
            <a:off x="10389244" y="5176285"/>
            <a:ext cx="426771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0</a:t>
            </a: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Linear feedback shift regis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90727">
              <a:defRPr sz="6719"/>
            </a:lvl1pPr>
          </a:lstStyle>
          <a:p>
            <a:r>
              <a:t>Linear feedback shift register</a:t>
            </a:r>
          </a:p>
        </p:txBody>
      </p:sp>
      <p:sp>
        <p:nvSpPr>
          <p:cNvPr id="60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45</a:t>
            </a:fld>
            <a:endParaRPr/>
          </a:p>
        </p:txBody>
      </p:sp>
      <p:sp>
        <p:nvSpPr>
          <p:cNvPr id="601" name="Line"/>
          <p:cNvSpPr/>
          <p:nvPr/>
        </p:nvSpPr>
        <p:spPr>
          <a:xfrm>
            <a:off x="1324116" y="4953093"/>
            <a:ext cx="1048247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02" name="Rectangle"/>
          <p:cNvSpPr/>
          <p:nvPr/>
        </p:nvSpPr>
        <p:spPr>
          <a:xfrm>
            <a:off x="1890429" y="463747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03" name="D"/>
          <p:cNvSpPr txBox="1"/>
          <p:nvPr/>
        </p:nvSpPr>
        <p:spPr>
          <a:xfrm>
            <a:off x="1876593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604" name="Q"/>
          <p:cNvSpPr txBox="1"/>
          <p:nvPr/>
        </p:nvSpPr>
        <p:spPr>
          <a:xfrm>
            <a:off x="2703924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605" name="Triangle"/>
          <p:cNvSpPr/>
          <p:nvPr/>
        </p:nvSpPr>
        <p:spPr>
          <a:xfrm rot="5400000">
            <a:off x="1881539" y="593353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06" name="Rectangle"/>
          <p:cNvSpPr/>
          <p:nvPr/>
        </p:nvSpPr>
        <p:spPr>
          <a:xfrm>
            <a:off x="4582829" y="4622533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07" name="Triangle"/>
          <p:cNvSpPr/>
          <p:nvPr/>
        </p:nvSpPr>
        <p:spPr>
          <a:xfrm rot="5400000">
            <a:off x="4573939" y="5918588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08" name="Rectangle"/>
          <p:cNvSpPr/>
          <p:nvPr/>
        </p:nvSpPr>
        <p:spPr>
          <a:xfrm>
            <a:off x="7275229" y="463747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09" name="Triangle"/>
          <p:cNvSpPr/>
          <p:nvPr/>
        </p:nvSpPr>
        <p:spPr>
          <a:xfrm rot="5400000">
            <a:off x="7266339" y="593353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10" name="Rectangle"/>
          <p:cNvSpPr/>
          <p:nvPr/>
        </p:nvSpPr>
        <p:spPr>
          <a:xfrm>
            <a:off x="9967629" y="460758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11" name="Triangle"/>
          <p:cNvSpPr/>
          <p:nvPr/>
        </p:nvSpPr>
        <p:spPr>
          <a:xfrm rot="5400000">
            <a:off x="9958739" y="590364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12" name="D"/>
          <p:cNvSpPr txBox="1"/>
          <p:nvPr/>
        </p:nvSpPr>
        <p:spPr>
          <a:xfrm>
            <a:off x="4583522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613" name="Q"/>
          <p:cNvSpPr txBox="1"/>
          <p:nvPr/>
        </p:nvSpPr>
        <p:spPr>
          <a:xfrm>
            <a:off x="5410853" y="4660993"/>
            <a:ext cx="43041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614" name="D"/>
          <p:cNvSpPr txBox="1"/>
          <p:nvPr/>
        </p:nvSpPr>
        <p:spPr>
          <a:xfrm>
            <a:off x="7264814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615" name="Q"/>
          <p:cNvSpPr txBox="1"/>
          <p:nvPr/>
        </p:nvSpPr>
        <p:spPr>
          <a:xfrm>
            <a:off x="8092145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616" name="D"/>
          <p:cNvSpPr txBox="1"/>
          <p:nvPr/>
        </p:nvSpPr>
        <p:spPr>
          <a:xfrm>
            <a:off x="9958807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617" name="Q"/>
          <p:cNvSpPr txBox="1"/>
          <p:nvPr/>
        </p:nvSpPr>
        <p:spPr>
          <a:xfrm>
            <a:off x="10786138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618" name="Line"/>
          <p:cNvSpPr/>
          <p:nvPr/>
        </p:nvSpPr>
        <p:spPr>
          <a:xfrm>
            <a:off x="1534387" y="6105245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19" name="Line"/>
          <p:cNvSpPr/>
          <p:nvPr/>
        </p:nvSpPr>
        <p:spPr>
          <a:xfrm flipH="1">
            <a:off x="1534387" y="6093848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20" name="Line"/>
          <p:cNvSpPr/>
          <p:nvPr/>
        </p:nvSpPr>
        <p:spPr>
          <a:xfrm>
            <a:off x="4232723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21" name="Line"/>
          <p:cNvSpPr/>
          <p:nvPr/>
        </p:nvSpPr>
        <p:spPr>
          <a:xfrm>
            <a:off x="4232723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22" name="Line"/>
          <p:cNvSpPr/>
          <p:nvPr/>
        </p:nvSpPr>
        <p:spPr>
          <a:xfrm>
            <a:off x="6931059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23" name="Line"/>
          <p:cNvSpPr/>
          <p:nvPr/>
        </p:nvSpPr>
        <p:spPr>
          <a:xfrm>
            <a:off x="6931059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24" name="Line"/>
          <p:cNvSpPr/>
          <p:nvPr/>
        </p:nvSpPr>
        <p:spPr>
          <a:xfrm>
            <a:off x="9623459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25" name="Line"/>
          <p:cNvSpPr/>
          <p:nvPr/>
        </p:nvSpPr>
        <p:spPr>
          <a:xfrm>
            <a:off x="9623459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26" name="Line"/>
          <p:cNvSpPr/>
          <p:nvPr/>
        </p:nvSpPr>
        <p:spPr>
          <a:xfrm>
            <a:off x="863073" y="6943445"/>
            <a:ext cx="876612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27" name="clk"/>
          <p:cNvSpPr txBox="1"/>
          <p:nvPr/>
        </p:nvSpPr>
        <p:spPr>
          <a:xfrm>
            <a:off x="666709" y="6915801"/>
            <a:ext cx="61730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</a:t>
            </a:r>
          </a:p>
        </p:txBody>
      </p:sp>
      <p:sp>
        <p:nvSpPr>
          <p:cNvPr id="628" name="Line"/>
          <p:cNvSpPr/>
          <p:nvPr/>
        </p:nvSpPr>
        <p:spPr>
          <a:xfrm flipV="1">
            <a:off x="1324116" y="3546442"/>
            <a:ext cx="1" cy="140936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29" name="Line"/>
          <p:cNvSpPr/>
          <p:nvPr/>
        </p:nvSpPr>
        <p:spPr>
          <a:xfrm flipH="1" flipV="1">
            <a:off x="1324116" y="3556432"/>
            <a:ext cx="319002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grpSp>
        <p:nvGrpSpPr>
          <p:cNvPr id="632" name="Group"/>
          <p:cNvGrpSpPr/>
          <p:nvPr/>
        </p:nvGrpSpPr>
        <p:grpSpPr>
          <a:xfrm>
            <a:off x="4532174" y="3166371"/>
            <a:ext cx="983938" cy="780118"/>
            <a:chOff x="0" y="0"/>
            <a:chExt cx="983936" cy="780116"/>
          </a:xfrm>
        </p:grpSpPr>
        <p:sp>
          <p:nvSpPr>
            <p:cNvPr id="630" name="Shape"/>
            <p:cNvSpPr/>
            <p:nvPr/>
          </p:nvSpPr>
          <p:spPr>
            <a:xfrm rot="10800000">
              <a:off x="-1" y="0"/>
              <a:ext cx="841590" cy="7801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1" h="21600" extrusionOk="0">
                  <a:moveTo>
                    <a:pt x="0" y="0"/>
                  </a:moveTo>
                  <a:cubicBezTo>
                    <a:pt x="3847" y="2001"/>
                    <a:pt x="6286" y="6234"/>
                    <a:pt x="6263" y="10869"/>
                  </a:cubicBezTo>
                  <a:cubicBezTo>
                    <a:pt x="6240" y="15455"/>
                    <a:pt x="3808" y="19623"/>
                    <a:pt x="0" y="21600"/>
                  </a:cubicBezTo>
                  <a:cubicBezTo>
                    <a:pt x="4027" y="20643"/>
                    <a:pt x="7906" y="19793"/>
                    <a:pt x="11741" y="19018"/>
                  </a:cubicBezTo>
                  <a:cubicBezTo>
                    <a:pt x="16228" y="18111"/>
                    <a:pt x="21285" y="16281"/>
                    <a:pt x="21437" y="11339"/>
                  </a:cubicBezTo>
                  <a:cubicBezTo>
                    <a:pt x="21600" y="6073"/>
                    <a:pt x="16411" y="3944"/>
                    <a:pt x="11803" y="2826"/>
                  </a:cubicBezTo>
                  <a:cubicBezTo>
                    <a:pt x="7962" y="1895"/>
                    <a:pt x="4099" y="96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631" name="Line"/>
            <p:cNvSpPr/>
            <p:nvPr/>
          </p:nvSpPr>
          <p:spPr>
            <a:xfrm>
              <a:off x="699203" y="29910"/>
              <a:ext cx="284734" cy="7435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7" h="21600" extrusionOk="0">
                  <a:moveTo>
                    <a:pt x="21537" y="0"/>
                  </a:moveTo>
                  <a:cubicBezTo>
                    <a:pt x="8749" y="1382"/>
                    <a:pt x="-63" y="5872"/>
                    <a:pt x="1" y="10974"/>
                  </a:cubicBezTo>
                  <a:cubicBezTo>
                    <a:pt x="61" y="15792"/>
                    <a:pt x="8086" y="20062"/>
                    <a:pt x="19972" y="2160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</p:grpSp>
      <p:sp>
        <p:nvSpPr>
          <p:cNvPr id="633" name="Line"/>
          <p:cNvSpPr/>
          <p:nvPr/>
        </p:nvSpPr>
        <p:spPr>
          <a:xfrm flipH="1" flipV="1">
            <a:off x="5297946" y="3773586"/>
            <a:ext cx="391199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34" name="Line"/>
          <p:cNvSpPr/>
          <p:nvPr/>
        </p:nvSpPr>
        <p:spPr>
          <a:xfrm flipH="1" flipV="1">
            <a:off x="5297946" y="3367186"/>
            <a:ext cx="649174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35" name="Line"/>
          <p:cNvSpPr/>
          <p:nvPr/>
        </p:nvSpPr>
        <p:spPr>
          <a:xfrm flipV="1">
            <a:off x="9206425" y="3760886"/>
            <a:ext cx="1" cy="120761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36" name="Line"/>
          <p:cNvSpPr/>
          <p:nvPr/>
        </p:nvSpPr>
        <p:spPr>
          <a:xfrm flipV="1">
            <a:off x="11797225" y="3354486"/>
            <a:ext cx="1" cy="1611308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37" name="1"/>
          <p:cNvSpPr txBox="1"/>
          <p:nvPr/>
        </p:nvSpPr>
        <p:spPr>
          <a:xfrm>
            <a:off x="23120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</a:p>
        </p:txBody>
      </p:sp>
      <p:sp>
        <p:nvSpPr>
          <p:cNvPr id="638" name="0"/>
          <p:cNvSpPr txBox="1"/>
          <p:nvPr/>
        </p:nvSpPr>
        <p:spPr>
          <a:xfrm>
            <a:off x="50044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0</a:t>
            </a:r>
          </a:p>
        </p:txBody>
      </p:sp>
      <p:sp>
        <p:nvSpPr>
          <p:cNvPr id="639" name="0"/>
          <p:cNvSpPr txBox="1"/>
          <p:nvPr/>
        </p:nvSpPr>
        <p:spPr>
          <a:xfrm>
            <a:off x="76968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0</a:t>
            </a:r>
          </a:p>
        </p:txBody>
      </p:sp>
      <p:sp>
        <p:nvSpPr>
          <p:cNvPr id="640" name="1"/>
          <p:cNvSpPr txBox="1"/>
          <p:nvPr/>
        </p:nvSpPr>
        <p:spPr>
          <a:xfrm>
            <a:off x="10389244" y="5176285"/>
            <a:ext cx="426771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Linear feedback shift regis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90727">
              <a:defRPr sz="6719"/>
            </a:lvl1pPr>
          </a:lstStyle>
          <a:p>
            <a:r>
              <a:t>Linear feedback shift register</a:t>
            </a:r>
          </a:p>
        </p:txBody>
      </p:sp>
      <p:sp>
        <p:nvSpPr>
          <p:cNvPr id="6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46</a:t>
            </a:fld>
            <a:endParaRPr/>
          </a:p>
        </p:txBody>
      </p:sp>
      <p:sp>
        <p:nvSpPr>
          <p:cNvPr id="644" name="Line"/>
          <p:cNvSpPr/>
          <p:nvPr/>
        </p:nvSpPr>
        <p:spPr>
          <a:xfrm>
            <a:off x="1324116" y="4953093"/>
            <a:ext cx="1048247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45" name="Rectangle"/>
          <p:cNvSpPr/>
          <p:nvPr/>
        </p:nvSpPr>
        <p:spPr>
          <a:xfrm>
            <a:off x="1890429" y="463747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46" name="D"/>
          <p:cNvSpPr txBox="1"/>
          <p:nvPr/>
        </p:nvSpPr>
        <p:spPr>
          <a:xfrm>
            <a:off x="1876593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647" name="Q"/>
          <p:cNvSpPr txBox="1"/>
          <p:nvPr/>
        </p:nvSpPr>
        <p:spPr>
          <a:xfrm>
            <a:off x="2703924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648" name="Triangle"/>
          <p:cNvSpPr/>
          <p:nvPr/>
        </p:nvSpPr>
        <p:spPr>
          <a:xfrm rot="5400000">
            <a:off x="1881539" y="593353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49" name="Rectangle"/>
          <p:cNvSpPr/>
          <p:nvPr/>
        </p:nvSpPr>
        <p:spPr>
          <a:xfrm>
            <a:off x="4582829" y="4622533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50" name="Triangle"/>
          <p:cNvSpPr/>
          <p:nvPr/>
        </p:nvSpPr>
        <p:spPr>
          <a:xfrm rot="5400000">
            <a:off x="4573939" y="5918588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51" name="Rectangle"/>
          <p:cNvSpPr/>
          <p:nvPr/>
        </p:nvSpPr>
        <p:spPr>
          <a:xfrm>
            <a:off x="7275229" y="463747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52" name="Triangle"/>
          <p:cNvSpPr/>
          <p:nvPr/>
        </p:nvSpPr>
        <p:spPr>
          <a:xfrm rot="5400000">
            <a:off x="7266339" y="593353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53" name="Rectangle"/>
          <p:cNvSpPr/>
          <p:nvPr/>
        </p:nvSpPr>
        <p:spPr>
          <a:xfrm>
            <a:off x="9967629" y="460758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54" name="Triangle"/>
          <p:cNvSpPr/>
          <p:nvPr/>
        </p:nvSpPr>
        <p:spPr>
          <a:xfrm rot="5400000">
            <a:off x="9958739" y="590364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55" name="D"/>
          <p:cNvSpPr txBox="1"/>
          <p:nvPr/>
        </p:nvSpPr>
        <p:spPr>
          <a:xfrm>
            <a:off x="4583522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656" name="Q"/>
          <p:cNvSpPr txBox="1"/>
          <p:nvPr/>
        </p:nvSpPr>
        <p:spPr>
          <a:xfrm>
            <a:off x="5410853" y="4660993"/>
            <a:ext cx="43041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657" name="D"/>
          <p:cNvSpPr txBox="1"/>
          <p:nvPr/>
        </p:nvSpPr>
        <p:spPr>
          <a:xfrm>
            <a:off x="7264814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658" name="Q"/>
          <p:cNvSpPr txBox="1"/>
          <p:nvPr/>
        </p:nvSpPr>
        <p:spPr>
          <a:xfrm>
            <a:off x="8092145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659" name="D"/>
          <p:cNvSpPr txBox="1"/>
          <p:nvPr/>
        </p:nvSpPr>
        <p:spPr>
          <a:xfrm>
            <a:off x="9958807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660" name="Q"/>
          <p:cNvSpPr txBox="1"/>
          <p:nvPr/>
        </p:nvSpPr>
        <p:spPr>
          <a:xfrm>
            <a:off x="10786138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661" name="Line"/>
          <p:cNvSpPr/>
          <p:nvPr/>
        </p:nvSpPr>
        <p:spPr>
          <a:xfrm>
            <a:off x="1534387" y="6105245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62" name="Line"/>
          <p:cNvSpPr/>
          <p:nvPr/>
        </p:nvSpPr>
        <p:spPr>
          <a:xfrm flipH="1">
            <a:off x="1534387" y="6093848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63" name="Line"/>
          <p:cNvSpPr/>
          <p:nvPr/>
        </p:nvSpPr>
        <p:spPr>
          <a:xfrm>
            <a:off x="4232723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64" name="Line"/>
          <p:cNvSpPr/>
          <p:nvPr/>
        </p:nvSpPr>
        <p:spPr>
          <a:xfrm>
            <a:off x="4232723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65" name="Line"/>
          <p:cNvSpPr/>
          <p:nvPr/>
        </p:nvSpPr>
        <p:spPr>
          <a:xfrm>
            <a:off x="6931059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66" name="Line"/>
          <p:cNvSpPr/>
          <p:nvPr/>
        </p:nvSpPr>
        <p:spPr>
          <a:xfrm>
            <a:off x="6931059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67" name="Line"/>
          <p:cNvSpPr/>
          <p:nvPr/>
        </p:nvSpPr>
        <p:spPr>
          <a:xfrm>
            <a:off x="9623459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68" name="Line"/>
          <p:cNvSpPr/>
          <p:nvPr/>
        </p:nvSpPr>
        <p:spPr>
          <a:xfrm>
            <a:off x="9623459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69" name="Line"/>
          <p:cNvSpPr/>
          <p:nvPr/>
        </p:nvSpPr>
        <p:spPr>
          <a:xfrm>
            <a:off x="863073" y="6943445"/>
            <a:ext cx="876612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70" name="clk"/>
          <p:cNvSpPr txBox="1"/>
          <p:nvPr/>
        </p:nvSpPr>
        <p:spPr>
          <a:xfrm>
            <a:off x="666709" y="6915801"/>
            <a:ext cx="61730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</a:t>
            </a:r>
          </a:p>
        </p:txBody>
      </p:sp>
      <p:sp>
        <p:nvSpPr>
          <p:cNvPr id="671" name="Line"/>
          <p:cNvSpPr/>
          <p:nvPr/>
        </p:nvSpPr>
        <p:spPr>
          <a:xfrm flipV="1">
            <a:off x="1324116" y="3546442"/>
            <a:ext cx="1" cy="140936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72" name="Line"/>
          <p:cNvSpPr/>
          <p:nvPr/>
        </p:nvSpPr>
        <p:spPr>
          <a:xfrm flipH="1" flipV="1">
            <a:off x="1324116" y="3556432"/>
            <a:ext cx="319002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grpSp>
        <p:nvGrpSpPr>
          <p:cNvPr id="675" name="Group"/>
          <p:cNvGrpSpPr/>
          <p:nvPr/>
        </p:nvGrpSpPr>
        <p:grpSpPr>
          <a:xfrm>
            <a:off x="4532174" y="3166371"/>
            <a:ext cx="983938" cy="780118"/>
            <a:chOff x="0" y="0"/>
            <a:chExt cx="983936" cy="780116"/>
          </a:xfrm>
        </p:grpSpPr>
        <p:sp>
          <p:nvSpPr>
            <p:cNvPr id="673" name="Shape"/>
            <p:cNvSpPr/>
            <p:nvPr/>
          </p:nvSpPr>
          <p:spPr>
            <a:xfrm rot="10800000">
              <a:off x="-1" y="0"/>
              <a:ext cx="841590" cy="7801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1" h="21600" extrusionOk="0">
                  <a:moveTo>
                    <a:pt x="0" y="0"/>
                  </a:moveTo>
                  <a:cubicBezTo>
                    <a:pt x="3847" y="2001"/>
                    <a:pt x="6286" y="6234"/>
                    <a:pt x="6263" y="10869"/>
                  </a:cubicBezTo>
                  <a:cubicBezTo>
                    <a:pt x="6240" y="15455"/>
                    <a:pt x="3808" y="19623"/>
                    <a:pt x="0" y="21600"/>
                  </a:cubicBezTo>
                  <a:cubicBezTo>
                    <a:pt x="4027" y="20643"/>
                    <a:pt x="7906" y="19793"/>
                    <a:pt x="11741" y="19018"/>
                  </a:cubicBezTo>
                  <a:cubicBezTo>
                    <a:pt x="16228" y="18111"/>
                    <a:pt x="21285" y="16281"/>
                    <a:pt x="21437" y="11339"/>
                  </a:cubicBezTo>
                  <a:cubicBezTo>
                    <a:pt x="21600" y="6073"/>
                    <a:pt x="16411" y="3944"/>
                    <a:pt x="11803" y="2826"/>
                  </a:cubicBezTo>
                  <a:cubicBezTo>
                    <a:pt x="7962" y="1895"/>
                    <a:pt x="4099" y="96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674" name="Line"/>
            <p:cNvSpPr/>
            <p:nvPr/>
          </p:nvSpPr>
          <p:spPr>
            <a:xfrm>
              <a:off x="699203" y="29910"/>
              <a:ext cx="284734" cy="7435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7" h="21600" extrusionOk="0">
                  <a:moveTo>
                    <a:pt x="21537" y="0"/>
                  </a:moveTo>
                  <a:cubicBezTo>
                    <a:pt x="8749" y="1382"/>
                    <a:pt x="-63" y="5872"/>
                    <a:pt x="1" y="10974"/>
                  </a:cubicBezTo>
                  <a:cubicBezTo>
                    <a:pt x="61" y="15792"/>
                    <a:pt x="8086" y="20062"/>
                    <a:pt x="19972" y="2160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</p:grpSp>
      <p:sp>
        <p:nvSpPr>
          <p:cNvPr id="676" name="Line"/>
          <p:cNvSpPr/>
          <p:nvPr/>
        </p:nvSpPr>
        <p:spPr>
          <a:xfrm flipH="1" flipV="1">
            <a:off x="5297946" y="3773586"/>
            <a:ext cx="391199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77" name="Line"/>
          <p:cNvSpPr/>
          <p:nvPr/>
        </p:nvSpPr>
        <p:spPr>
          <a:xfrm flipH="1" flipV="1">
            <a:off x="5297946" y="3367186"/>
            <a:ext cx="649174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78" name="Line"/>
          <p:cNvSpPr/>
          <p:nvPr/>
        </p:nvSpPr>
        <p:spPr>
          <a:xfrm flipV="1">
            <a:off x="9206425" y="3760886"/>
            <a:ext cx="1" cy="120761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79" name="Line"/>
          <p:cNvSpPr/>
          <p:nvPr/>
        </p:nvSpPr>
        <p:spPr>
          <a:xfrm flipV="1">
            <a:off x="11797225" y="3354486"/>
            <a:ext cx="1" cy="1611308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80" name="1"/>
          <p:cNvSpPr txBox="1"/>
          <p:nvPr/>
        </p:nvSpPr>
        <p:spPr>
          <a:xfrm>
            <a:off x="23120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</a:p>
        </p:txBody>
      </p:sp>
      <p:sp>
        <p:nvSpPr>
          <p:cNvPr id="681" name="1"/>
          <p:cNvSpPr txBox="1"/>
          <p:nvPr/>
        </p:nvSpPr>
        <p:spPr>
          <a:xfrm>
            <a:off x="50044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</a:p>
        </p:txBody>
      </p:sp>
      <p:sp>
        <p:nvSpPr>
          <p:cNvPr id="682" name="0"/>
          <p:cNvSpPr txBox="1"/>
          <p:nvPr/>
        </p:nvSpPr>
        <p:spPr>
          <a:xfrm>
            <a:off x="76968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0</a:t>
            </a:r>
          </a:p>
        </p:txBody>
      </p:sp>
      <p:sp>
        <p:nvSpPr>
          <p:cNvPr id="683" name="0"/>
          <p:cNvSpPr txBox="1"/>
          <p:nvPr/>
        </p:nvSpPr>
        <p:spPr>
          <a:xfrm>
            <a:off x="10389244" y="5176285"/>
            <a:ext cx="426771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0</a:t>
            </a:r>
          </a:p>
        </p:txBody>
      </p: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Linear feedback shift regis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90727">
              <a:defRPr sz="6719"/>
            </a:lvl1pPr>
          </a:lstStyle>
          <a:p>
            <a:r>
              <a:t>Linear feedback shift register</a:t>
            </a:r>
          </a:p>
        </p:txBody>
      </p:sp>
      <p:sp>
        <p:nvSpPr>
          <p:cNvPr id="6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47</a:t>
            </a:fld>
            <a:endParaRPr/>
          </a:p>
        </p:txBody>
      </p:sp>
      <p:sp>
        <p:nvSpPr>
          <p:cNvPr id="687" name="Line"/>
          <p:cNvSpPr/>
          <p:nvPr/>
        </p:nvSpPr>
        <p:spPr>
          <a:xfrm>
            <a:off x="1324116" y="4953093"/>
            <a:ext cx="1048247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88" name="Rectangle"/>
          <p:cNvSpPr/>
          <p:nvPr/>
        </p:nvSpPr>
        <p:spPr>
          <a:xfrm>
            <a:off x="1890429" y="463747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89" name="D"/>
          <p:cNvSpPr txBox="1"/>
          <p:nvPr/>
        </p:nvSpPr>
        <p:spPr>
          <a:xfrm>
            <a:off x="1876593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690" name="Q"/>
          <p:cNvSpPr txBox="1"/>
          <p:nvPr/>
        </p:nvSpPr>
        <p:spPr>
          <a:xfrm>
            <a:off x="2703924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691" name="Triangle"/>
          <p:cNvSpPr/>
          <p:nvPr/>
        </p:nvSpPr>
        <p:spPr>
          <a:xfrm rot="5400000">
            <a:off x="1881539" y="593353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92" name="Rectangle"/>
          <p:cNvSpPr/>
          <p:nvPr/>
        </p:nvSpPr>
        <p:spPr>
          <a:xfrm>
            <a:off x="4582829" y="4622533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93" name="Triangle"/>
          <p:cNvSpPr/>
          <p:nvPr/>
        </p:nvSpPr>
        <p:spPr>
          <a:xfrm rot="5400000">
            <a:off x="4573939" y="5918588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94" name="Rectangle"/>
          <p:cNvSpPr/>
          <p:nvPr/>
        </p:nvSpPr>
        <p:spPr>
          <a:xfrm>
            <a:off x="7275229" y="463747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95" name="Triangle"/>
          <p:cNvSpPr/>
          <p:nvPr/>
        </p:nvSpPr>
        <p:spPr>
          <a:xfrm rot="5400000">
            <a:off x="7266339" y="593353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96" name="Rectangle"/>
          <p:cNvSpPr/>
          <p:nvPr/>
        </p:nvSpPr>
        <p:spPr>
          <a:xfrm>
            <a:off x="9967629" y="460758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97" name="Triangle"/>
          <p:cNvSpPr/>
          <p:nvPr/>
        </p:nvSpPr>
        <p:spPr>
          <a:xfrm rot="5400000">
            <a:off x="9958739" y="590364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98" name="D"/>
          <p:cNvSpPr txBox="1"/>
          <p:nvPr/>
        </p:nvSpPr>
        <p:spPr>
          <a:xfrm>
            <a:off x="4583522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699" name="Q"/>
          <p:cNvSpPr txBox="1"/>
          <p:nvPr/>
        </p:nvSpPr>
        <p:spPr>
          <a:xfrm>
            <a:off x="5410853" y="4660993"/>
            <a:ext cx="43041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700" name="D"/>
          <p:cNvSpPr txBox="1"/>
          <p:nvPr/>
        </p:nvSpPr>
        <p:spPr>
          <a:xfrm>
            <a:off x="7264814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701" name="Q"/>
          <p:cNvSpPr txBox="1"/>
          <p:nvPr/>
        </p:nvSpPr>
        <p:spPr>
          <a:xfrm>
            <a:off x="8092145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702" name="D"/>
          <p:cNvSpPr txBox="1"/>
          <p:nvPr/>
        </p:nvSpPr>
        <p:spPr>
          <a:xfrm>
            <a:off x="9958807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703" name="Q"/>
          <p:cNvSpPr txBox="1"/>
          <p:nvPr/>
        </p:nvSpPr>
        <p:spPr>
          <a:xfrm>
            <a:off x="10786138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704" name="Line"/>
          <p:cNvSpPr/>
          <p:nvPr/>
        </p:nvSpPr>
        <p:spPr>
          <a:xfrm>
            <a:off x="1534387" y="6105245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05" name="Line"/>
          <p:cNvSpPr/>
          <p:nvPr/>
        </p:nvSpPr>
        <p:spPr>
          <a:xfrm flipH="1">
            <a:off x="1534387" y="6093848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06" name="Line"/>
          <p:cNvSpPr/>
          <p:nvPr/>
        </p:nvSpPr>
        <p:spPr>
          <a:xfrm>
            <a:off x="4232723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07" name="Line"/>
          <p:cNvSpPr/>
          <p:nvPr/>
        </p:nvSpPr>
        <p:spPr>
          <a:xfrm>
            <a:off x="4232723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08" name="Line"/>
          <p:cNvSpPr/>
          <p:nvPr/>
        </p:nvSpPr>
        <p:spPr>
          <a:xfrm>
            <a:off x="6931059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09" name="Line"/>
          <p:cNvSpPr/>
          <p:nvPr/>
        </p:nvSpPr>
        <p:spPr>
          <a:xfrm>
            <a:off x="6931059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10" name="Line"/>
          <p:cNvSpPr/>
          <p:nvPr/>
        </p:nvSpPr>
        <p:spPr>
          <a:xfrm>
            <a:off x="9623459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11" name="Line"/>
          <p:cNvSpPr/>
          <p:nvPr/>
        </p:nvSpPr>
        <p:spPr>
          <a:xfrm>
            <a:off x="9623459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12" name="Line"/>
          <p:cNvSpPr/>
          <p:nvPr/>
        </p:nvSpPr>
        <p:spPr>
          <a:xfrm>
            <a:off x="863073" y="6943445"/>
            <a:ext cx="876612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13" name="clk"/>
          <p:cNvSpPr txBox="1"/>
          <p:nvPr/>
        </p:nvSpPr>
        <p:spPr>
          <a:xfrm>
            <a:off x="666709" y="6915801"/>
            <a:ext cx="61730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</a:t>
            </a:r>
          </a:p>
        </p:txBody>
      </p:sp>
      <p:sp>
        <p:nvSpPr>
          <p:cNvPr id="714" name="Line"/>
          <p:cNvSpPr/>
          <p:nvPr/>
        </p:nvSpPr>
        <p:spPr>
          <a:xfrm flipV="1">
            <a:off x="1324116" y="3546442"/>
            <a:ext cx="1" cy="140936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15" name="Line"/>
          <p:cNvSpPr/>
          <p:nvPr/>
        </p:nvSpPr>
        <p:spPr>
          <a:xfrm flipH="1" flipV="1">
            <a:off x="1324116" y="3556432"/>
            <a:ext cx="319002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grpSp>
        <p:nvGrpSpPr>
          <p:cNvPr id="718" name="Group"/>
          <p:cNvGrpSpPr/>
          <p:nvPr/>
        </p:nvGrpSpPr>
        <p:grpSpPr>
          <a:xfrm>
            <a:off x="4532174" y="3166371"/>
            <a:ext cx="983938" cy="780118"/>
            <a:chOff x="0" y="0"/>
            <a:chExt cx="983936" cy="780116"/>
          </a:xfrm>
        </p:grpSpPr>
        <p:sp>
          <p:nvSpPr>
            <p:cNvPr id="716" name="Shape"/>
            <p:cNvSpPr/>
            <p:nvPr/>
          </p:nvSpPr>
          <p:spPr>
            <a:xfrm rot="10800000">
              <a:off x="-1" y="0"/>
              <a:ext cx="841590" cy="7801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1" h="21600" extrusionOk="0">
                  <a:moveTo>
                    <a:pt x="0" y="0"/>
                  </a:moveTo>
                  <a:cubicBezTo>
                    <a:pt x="3847" y="2001"/>
                    <a:pt x="6286" y="6234"/>
                    <a:pt x="6263" y="10869"/>
                  </a:cubicBezTo>
                  <a:cubicBezTo>
                    <a:pt x="6240" y="15455"/>
                    <a:pt x="3808" y="19623"/>
                    <a:pt x="0" y="21600"/>
                  </a:cubicBezTo>
                  <a:cubicBezTo>
                    <a:pt x="4027" y="20643"/>
                    <a:pt x="7906" y="19793"/>
                    <a:pt x="11741" y="19018"/>
                  </a:cubicBezTo>
                  <a:cubicBezTo>
                    <a:pt x="16228" y="18111"/>
                    <a:pt x="21285" y="16281"/>
                    <a:pt x="21437" y="11339"/>
                  </a:cubicBezTo>
                  <a:cubicBezTo>
                    <a:pt x="21600" y="6073"/>
                    <a:pt x="16411" y="3944"/>
                    <a:pt x="11803" y="2826"/>
                  </a:cubicBezTo>
                  <a:cubicBezTo>
                    <a:pt x="7962" y="1895"/>
                    <a:pt x="4099" y="96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717" name="Line"/>
            <p:cNvSpPr/>
            <p:nvPr/>
          </p:nvSpPr>
          <p:spPr>
            <a:xfrm>
              <a:off x="699203" y="29910"/>
              <a:ext cx="284734" cy="7435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7" h="21600" extrusionOk="0">
                  <a:moveTo>
                    <a:pt x="21537" y="0"/>
                  </a:moveTo>
                  <a:cubicBezTo>
                    <a:pt x="8749" y="1382"/>
                    <a:pt x="-63" y="5872"/>
                    <a:pt x="1" y="10974"/>
                  </a:cubicBezTo>
                  <a:cubicBezTo>
                    <a:pt x="61" y="15792"/>
                    <a:pt x="8086" y="20062"/>
                    <a:pt x="19972" y="2160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</p:grpSp>
      <p:sp>
        <p:nvSpPr>
          <p:cNvPr id="719" name="Line"/>
          <p:cNvSpPr/>
          <p:nvPr/>
        </p:nvSpPr>
        <p:spPr>
          <a:xfrm flipH="1" flipV="1">
            <a:off x="5297946" y="3773586"/>
            <a:ext cx="391199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20" name="Line"/>
          <p:cNvSpPr/>
          <p:nvPr/>
        </p:nvSpPr>
        <p:spPr>
          <a:xfrm flipH="1" flipV="1">
            <a:off x="5297946" y="3367186"/>
            <a:ext cx="649174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21" name="Line"/>
          <p:cNvSpPr/>
          <p:nvPr/>
        </p:nvSpPr>
        <p:spPr>
          <a:xfrm flipV="1">
            <a:off x="9206425" y="3760886"/>
            <a:ext cx="1" cy="120761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22" name="Line"/>
          <p:cNvSpPr/>
          <p:nvPr/>
        </p:nvSpPr>
        <p:spPr>
          <a:xfrm flipV="1">
            <a:off x="11797225" y="3354486"/>
            <a:ext cx="1" cy="1611308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23" name="0"/>
          <p:cNvSpPr txBox="1"/>
          <p:nvPr/>
        </p:nvSpPr>
        <p:spPr>
          <a:xfrm>
            <a:off x="23120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0</a:t>
            </a:r>
          </a:p>
        </p:txBody>
      </p:sp>
      <p:sp>
        <p:nvSpPr>
          <p:cNvPr id="724" name="1"/>
          <p:cNvSpPr txBox="1"/>
          <p:nvPr/>
        </p:nvSpPr>
        <p:spPr>
          <a:xfrm>
            <a:off x="50044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</a:p>
        </p:txBody>
      </p:sp>
      <p:sp>
        <p:nvSpPr>
          <p:cNvPr id="725" name="1"/>
          <p:cNvSpPr txBox="1"/>
          <p:nvPr/>
        </p:nvSpPr>
        <p:spPr>
          <a:xfrm>
            <a:off x="76968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</a:p>
        </p:txBody>
      </p:sp>
      <p:sp>
        <p:nvSpPr>
          <p:cNvPr id="726" name="0"/>
          <p:cNvSpPr txBox="1"/>
          <p:nvPr/>
        </p:nvSpPr>
        <p:spPr>
          <a:xfrm>
            <a:off x="10389244" y="5176285"/>
            <a:ext cx="426771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0</a:t>
            </a:r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Linear feedback shift regis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90727">
              <a:defRPr sz="6719"/>
            </a:lvl1pPr>
          </a:lstStyle>
          <a:p>
            <a:r>
              <a:t>Linear feedback shift register</a:t>
            </a:r>
          </a:p>
        </p:txBody>
      </p:sp>
      <p:sp>
        <p:nvSpPr>
          <p:cNvPr id="72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48</a:t>
            </a:fld>
            <a:endParaRPr/>
          </a:p>
        </p:txBody>
      </p:sp>
      <p:sp>
        <p:nvSpPr>
          <p:cNvPr id="730" name="Line"/>
          <p:cNvSpPr/>
          <p:nvPr/>
        </p:nvSpPr>
        <p:spPr>
          <a:xfrm>
            <a:off x="1324116" y="4953093"/>
            <a:ext cx="1048247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31" name="Rectangle"/>
          <p:cNvSpPr/>
          <p:nvPr/>
        </p:nvSpPr>
        <p:spPr>
          <a:xfrm>
            <a:off x="1890429" y="463747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32" name="D"/>
          <p:cNvSpPr txBox="1"/>
          <p:nvPr/>
        </p:nvSpPr>
        <p:spPr>
          <a:xfrm>
            <a:off x="1876593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733" name="Q"/>
          <p:cNvSpPr txBox="1"/>
          <p:nvPr/>
        </p:nvSpPr>
        <p:spPr>
          <a:xfrm>
            <a:off x="2703924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734" name="Triangle"/>
          <p:cNvSpPr/>
          <p:nvPr/>
        </p:nvSpPr>
        <p:spPr>
          <a:xfrm rot="5400000">
            <a:off x="1881539" y="593353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35" name="Rectangle"/>
          <p:cNvSpPr/>
          <p:nvPr/>
        </p:nvSpPr>
        <p:spPr>
          <a:xfrm>
            <a:off x="4582829" y="4622533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36" name="Triangle"/>
          <p:cNvSpPr/>
          <p:nvPr/>
        </p:nvSpPr>
        <p:spPr>
          <a:xfrm rot="5400000">
            <a:off x="4573939" y="5918588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37" name="Rectangle"/>
          <p:cNvSpPr/>
          <p:nvPr/>
        </p:nvSpPr>
        <p:spPr>
          <a:xfrm>
            <a:off x="7275229" y="463747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38" name="Triangle"/>
          <p:cNvSpPr/>
          <p:nvPr/>
        </p:nvSpPr>
        <p:spPr>
          <a:xfrm rot="5400000">
            <a:off x="7266339" y="593353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39" name="Rectangle"/>
          <p:cNvSpPr/>
          <p:nvPr/>
        </p:nvSpPr>
        <p:spPr>
          <a:xfrm>
            <a:off x="9967629" y="460758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40" name="Triangle"/>
          <p:cNvSpPr/>
          <p:nvPr/>
        </p:nvSpPr>
        <p:spPr>
          <a:xfrm rot="5400000">
            <a:off x="9958739" y="590364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41" name="D"/>
          <p:cNvSpPr txBox="1"/>
          <p:nvPr/>
        </p:nvSpPr>
        <p:spPr>
          <a:xfrm>
            <a:off x="4583522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742" name="Q"/>
          <p:cNvSpPr txBox="1"/>
          <p:nvPr/>
        </p:nvSpPr>
        <p:spPr>
          <a:xfrm>
            <a:off x="5410853" y="4660993"/>
            <a:ext cx="43041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743" name="D"/>
          <p:cNvSpPr txBox="1"/>
          <p:nvPr/>
        </p:nvSpPr>
        <p:spPr>
          <a:xfrm>
            <a:off x="7264814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744" name="Q"/>
          <p:cNvSpPr txBox="1"/>
          <p:nvPr/>
        </p:nvSpPr>
        <p:spPr>
          <a:xfrm>
            <a:off x="8092145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745" name="D"/>
          <p:cNvSpPr txBox="1"/>
          <p:nvPr/>
        </p:nvSpPr>
        <p:spPr>
          <a:xfrm>
            <a:off x="9958807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746" name="Q"/>
          <p:cNvSpPr txBox="1"/>
          <p:nvPr/>
        </p:nvSpPr>
        <p:spPr>
          <a:xfrm>
            <a:off x="10786138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747" name="Line"/>
          <p:cNvSpPr/>
          <p:nvPr/>
        </p:nvSpPr>
        <p:spPr>
          <a:xfrm>
            <a:off x="1534387" y="6105245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48" name="Line"/>
          <p:cNvSpPr/>
          <p:nvPr/>
        </p:nvSpPr>
        <p:spPr>
          <a:xfrm flipH="1">
            <a:off x="1534387" y="6093848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49" name="Line"/>
          <p:cNvSpPr/>
          <p:nvPr/>
        </p:nvSpPr>
        <p:spPr>
          <a:xfrm>
            <a:off x="4232723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50" name="Line"/>
          <p:cNvSpPr/>
          <p:nvPr/>
        </p:nvSpPr>
        <p:spPr>
          <a:xfrm>
            <a:off x="4232723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51" name="Line"/>
          <p:cNvSpPr/>
          <p:nvPr/>
        </p:nvSpPr>
        <p:spPr>
          <a:xfrm>
            <a:off x="6931059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52" name="Line"/>
          <p:cNvSpPr/>
          <p:nvPr/>
        </p:nvSpPr>
        <p:spPr>
          <a:xfrm>
            <a:off x="6931059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53" name="Line"/>
          <p:cNvSpPr/>
          <p:nvPr/>
        </p:nvSpPr>
        <p:spPr>
          <a:xfrm>
            <a:off x="9623459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54" name="Line"/>
          <p:cNvSpPr/>
          <p:nvPr/>
        </p:nvSpPr>
        <p:spPr>
          <a:xfrm>
            <a:off x="9623459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55" name="Line"/>
          <p:cNvSpPr/>
          <p:nvPr/>
        </p:nvSpPr>
        <p:spPr>
          <a:xfrm>
            <a:off x="863073" y="6943445"/>
            <a:ext cx="876612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56" name="clk"/>
          <p:cNvSpPr txBox="1"/>
          <p:nvPr/>
        </p:nvSpPr>
        <p:spPr>
          <a:xfrm>
            <a:off x="666709" y="6915801"/>
            <a:ext cx="61730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</a:t>
            </a:r>
          </a:p>
        </p:txBody>
      </p:sp>
      <p:sp>
        <p:nvSpPr>
          <p:cNvPr id="757" name="Line"/>
          <p:cNvSpPr/>
          <p:nvPr/>
        </p:nvSpPr>
        <p:spPr>
          <a:xfrm flipV="1">
            <a:off x="1324116" y="3546442"/>
            <a:ext cx="1" cy="140936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58" name="Line"/>
          <p:cNvSpPr/>
          <p:nvPr/>
        </p:nvSpPr>
        <p:spPr>
          <a:xfrm flipH="1" flipV="1">
            <a:off x="1324116" y="3556432"/>
            <a:ext cx="319002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grpSp>
        <p:nvGrpSpPr>
          <p:cNvPr id="761" name="Group"/>
          <p:cNvGrpSpPr/>
          <p:nvPr/>
        </p:nvGrpSpPr>
        <p:grpSpPr>
          <a:xfrm>
            <a:off x="4532174" y="3166371"/>
            <a:ext cx="983938" cy="780118"/>
            <a:chOff x="0" y="0"/>
            <a:chExt cx="983936" cy="780116"/>
          </a:xfrm>
        </p:grpSpPr>
        <p:sp>
          <p:nvSpPr>
            <p:cNvPr id="759" name="Shape"/>
            <p:cNvSpPr/>
            <p:nvPr/>
          </p:nvSpPr>
          <p:spPr>
            <a:xfrm rot="10800000">
              <a:off x="-1" y="0"/>
              <a:ext cx="841590" cy="7801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1" h="21600" extrusionOk="0">
                  <a:moveTo>
                    <a:pt x="0" y="0"/>
                  </a:moveTo>
                  <a:cubicBezTo>
                    <a:pt x="3847" y="2001"/>
                    <a:pt x="6286" y="6234"/>
                    <a:pt x="6263" y="10869"/>
                  </a:cubicBezTo>
                  <a:cubicBezTo>
                    <a:pt x="6240" y="15455"/>
                    <a:pt x="3808" y="19623"/>
                    <a:pt x="0" y="21600"/>
                  </a:cubicBezTo>
                  <a:cubicBezTo>
                    <a:pt x="4027" y="20643"/>
                    <a:pt x="7906" y="19793"/>
                    <a:pt x="11741" y="19018"/>
                  </a:cubicBezTo>
                  <a:cubicBezTo>
                    <a:pt x="16228" y="18111"/>
                    <a:pt x="21285" y="16281"/>
                    <a:pt x="21437" y="11339"/>
                  </a:cubicBezTo>
                  <a:cubicBezTo>
                    <a:pt x="21600" y="6073"/>
                    <a:pt x="16411" y="3944"/>
                    <a:pt x="11803" y="2826"/>
                  </a:cubicBezTo>
                  <a:cubicBezTo>
                    <a:pt x="7962" y="1895"/>
                    <a:pt x="4099" y="96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760" name="Line"/>
            <p:cNvSpPr/>
            <p:nvPr/>
          </p:nvSpPr>
          <p:spPr>
            <a:xfrm>
              <a:off x="699203" y="29910"/>
              <a:ext cx="284734" cy="7435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7" h="21600" extrusionOk="0">
                  <a:moveTo>
                    <a:pt x="21537" y="0"/>
                  </a:moveTo>
                  <a:cubicBezTo>
                    <a:pt x="8749" y="1382"/>
                    <a:pt x="-63" y="5872"/>
                    <a:pt x="1" y="10974"/>
                  </a:cubicBezTo>
                  <a:cubicBezTo>
                    <a:pt x="61" y="15792"/>
                    <a:pt x="8086" y="20062"/>
                    <a:pt x="19972" y="2160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</p:grpSp>
      <p:sp>
        <p:nvSpPr>
          <p:cNvPr id="762" name="Line"/>
          <p:cNvSpPr/>
          <p:nvPr/>
        </p:nvSpPr>
        <p:spPr>
          <a:xfrm flipH="1" flipV="1">
            <a:off x="5297946" y="3773586"/>
            <a:ext cx="391199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63" name="Line"/>
          <p:cNvSpPr/>
          <p:nvPr/>
        </p:nvSpPr>
        <p:spPr>
          <a:xfrm flipH="1" flipV="1">
            <a:off x="5297946" y="3367186"/>
            <a:ext cx="649174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64" name="Line"/>
          <p:cNvSpPr/>
          <p:nvPr/>
        </p:nvSpPr>
        <p:spPr>
          <a:xfrm flipV="1">
            <a:off x="9206425" y="3760886"/>
            <a:ext cx="1" cy="120761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65" name="Line"/>
          <p:cNvSpPr/>
          <p:nvPr/>
        </p:nvSpPr>
        <p:spPr>
          <a:xfrm flipV="1">
            <a:off x="11797225" y="3354486"/>
            <a:ext cx="1" cy="1611308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66" name="1"/>
          <p:cNvSpPr txBox="1"/>
          <p:nvPr/>
        </p:nvSpPr>
        <p:spPr>
          <a:xfrm>
            <a:off x="23120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</a:p>
        </p:txBody>
      </p:sp>
      <p:sp>
        <p:nvSpPr>
          <p:cNvPr id="767" name="0"/>
          <p:cNvSpPr txBox="1"/>
          <p:nvPr/>
        </p:nvSpPr>
        <p:spPr>
          <a:xfrm>
            <a:off x="50044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0</a:t>
            </a:r>
          </a:p>
        </p:txBody>
      </p:sp>
      <p:sp>
        <p:nvSpPr>
          <p:cNvPr id="768" name="1"/>
          <p:cNvSpPr txBox="1"/>
          <p:nvPr/>
        </p:nvSpPr>
        <p:spPr>
          <a:xfrm>
            <a:off x="76968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</a:p>
        </p:txBody>
      </p:sp>
      <p:sp>
        <p:nvSpPr>
          <p:cNvPr id="769" name="1"/>
          <p:cNvSpPr txBox="1"/>
          <p:nvPr/>
        </p:nvSpPr>
        <p:spPr>
          <a:xfrm>
            <a:off x="10389244" y="5176285"/>
            <a:ext cx="426771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Linear feedback shift regis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90727">
              <a:defRPr sz="6719"/>
            </a:lvl1pPr>
          </a:lstStyle>
          <a:p>
            <a:r>
              <a:t>Linear feedback shift register</a:t>
            </a:r>
          </a:p>
        </p:txBody>
      </p:sp>
      <p:sp>
        <p:nvSpPr>
          <p:cNvPr id="77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49</a:t>
            </a:fld>
            <a:endParaRPr/>
          </a:p>
        </p:txBody>
      </p:sp>
      <p:sp>
        <p:nvSpPr>
          <p:cNvPr id="773" name="Line"/>
          <p:cNvSpPr/>
          <p:nvPr/>
        </p:nvSpPr>
        <p:spPr>
          <a:xfrm>
            <a:off x="1324116" y="4953093"/>
            <a:ext cx="1048247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74" name="Rectangle"/>
          <p:cNvSpPr/>
          <p:nvPr/>
        </p:nvSpPr>
        <p:spPr>
          <a:xfrm>
            <a:off x="1890429" y="463747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75" name="D"/>
          <p:cNvSpPr txBox="1"/>
          <p:nvPr/>
        </p:nvSpPr>
        <p:spPr>
          <a:xfrm>
            <a:off x="1876593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776" name="Q"/>
          <p:cNvSpPr txBox="1"/>
          <p:nvPr/>
        </p:nvSpPr>
        <p:spPr>
          <a:xfrm>
            <a:off x="2703924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777" name="Triangle"/>
          <p:cNvSpPr/>
          <p:nvPr/>
        </p:nvSpPr>
        <p:spPr>
          <a:xfrm rot="5400000">
            <a:off x="1881539" y="593353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78" name="Rectangle"/>
          <p:cNvSpPr/>
          <p:nvPr/>
        </p:nvSpPr>
        <p:spPr>
          <a:xfrm>
            <a:off x="4582829" y="4622533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79" name="Triangle"/>
          <p:cNvSpPr/>
          <p:nvPr/>
        </p:nvSpPr>
        <p:spPr>
          <a:xfrm rot="5400000">
            <a:off x="4573939" y="5918588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80" name="Rectangle"/>
          <p:cNvSpPr/>
          <p:nvPr/>
        </p:nvSpPr>
        <p:spPr>
          <a:xfrm>
            <a:off x="7275229" y="463747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81" name="Triangle"/>
          <p:cNvSpPr/>
          <p:nvPr/>
        </p:nvSpPr>
        <p:spPr>
          <a:xfrm rot="5400000">
            <a:off x="7266339" y="593353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82" name="Rectangle"/>
          <p:cNvSpPr/>
          <p:nvPr/>
        </p:nvSpPr>
        <p:spPr>
          <a:xfrm>
            <a:off x="9967629" y="460758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83" name="Triangle"/>
          <p:cNvSpPr/>
          <p:nvPr/>
        </p:nvSpPr>
        <p:spPr>
          <a:xfrm rot="5400000">
            <a:off x="9958739" y="590364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84" name="D"/>
          <p:cNvSpPr txBox="1"/>
          <p:nvPr/>
        </p:nvSpPr>
        <p:spPr>
          <a:xfrm>
            <a:off x="4583522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785" name="Q"/>
          <p:cNvSpPr txBox="1"/>
          <p:nvPr/>
        </p:nvSpPr>
        <p:spPr>
          <a:xfrm>
            <a:off x="5410853" y="4660993"/>
            <a:ext cx="43041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786" name="D"/>
          <p:cNvSpPr txBox="1"/>
          <p:nvPr/>
        </p:nvSpPr>
        <p:spPr>
          <a:xfrm>
            <a:off x="7264814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787" name="Q"/>
          <p:cNvSpPr txBox="1"/>
          <p:nvPr/>
        </p:nvSpPr>
        <p:spPr>
          <a:xfrm>
            <a:off x="8092145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788" name="D"/>
          <p:cNvSpPr txBox="1"/>
          <p:nvPr/>
        </p:nvSpPr>
        <p:spPr>
          <a:xfrm>
            <a:off x="9958807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789" name="Q"/>
          <p:cNvSpPr txBox="1"/>
          <p:nvPr/>
        </p:nvSpPr>
        <p:spPr>
          <a:xfrm>
            <a:off x="10786138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790" name="Line"/>
          <p:cNvSpPr/>
          <p:nvPr/>
        </p:nvSpPr>
        <p:spPr>
          <a:xfrm>
            <a:off x="1534387" y="6105245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91" name="Line"/>
          <p:cNvSpPr/>
          <p:nvPr/>
        </p:nvSpPr>
        <p:spPr>
          <a:xfrm flipH="1">
            <a:off x="1534387" y="6093848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92" name="Line"/>
          <p:cNvSpPr/>
          <p:nvPr/>
        </p:nvSpPr>
        <p:spPr>
          <a:xfrm>
            <a:off x="4232723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93" name="Line"/>
          <p:cNvSpPr/>
          <p:nvPr/>
        </p:nvSpPr>
        <p:spPr>
          <a:xfrm>
            <a:off x="4232723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94" name="Line"/>
          <p:cNvSpPr/>
          <p:nvPr/>
        </p:nvSpPr>
        <p:spPr>
          <a:xfrm>
            <a:off x="6931059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95" name="Line"/>
          <p:cNvSpPr/>
          <p:nvPr/>
        </p:nvSpPr>
        <p:spPr>
          <a:xfrm>
            <a:off x="6931059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96" name="Line"/>
          <p:cNvSpPr/>
          <p:nvPr/>
        </p:nvSpPr>
        <p:spPr>
          <a:xfrm>
            <a:off x="9623459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97" name="Line"/>
          <p:cNvSpPr/>
          <p:nvPr/>
        </p:nvSpPr>
        <p:spPr>
          <a:xfrm>
            <a:off x="9623459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98" name="Line"/>
          <p:cNvSpPr/>
          <p:nvPr/>
        </p:nvSpPr>
        <p:spPr>
          <a:xfrm>
            <a:off x="863073" y="6943445"/>
            <a:ext cx="876612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799" name="clk"/>
          <p:cNvSpPr txBox="1"/>
          <p:nvPr/>
        </p:nvSpPr>
        <p:spPr>
          <a:xfrm>
            <a:off x="666709" y="6915801"/>
            <a:ext cx="61730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</a:t>
            </a:r>
          </a:p>
        </p:txBody>
      </p:sp>
      <p:sp>
        <p:nvSpPr>
          <p:cNvPr id="800" name="Line"/>
          <p:cNvSpPr/>
          <p:nvPr/>
        </p:nvSpPr>
        <p:spPr>
          <a:xfrm flipV="1">
            <a:off x="1324116" y="3546442"/>
            <a:ext cx="1" cy="140936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01" name="Line"/>
          <p:cNvSpPr/>
          <p:nvPr/>
        </p:nvSpPr>
        <p:spPr>
          <a:xfrm flipH="1" flipV="1">
            <a:off x="1324116" y="3556432"/>
            <a:ext cx="319002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grpSp>
        <p:nvGrpSpPr>
          <p:cNvPr id="804" name="Group"/>
          <p:cNvGrpSpPr/>
          <p:nvPr/>
        </p:nvGrpSpPr>
        <p:grpSpPr>
          <a:xfrm>
            <a:off x="4532174" y="3166371"/>
            <a:ext cx="983938" cy="780118"/>
            <a:chOff x="0" y="0"/>
            <a:chExt cx="983936" cy="780116"/>
          </a:xfrm>
        </p:grpSpPr>
        <p:sp>
          <p:nvSpPr>
            <p:cNvPr id="802" name="Shape"/>
            <p:cNvSpPr/>
            <p:nvPr/>
          </p:nvSpPr>
          <p:spPr>
            <a:xfrm rot="10800000">
              <a:off x="-1" y="0"/>
              <a:ext cx="841590" cy="7801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1" h="21600" extrusionOk="0">
                  <a:moveTo>
                    <a:pt x="0" y="0"/>
                  </a:moveTo>
                  <a:cubicBezTo>
                    <a:pt x="3847" y="2001"/>
                    <a:pt x="6286" y="6234"/>
                    <a:pt x="6263" y="10869"/>
                  </a:cubicBezTo>
                  <a:cubicBezTo>
                    <a:pt x="6240" y="15455"/>
                    <a:pt x="3808" y="19623"/>
                    <a:pt x="0" y="21600"/>
                  </a:cubicBezTo>
                  <a:cubicBezTo>
                    <a:pt x="4027" y="20643"/>
                    <a:pt x="7906" y="19793"/>
                    <a:pt x="11741" y="19018"/>
                  </a:cubicBezTo>
                  <a:cubicBezTo>
                    <a:pt x="16228" y="18111"/>
                    <a:pt x="21285" y="16281"/>
                    <a:pt x="21437" y="11339"/>
                  </a:cubicBezTo>
                  <a:cubicBezTo>
                    <a:pt x="21600" y="6073"/>
                    <a:pt x="16411" y="3944"/>
                    <a:pt x="11803" y="2826"/>
                  </a:cubicBezTo>
                  <a:cubicBezTo>
                    <a:pt x="7962" y="1895"/>
                    <a:pt x="4099" y="96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803" name="Line"/>
            <p:cNvSpPr/>
            <p:nvPr/>
          </p:nvSpPr>
          <p:spPr>
            <a:xfrm>
              <a:off x="699203" y="29910"/>
              <a:ext cx="284734" cy="7435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7" h="21600" extrusionOk="0">
                  <a:moveTo>
                    <a:pt x="21537" y="0"/>
                  </a:moveTo>
                  <a:cubicBezTo>
                    <a:pt x="8749" y="1382"/>
                    <a:pt x="-63" y="5872"/>
                    <a:pt x="1" y="10974"/>
                  </a:cubicBezTo>
                  <a:cubicBezTo>
                    <a:pt x="61" y="15792"/>
                    <a:pt x="8086" y="20062"/>
                    <a:pt x="19972" y="2160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</p:grpSp>
      <p:sp>
        <p:nvSpPr>
          <p:cNvPr id="805" name="Line"/>
          <p:cNvSpPr/>
          <p:nvPr/>
        </p:nvSpPr>
        <p:spPr>
          <a:xfrm flipH="1" flipV="1">
            <a:off x="5297946" y="3773586"/>
            <a:ext cx="391199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06" name="Line"/>
          <p:cNvSpPr/>
          <p:nvPr/>
        </p:nvSpPr>
        <p:spPr>
          <a:xfrm flipH="1" flipV="1">
            <a:off x="5297946" y="3367186"/>
            <a:ext cx="649174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07" name="Line"/>
          <p:cNvSpPr/>
          <p:nvPr/>
        </p:nvSpPr>
        <p:spPr>
          <a:xfrm flipV="1">
            <a:off x="9206425" y="3760886"/>
            <a:ext cx="1" cy="120761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08" name="Line"/>
          <p:cNvSpPr/>
          <p:nvPr/>
        </p:nvSpPr>
        <p:spPr>
          <a:xfrm flipV="1">
            <a:off x="11797225" y="3354486"/>
            <a:ext cx="1" cy="1611308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09" name="0"/>
          <p:cNvSpPr txBox="1"/>
          <p:nvPr/>
        </p:nvSpPr>
        <p:spPr>
          <a:xfrm>
            <a:off x="23120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0</a:t>
            </a:r>
          </a:p>
        </p:txBody>
      </p:sp>
      <p:sp>
        <p:nvSpPr>
          <p:cNvPr id="810" name="1"/>
          <p:cNvSpPr txBox="1"/>
          <p:nvPr/>
        </p:nvSpPr>
        <p:spPr>
          <a:xfrm>
            <a:off x="50044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</a:p>
        </p:txBody>
      </p:sp>
      <p:sp>
        <p:nvSpPr>
          <p:cNvPr id="811" name="0"/>
          <p:cNvSpPr txBox="1"/>
          <p:nvPr/>
        </p:nvSpPr>
        <p:spPr>
          <a:xfrm>
            <a:off x="76968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0</a:t>
            </a:r>
          </a:p>
        </p:txBody>
      </p:sp>
      <p:sp>
        <p:nvSpPr>
          <p:cNvPr id="812" name="1"/>
          <p:cNvSpPr txBox="1"/>
          <p:nvPr/>
        </p:nvSpPr>
        <p:spPr>
          <a:xfrm>
            <a:off x="10389244" y="5176285"/>
            <a:ext cx="426771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</a:p>
        </p:txBody>
      </p: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Linear feedback shift regis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90727">
              <a:defRPr sz="6719"/>
            </a:lvl1pPr>
          </a:lstStyle>
          <a:p>
            <a:r>
              <a:t>Linear feedback shift register</a:t>
            </a:r>
          </a:p>
        </p:txBody>
      </p:sp>
      <p:sp>
        <p:nvSpPr>
          <p:cNvPr id="8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50</a:t>
            </a:fld>
            <a:endParaRPr/>
          </a:p>
        </p:txBody>
      </p:sp>
      <p:sp>
        <p:nvSpPr>
          <p:cNvPr id="816" name="Line"/>
          <p:cNvSpPr/>
          <p:nvPr/>
        </p:nvSpPr>
        <p:spPr>
          <a:xfrm>
            <a:off x="1324116" y="4953093"/>
            <a:ext cx="1048247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17" name="Rectangle"/>
          <p:cNvSpPr/>
          <p:nvPr/>
        </p:nvSpPr>
        <p:spPr>
          <a:xfrm>
            <a:off x="1890429" y="463747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18" name="D"/>
          <p:cNvSpPr txBox="1"/>
          <p:nvPr/>
        </p:nvSpPr>
        <p:spPr>
          <a:xfrm>
            <a:off x="1876593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819" name="Q"/>
          <p:cNvSpPr txBox="1"/>
          <p:nvPr/>
        </p:nvSpPr>
        <p:spPr>
          <a:xfrm>
            <a:off x="2703924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820" name="Triangle"/>
          <p:cNvSpPr/>
          <p:nvPr/>
        </p:nvSpPr>
        <p:spPr>
          <a:xfrm rot="5400000">
            <a:off x="1881539" y="593353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21" name="Rectangle"/>
          <p:cNvSpPr/>
          <p:nvPr/>
        </p:nvSpPr>
        <p:spPr>
          <a:xfrm>
            <a:off x="4582829" y="4622533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22" name="Triangle"/>
          <p:cNvSpPr/>
          <p:nvPr/>
        </p:nvSpPr>
        <p:spPr>
          <a:xfrm rot="5400000">
            <a:off x="4573939" y="5918588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23" name="Rectangle"/>
          <p:cNvSpPr/>
          <p:nvPr/>
        </p:nvSpPr>
        <p:spPr>
          <a:xfrm>
            <a:off x="7275229" y="463747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24" name="Triangle"/>
          <p:cNvSpPr/>
          <p:nvPr/>
        </p:nvSpPr>
        <p:spPr>
          <a:xfrm rot="5400000">
            <a:off x="7266339" y="593353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25" name="Rectangle"/>
          <p:cNvSpPr/>
          <p:nvPr/>
        </p:nvSpPr>
        <p:spPr>
          <a:xfrm>
            <a:off x="9967629" y="460758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26" name="Triangle"/>
          <p:cNvSpPr/>
          <p:nvPr/>
        </p:nvSpPr>
        <p:spPr>
          <a:xfrm rot="5400000">
            <a:off x="9958739" y="590364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27" name="D"/>
          <p:cNvSpPr txBox="1"/>
          <p:nvPr/>
        </p:nvSpPr>
        <p:spPr>
          <a:xfrm>
            <a:off x="4583522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828" name="Q"/>
          <p:cNvSpPr txBox="1"/>
          <p:nvPr/>
        </p:nvSpPr>
        <p:spPr>
          <a:xfrm>
            <a:off x="5410853" y="4660993"/>
            <a:ext cx="43041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829" name="D"/>
          <p:cNvSpPr txBox="1"/>
          <p:nvPr/>
        </p:nvSpPr>
        <p:spPr>
          <a:xfrm>
            <a:off x="7264814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830" name="Q"/>
          <p:cNvSpPr txBox="1"/>
          <p:nvPr/>
        </p:nvSpPr>
        <p:spPr>
          <a:xfrm>
            <a:off x="8092145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831" name="D"/>
          <p:cNvSpPr txBox="1"/>
          <p:nvPr/>
        </p:nvSpPr>
        <p:spPr>
          <a:xfrm>
            <a:off x="9958807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832" name="Q"/>
          <p:cNvSpPr txBox="1"/>
          <p:nvPr/>
        </p:nvSpPr>
        <p:spPr>
          <a:xfrm>
            <a:off x="10786138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833" name="Line"/>
          <p:cNvSpPr/>
          <p:nvPr/>
        </p:nvSpPr>
        <p:spPr>
          <a:xfrm>
            <a:off x="1534387" y="6105245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34" name="Line"/>
          <p:cNvSpPr/>
          <p:nvPr/>
        </p:nvSpPr>
        <p:spPr>
          <a:xfrm flipH="1">
            <a:off x="1534387" y="6093848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35" name="Line"/>
          <p:cNvSpPr/>
          <p:nvPr/>
        </p:nvSpPr>
        <p:spPr>
          <a:xfrm>
            <a:off x="4232723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36" name="Line"/>
          <p:cNvSpPr/>
          <p:nvPr/>
        </p:nvSpPr>
        <p:spPr>
          <a:xfrm>
            <a:off x="4232723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37" name="Line"/>
          <p:cNvSpPr/>
          <p:nvPr/>
        </p:nvSpPr>
        <p:spPr>
          <a:xfrm>
            <a:off x="6931059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38" name="Line"/>
          <p:cNvSpPr/>
          <p:nvPr/>
        </p:nvSpPr>
        <p:spPr>
          <a:xfrm>
            <a:off x="6931059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39" name="Line"/>
          <p:cNvSpPr/>
          <p:nvPr/>
        </p:nvSpPr>
        <p:spPr>
          <a:xfrm>
            <a:off x="9623459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40" name="Line"/>
          <p:cNvSpPr/>
          <p:nvPr/>
        </p:nvSpPr>
        <p:spPr>
          <a:xfrm>
            <a:off x="9623459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41" name="Line"/>
          <p:cNvSpPr/>
          <p:nvPr/>
        </p:nvSpPr>
        <p:spPr>
          <a:xfrm>
            <a:off x="863073" y="6943445"/>
            <a:ext cx="876612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42" name="clk"/>
          <p:cNvSpPr txBox="1"/>
          <p:nvPr/>
        </p:nvSpPr>
        <p:spPr>
          <a:xfrm>
            <a:off x="666709" y="6915801"/>
            <a:ext cx="61730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</a:t>
            </a:r>
          </a:p>
        </p:txBody>
      </p:sp>
      <p:sp>
        <p:nvSpPr>
          <p:cNvPr id="843" name="Line"/>
          <p:cNvSpPr/>
          <p:nvPr/>
        </p:nvSpPr>
        <p:spPr>
          <a:xfrm flipV="1">
            <a:off x="1324116" y="3546442"/>
            <a:ext cx="1" cy="140936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44" name="Line"/>
          <p:cNvSpPr/>
          <p:nvPr/>
        </p:nvSpPr>
        <p:spPr>
          <a:xfrm flipH="1" flipV="1">
            <a:off x="1324116" y="3556432"/>
            <a:ext cx="319002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grpSp>
        <p:nvGrpSpPr>
          <p:cNvPr id="847" name="Group"/>
          <p:cNvGrpSpPr/>
          <p:nvPr/>
        </p:nvGrpSpPr>
        <p:grpSpPr>
          <a:xfrm>
            <a:off x="4532174" y="3166371"/>
            <a:ext cx="983938" cy="780118"/>
            <a:chOff x="0" y="0"/>
            <a:chExt cx="983936" cy="780116"/>
          </a:xfrm>
        </p:grpSpPr>
        <p:sp>
          <p:nvSpPr>
            <p:cNvPr id="845" name="Shape"/>
            <p:cNvSpPr/>
            <p:nvPr/>
          </p:nvSpPr>
          <p:spPr>
            <a:xfrm rot="10800000">
              <a:off x="-1" y="0"/>
              <a:ext cx="841590" cy="7801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1" h="21600" extrusionOk="0">
                  <a:moveTo>
                    <a:pt x="0" y="0"/>
                  </a:moveTo>
                  <a:cubicBezTo>
                    <a:pt x="3847" y="2001"/>
                    <a:pt x="6286" y="6234"/>
                    <a:pt x="6263" y="10869"/>
                  </a:cubicBezTo>
                  <a:cubicBezTo>
                    <a:pt x="6240" y="15455"/>
                    <a:pt x="3808" y="19623"/>
                    <a:pt x="0" y="21600"/>
                  </a:cubicBezTo>
                  <a:cubicBezTo>
                    <a:pt x="4027" y="20643"/>
                    <a:pt x="7906" y="19793"/>
                    <a:pt x="11741" y="19018"/>
                  </a:cubicBezTo>
                  <a:cubicBezTo>
                    <a:pt x="16228" y="18111"/>
                    <a:pt x="21285" y="16281"/>
                    <a:pt x="21437" y="11339"/>
                  </a:cubicBezTo>
                  <a:cubicBezTo>
                    <a:pt x="21600" y="6073"/>
                    <a:pt x="16411" y="3944"/>
                    <a:pt x="11803" y="2826"/>
                  </a:cubicBezTo>
                  <a:cubicBezTo>
                    <a:pt x="7962" y="1895"/>
                    <a:pt x="4099" y="96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846" name="Line"/>
            <p:cNvSpPr/>
            <p:nvPr/>
          </p:nvSpPr>
          <p:spPr>
            <a:xfrm>
              <a:off x="699203" y="29910"/>
              <a:ext cx="284734" cy="7435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7" h="21600" extrusionOk="0">
                  <a:moveTo>
                    <a:pt x="21537" y="0"/>
                  </a:moveTo>
                  <a:cubicBezTo>
                    <a:pt x="8749" y="1382"/>
                    <a:pt x="-63" y="5872"/>
                    <a:pt x="1" y="10974"/>
                  </a:cubicBezTo>
                  <a:cubicBezTo>
                    <a:pt x="61" y="15792"/>
                    <a:pt x="8086" y="20062"/>
                    <a:pt x="19972" y="2160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</p:grpSp>
      <p:sp>
        <p:nvSpPr>
          <p:cNvPr id="848" name="Line"/>
          <p:cNvSpPr/>
          <p:nvPr/>
        </p:nvSpPr>
        <p:spPr>
          <a:xfrm flipH="1" flipV="1">
            <a:off x="5297946" y="3773586"/>
            <a:ext cx="391199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49" name="Line"/>
          <p:cNvSpPr/>
          <p:nvPr/>
        </p:nvSpPr>
        <p:spPr>
          <a:xfrm flipH="1" flipV="1">
            <a:off x="5297946" y="3367186"/>
            <a:ext cx="649174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50" name="Line"/>
          <p:cNvSpPr/>
          <p:nvPr/>
        </p:nvSpPr>
        <p:spPr>
          <a:xfrm flipV="1">
            <a:off x="9206425" y="3760886"/>
            <a:ext cx="1" cy="120761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51" name="Line"/>
          <p:cNvSpPr/>
          <p:nvPr/>
        </p:nvSpPr>
        <p:spPr>
          <a:xfrm flipV="1">
            <a:off x="11797225" y="3354486"/>
            <a:ext cx="1" cy="1611308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52" name="1"/>
          <p:cNvSpPr txBox="1"/>
          <p:nvPr/>
        </p:nvSpPr>
        <p:spPr>
          <a:xfrm>
            <a:off x="23120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</a:p>
        </p:txBody>
      </p:sp>
      <p:sp>
        <p:nvSpPr>
          <p:cNvPr id="853" name="0"/>
          <p:cNvSpPr txBox="1"/>
          <p:nvPr/>
        </p:nvSpPr>
        <p:spPr>
          <a:xfrm>
            <a:off x="50044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0</a:t>
            </a:r>
          </a:p>
        </p:txBody>
      </p:sp>
      <p:sp>
        <p:nvSpPr>
          <p:cNvPr id="854" name="1"/>
          <p:cNvSpPr txBox="1"/>
          <p:nvPr/>
        </p:nvSpPr>
        <p:spPr>
          <a:xfrm>
            <a:off x="76968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</a:p>
        </p:txBody>
      </p:sp>
      <p:sp>
        <p:nvSpPr>
          <p:cNvPr id="855" name="0"/>
          <p:cNvSpPr txBox="1"/>
          <p:nvPr/>
        </p:nvSpPr>
        <p:spPr>
          <a:xfrm>
            <a:off x="10389244" y="5176285"/>
            <a:ext cx="426771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0</a:t>
            </a:r>
          </a:p>
        </p:txBody>
      </p:sp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Linear feedback shift regis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90727">
              <a:defRPr sz="6719"/>
            </a:lvl1pPr>
          </a:lstStyle>
          <a:p>
            <a:r>
              <a:t>Linear feedback shift register</a:t>
            </a:r>
          </a:p>
        </p:txBody>
      </p:sp>
      <p:sp>
        <p:nvSpPr>
          <p:cNvPr id="8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51</a:t>
            </a:fld>
            <a:endParaRPr/>
          </a:p>
        </p:txBody>
      </p:sp>
      <p:sp>
        <p:nvSpPr>
          <p:cNvPr id="859" name="Line"/>
          <p:cNvSpPr/>
          <p:nvPr/>
        </p:nvSpPr>
        <p:spPr>
          <a:xfrm>
            <a:off x="1324116" y="4953093"/>
            <a:ext cx="1048247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60" name="Rectangle"/>
          <p:cNvSpPr/>
          <p:nvPr/>
        </p:nvSpPr>
        <p:spPr>
          <a:xfrm>
            <a:off x="1890429" y="463747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61" name="D"/>
          <p:cNvSpPr txBox="1"/>
          <p:nvPr/>
        </p:nvSpPr>
        <p:spPr>
          <a:xfrm>
            <a:off x="1876593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862" name="Q"/>
          <p:cNvSpPr txBox="1"/>
          <p:nvPr/>
        </p:nvSpPr>
        <p:spPr>
          <a:xfrm>
            <a:off x="2703924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863" name="Triangle"/>
          <p:cNvSpPr/>
          <p:nvPr/>
        </p:nvSpPr>
        <p:spPr>
          <a:xfrm rot="5400000">
            <a:off x="1881539" y="593353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64" name="Rectangle"/>
          <p:cNvSpPr/>
          <p:nvPr/>
        </p:nvSpPr>
        <p:spPr>
          <a:xfrm>
            <a:off x="4582829" y="4622533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65" name="Triangle"/>
          <p:cNvSpPr/>
          <p:nvPr/>
        </p:nvSpPr>
        <p:spPr>
          <a:xfrm rot="5400000">
            <a:off x="4573939" y="5918588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66" name="Rectangle"/>
          <p:cNvSpPr/>
          <p:nvPr/>
        </p:nvSpPr>
        <p:spPr>
          <a:xfrm>
            <a:off x="7275229" y="463747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67" name="Triangle"/>
          <p:cNvSpPr/>
          <p:nvPr/>
        </p:nvSpPr>
        <p:spPr>
          <a:xfrm rot="5400000">
            <a:off x="7266339" y="593353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68" name="Rectangle"/>
          <p:cNvSpPr/>
          <p:nvPr/>
        </p:nvSpPr>
        <p:spPr>
          <a:xfrm>
            <a:off x="9967629" y="460758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69" name="Triangle"/>
          <p:cNvSpPr/>
          <p:nvPr/>
        </p:nvSpPr>
        <p:spPr>
          <a:xfrm rot="5400000">
            <a:off x="9958739" y="590364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70" name="D"/>
          <p:cNvSpPr txBox="1"/>
          <p:nvPr/>
        </p:nvSpPr>
        <p:spPr>
          <a:xfrm>
            <a:off x="4583522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871" name="Q"/>
          <p:cNvSpPr txBox="1"/>
          <p:nvPr/>
        </p:nvSpPr>
        <p:spPr>
          <a:xfrm>
            <a:off x="5410853" y="4660993"/>
            <a:ext cx="43041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872" name="D"/>
          <p:cNvSpPr txBox="1"/>
          <p:nvPr/>
        </p:nvSpPr>
        <p:spPr>
          <a:xfrm>
            <a:off x="7264814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873" name="Q"/>
          <p:cNvSpPr txBox="1"/>
          <p:nvPr/>
        </p:nvSpPr>
        <p:spPr>
          <a:xfrm>
            <a:off x="8092145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874" name="D"/>
          <p:cNvSpPr txBox="1"/>
          <p:nvPr/>
        </p:nvSpPr>
        <p:spPr>
          <a:xfrm>
            <a:off x="9958807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875" name="Q"/>
          <p:cNvSpPr txBox="1"/>
          <p:nvPr/>
        </p:nvSpPr>
        <p:spPr>
          <a:xfrm>
            <a:off x="10786138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876" name="Line"/>
          <p:cNvSpPr/>
          <p:nvPr/>
        </p:nvSpPr>
        <p:spPr>
          <a:xfrm>
            <a:off x="1534387" y="6105245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77" name="Line"/>
          <p:cNvSpPr/>
          <p:nvPr/>
        </p:nvSpPr>
        <p:spPr>
          <a:xfrm flipH="1">
            <a:off x="1534387" y="6093848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78" name="Line"/>
          <p:cNvSpPr/>
          <p:nvPr/>
        </p:nvSpPr>
        <p:spPr>
          <a:xfrm>
            <a:off x="4232723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79" name="Line"/>
          <p:cNvSpPr/>
          <p:nvPr/>
        </p:nvSpPr>
        <p:spPr>
          <a:xfrm>
            <a:off x="4232723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80" name="Line"/>
          <p:cNvSpPr/>
          <p:nvPr/>
        </p:nvSpPr>
        <p:spPr>
          <a:xfrm>
            <a:off x="6931059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81" name="Line"/>
          <p:cNvSpPr/>
          <p:nvPr/>
        </p:nvSpPr>
        <p:spPr>
          <a:xfrm>
            <a:off x="6931059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82" name="Line"/>
          <p:cNvSpPr/>
          <p:nvPr/>
        </p:nvSpPr>
        <p:spPr>
          <a:xfrm>
            <a:off x="9623459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83" name="Line"/>
          <p:cNvSpPr/>
          <p:nvPr/>
        </p:nvSpPr>
        <p:spPr>
          <a:xfrm>
            <a:off x="9623459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84" name="Line"/>
          <p:cNvSpPr/>
          <p:nvPr/>
        </p:nvSpPr>
        <p:spPr>
          <a:xfrm>
            <a:off x="863073" y="6943445"/>
            <a:ext cx="876612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85" name="clk"/>
          <p:cNvSpPr txBox="1"/>
          <p:nvPr/>
        </p:nvSpPr>
        <p:spPr>
          <a:xfrm>
            <a:off x="666709" y="6915801"/>
            <a:ext cx="61730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</a:t>
            </a:r>
          </a:p>
        </p:txBody>
      </p:sp>
      <p:sp>
        <p:nvSpPr>
          <p:cNvPr id="886" name="Line"/>
          <p:cNvSpPr/>
          <p:nvPr/>
        </p:nvSpPr>
        <p:spPr>
          <a:xfrm flipV="1">
            <a:off x="1324116" y="3546442"/>
            <a:ext cx="1" cy="140936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87" name="Line"/>
          <p:cNvSpPr/>
          <p:nvPr/>
        </p:nvSpPr>
        <p:spPr>
          <a:xfrm flipH="1" flipV="1">
            <a:off x="1324116" y="3556432"/>
            <a:ext cx="319002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grpSp>
        <p:nvGrpSpPr>
          <p:cNvPr id="890" name="Group"/>
          <p:cNvGrpSpPr/>
          <p:nvPr/>
        </p:nvGrpSpPr>
        <p:grpSpPr>
          <a:xfrm>
            <a:off x="4532174" y="3166371"/>
            <a:ext cx="983938" cy="780118"/>
            <a:chOff x="0" y="0"/>
            <a:chExt cx="983936" cy="780116"/>
          </a:xfrm>
        </p:grpSpPr>
        <p:sp>
          <p:nvSpPr>
            <p:cNvPr id="888" name="Shape"/>
            <p:cNvSpPr/>
            <p:nvPr/>
          </p:nvSpPr>
          <p:spPr>
            <a:xfrm rot="10800000">
              <a:off x="-1" y="0"/>
              <a:ext cx="841590" cy="7801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1" h="21600" extrusionOk="0">
                  <a:moveTo>
                    <a:pt x="0" y="0"/>
                  </a:moveTo>
                  <a:cubicBezTo>
                    <a:pt x="3847" y="2001"/>
                    <a:pt x="6286" y="6234"/>
                    <a:pt x="6263" y="10869"/>
                  </a:cubicBezTo>
                  <a:cubicBezTo>
                    <a:pt x="6240" y="15455"/>
                    <a:pt x="3808" y="19623"/>
                    <a:pt x="0" y="21600"/>
                  </a:cubicBezTo>
                  <a:cubicBezTo>
                    <a:pt x="4027" y="20643"/>
                    <a:pt x="7906" y="19793"/>
                    <a:pt x="11741" y="19018"/>
                  </a:cubicBezTo>
                  <a:cubicBezTo>
                    <a:pt x="16228" y="18111"/>
                    <a:pt x="21285" y="16281"/>
                    <a:pt x="21437" y="11339"/>
                  </a:cubicBezTo>
                  <a:cubicBezTo>
                    <a:pt x="21600" y="6073"/>
                    <a:pt x="16411" y="3944"/>
                    <a:pt x="11803" y="2826"/>
                  </a:cubicBezTo>
                  <a:cubicBezTo>
                    <a:pt x="7962" y="1895"/>
                    <a:pt x="4099" y="96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889" name="Line"/>
            <p:cNvSpPr/>
            <p:nvPr/>
          </p:nvSpPr>
          <p:spPr>
            <a:xfrm>
              <a:off x="699203" y="29910"/>
              <a:ext cx="284734" cy="7435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7" h="21600" extrusionOk="0">
                  <a:moveTo>
                    <a:pt x="21537" y="0"/>
                  </a:moveTo>
                  <a:cubicBezTo>
                    <a:pt x="8749" y="1382"/>
                    <a:pt x="-63" y="5872"/>
                    <a:pt x="1" y="10974"/>
                  </a:cubicBezTo>
                  <a:cubicBezTo>
                    <a:pt x="61" y="15792"/>
                    <a:pt x="8086" y="20062"/>
                    <a:pt x="19972" y="2160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</p:grpSp>
      <p:sp>
        <p:nvSpPr>
          <p:cNvPr id="891" name="Line"/>
          <p:cNvSpPr/>
          <p:nvPr/>
        </p:nvSpPr>
        <p:spPr>
          <a:xfrm flipH="1" flipV="1">
            <a:off x="5297946" y="3773586"/>
            <a:ext cx="391199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92" name="Line"/>
          <p:cNvSpPr/>
          <p:nvPr/>
        </p:nvSpPr>
        <p:spPr>
          <a:xfrm flipH="1" flipV="1">
            <a:off x="5297946" y="3367186"/>
            <a:ext cx="649174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93" name="Line"/>
          <p:cNvSpPr/>
          <p:nvPr/>
        </p:nvSpPr>
        <p:spPr>
          <a:xfrm flipV="1">
            <a:off x="9206425" y="3760886"/>
            <a:ext cx="1" cy="120761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94" name="Line"/>
          <p:cNvSpPr/>
          <p:nvPr/>
        </p:nvSpPr>
        <p:spPr>
          <a:xfrm flipV="1">
            <a:off x="11797225" y="3354486"/>
            <a:ext cx="1" cy="1611308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895" name="1"/>
          <p:cNvSpPr txBox="1"/>
          <p:nvPr/>
        </p:nvSpPr>
        <p:spPr>
          <a:xfrm>
            <a:off x="23120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</a:p>
        </p:txBody>
      </p:sp>
      <p:sp>
        <p:nvSpPr>
          <p:cNvPr id="896" name="1"/>
          <p:cNvSpPr txBox="1"/>
          <p:nvPr/>
        </p:nvSpPr>
        <p:spPr>
          <a:xfrm>
            <a:off x="50044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</a:p>
        </p:txBody>
      </p:sp>
      <p:sp>
        <p:nvSpPr>
          <p:cNvPr id="897" name="0"/>
          <p:cNvSpPr txBox="1"/>
          <p:nvPr/>
        </p:nvSpPr>
        <p:spPr>
          <a:xfrm>
            <a:off x="76968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0</a:t>
            </a:r>
          </a:p>
        </p:txBody>
      </p:sp>
      <p:sp>
        <p:nvSpPr>
          <p:cNvPr id="898" name="1"/>
          <p:cNvSpPr txBox="1"/>
          <p:nvPr/>
        </p:nvSpPr>
        <p:spPr>
          <a:xfrm>
            <a:off x="10389244" y="5176285"/>
            <a:ext cx="426771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Linear feedback shift regis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90727">
              <a:defRPr sz="6719"/>
            </a:lvl1pPr>
          </a:lstStyle>
          <a:p>
            <a:r>
              <a:t>Linear feedback shift register</a:t>
            </a:r>
          </a:p>
        </p:txBody>
      </p:sp>
      <p:sp>
        <p:nvSpPr>
          <p:cNvPr id="9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52</a:t>
            </a:fld>
            <a:endParaRPr/>
          </a:p>
        </p:txBody>
      </p:sp>
      <p:sp>
        <p:nvSpPr>
          <p:cNvPr id="902" name="Line"/>
          <p:cNvSpPr/>
          <p:nvPr/>
        </p:nvSpPr>
        <p:spPr>
          <a:xfrm>
            <a:off x="1324116" y="4953093"/>
            <a:ext cx="1048247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03" name="Rectangle"/>
          <p:cNvSpPr/>
          <p:nvPr/>
        </p:nvSpPr>
        <p:spPr>
          <a:xfrm>
            <a:off x="1890429" y="463747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04" name="D"/>
          <p:cNvSpPr txBox="1"/>
          <p:nvPr/>
        </p:nvSpPr>
        <p:spPr>
          <a:xfrm>
            <a:off x="1876593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905" name="Q"/>
          <p:cNvSpPr txBox="1"/>
          <p:nvPr/>
        </p:nvSpPr>
        <p:spPr>
          <a:xfrm>
            <a:off x="2703924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906" name="Triangle"/>
          <p:cNvSpPr/>
          <p:nvPr/>
        </p:nvSpPr>
        <p:spPr>
          <a:xfrm rot="5400000">
            <a:off x="1881539" y="593353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07" name="Rectangle"/>
          <p:cNvSpPr/>
          <p:nvPr/>
        </p:nvSpPr>
        <p:spPr>
          <a:xfrm>
            <a:off x="4582829" y="4622533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08" name="Triangle"/>
          <p:cNvSpPr/>
          <p:nvPr/>
        </p:nvSpPr>
        <p:spPr>
          <a:xfrm rot="5400000">
            <a:off x="4573939" y="5918588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09" name="Rectangle"/>
          <p:cNvSpPr/>
          <p:nvPr/>
        </p:nvSpPr>
        <p:spPr>
          <a:xfrm>
            <a:off x="7275229" y="463747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10" name="Triangle"/>
          <p:cNvSpPr/>
          <p:nvPr/>
        </p:nvSpPr>
        <p:spPr>
          <a:xfrm rot="5400000">
            <a:off x="7266339" y="593353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11" name="Rectangle"/>
          <p:cNvSpPr/>
          <p:nvPr/>
        </p:nvSpPr>
        <p:spPr>
          <a:xfrm>
            <a:off x="9967629" y="460758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12" name="Triangle"/>
          <p:cNvSpPr/>
          <p:nvPr/>
        </p:nvSpPr>
        <p:spPr>
          <a:xfrm rot="5400000">
            <a:off x="9958739" y="590364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13" name="D"/>
          <p:cNvSpPr txBox="1"/>
          <p:nvPr/>
        </p:nvSpPr>
        <p:spPr>
          <a:xfrm>
            <a:off x="4583522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914" name="Q"/>
          <p:cNvSpPr txBox="1"/>
          <p:nvPr/>
        </p:nvSpPr>
        <p:spPr>
          <a:xfrm>
            <a:off x="5410853" y="4660993"/>
            <a:ext cx="43041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915" name="D"/>
          <p:cNvSpPr txBox="1"/>
          <p:nvPr/>
        </p:nvSpPr>
        <p:spPr>
          <a:xfrm>
            <a:off x="7264814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916" name="Q"/>
          <p:cNvSpPr txBox="1"/>
          <p:nvPr/>
        </p:nvSpPr>
        <p:spPr>
          <a:xfrm>
            <a:off x="8092145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917" name="D"/>
          <p:cNvSpPr txBox="1"/>
          <p:nvPr/>
        </p:nvSpPr>
        <p:spPr>
          <a:xfrm>
            <a:off x="9958807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918" name="Q"/>
          <p:cNvSpPr txBox="1"/>
          <p:nvPr/>
        </p:nvSpPr>
        <p:spPr>
          <a:xfrm>
            <a:off x="10786138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919" name="Line"/>
          <p:cNvSpPr/>
          <p:nvPr/>
        </p:nvSpPr>
        <p:spPr>
          <a:xfrm>
            <a:off x="1534387" y="6105245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20" name="Line"/>
          <p:cNvSpPr/>
          <p:nvPr/>
        </p:nvSpPr>
        <p:spPr>
          <a:xfrm flipH="1">
            <a:off x="1534387" y="6093848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21" name="Line"/>
          <p:cNvSpPr/>
          <p:nvPr/>
        </p:nvSpPr>
        <p:spPr>
          <a:xfrm>
            <a:off x="4232723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22" name="Line"/>
          <p:cNvSpPr/>
          <p:nvPr/>
        </p:nvSpPr>
        <p:spPr>
          <a:xfrm>
            <a:off x="4232723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23" name="Line"/>
          <p:cNvSpPr/>
          <p:nvPr/>
        </p:nvSpPr>
        <p:spPr>
          <a:xfrm>
            <a:off x="6931059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24" name="Line"/>
          <p:cNvSpPr/>
          <p:nvPr/>
        </p:nvSpPr>
        <p:spPr>
          <a:xfrm>
            <a:off x="6931059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25" name="Line"/>
          <p:cNvSpPr/>
          <p:nvPr/>
        </p:nvSpPr>
        <p:spPr>
          <a:xfrm>
            <a:off x="9623459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26" name="Line"/>
          <p:cNvSpPr/>
          <p:nvPr/>
        </p:nvSpPr>
        <p:spPr>
          <a:xfrm>
            <a:off x="9623459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27" name="Line"/>
          <p:cNvSpPr/>
          <p:nvPr/>
        </p:nvSpPr>
        <p:spPr>
          <a:xfrm>
            <a:off x="863073" y="6943445"/>
            <a:ext cx="876612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28" name="clk"/>
          <p:cNvSpPr txBox="1"/>
          <p:nvPr/>
        </p:nvSpPr>
        <p:spPr>
          <a:xfrm>
            <a:off x="666709" y="6915801"/>
            <a:ext cx="61730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</a:t>
            </a:r>
          </a:p>
        </p:txBody>
      </p:sp>
      <p:sp>
        <p:nvSpPr>
          <p:cNvPr id="929" name="Line"/>
          <p:cNvSpPr/>
          <p:nvPr/>
        </p:nvSpPr>
        <p:spPr>
          <a:xfrm flipV="1">
            <a:off x="1324116" y="3546442"/>
            <a:ext cx="1" cy="140936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30" name="Line"/>
          <p:cNvSpPr/>
          <p:nvPr/>
        </p:nvSpPr>
        <p:spPr>
          <a:xfrm flipH="1" flipV="1">
            <a:off x="1324116" y="3556432"/>
            <a:ext cx="319002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grpSp>
        <p:nvGrpSpPr>
          <p:cNvPr id="933" name="Group"/>
          <p:cNvGrpSpPr/>
          <p:nvPr/>
        </p:nvGrpSpPr>
        <p:grpSpPr>
          <a:xfrm>
            <a:off x="4532174" y="3166371"/>
            <a:ext cx="983938" cy="780118"/>
            <a:chOff x="0" y="0"/>
            <a:chExt cx="983936" cy="780116"/>
          </a:xfrm>
        </p:grpSpPr>
        <p:sp>
          <p:nvSpPr>
            <p:cNvPr id="931" name="Shape"/>
            <p:cNvSpPr/>
            <p:nvPr/>
          </p:nvSpPr>
          <p:spPr>
            <a:xfrm rot="10800000">
              <a:off x="-1" y="0"/>
              <a:ext cx="841590" cy="7801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1" h="21600" extrusionOk="0">
                  <a:moveTo>
                    <a:pt x="0" y="0"/>
                  </a:moveTo>
                  <a:cubicBezTo>
                    <a:pt x="3847" y="2001"/>
                    <a:pt x="6286" y="6234"/>
                    <a:pt x="6263" y="10869"/>
                  </a:cubicBezTo>
                  <a:cubicBezTo>
                    <a:pt x="6240" y="15455"/>
                    <a:pt x="3808" y="19623"/>
                    <a:pt x="0" y="21600"/>
                  </a:cubicBezTo>
                  <a:cubicBezTo>
                    <a:pt x="4027" y="20643"/>
                    <a:pt x="7906" y="19793"/>
                    <a:pt x="11741" y="19018"/>
                  </a:cubicBezTo>
                  <a:cubicBezTo>
                    <a:pt x="16228" y="18111"/>
                    <a:pt x="21285" y="16281"/>
                    <a:pt x="21437" y="11339"/>
                  </a:cubicBezTo>
                  <a:cubicBezTo>
                    <a:pt x="21600" y="6073"/>
                    <a:pt x="16411" y="3944"/>
                    <a:pt x="11803" y="2826"/>
                  </a:cubicBezTo>
                  <a:cubicBezTo>
                    <a:pt x="7962" y="1895"/>
                    <a:pt x="4099" y="96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932" name="Line"/>
            <p:cNvSpPr/>
            <p:nvPr/>
          </p:nvSpPr>
          <p:spPr>
            <a:xfrm>
              <a:off x="699203" y="29910"/>
              <a:ext cx="284734" cy="7435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7" h="21600" extrusionOk="0">
                  <a:moveTo>
                    <a:pt x="21537" y="0"/>
                  </a:moveTo>
                  <a:cubicBezTo>
                    <a:pt x="8749" y="1382"/>
                    <a:pt x="-63" y="5872"/>
                    <a:pt x="1" y="10974"/>
                  </a:cubicBezTo>
                  <a:cubicBezTo>
                    <a:pt x="61" y="15792"/>
                    <a:pt x="8086" y="20062"/>
                    <a:pt x="19972" y="2160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</p:grpSp>
      <p:sp>
        <p:nvSpPr>
          <p:cNvPr id="934" name="Line"/>
          <p:cNvSpPr/>
          <p:nvPr/>
        </p:nvSpPr>
        <p:spPr>
          <a:xfrm flipH="1" flipV="1">
            <a:off x="5297946" y="3773586"/>
            <a:ext cx="391199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35" name="Line"/>
          <p:cNvSpPr/>
          <p:nvPr/>
        </p:nvSpPr>
        <p:spPr>
          <a:xfrm flipH="1" flipV="1">
            <a:off x="5297946" y="3367186"/>
            <a:ext cx="649174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36" name="Line"/>
          <p:cNvSpPr/>
          <p:nvPr/>
        </p:nvSpPr>
        <p:spPr>
          <a:xfrm flipV="1">
            <a:off x="9206425" y="3760886"/>
            <a:ext cx="1" cy="120761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37" name="Line"/>
          <p:cNvSpPr/>
          <p:nvPr/>
        </p:nvSpPr>
        <p:spPr>
          <a:xfrm flipV="1">
            <a:off x="11797225" y="3354486"/>
            <a:ext cx="1" cy="1611308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38" name="1"/>
          <p:cNvSpPr txBox="1"/>
          <p:nvPr/>
        </p:nvSpPr>
        <p:spPr>
          <a:xfrm>
            <a:off x="23120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</a:p>
        </p:txBody>
      </p:sp>
      <p:sp>
        <p:nvSpPr>
          <p:cNvPr id="939" name="1"/>
          <p:cNvSpPr txBox="1"/>
          <p:nvPr/>
        </p:nvSpPr>
        <p:spPr>
          <a:xfrm>
            <a:off x="50044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</a:p>
        </p:txBody>
      </p:sp>
      <p:sp>
        <p:nvSpPr>
          <p:cNvPr id="940" name="1"/>
          <p:cNvSpPr txBox="1"/>
          <p:nvPr/>
        </p:nvSpPr>
        <p:spPr>
          <a:xfrm>
            <a:off x="76968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</a:p>
        </p:txBody>
      </p:sp>
      <p:sp>
        <p:nvSpPr>
          <p:cNvPr id="941" name="0"/>
          <p:cNvSpPr txBox="1"/>
          <p:nvPr/>
        </p:nvSpPr>
        <p:spPr>
          <a:xfrm>
            <a:off x="10389244" y="5176285"/>
            <a:ext cx="426771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0</a:t>
            </a:r>
          </a:p>
        </p:txBody>
      </p: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Linear feedback shift regis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90727">
              <a:defRPr sz="6719"/>
            </a:lvl1pPr>
          </a:lstStyle>
          <a:p>
            <a:r>
              <a:t>Linear feedback shift register</a:t>
            </a:r>
          </a:p>
        </p:txBody>
      </p:sp>
      <p:sp>
        <p:nvSpPr>
          <p:cNvPr id="94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53</a:t>
            </a:fld>
            <a:endParaRPr/>
          </a:p>
        </p:txBody>
      </p:sp>
      <p:sp>
        <p:nvSpPr>
          <p:cNvPr id="945" name="Line"/>
          <p:cNvSpPr/>
          <p:nvPr/>
        </p:nvSpPr>
        <p:spPr>
          <a:xfrm>
            <a:off x="1324116" y="4953093"/>
            <a:ext cx="1048247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46" name="Rectangle"/>
          <p:cNvSpPr/>
          <p:nvPr/>
        </p:nvSpPr>
        <p:spPr>
          <a:xfrm>
            <a:off x="1890429" y="463747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47" name="D"/>
          <p:cNvSpPr txBox="1"/>
          <p:nvPr/>
        </p:nvSpPr>
        <p:spPr>
          <a:xfrm>
            <a:off x="1876593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948" name="Q"/>
          <p:cNvSpPr txBox="1"/>
          <p:nvPr/>
        </p:nvSpPr>
        <p:spPr>
          <a:xfrm>
            <a:off x="2703924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949" name="Triangle"/>
          <p:cNvSpPr/>
          <p:nvPr/>
        </p:nvSpPr>
        <p:spPr>
          <a:xfrm rot="5400000">
            <a:off x="1881539" y="593353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50" name="Rectangle"/>
          <p:cNvSpPr/>
          <p:nvPr/>
        </p:nvSpPr>
        <p:spPr>
          <a:xfrm>
            <a:off x="4582829" y="4622533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51" name="Triangle"/>
          <p:cNvSpPr/>
          <p:nvPr/>
        </p:nvSpPr>
        <p:spPr>
          <a:xfrm rot="5400000">
            <a:off x="4573939" y="5918588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52" name="Rectangle"/>
          <p:cNvSpPr/>
          <p:nvPr/>
        </p:nvSpPr>
        <p:spPr>
          <a:xfrm>
            <a:off x="7275229" y="463747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53" name="Triangle"/>
          <p:cNvSpPr/>
          <p:nvPr/>
        </p:nvSpPr>
        <p:spPr>
          <a:xfrm rot="5400000">
            <a:off x="7266339" y="593353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54" name="Rectangle"/>
          <p:cNvSpPr/>
          <p:nvPr/>
        </p:nvSpPr>
        <p:spPr>
          <a:xfrm>
            <a:off x="9967629" y="460758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55" name="Triangle"/>
          <p:cNvSpPr/>
          <p:nvPr/>
        </p:nvSpPr>
        <p:spPr>
          <a:xfrm rot="5400000">
            <a:off x="9958739" y="590364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56" name="D"/>
          <p:cNvSpPr txBox="1"/>
          <p:nvPr/>
        </p:nvSpPr>
        <p:spPr>
          <a:xfrm>
            <a:off x="4583522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957" name="Q"/>
          <p:cNvSpPr txBox="1"/>
          <p:nvPr/>
        </p:nvSpPr>
        <p:spPr>
          <a:xfrm>
            <a:off x="5410853" y="4660993"/>
            <a:ext cx="43041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958" name="D"/>
          <p:cNvSpPr txBox="1"/>
          <p:nvPr/>
        </p:nvSpPr>
        <p:spPr>
          <a:xfrm>
            <a:off x="7264814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959" name="Q"/>
          <p:cNvSpPr txBox="1"/>
          <p:nvPr/>
        </p:nvSpPr>
        <p:spPr>
          <a:xfrm>
            <a:off x="8092145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960" name="D"/>
          <p:cNvSpPr txBox="1"/>
          <p:nvPr/>
        </p:nvSpPr>
        <p:spPr>
          <a:xfrm>
            <a:off x="9958807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961" name="Q"/>
          <p:cNvSpPr txBox="1"/>
          <p:nvPr/>
        </p:nvSpPr>
        <p:spPr>
          <a:xfrm>
            <a:off x="10786138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962" name="Line"/>
          <p:cNvSpPr/>
          <p:nvPr/>
        </p:nvSpPr>
        <p:spPr>
          <a:xfrm>
            <a:off x="1534387" y="6105245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63" name="Line"/>
          <p:cNvSpPr/>
          <p:nvPr/>
        </p:nvSpPr>
        <p:spPr>
          <a:xfrm flipH="1">
            <a:off x="1534387" y="6093848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64" name="Line"/>
          <p:cNvSpPr/>
          <p:nvPr/>
        </p:nvSpPr>
        <p:spPr>
          <a:xfrm>
            <a:off x="4232723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65" name="Line"/>
          <p:cNvSpPr/>
          <p:nvPr/>
        </p:nvSpPr>
        <p:spPr>
          <a:xfrm>
            <a:off x="4232723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66" name="Line"/>
          <p:cNvSpPr/>
          <p:nvPr/>
        </p:nvSpPr>
        <p:spPr>
          <a:xfrm>
            <a:off x="6931059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67" name="Line"/>
          <p:cNvSpPr/>
          <p:nvPr/>
        </p:nvSpPr>
        <p:spPr>
          <a:xfrm>
            <a:off x="6931059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68" name="Line"/>
          <p:cNvSpPr/>
          <p:nvPr/>
        </p:nvSpPr>
        <p:spPr>
          <a:xfrm>
            <a:off x="9623459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69" name="Line"/>
          <p:cNvSpPr/>
          <p:nvPr/>
        </p:nvSpPr>
        <p:spPr>
          <a:xfrm>
            <a:off x="9623459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70" name="Line"/>
          <p:cNvSpPr/>
          <p:nvPr/>
        </p:nvSpPr>
        <p:spPr>
          <a:xfrm>
            <a:off x="863073" y="6943445"/>
            <a:ext cx="876612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71" name="clk"/>
          <p:cNvSpPr txBox="1"/>
          <p:nvPr/>
        </p:nvSpPr>
        <p:spPr>
          <a:xfrm>
            <a:off x="666709" y="6915801"/>
            <a:ext cx="61730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</a:t>
            </a:r>
          </a:p>
        </p:txBody>
      </p:sp>
      <p:sp>
        <p:nvSpPr>
          <p:cNvPr id="972" name="Line"/>
          <p:cNvSpPr/>
          <p:nvPr/>
        </p:nvSpPr>
        <p:spPr>
          <a:xfrm flipV="1">
            <a:off x="1324116" y="3546442"/>
            <a:ext cx="1" cy="140936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73" name="Line"/>
          <p:cNvSpPr/>
          <p:nvPr/>
        </p:nvSpPr>
        <p:spPr>
          <a:xfrm flipH="1" flipV="1">
            <a:off x="1324116" y="3556432"/>
            <a:ext cx="319002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grpSp>
        <p:nvGrpSpPr>
          <p:cNvPr id="976" name="Group"/>
          <p:cNvGrpSpPr/>
          <p:nvPr/>
        </p:nvGrpSpPr>
        <p:grpSpPr>
          <a:xfrm>
            <a:off x="4532174" y="3166371"/>
            <a:ext cx="983938" cy="780118"/>
            <a:chOff x="0" y="0"/>
            <a:chExt cx="983936" cy="780116"/>
          </a:xfrm>
        </p:grpSpPr>
        <p:sp>
          <p:nvSpPr>
            <p:cNvPr id="974" name="Shape"/>
            <p:cNvSpPr/>
            <p:nvPr/>
          </p:nvSpPr>
          <p:spPr>
            <a:xfrm rot="10800000">
              <a:off x="-1" y="0"/>
              <a:ext cx="841590" cy="7801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1" h="21600" extrusionOk="0">
                  <a:moveTo>
                    <a:pt x="0" y="0"/>
                  </a:moveTo>
                  <a:cubicBezTo>
                    <a:pt x="3847" y="2001"/>
                    <a:pt x="6286" y="6234"/>
                    <a:pt x="6263" y="10869"/>
                  </a:cubicBezTo>
                  <a:cubicBezTo>
                    <a:pt x="6240" y="15455"/>
                    <a:pt x="3808" y="19623"/>
                    <a:pt x="0" y="21600"/>
                  </a:cubicBezTo>
                  <a:cubicBezTo>
                    <a:pt x="4027" y="20643"/>
                    <a:pt x="7906" y="19793"/>
                    <a:pt x="11741" y="19018"/>
                  </a:cubicBezTo>
                  <a:cubicBezTo>
                    <a:pt x="16228" y="18111"/>
                    <a:pt x="21285" y="16281"/>
                    <a:pt x="21437" y="11339"/>
                  </a:cubicBezTo>
                  <a:cubicBezTo>
                    <a:pt x="21600" y="6073"/>
                    <a:pt x="16411" y="3944"/>
                    <a:pt x="11803" y="2826"/>
                  </a:cubicBezTo>
                  <a:cubicBezTo>
                    <a:pt x="7962" y="1895"/>
                    <a:pt x="4099" y="96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975" name="Line"/>
            <p:cNvSpPr/>
            <p:nvPr/>
          </p:nvSpPr>
          <p:spPr>
            <a:xfrm>
              <a:off x="699203" y="29910"/>
              <a:ext cx="284734" cy="7435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7" h="21600" extrusionOk="0">
                  <a:moveTo>
                    <a:pt x="21537" y="0"/>
                  </a:moveTo>
                  <a:cubicBezTo>
                    <a:pt x="8749" y="1382"/>
                    <a:pt x="-63" y="5872"/>
                    <a:pt x="1" y="10974"/>
                  </a:cubicBezTo>
                  <a:cubicBezTo>
                    <a:pt x="61" y="15792"/>
                    <a:pt x="8086" y="20062"/>
                    <a:pt x="19972" y="2160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</p:grpSp>
      <p:sp>
        <p:nvSpPr>
          <p:cNvPr id="977" name="Line"/>
          <p:cNvSpPr/>
          <p:nvPr/>
        </p:nvSpPr>
        <p:spPr>
          <a:xfrm flipH="1" flipV="1">
            <a:off x="5297946" y="3773586"/>
            <a:ext cx="391199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78" name="Line"/>
          <p:cNvSpPr/>
          <p:nvPr/>
        </p:nvSpPr>
        <p:spPr>
          <a:xfrm flipH="1" flipV="1">
            <a:off x="5297946" y="3367186"/>
            <a:ext cx="649174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79" name="Line"/>
          <p:cNvSpPr/>
          <p:nvPr/>
        </p:nvSpPr>
        <p:spPr>
          <a:xfrm flipV="1">
            <a:off x="9206425" y="3760886"/>
            <a:ext cx="1" cy="120761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80" name="Line"/>
          <p:cNvSpPr/>
          <p:nvPr/>
        </p:nvSpPr>
        <p:spPr>
          <a:xfrm flipV="1">
            <a:off x="11797225" y="3354486"/>
            <a:ext cx="1" cy="1611308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81" name="1"/>
          <p:cNvSpPr txBox="1"/>
          <p:nvPr/>
        </p:nvSpPr>
        <p:spPr>
          <a:xfrm>
            <a:off x="23120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</a:p>
        </p:txBody>
      </p:sp>
      <p:sp>
        <p:nvSpPr>
          <p:cNvPr id="982" name="1"/>
          <p:cNvSpPr txBox="1"/>
          <p:nvPr/>
        </p:nvSpPr>
        <p:spPr>
          <a:xfrm>
            <a:off x="50044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</a:p>
        </p:txBody>
      </p:sp>
      <p:sp>
        <p:nvSpPr>
          <p:cNvPr id="983" name="1"/>
          <p:cNvSpPr txBox="1"/>
          <p:nvPr/>
        </p:nvSpPr>
        <p:spPr>
          <a:xfrm>
            <a:off x="76968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</a:p>
        </p:txBody>
      </p:sp>
      <p:sp>
        <p:nvSpPr>
          <p:cNvPr id="984" name="1"/>
          <p:cNvSpPr txBox="1"/>
          <p:nvPr/>
        </p:nvSpPr>
        <p:spPr>
          <a:xfrm>
            <a:off x="10389244" y="5176285"/>
            <a:ext cx="426771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Linear feedback shift regis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90727">
              <a:defRPr sz="6719"/>
            </a:lvl1pPr>
          </a:lstStyle>
          <a:p>
            <a:r>
              <a:t>Linear feedback shift register</a:t>
            </a:r>
          </a:p>
        </p:txBody>
      </p:sp>
      <p:sp>
        <p:nvSpPr>
          <p:cNvPr id="98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54</a:t>
            </a:fld>
            <a:endParaRPr/>
          </a:p>
        </p:txBody>
      </p:sp>
      <p:sp>
        <p:nvSpPr>
          <p:cNvPr id="988" name="Line"/>
          <p:cNvSpPr/>
          <p:nvPr/>
        </p:nvSpPr>
        <p:spPr>
          <a:xfrm>
            <a:off x="1324116" y="4953093"/>
            <a:ext cx="1048247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89" name="Rectangle"/>
          <p:cNvSpPr/>
          <p:nvPr/>
        </p:nvSpPr>
        <p:spPr>
          <a:xfrm>
            <a:off x="1890429" y="463747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90" name="D"/>
          <p:cNvSpPr txBox="1"/>
          <p:nvPr/>
        </p:nvSpPr>
        <p:spPr>
          <a:xfrm>
            <a:off x="1876593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991" name="Q"/>
          <p:cNvSpPr txBox="1"/>
          <p:nvPr/>
        </p:nvSpPr>
        <p:spPr>
          <a:xfrm>
            <a:off x="2703924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992" name="Triangle"/>
          <p:cNvSpPr/>
          <p:nvPr/>
        </p:nvSpPr>
        <p:spPr>
          <a:xfrm rot="5400000">
            <a:off x="1881539" y="593353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93" name="Rectangle"/>
          <p:cNvSpPr/>
          <p:nvPr/>
        </p:nvSpPr>
        <p:spPr>
          <a:xfrm>
            <a:off x="4582829" y="4622533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94" name="Triangle"/>
          <p:cNvSpPr/>
          <p:nvPr/>
        </p:nvSpPr>
        <p:spPr>
          <a:xfrm rot="5400000">
            <a:off x="4573939" y="5918588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95" name="Rectangle"/>
          <p:cNvSpPr/>
          <p:nvPr/>
        </p:nvSpPr>
        <p:spPr>
          <a:xfrm>
            <a:off x="7275229" y="463747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96" name="Triangle"/>
          <p:cNvSpPr/>
          <p:nvPr/>
        </p:nvSpPr>
        <p:spPr>
          <a:xfrm rot="5400000">
            <a:off x="7266339" y="593353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97" name="Rectangle"/>
          <p:cNvSpPr/>
          <p:nvPr/>
        </p:nvSpPr>
        <p:spPr>
          <a:xfrm>
            <a:off x="9967629" y="460758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98" name="Triangle"/>
          <p:cNvSpPr/>
          <p:nvPr/>
        </p:nvSpPr>
        <p:spPr>
          <a:xfrm rot="5400000">
            <a:off x="9958739" y="590364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999" name="D"/>
          <p:cNvSpPr txBox="1"/>
          <p:nvPr/>
        </p:nvSpPr>
        <p:spPr>
          <a:xfrm>
            <a:off x="4583522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1000" name="Q"/>
          <p:cNvSpPr txBox="1"/>
          <p:nvPr/>
        </p:nvSpPr>
        <p:spPr>
          <a:xfrm>
            <a:off x="5410853" y="4660993"/>
            <a:ext cx="43041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1001" name="D"/>
          <p:cNvSpPr txBox="1"/>
          <p:nvPr/>
        </p:nvSpPr>
        <p:spPr>
          <a:xfrm>
            <a:off x="7264814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1002" name="Q"/>
          <p:cNvSpPr txBox="1"/>
          <p:nvPr/>
        </p:nvSpPr>
        <p:spPr>
          <a:xfrm>
            <a:off x="8092145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1003" name="D"/>
          <p:cNvSpPr txBox="1"/>
          <p:nvPr/>
        </p:nvSpPr>
        <p:spPr>
          <a:xfrm>
            <a:off x="9958807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1004" name="Q"/>
          <p:cNvSpPr txBox="1"/>
          <p:nvPr/>
        </p:nvSpPr>
        <p:spPr>
          <a:xfrm>
            <a:off x="10786138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1005" name="Line"/>
          <p:cNvSpPr/>
          <p:nvPr/>
        </p:nvSpPr>
        <p:spPr>
          <a:xfrm>
            <a:off x="1534387" y="6105245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06" name="Line"/>
          <p:cNvSpPr/>
          <p:nvPr/>
        </p:nvSpPr>
        <p:spPr>
          <a:xfrm flipH="1">
            <a:off x="1534387" y="6093848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07" name="Line"/>
          <p:cNvSpPr/>
          <p:nvPr/>
        </p:nvSpPr>
        <p:spPr>
          <a:xfrm>
            <a:off x="4232723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08" name="Line"/>
          <p:cNvSpPr/>
          <p:nvPr/>
        </p:nvSpPr>
        <p:spPr>
          <a:xfrm>
            <a:off x="4232723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09" name="Line"/>
          <p:cNvSpPr/>
          <p:nvPr/>
        </p:nvSpPr>
        <p:spPr>
          <a:xfrm>
            <a:off x="6931059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10" name="Line"/>
          <p:cNvSpPr/>
          <p:nvPr/>
        </p:nvSpPr>
        <p:spPr>
          <a:xfrm>
            <a:off x="6931059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11" name="Line"/>
          <p:cNvSpPr/>
          <p:nvPr/>
        </p:nvSpPr>
        <p:spPr>
          <a:xfrm>
            <a:off x="9623459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12" name="Line"/>
          <p:cNvSpPr/>
          <p:nvPr/>
        </p:nvSpPr>
        <p:spPr>
          <a:xfrm>
            <a:off x="9623459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13" name="Line"/>
          <p:cNvSpPr/>
          <p:nvPr/>
        </p:nvSpPr>
        <p:spPr>
          <a:xfrm>
            <a:off x="863073" y="6943445"/>
            <a:ext cx="876612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14" name="clk"/>
          <p:cNvSpPr txBox="1"/>
          <p:nvPr/>
        </p:nvSpPr>
        <p:spPr>
          <a:xfrm>
            <a:off x="666709" y="6915801"/>
            <a:ext cx="61730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</a:t>
            </a:r>
          </a:p>
        </p:txBody>
      </p:sp>
      <p:sp>
        <p:nvSpPr>
          <p:cNvPr id="1015" name="Line"/>
          <p:cNvSpPr/>
          <p:nvPr/>
        </p:nvSpPr>
        <p:spPr>
          <a:xfrm flipV="1">
            <a:off x="1324116" y="3546442"/>
            <a:ext cx="1" cy="140936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16" name="Line"/>
          <p:cNvSpPr/>
          <p:nvPr/>
        </p:nvSpPr>
        <p:spPr>
          <a:xfrm flipH="1" flipV="1">
            <a:off x="1324116" y="3556432"/>
            <a:ext cx="319002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grpSp>
        <p:nvGrpSpPr>
          <p:cNvPr id="1019" name="Group"/>
          <p:cNvGrpSpPr/>
          <p:nvPr/>
        </p:nvGrpSpPr>
        <p:grpSpPr>
          <a:xfrm>
            <a:off x="4532174" y="3166371"/>
            <a:ext cx="983938" cy="780118"/>
            <a:chOff x="0" y="0"/>
            <a:chExt cx="983936" cy="780116"/>
          </a:xfrm>
        </p:grpSpPr>
        <p:sp>
          <p:nvSpPr>
            <p:cNvPr id="1017" name="Shape"/>
            <p:cNvSpPr/>
            <p:nvPr/>
          </p:nvSpPr>
          <p:spPr>
            <a:xfrm rot="10800000">
              <a:off x="-1" y="0"/>
              <a:ext cx="841590" cy="7801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1" h="21600" extrusionOk="0">
                  <a:moveTo>
                    <a:pt x="0" y="0"/>
                  </a:moveTo>
                  <a:cubicBezTo>
                    <a:pt x="3847" y="2001"/>
                    <a:pt x="6286" y="6234"/>
                    <a:pt x="6263" y="10869"/>
                  </a:cubicBezTo>
                  <a:cubicBezTo>
                    <a:pt x="6240" y="15455"/>
                    <a:pt x="3808" y="19623"/>
                    <a:pt x="0" y="21600"/>
                  </a:cubicBezTo>
                  <a:cubicBezTo>
                    <a:pt x="4027" y="20643"/>
                    <a:pt x="7906" y="19793"/>
                    <a:pt x="11741" y="19018"/>
                  </a:cubicBezTo>
                  <a:cubicBezTo>
                    <a:pt x="16228" y="18111"/>
                    <a:pt x="21285" y="16281"/>
                    <a:pt x="21437" y="11339"/>
                  </a:cubicBezTo>
                  <a:cubicBezTo>
                    <a:pt x="21600" y="6073"/>
                    <a:pt x="16411" y="3944"/>
                    <a:pt x="11803" y="2826"/>
                  </a:cubicBezTo>
                  <a:cubicBezTo>
                    <a:pt x="7962" y="1895"/>
                    <a:pt x="4099" y="96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1018" name="Line"/>
            <p:cNvSpPr/>
            <p:nvPr/>
          </p:nvSpPr>
          <p:spPr>
            <a:xfrm>
              <a:off x="699203" y="29910"/>
              <a:ext cx="284734" cy="7435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7" h="21600" extrusionOk="0">
                  <a:moveTo>
                    <a:pt x="21537" y="0"/>
                  </a:moveTo>
                  <a:cubicBezTo>
                    <a:pt x="8749" y="1382"/>
                    <a:pt x="-63" y="5872"/>
                    <a:pt x="1" y="10974"/>
                  </a:cubicBezTo>
                  <a:cubicBezTo>
                    <a:pt x="61" y="15792"/>
                    <a:pt x="8086" y="20062"/>
                    <a:pt x="19972" y="2160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</p:grpSp>
      <p:sp>
        <p:nvSpPr>
          <p:cNvPr id="1020" name="Line"/>
          <p:cNvSpPr/>
          <p:nvPr/>
        </p:nvSpPr>
        <p:spPr>
          <a:xfrm flipH="1" flipV="1">
            <a:off x="5297946" y="3773586"/>
            <a:ext cx="391199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21" name="Line"/>
          <p:cNvSpPr/>
          <p:nvPr/>
        </p:nvSpPr>
        <p:spPr>
          <a:xfrm flipH="1" flipV="1">
            <a:off x="5297946" y="3367186"/>
            <a:ext cx="649174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22" name="Line"/>
          <p:cNvSpPr/>
          <p:nvPr/>
        </p:nvSpPr>
        <p:spPr>
          <a:xfrm flipV="1">
            <a:off x="9206425" y="3760886"/>
            <a:ext cx="1" cy="120761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23" name="Line"/>
          <p:cNvSpPr/>
          <p:nvPr/>
        </p:nvSpPr>
        <p:spPr>
          <a:xfrm flipV="1">
            <a:off x="11797225" y="3354486"/>
            <a:ext cx="1" cy="1611308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24" name="0"/>
          <p:cNvSpPr txBox="1"/>
          <p:nvPr/>
        </p:nvSpPr>
        <p:spPr>
          <a:xfrm>
            <a:off x="23120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0</a:t>
            </a:r>
          </a:p>
        </p:txBody>
      </p:sp>
      <p:sp>
        <p:nvSpPr>
          <p:cNvPr id="1025" name="1"/>
          <p:cNvSpPr txBox="1"/>
          <p:nvPr/>
        </p:nvSpPr>
        <p:spPr>
          <a:xfrm>
            <a:off x="50044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</a:p>
        </p:txBody>
      </p:sp>
      <p:sp>
        <p:nvSpPr>
          <p:cNvPr id="1026" name="1"/>
          <p:cNvSpPr txBox="1"/>
          <p:nvPr/>
        </p:nvSpPr>
        <p:spPr>
          <a:xfrm>
            <a:off x="76968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</a:p>
        </p:txBody>
      </p:sp>
      <p:sp>
        <p:nvSpPr>
          <p:cNvPr id="1027" name="1"/>
          <p:cNvSpPr txBox="1"/>
          <p:nvPr/>
        </p:nvSpPr>
        <p:spPr>
          <a:xfrm>
            <a:off x="10389244" y="5176285"/>
            <a:ext cx="426771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</a:p>
        </p:txBody>
      </p:sp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Linear feedback shift regis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90727">
              <a:defRPr sz="6719"/>
            </a:lvl1pPr>
          </a:lstStyle>
          <a:p>
            <a:r>
              <a:t>Linear feedback shift register</a:t>
            </a:r>
          </a:p>
        </p:txBody>
      </p:sp>
      <p:sp>
        <p:nvSpPr>
          <p:cNvPr id="10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55</a:t>
            </a:fld>
            <a:endParaRPr/>
          </a:p>
        </p:txBody>
      </p:sp>
      <p:sp>
        <p:nvSpPr>
          <p:cNvPr id="1031" name="Line"/>
          <p:cNvSpPr/>
          <p:nvPr/>
        </p:nvSpPr>
        <p:spPr>
          <a:xfrm>
            <a:off x="1324116" y="4953093"/>
            <a:ext cx="1048247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32" name="Rectangle"/>
          <p:cNvSpPr/>
          <p:nvPr/>
        </p:nvSpPr>
        <p:spPr>
          <a:xfrm>
            <a:off x="1890429" y="463747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33" name="D"/>
          <p:cNvSpPr txBox="1"/>
          <p:nvPr/>
        </p:nvSpPr>
        <p:spPr>
          <a:xfrm>
            <a:off x="1876593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1034" name="Q"/>
          <p:cNvSpPr txBox="1"/>
          <p:nvPr/>
        </p:nvSpPr>
        <p:spPr>
          <a:xfrm>
            <a:off x="2703924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1035" name="Triangle"/>
          <p:cNvSpPr/>
          <p:nvPr/>
        </p:nvSpPr>
        <p:spPr>
          <a:xfrm rot="5400000">
            <a:off x="1881539" y="593353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36" name="Rectangle"/>
          <p:cNvSpPr/>
          <p:nvPr/>
        </p:nvSpPr>
        <p:spPr>
          <a:xfrm>
            <a:off x="4582829" y="4622533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37" name="Triangle"/>
          <p:cNvSpPr/>
          <p:nvPr/>
        </p:nvSpPr>
        <p:spPr>
          <a:xfrm rot="5400000">
            <a:off x="4573939" y="5918588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38" name="Rectangle"/>
          <p:cNvSpPr/>
          <p:nvPr/>
        </p:nvSpPr>
        <p:spPr>
          <a:xfrm>
            <a:off x="7275229" y="463747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39" name="Triangle"/>
          <p:cNvSpPr/>
          <p:nvPr/>
        </p:nvSpPr>
        <p:spPr>
          <a:xfrm rot="5400000">
            <a:off x="7266339" y="593353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40" name="Rectangle"/>
          <p:cNvSpPr/>
          <p:nvPr/>
        </p:nvSpPr>
        <p:spPr>
          <a:xfrm>
            <a:off x="9967629" y="460758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41" name="Triangle"/>
          <p:cNvSpPr/>
          <p:nvPr/>
        </p:nvSpPr>
        <p:spPr>
          <a:xfrm rot="5400000">
            <a:off x="9958739" y="590364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42" name="D"/>
          <p:cNvSpPr txBox="1"/>
          <p:nvPr/>
        </p:nvSpPr>
        <p:spPr>
          <a:xfrm>
            <a:off x="4583522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1043" name="Q"/>
          <p:cNvSpPr txBox="1"/>
          <p:nvPr/>
        </p:nvSpPr>
        <p:spPr>
          <a:xfrm>
            <a:off x="5410853" y="4660993"/>
            <a:ext cx="43041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1044" name="D"/>
          <p:cNvSpPr txBox="1"/>
          <p:nvPr/>
        </p:nvSpPr>
        <p:spPr>
          <a:xfrm>
            <a:off x="7264814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1045" name="Q"/>
          <p:cNvSpPr txBox="1"/>
          <p:nvPr/>
        </p:nvSpPr>
        <p:spPr>
          <a:xfrm>
            <a:off x="8092145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1046" name="D"/>
          <p:cNvSpPr txBox="1"/>
          <p:nvPr/>
        </p:nvSpPr>
        <p:spPr>
          <a:xfrm>
            <a:off x="9958807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1047" name="Q"/>
          <p:cNvSpPr txBox="1"/>
          <p:nvPr/>
        </p:nvSpPr>
        <p:spPr>
          <a:xfrm>
            <a:off x="10786138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1048" name="Line"/>
          <p:cNvSpPr/>
          <p:nvPr/>
        </p:nvSpPr>
        <p:spPr>
          <a:xfrm>
            <a:off x="1534387" y="6105245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49" name="Line"/>
          <p:cNvSpPr/>
          <p:nvPr/>
        </p:nvSpPr>
        <p:spPr>
          <a:xfrm flipH="1">
            <a:off x="1534387" y="6093848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50" name="Line"/>
          <p:cNvSpPr/>
          <p:nvPr/>
        </p:nvSpPr>
        <p:spPr>
          <a:xfrm>
            <a:off x="4232723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51" name="Line"/>
          <p:cNvSpPr/>
          <p:nvPr/>
        </p:nvSpPr>
        <p:spPr>
          <a:xfrm>
            <a:off x="4232723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52" name="Line"/>
          <p:cNvSpPr/>
          <p:nvPr/>
        </p:nvSpPr>
        <p:spPr>
          <a:xfrm>
            <a:off x="6931059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53" name="Line"/>
          <p:cNvSpPr/>
          <p:nvPr/>
        </p:nvSpPr>
        <p:spPr>
          <a:xfrm>
            <a:off x="6931059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54" name="Line"/>
          <p:cNvSpPr/>
          <p:nvPr/>
        </p:nvSpPr>
        <p:spPr>
          <a:xfrm>
            <a:off x="9623459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55" name="Line"/>
          <p:cNvSpPr/>
          <p:nvPr/>
        </p:nvSpPr>
        <p:spPr>
          <a:xfrm>
            <a:off x="9623459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56" name="Line"/>
          <p:cNvSpPr/>
          <p:nvPr/>
        </p:nvSpPr>
        <p:spPr>
          <a:xfrm>
            <a:off x="863073" y="6943445"/>
            <a:ext cx="876612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57" name="clk"/>
          <p:cNvSpPr txBox="1"/>
          <p:nvPr/>
        </p:nvSpPr>
        <p:spPr>
          <a:xfrm>
            <a:off x="666709" y="6915801"/>
            <a:ext cx="61730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</a:t>
            </a:r>
          </a:p>
        </p:txBody>
      </p:sp>
      <p:sp>
        <p:nvSpPr>
          <p:cNvPr id="1058" name="Line"/>
          <p:cNvSpPr/>
          <p:nvPr/>
        </p:nvSpPr>
        <p:spPr>
          <a:xfrm flipV="1">
            <a:off x="1324116" y="3546442"/>
            <a:ext cx="1" cy="140936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59" name="Line"/>
          <p:cNvSpPr/>
          <p:nvPr/>
        </p:nvSpPr>
        <p:spPr>
          <a:xfrm flipH="1" flipV="1">
            <a:off x="1324116" y="3556432"/>
            <a:ext cx="319002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grpSp>
        <p:nvGrpSpPr>
          <p:cNvPr id="1062" name="Group"/>
          <p:cNvGrpSpPr/>
          <p:nvPr/>
        </p:nvGrpSpPr>
        <p:grpSpPr>
          <a:xfrm>
            <a:off x="4532174" y="3166371"/>
            <a:ext cx="983938" cy="780118"/>
            <a:chOff x="0" y="0"/>
            <a:chExt cx="983936" cy="780116"/>
          </a:xfrm>
        </p:grpSpPr>
        <p:sp>
          <p:nvSpPr>
            <p:cNvPr id="1060" name="Shape"/>
            <p:cNvSpPr/>
            <p:nvPr/>
          </p:nvSpPr>
          <p:spPr>
            <a:xfrm rot="10800000">
              <a:off x="-1" y="0"/>
              <a:ext cx="841590" cy="7801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1" h="21600" extrusionOk="0">
                  <a:moveTo>
                    <a:pt x="0" y="0"/>
                  </a:moveTo>
                  <a:cubicBezTo>
                    <a:pt x="3847" y="2001"/>
                    <a:pt x="6286" y="6234"/>
                    <a:pt x="6263" y="10869"/>
                  </a:cubicBezTo>
                  <a:cubicBezTo>
                    <a:pt x="6240" y="15455"/>
                    <a:pt x="3808" y="19623"/>
                    <a:pt x="0" y="21600"/>
                  </a:cubicBezTo>
                  <a:cubicBezTo>
                    <a:pt x="4027" y="20643"/>
                    <a:pt x="7906" y="19793"/>
                    <a:pt x="11741" y="19018"/>
                  </a:cubicBezTo>
                  <a:cubicBezTo>
                    <a:pt x="16228" y="18111"/>
                    <a:pt x="21285" y="16281"/>
                    <a:pt x="21437" y="11339"/>
                  </a:cubicBezTo>
                  <a:cubicBezTo>
                    <a:pt x="21600" y="6073"/>
                    <a:pt x="16411" y="3944"/>
                    <a:pt x="11803" y="2826"/>
                  </a:cubicBezTo>
                  <a:cubicBezTo>
                    <a:pt x="7962" y="1895"/>
                    <a:pt x="4099" y="96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1061" name="Line"/>
            <p:cNvSpPr/>
            <p:nvPr/>
          </p:nvSpPr>
          <p:spPr>
            <a:xfrm>
              <a:off x="699203" y="29910"/>
              <a:ext cx="284734" cy="7435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7" h="21600" extrusionOk="0">
                  <a:moveTo>
                    <a:pt x="21537" y="0"/>
                  </a:moveTo>
                  <a:cubicBezTo>
                    <a:pt x="8749" y="1382"/>
                    <a:pt x="-63" y="5872"/>
                    <a:pt x="1" y="10974"/>
                  </a:cubicBezTo>
                  <a:cubicBezTo>
                    <a:pt x="61" y="15792"/>
                    <a:pt x="8086" y="20062"/>
                    <a:pt x="19972" y="2160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</p:grpSp>
      <p:sp>
        <p:nvSpPr>
          <p:cNvPr id="1063" name="Line"/>
          <p:cNvSpPr/>
          <p:nvPr/>
        </p:nvSpPr>
        <p:spPr>
          <a:xfrm flipH="1" flipV="1">
            <a:off x="5297946" y="3773586"/>
            <a:ext cx="391199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64" name="Line"/>
          <p:cNvSpPr/>
          <p:nvPr/>
        </p:nvSpPr>
        <p:spPr>
          <a:xfrm flipH="1" flipV="1">
            <a:off x="5297946" y="3367186"/>
            <a:ext cx="649174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65" name="Line"/>
          <p:cNvSpPr/>
          <p:nvPr/>
        </p:nvSpPr>
        <p:spPr>
          <a:xfrm flipV="1">
            <a:off x="9206425" y="3760886"/>
            <a:ext cx="1" cy="120761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66" name="Line"/>
          <p:cNvSpPr/>
          <p:nvPr/>
        </p:nvSpPr>
        <p:spPr>
          <a:xfrm flipV="1">
            <a:off x="11797225" y="3354486"/>
            <a:ext cx="1" cy="1611308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67" name="0"/>
          <p:cNvSpPr txBox="1"/>
          <p:nvPr/>
        </p:nvSpPr>
        <p:spPr>
          <a:xfrm>
            <a:off x="23120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0</a:t>
            </a:r>
          </a:p>
        </p:txBody>
      </p:sp>
      <p:sp>
        <p:nvSpPr>
          <p:cNvPr id="1068" name="0"/>
          <p:cNvSpPr txBox="1"/>
          <p:nvPr/>
        </p:nvSpPr>
        <p:spPr>
          <a:xfrm>
            <a:off x="50044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0</a:t>
            </a:r>
          </a:p>
        </p:txBody>
      </p:sp>
      <p:sp>
        <p:nvSpPr>
          <p:cNvPr id="1069" name="1"/>
          <p:cNvSpPr txBox="1"/>
          <p:nvPr/>
        </p:nvSpPr>
        <p:spPr>
          <a:xfrm>
            <a:off x="76968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</a:p>
        </p:txBody>
      </p:sp>
      <p:sp>
        <p:nvSpPr>
          <p:cNvPr id="1070" name="1"/>
          <p:cNvSpPr txBox="1"/>
          <p:nvPr/>
        </p:nvSpPr>
        <p:spPr>
          <a:xfrm>
            <a:off x="10389244" y="5176285"/>
            <a:ext cx="426771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</a:p>
        </p:txBody>
      </p:sp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Linear feedback shift regis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90727">
              <a:defRPr sz="6719"/>
            </a:lvl1pPr>
          </a:lstStyle>
          <a:p>
            <a:r>
              <a:t>Linear feedback shift register</a:t>
            </a:r>
          </a:p>
        </p:txBody>
      </p:sp>
      <p:sp>
        <p:nvSpPr>
          <p:cNvPr id="107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56</a:t>
            </a:fld>
            <a:endParaRPr/>
          </a:p>
        </p:txBody>
      </p:sp>
      <p:sp>
        <p:nvSpPr>
          <p:cNvPr id="1074" name="Line"/>
          <p:cNvSpPr/>
          <p:nvPr/>
        </p:nvSpPr>
        <p:spPr>
          <a:xfrm>
            <a:off x="1324116" y="4953093"/>
            <a:ext cx="1048247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75" name="Rectangle"/>
          <p:cNvSpPr/>
          <p:nvPr/>
        </p:nvSpPr>
        <p:spPr>
          <a:xfrm>
            <a:off x="1890429" y="463747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76" name="D"/>
          <p:cNvSpPr txBox="1"/>
          <p:nvPr/>
        </p:nvSpPr>
        <p:spPr>
          <a:xfrm>
            <a:off x="1876593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1077" name="Q"/>
          <p:cNvSpPr txBox="1"/>
          <p:nvPr/>
        </p:nvSpPr>
        <p:spPr>
          <a:xfrm>
            <a:off x="2703924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1078" name="Triangle"/>
          <p:cNvSpPr/>
          <p:nvPr/>
        </p:nvSpPr>
        <p:spPr>
          <a:xfrm rot="5400000">
            <a:off x="1881539" y="593353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79" name="Rectangle"/>
          <p:cNvSpPr/>
          <p:nvPr/>
        </p:nvSpPr>
        <p:spPr>
          <a:xfrm>
            <a:off x="4582829" y="4622533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80" name="Triangle"/>
          <p:cNvSpPr/>
          <p:nvPr/>
        </p:nvSpPr>
        <p:spPr>
          <a:xfrm rot="5400000">
            <a:off x="4573939" y="5918588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81" name="Rectangle"/>
          <p:cNvSpPr/>
          <p:nvPr/>
        </p:nvSpPr>
        <p:spPr>
          <a:xfrm>
            <a:off x="7275229" y="463747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82" name="Triangle"/>
          <p:cNvSpPr/>
          <p:nvPr/>
        </p:nvSpPr>
        <p:spPr>
          <a:xfrm rot="5400000">
            <a:off x="7266339" y="593353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83" name="Rectangle"/>
          <p:cNvSpPr/>
          <p:nvPr/>
        </p:nvSpPr>
        <p:spPr>
          <a:xfrm>
            <a:off x="9967629" y="460758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84" name="Triangle"/>
          <p:cNvSpPr/>
          <p:nvPr/>
        </p:nvSpPr>
        <p:spPr>
          <a:xfrm rot="5400000">
            <a:off x="9958739" y="590364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85" name="D"/>
          <p:cNvSpPr txBox="1"/>
          <p:nvPr/>
        </p:nvSpPr>
        <p:spPr>
          <a:xfrm>
            <a:off x="4583522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1086" name="Q"/>
          <p:cNvSpPr txBox="1"/>
          <p:nvPr/>
        </p:nvSpPr>
        <p:spPr>
          <a:xfrm>
            <a:off x="5410853" y="4660993"/>
            <a:ext cx="43041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1087" name="D"/>
          <p:cNvSpPr txBox="1"/>
          <p:nvPr/>
        </p:nvSpPr>
        <p:spPr>
          <a:xfrm>
            <a:off x="7264814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1088" name="Q"/>
          <p:cNvSpPr txBox="1"/>
          <p:nvPr/>
        </p:nvSpPr>
        <p:spPr>
          <a:xfrm>
            <a:off x="8092145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1089" name="D"/>
          <p:cNvSpPr txBox="1"/>
          <p:nvPr/>
        </p:nvSpPr>
        <p:spPr>
          <a:xfrm>
            <a:off x="9958807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1090" name="Q"/>
          <p:cNvSpPr txBox="1"/>
          <p:nvPr/>
        </p:nvSpPr>
        <p:spPr>
          <a:xfrm>
            <a:off x="10786138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1091" name="Line"/>
          <p:cNvSpPr/>
          <p:nvPr/>
        </p:nvSpPr>
        <p:spPr>
          <a:xfrm>
            <a:off x="1534387" y="6105245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92" name="Line"/>
          <p:cNvSpPr/>
          <p:nvPr/>
        </p:nvSpPr>
        <p:spPr>
          <a:xfrm flipH="1">
            <a:off x="1534387" y="6093848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93" name="Line"/>
          <p:cNvSpPr/>
          <p:nvPr/>
        </p:nvSpPr>
        <p:spPr>
          <a:xfrm>
            <a:off x="4232723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94" name="Line"/>
          <p:cNvSpPr/>
          <p:nvPr/>
        </p:nvSpPr>
        <p:spPr>
          <a:xfrm>
            <a:off x="4232723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95" name="Line"/>
          <p:cNvSpPr/>
          <p:nvPr/>
        </p:nvSpPr>
        <p:spPr>
          <a:xfrm>
            <a:off x="6931059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96" name="Line"/>
          <p:cNvSpPr/>
          <p:nvPr/>
        </p:nvSpPr>
        <p:spPr>
          <a:xfrm>
            <a:off x="6931059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97" name="Line"/>
          <p:cNvSpPr/>
          <p:nvPr/>
        </p:nvSpPr>
        <p:spPr>
          <a:xfrm>
            <a:off x="9623459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98" name="Line"/>
          <p:cNvSpPr/>
          <p:nvPr/>
        </p:nvSpPr>
        <p:spPr>
          <a:xfrm>
            <a:off x="9623459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099" name="Line"/>
          <p:cNvSpPr/>
          <p:nvPr/>
        </p:nvSpPr>
        <p:spPr>
          <a:xfrm>
            <a:off x="863073" y="6943445"/>
            <a:ext cx="876612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00" name="clk"/>
          <p:cNvSpPr txBox="1"/>
          <p:nvPr/>
        </p:nvSpPr>
        <p:spPr>
          <a:xfrm>
            <a:off x="666709" y="6915801"/>
            <a:ext cx="61730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</a:t>
            </a:r>
          </a:p>
        </p:txBody>
      </p:sp>
      <p:sp>
        <p:nvSpPr>
          <p:cNvPr id="1101" name="Line"/>
          <p:cNvSpPr/>
          <p:nvPr/>
        </p:nvSpPr>
        <p:spPr>
          <a:xfrm flipV="1">
            <a:off x="1324116" y="3546442"/>
            <a:ext cx="1" cy="140936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02" name="Line"/>
          <p:cNvSpPr/>
          <p:nvPr/>
        </p:nvSpPr>
        <p:spPr>
          <a:xfrm flipH="1" flipV="1">
            <a:off x="1324116" y="3556432"/>
            <a:ext cx="319002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grpSp>
        <p:nvGrpSpPr>
          <p:cNvPr id="1105" name="Group"/>
          <p:cNvGrpSpPr/>
          <p:nvPr/>
        </p:nvGrpSpPr>
        <p:grpSpPr>
          <a:xfrm>
            <a:off x="4532174" y="3166371"/>
            <a:ext cx="983938" cy="780118"/>
            <a:chOff x="0" y="0"/>
            <a:chExt cx="983936" cy="780116"/>
          </a:xfrm>
        </p:grpSpPr>
        <p:sp>
          <p:nvSpPr>
            <p:cNvPr id="1103" name="Shape"/>
            <p:cNvSpPr/>
            <p:nvPr/>
          </p:nvSpPr>
          <p:spPr>
            <a:xfrm rot="10800000">
              <a:off x="-1" y="0"/>
              <a:ext cx="841590" cy="7801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1" h="21600" extrusionOk="0">
                  <a:moveTo>
                    <a:pt x="0" y="0"/>
                  </a:moveTo>
                  <a:cubicBezTo>
                    <a:pt x="3847" y="2001"/>
                    <a:pt x="6286" y="6234"/>
                    <a:pt x="6263" y="10869"/>
                  </a:cubicBezTo>
                  <a:cubicBezTo>
                    <a:pt x="6240" y="15455"/>
                    <a:pt x="3808" y="19623"/>
                    <a:pt x="0" y="21600"/>
                  </a:cubicBezTo>
                  <a:cubicBezTo>
                    <a:pt x="4027" y="20643"/>
                    <a:pt x="7906" y="19793"/>
                    <a:pt x="11741" y="19018"/>
                  </a:cubicBezTo>
                  <a:cubicBezTo>
                    <a:pt x="16228" y="18111"/>
                    <a:pt x="21285" y="16281"/>
                    <a:pt x="21437" y="11339"/>
                  </a:cubicBezTo>
                  <a:cubicBezTo>
                    <a:pt x="21600" y="6073"/>
                    <a:pt x="16411" y="3944"/>
                    <a:pt x="11803" y="2826"/>
                  </a:cubicBezTo>
                  <a:cubicBezTo>
                    <a:pt x="7962" y="1895"/>
                    <a:pt x="4099" y="96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1104" name="Line"/>
            <p:cNvSpPr/>
            <p:nvPr/>
          </p:nvSpPr>
          <p:spPr>
            <a:xfrm>
              <a:off x="699203" y="29910"/>
              <a:ext cx="284734" cy="7435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7" h="21600" extrusionOk="0">
                  <a:moveTo>
                    <a:pt x="21537" y="0"/>
                  </a:moveTo>
                  <a:cubicBezTo>
                    <a:pt x="8749" y="1382"/>
                    <a:pt x="-63" y="5872"/>
                    <a:pt x="1" y="10974"/>
                  </a:cubicBezTo>
                  <a:cubicBezTo>
                    <a:pt x="61" y="15792"/>
                    <a:pt x="8086" y="20062"/>
                    <a:pt x="19972" y="2160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</p:grpSp>
      <p:sp>
        <p:nvSpPr>
          <p:cNvPr id="1106" name="Line"/>
          <p:cNvSpPr/>
          <p:nvPr/>
        </p:nvSpPr>
        <p:spPr>
          <a:xfrm flipH="1" flipV="1">
            <a:off x="5297946" y="3773586"/>
            <a:ext cx="391199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07" name="Line"/>
          <p:cNvSpPr/>
          <p:nvPr/>
        </p:nvSpPr>
        <p:spPr>
          <a:xfrm flipH="1" flipV="1">
            <a:off x="5297946" y="3367186"/>
            <a:ext cx="649174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08" name="Line"/>
          <p:cNvSpPr/>
          <p:nvPr/>
        </p:nvSpPr>
        <p:spPr>
          <a:xfrm flipV="1">
            <a:off x="9206425" y="3760886"/>
            <a:ext cx="1" cy="120761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09" name="Line"/>
          <p:cNvSpPr/>
          <p:nvPr/>
        </p:nvSpPr>
        <p:spPr>
          <a:xfrm flipV="1">
            <a:off x="11797225" y="3354486"/>
            <a:ext cx="1" cy="1611308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10" name="0"/>
          <p:cNvSpPr txBox="1"/>
          <p:nvPr/>
        </p:nvSpPr>
        <p:spPr>
          <a:xfrm>
            <a:off x="23120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0</a:t>
            </a:r>
          </a:p>
        </p:txBody>
      </p:sp>
      <p:sp>
        <p:nvSpPr>
          <p:cNvPr id="1111" name="0"/>
          <p:cNvSpPr txBox="1"/>
          <p:nvPr/>
        </p:nvSpPr>
        <p:spPr>
          <a:xfrm>
            <a:off x="50044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0</a:t>
            </a:r>
          </a:p>
        </p:txBody>
      </p:sp>
      <p:sp>
        <p:nvSpPr>
          <p:cNvPr id="1112" name="0"/>
          <p:cNvSpPr txBox="1"/>
          <p:nvPr/>
        </p:nvSpPr>
        <p:spPr>
          <a:xfrm>
            <a:off x="76968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0</a:t>
            </a:r>
          </a:p>
        </p:txBody>
      </p:sp>
      <p:sp>
        <p:nvSpPr>
          <p:cNvPr id="1113" name="1"/>
          <p:cNvSpPr txBox="1"/>
          <p:nvPr/>
        </p:nvSpPr>
        <p:spPr>
          <a:xfrm>
            <a:off x="10389244" y="5176285"/>
            <a:ext cx="426771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</a:p>
        </p:txBody>
      </p:sp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Linear feedback shift regis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90727">
              <a:defRPr sz="6719"/>
            </a:lvl1pPr>
          </a:lstStyle>
          <a:p>
            <a:r>
              <a:t>Linear feedback shift register</a:t>
            </a:r>
          </a:p>
        </p:txBody>
      </p:sp>
      <p:sp>
        <p:nvSpPr>
          <p:cNvPr id="11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57</a:t>
            </a:fld>
            <a:endParaRPr/>
          </a:p>
        </p:txBody>
      </p:sp>
      <p:sp>
        <p:nvSpPr>
          <p:cNvPr id="1117" name="Line"/>
          <p:cNvSpPr/>
          <p:nvPr/>
        </p:nvSpPr>
        <p:spPr>
          <a:xfrm>
            <a:off x="1324116" y="4953093"/>
            <a:ext cx="1048247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18" name="Rectangle"/>
          <p:cNvSpPr/>
          <p:nvPr/>
        </p:nvSpPr>
        <p:spPr>
          <a:xfrm>
            <a:off x="1890429" y="463747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19" name="D"/>
          <p:cNvSpPr txBox="1"/>
          <p:nvPr/>
        </p:nvSpPr>
        <p:spPr>
          <a:xfrm>
            <a:off x="1876593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1120" name="Q"/>
          <p:cNvSpPr txBox="1"/>
          <p:nvPr/>
        </p:nvSpPr>
        <p:spPr>
          <a:xfrm>
            <a:off x="2703924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1121" name="Triangle"/>
          <p:cNvSpPr/>
          <p:nvPr/>
        </p:nvSpPr>
        <p:spPr>
          <a:xfrm rot="5400000">
            <a:off x="1881539" y="593353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22" name="Rectangle"/>
          <p:cNvSpPr/>
          <p:nvPr/>
        </p:nvSpPr>
        <p:spPr>
          <a:xfrm>
            <a:off x="4582829" y="4622533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23" name="Triangle"/>
          <p:cNvSpPr/>
          <p:nvPr/>
        </p:nvSpPr>
        <p:spPr>
          <a:xfrm rot="5400000">
            <a:off x="4573939" y="5918588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24" name="Rectangle"/>
          <p:cNvSpPr/>
          <p:nvPr/>
        </p:nvSpPr>
        <p:spPr>
          <a:xfrm>
            <a:off x="7275229" y="463747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25" name="Triangle"/>
          <p:cNvSpPr/>
          <p:nvPr/>
        </p:nvSpPr>
        <p:spPr>
          <a:xfrm rot="5400000">
            <a:off x="7266339" y="593353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26" name="Rectangle"/>
          <p:cNvSpPr/>
          <p:nvPr/>
        </p:nvSpPr>
        <p:spPr>
          <a:xfrm>
            <a:off x="9967629" y="4607588"/>
            <a:ext cx="1270001" cy="1801516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27" name="Triangle"/>
          <p:cNvSpPr/>
          <p:nvPr/>
        </p:nvSpPr>
        <p:spPr>
          <a:xfrm rot="5400000">
            <a:off x="9958739" y="5903643"/>
            <a:ext cx="368301" cy="350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28" name="D"/>
          <p:cNvSpPr txBox="1"/>
          <p:nvPr/>
        </p:nvSpPr>
        <p:spPr>
          <a:xfrm>
            <a:off x="4583522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1129" name="Q"/>
          <p:cNvSpPr txBox="1"/>
          <p:nvPr/>
        </p:nvSpPr>
        <p:spPr>
          <a:xfrm>
            <a:off x="5410853" y="4660993"/>
            <a:ext cx="43041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1130" name="D"/>
          <p:cNvSpPr txBox="1"/>
          <p:nvPr/>
        </p:nvSpPr>
        <p:spPr>
          <a:xfrm>
            <a:off x="7264814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1131" name="Q"/>
          <p:cNvSpPr txBox="1"/>
          <p:nvPr/>
        </p:nvSpPr>
        <p:spPr>
          <a:xfrm>
            <a:off x="8092145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1132" name="D"/>
          <p:cNvSpPr txBox="1"/>
          <p:nvPr/>
        </p:nvSpPr>
        <p:spPr>
          <a:xfrm>
            <a:off x="9958807" y="4660993"/>
            <a:ext cx="40779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</a:t>
            </a:r>
          </a:p>
        </p:txBody>
      </p:sp>
      <p:sp>
        <p:nvSpPr>
          <p:cNvPr id="1133" name="Q"/>
          <p:cNvSpPr txBox="1"/>
          <p:nvPr/>
        </p:nvSpPr>
        <p:spPr>
          <a:xfrm>
            <a:off x="10786138" y="4660993"/>
            <a:ext cx="43041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</a:t>
            </a:r>
          </a:p>
        </p:txBody>
      </p:sp>
      <p:sp>
        <p:nvSpPr>
          <p:cNvPr id="1134" name="Line"/>
          <p:cNvSpPr/>
          <p:nvPr/>
        </p:nvSpPr>
        <p:spPr>
          <a:xfrm>
            <a:off x="1534387" y="6105245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35" name="Line"/>
          <p:cNvSpPr/>
          <p:nvPr/>
        </p:nvSpPr>
        <p:spPr>
          <a:xfrm flipH="1">
            <a:off x="1534387" y="6093848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36" name="Line"/>
          <p:cNvSpPr/>
          <p:nvPr/>
        </p:nvSpPr>
        <p:spPr>
          <a:xfrm>
            <a:off x="4232723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37" name="Line"/>
          <p:cNvSpPr/>
          <p:nvPr/>
        </p:nvSpPr>
        <p:spPr>
          <a:xfrm>
            <a:off x="4232723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38" name="Line"/>
          <p:cNvSpPr/>
          <p:nvPr/>
        </p:nvSpPr>
        <p:spPr>
          <a:xfrm>
            <a:off x="6931059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39" name="Line"/>
          <p:cNvSpPr/>
          <p:nvPr/>
        </p:nvSpPr>
        <p:spPr>
          <a:xfrm>
            <a:off x="6931059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40" name="Line"/>
          <p:cNvSpPr/>
          <p:nvPr/>
        </p:nvSpPr>
        <p:spPr>
          <a:xfrm>
            <a:off x="9623459" y="6105897"/>
            <a:ext cx="350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41" name="Line"/>
          <p:cNvSpPr/>
          <p:nvPr/>
        </p:nvSpPr>
        <p:spPr>
          <a:xfrm>
            <a:off x="9623459" y="6094499"/>
            <a:ext cx="1" cy="84116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42" name="Line"/>
          <p:cNvSpPr/>
          <p:nvPr/>
        </p:nvSpPr>
        <p:spPr>
          <a:xfrm>
            <a:off x="863073" y="6943445"/>
            <a:ext cx="876612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43" name="clk"/>
          <p:cNvSpPr txBox="1"/>
          <p:nvPr/>
        </p:nvSpPr>
        <p:spPr>
          <a:xfrm>
            <a:off x="666709" y="6915801"/>
            <a:ext cx="61730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</a:t>
            </a:r>
          </a:p>
        </p:txBody>
      </p:sp>
      <p:sp>
        <p:nvSpPr>
          <p:cNvPr id="1144" name="Line"/>
          <p:cNvSpPr/>
          <p:nvPr/>
        </p:nvSpPr>
        <p:spPr>
          <a:xfrm flipV="1">
            <a:off x="1324116" y="3546442"/>
            <a:ext cx="1" cy="140936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45" name="Line"/>
          <p:cNvSpPr/>
          <p:nvPr/>
        </p:nvSpPr>
        <p:spPr>
          <a:xfrm flipH="1" flipV="1">
            <a:off x="1324116" y="3556432"/>
            <a:ext cx="319002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grpSp>
        <p:nvGrpSpPr>
          <p:cNvPr id="1148" name="Group"/>
          <p:cNvGrpSpPr/>
          <p:nvPr/>
        </p:nvGrpSpPr>
        <p:grpSpPr>
          <a:xfrm>
            <a:off x="4532174" y="3166371"/>
            <a:ext cx="983938" cy="780118"/>
            <a:chOff x="0" y="0"/>
            <a:chExt cx="983936" cy="780116"/>
          </a:xfrm>
        </p:grpSpPr>
        <p:sp>
          <p:nvSpPr>
            <p:cNvPr id="1146" name="Shape"/>
            <p:cNvSpPr/>
            <p:nvPr/>
          </p:nvSpPr>
          <p:spPr>
            <a:xfrm rot="10800000">
              <a:off x="-1" y="0"/>
              <a:ext cx="841590" cy="7801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1" h="21600" extrusionOk="0">
                  <a:moveTo>
                    <a:pt x="0" y="0"/>
                  </a:moveTo>
                  <a:cubicBezTo>
                    <a:pt x="3847" y="2001"/>
                    <a:pt x="6286" y="6234"/>
                    <a:pt x="6263" y="10869"/>
                  </a:cubicBezTo>
                  <a:cubicBezTo>
                    <a:pt x="6240" y="15455"/>
                    <a:pt x="3808" y="19623"/>
                    <a:pt x="0" y="21600"/>
                  </a:cubicBezTo>
                  <a:cubicBezTo>
                    <a:pt x="4027" y="20643"/>
                    <a:pt x="7906" y="19793"/>
                    <a:pt x="11741" y="19018"/>
                  </a:cubicBezTo>
                  <a:cubicBezTo>
                    <a:pt x="16228" y="18111"/>
                    <a:pt x="21285" y="16281"/>
                    <a:pt x="21437" y="11339"/>
                  </a:cubicBezTo>
                  <a:cubicBezTo>
                    <a:pt x="21600" y="6073"/>
                    <a:pt x="16411" y="3944"/>
                    <a:pt x="11803" y="2826"/>
                  </a:cubicBezTo>
                  <a:cubicBezTo>
                    <a:pt x="7962" y="1895"/>
                    <a:pt x="4099" y="96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1147" name="Line"/>
            <p:cNvSpPr/>
            <p:nvPr/>
          </p:nvSpPr>
          <p:spPr>
            <a:xfrm>
              <a:off x="699203" y="29910"/>
              <a:ext cx="284734" cy="7435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7" h="21600" extrusionOk="0">
                  <a:moveTo>
                    <a:pt x="21537" y="0"/>
                  </a:moveTo>
                  <a:cubicBezTo>
                    <a:pt x="8749" y="1382"/>
                    <a:pt x="-63" y="5872"/>
                    <a:pt x="1" y="10974"/>
                  </a:cubicBezTo>
                  <a:cubicBezTo>
                    <a:pt x="61" y="15792"/>
                    <a:pt x="8086" y="20062"/>
                    <a:pt x="19972" y="2160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</p:grpSp>
      <p:sp>
        <p:nvSpPr>
          <p:cNvPr id="1149" name="Line"/>
          <p:cNvSpPr/>
          <p:nvPr/>
        </p:nvSpPr>
        <p:spPr>
          <a:xfrm flipH="1" flipV="1">
            <a:off x="5297946" y="3773586"/>
            <a:ext cx="391199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50" name="Line"/>
          <p:cNvSpPr/>
          <p:nvPr/>
        </p:nvSpPr>
        <p:spPr>
          <a:xfrm flipH="1" flipV="1">
            <a:off x="5297946" y="3367186"/>
            <a:ext cx="649174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51" name="Line"/>
          <p:cNvSpPr/>
          <p:nvPr/>
        </p:nvSpPr>
        <p:spPr>
          <a:xfrm flipV="1">
            <a:off x="9206425" y="3760886"/>
            <a:ext cx="1" cy="120761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52" name="Line"/>
          <p:cNvSpPr/>
          <p:nvPr/>
        </p:nvSpPr>
        <p:spPr>
          <a:xfrm flipV="1">
            <a:off x="11797225" y="3354486"/>
            <a:ext cx="1" cy="1611308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53" name="1"/>
          <p:cNvSpPr txBox="1"/>
          <p:nvPr/>
        </p:nvSpPr>
        <p:spPr>
          <a:xfrm>
            <a:off x="23120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</a:p>
        </p:txBody>
      </p:sp>
      <p:sp>
        <p:nvSpPr>
          <p:cNvPr id="1154" name="0"/>
          <p:cNvSpPr txBox="1"/>
          <p:nvPr/>
        </p:nvSpPr>
        <p:spPr>
          <a:xfrm>
            <a:off x="50044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0</a:t>
            </a:r>
          </a:p>
        </p:txBody>
      </p:sp>
      <p:sp>
        <p:nvSpPr>
          <p:cNvPr id="1155" name="0"/>
          <p:cNvSpPr txBox="1"/>
          <p:nvPr/>
        </p:nvSpPr>
        <p:spPr>
          <a:xfrm>
            <a:off x="7696844" y="5176285"/>
            <a:ext cx="4267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0</a:t>
            </a:r>
          </a:p>
        </p:txBody>
      </p:sp>
      <p:sp>
        <p:nvSpPr>
          <p:cNvPr id="1156" name="0"/>
          <p:cNvSpPr txBox="1"/>
          <p:nvPr/>
        </p:nvSpPr>
        <p:spPr>
          <a:xfrm>
            <a:off x="10389244" y="5176285"/>
            <a:ext cx="426771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0</a:t>
            </a:r>
          </a:p>
        </p:txBody>
      </p:sp>
      <p:sp>
        <p:nvSpPr>
          <p:cNvPr id="1157" name="This LFSR corresponds to the polynomial 1 + x3 + x4. Other LSFRs are possible, with different polynomials."/>
          <p:cNvSpPr txBox="1">
            <a:spLocks noGrp="1"/>
          </p:cNvSpPr>
          <p:nvPr>
            <p:ph type="body" sz="quarter" idx="1"/>
          </p:nvPr>
        </p:nvSpPr>
        <p:spPr>
          <a:xfrm>
            <a:off x="441056" y="8075765"/>
            <a:ext cx="11099800" cy="1203605"/>
          </a:xfrm>
          <a:prstGeom prst="rect">
            <a:avLst/>
          </a:prstGeom>
        </p:spPr>
        <p:txBody>
          <a:bodyPr/>
          <a:lstStyle/>
          <a:p>
            <a:r>
              <a:rPr dirty="0"/>
              <a:t>This LFSR corresponds to the polynomial 1 + x</a:t>
            </a:r>
            <a:r>
              <a:rPr baseline="31999" dirty="0"/>
              <a:t>3</a:t>
            </a:r>
            <a:r>
              <a:rPr dirty="0"/>
              <a:t> + x</a:t>
            </a:r>
            <a:r>
              <a:rPr baseline="31999" dirty="0"/>
              <a:t>4</a:t>
            </a:r>
            <a:r>
              <a:rPr dirty="0"/>
              <a:t>. Other LSFRs are possible, with different polynomials.</a:t>
            </a:r>
          </a:p>
        </p:txBody>
      </p:sp>
      <p:sp>
        <p:nvSpPr>
          <p:cNvPr id="2" name="Rounded Rectangular Callout 1">
            <a:extLst>
              <a:ext uri="{FF2B5EF4-FFF2-40B4-BE49-F238E27FC236}">
                <a16:creationId xmlns:a16="http://schemas.microsoft.com/office/drawing/2014/main" id="{5BD781A7-DEDA-40A6-4064-886F37F5D514}"/>
              </a:ext>
            </a:extLst>
          </p:cNvPr>
          <p:cNvSpPr/>
          <p:nvPr/>
        </p:nvSpPr>
        <p:spPr>
          <a:xfrm>
            <a:off x="9879569" y="6701995"/>
            <a:ext cx="3020245" cy="828596"/>
          </a:xfrm>
          <a:prstGeom prst="wedgeRoundRectCallout">
            <a:avLst>
              <a:gd name="adj1" fmla="val -63260"/>
              <a:gd name="adj2" fmla="val 127869"/>
              <a:gd name="adj3" fmla="val 16667"/>
            </a:avLst>
          </a:prstGeom>
          <a:solidFill>
            <a:schemeClr val="tx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2100" b="1" dirty="0"/>
              <a:t>A polynomial over GF(2) where + is XOR</a:t>
            </a:r>
            <a:endParaRPr kumimoji="0" lang="en-GB" sz="21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" grpId="1" animBg="1" advAuto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Linear feedback shift regis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90727">
              <a:defRPr sz="6719"/>
            </a:lvl1pPr>
          </a:lstStyle>
          <a:p>
            <a:r>
              <a:t>Linear feedback shift register</a:t>
            </a:r>
          </a:p>
        </p:txBody>
      </p:sp>
      <p:sp>
        <p:nvSpPr>
          <p:cNvPr id="11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58</a:t>
            </a:fld>
            <a:endParaRPr/>
          </a:p>
        </p:txBody>
      </p:sp>
      <p:sp>
        <p:nvSpPr>
          <p:cNvPr id="1161" name="module lfsr4 (data_out, clk);…"/>
          <p:cNvSpPr txBox="1"/>
          <p:nvPr/>
        </p:nvSpPr>
        <p:spPr>
          <a:xfrm>
            <a:off x="2588902" y="3742418"/>
            <a:ext cx="7684796" cy="3995966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module lfsr4 (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output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[4:1]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data_out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,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input  logic      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);</a:t>
            </a: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logic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[4:1]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sreg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= 4'b0001;</a:t>
            </a:r>
          </a:p>
          <a:p>
            <a:pPr algn="l">
              <a:defRPr sz="2300"/>
            </a:pPr>
            <a:endParaRPr lang="en-GB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always_ff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@(</a:t>
            </a: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posedge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clk</a:t>
            </a: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</a:p>
          <a:p>
            <a:pPr algn="l">
              <a:defRPr sz="2300"/>
            </a:pP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sreg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&lt;= {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sreg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[3:1],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sreg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[4] ^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sreg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[3]};</a:t>
            </a:r>
          </a:p>
          <a:p>
            <a:pPr algn="l">
              <a:defRPr sz="2300"/>
            </a:pPr>
            <a:endParaRPr lang="en-GB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2300"/>
            </a:pPr>
            <a:r>
              <a:rPr lang="en-GB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assign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data_out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= </a:t>
            </a:r>
            <a:r>
              <a:rPr lang="en-GB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sreg</a:t>
            </a:r>
            <a:r>
              <a:rPr lang="en-GB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algn="l">
              <a:defRPr sz="2300"/>
            </a:pPr>
            <a:r>
              <a:rPr lang="en-GB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endmodule</a:t>
            </a:r>
            <a:endParaRPr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Binary to BC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Binary to BCD</a:t>
            </a:r>
          </a:p>
        </p:txBody>
      </p:sp>
      <p:sp>
        <p:nvSpPr>
          <p:cNvPr id="11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59</a:t>
            </a:fld>
            <a:endParaRPr/>
          </a:p>
        </p:txBody>
      </p:sp>
    </p:spTree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Binary to BC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Binary to BCD</a:t>
            </a:r>
          </a:p>
        </p:txBody>
      </p:sp>
      <p:sp>
        <p:nvSpPr>
          <p:cNvPr id="11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60</a:t>
            </a:fld>
            <a:endParaRPr/>
          </a:p>
        </p:txBody>
      </p:sp>
      <p:graphicFrame>
        <p:nvGraphicFramePr>
          <p:cNvPr id="1168" name="Table 1"/>
          <p:cNvGraphicFramePr/>
          <p:nvPr/>
        </p:nvGraphicFramePr>
        <p:xfrm>
          <a:off x="2961648" y="2672742"/>
          <a:ext cx="7081501" cy="6911512"/>
        </p:xfrm>
        <a:graphic>
          <a:graphicData uri="http://schemas.openxmlformats.org/drawingml/2006/table">
            <a:tbl>
              <a:tblPr>
                <a:tableStyleId>{4A9BC294-FFE2-49D5-8D69-9E1BD2C41BD5}</a:tableStyleId>
              </a:tblPr>
              <a:tblGrid>
                <a:gridCol w="1228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8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36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61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8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8236">
                <a:tc>
                  <a:txBody>
                    <a:bodyPr/>
                    <a:lstStyle/>
                    <a:p>
                      <a:pPr>
                        <a:spcBef>
                          <a:spcPts val="4200"/>
                        </a:spcBef>
                        <a:defRPr sz="2100"/>
                      </a:pPr>
                      <a:endParaRPr/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100"/>
                        <a:t>binary-coded decimal (BCD)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100"/>
                        <a:t>8-bit binary</a:t>
                      </a:r>
                    </a:p>
                  </a:txBody>
                  <a:tcPr marL="50800" marR="50800" marT="50800" marB="50800" anchor="ctr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236">
                <a:tc>
                  <a:txBody>
                    <a:bodyPr/>
                    <a:lstStyle/>
                    <a:p>
                      <a:pPr>
                        <a:spcBef>
                          <a:spcPts val="4200"/>
                        </a:spcBef>
                        <a:defRPr sz="2100"/>
                      </a:pPr>
                      <a:endParaRPr/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100"/>
                        <a:t>hundreds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100"/>
                        <a:t>tens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sz="2100"/>
                        <a:t>units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T w="0">
                      <a:miter lim="400000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100"/>
                      </a:pPr>
                      <a:endParaRPr/>
                    </a:p>
                  </a:txBody>
                  <a:tcPr marL="50800" marR="50800" marT="50800" marB="50800" anchor="ctr" horzOverflow="overflow">
                    <a:lnR w="0">
                      <a:miter lim="400000"/>
                    </a:lnR>
                    <a:lnT w="0">
                      <a:miter lim="400000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236">
                <a:tc>
                  <a:txBody>
                    <a:bodyPr/>
                    <a:lstStyle/>
                    <a:p>
                      <a:pPr>
                        <a:defRPr sz="3300"/>
                      </a:pPr>
                      <a:endParaRPr/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3300"/>
                      </a:pPr>
                      <a:endParaRPr/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3300"/>
                      </a:pPr>
                      <a:endParaRPr/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3300"/>
                      </a:pPr>
                      <a:endParaRPr/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33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0111</a:t>
                      </a:r>
                    </a:p>
                  </a:txBody>
                  <a:tcPr marL="0" marR="0" marT="0" marB="0" anchor="ctr" horzOverflow="overflow">
                    <a:lnR w="0">
                      <a:miter lim="400000"/>
                    </a:lnR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33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1100</a:t>
                      </a:r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23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100"/>
                        <a:t>shift:</a:t>
                      </a:r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3300"/>
                      </a:pPr>
                      <a:endParaRPr/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3300"/>
                      </a:pPr>
                      <a:endParaRPr/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33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33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1111</a:t>
                      </a:r>
                    </a:p>
                  </a:txBody>
                  <a:tcPr marL="0" marR="0" marT="0" marB="0" anchor="ctr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33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100</a:t>
                      </a:r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23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100"/>
                        <a:t>shift:</a:t>
                      </a:r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3300"/>
                      </a:pPr>
                      <a:endParaRPr/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3300"/>
                      </a:pPr>
                      <a:endParaRPr/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33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01</a:t>
                      </a:r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33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1111</a:t>
                      </a:r>
                    </a:p>
                  </a:txBody>
                  <a:tcPr marL="0" marR="0" marT="0" marB="0" anchor="ctr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33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00</a:t>
                      </a:r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23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100"/>
                        <a:t>shift:</a:t>
                      </a:r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3300"/>
                      </a:pPr>
                      <a:endParaRPr/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3300"/>
                      </a:pPr>
                      <a:endParaRPr/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33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011</a:t>
                      </a:r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33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1110</a:t>
                      </a:r>
                    </a:p>
                  </a:txBody>
                  <a:tcPr marL="0" marR="0" marT="0" marB="0" anchor="ctr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33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23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100"/>
                        <a:t>shift:</a:t>
                      </a:r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3300"/>
                      </a:pPr>
                      <a:endParaRPr/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3300"/>
                      </a:pPr>
                      <a:endParaRPr/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33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0111</a:t>
                      </a:r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33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1100</a:t>
                      </a:r>
                    </a:p>
                  </a:txBody>
                  <a:tcPr marL="0" marR="0" marT="0" marB="0" anchor="ctr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3300"/>
                      </a:pPr>
                      <a:endParaRPr/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23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100"/>
                        <a:t>add 3:</a:t>
                      </a:r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3300"/>
                      </a:pPr>
                      <a:endParaRPr/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3300"/>
                      </a:pPr>
                      <a:endParaRPr/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33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1010</a:t>
                      </a:r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  <a:solidFill>
                      <a:srgbClr val="E9E6B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33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1100</a:t>
                      </a:r>
                    </a:p>
                  </a:txBody>
                  <a:tcPr marL="0" marR="0" marT="0" marB="0" anchor="ctr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3300"/>
                      </a:pPr>
                      <a:endParaRPr/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23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100"/>
                        <a:t>shift:</a:t>
                      </a:r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3300"/>
                      </a:pPr>
                      <a:endParaRPr/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33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33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0101</a:t>
                      </a:r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33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100</a:t>
                      </a:r>
                    </a:p>
                  </a:txBody>
                  <a:tcPr marL="0" marR="0" marT="0" marB="0" anchor="ctr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3300"/>
                      </a:pPr>
                      <a:endParaRPr/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823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100"/>
                        <a:t>add 3:</a:t>
                      </a:r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3300"/>
                      </a:pPr>
                      <a:endParaRPr/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33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33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1000</a:t>
                      </a:r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  <a:solidFill>
                      <a:srgbClr val="E9E6B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33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100</a:t>
                      </a:r>
                    </a:p>
                  </a:txBody>
                  <a:tcPr marL="0" marR="0" marT="0" marB="0" anchor="ctr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3300"/>
                      </a:pPr>
                      <a:endParaRPr/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823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100"/>
                        <a:t>shift:</a:t>
                      </a:r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3300"/>
                      </a:pPr>
                      <a:endParaRPr/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33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33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0001</a:t>
                      </a:r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33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00</a:t>
                      </a:r>
                    </a:p>
                  </a:txBody>
                  <a:tcPr marL="0" marR="0" marT="0" marB="0" anchor="ctr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3300"/>
                      </a:pPr>
                      <a:endParaRPr/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823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100"/>
                        <a:t>shift:</a:t>
                      </a:r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3300"/>
                      </a:pPr>
                      <a:endParaRPr/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33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110</a:t>
                      </a:r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33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0010</a:t>
                      </a:r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33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3300"/>
                      </a:pPr>
                      <a:endParaRPr/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823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100"/>
                        <a:t>add 3:</a:t>
                      </a:r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3300"/>
                      </a:pPr>
                      <a:endParaRPr/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33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1001</a:t>
                      </a:r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solidFill>
                      <a:srgbClr val="E9E6B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33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0010</a:t>
                      </a:r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33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3300"/>
                      </a:pPr>
                      <a:endParaRPr/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3823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100"/>
                        <a:t>shift:</a:t>
                      </a:r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33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33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0010</a:t>
                      </a:r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33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0100</a:t>
                      </a:r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3300"/>
                      </a:pPr>
                      <a:endParaRPr/>
                    </a:p>
                  </a:txBody>
                  <a:tcPr marL="0" marR="0" marT="0" marB="0" anchor="ctr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3300"/>
                      </a:pPr>
                      <a:endParaRPr/>
                    </a:p>
                  </a:txBody>
                  <a:tcPr marL="0" marR="0" marT="0" marB="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BCED243-1B93-993E-7ECD-C7CD7FA15B5C}"/>
                  </a:ext>
                </a:extLst>
              </p:cNvPr>
              <p:cNvSpPr txBox="1"/>
              <p:nvPr/>
            </p:nvSpPr>
            <p:spPr>
              <a:xfrm>
                <a:off x="9020014" y="6794709"/>
                <a:ext cx="3704094" cy="10874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GB" dirty="0"/>
                  <a:t>Check digit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kumimoji="0" lang="en-GB" sz="32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"/>
                  </a:rPr>
                  <a:t> 5 after each shift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BCED243-1B93-993E-7ECD-C7CD7FA15B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0014" y="6794709"/>
                <a:ext cx="3704094" cy="1087477"/>
              </a:xfrm>
              <a:prstGeom prst="rect">
                <a:avLst/>
              </a:prstGeom>
              <a:blipFill>
                <a:blip r:embed="rId2"/>
                <a:stretch>
                  <a:fillRect t="-6977" b="-1744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8" grpId="1" animBg="1" advAuto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61</a:t>
            </a:fld>
            <a:endParaRPr/>
          </a:p>
        </p:txBody>
      </p:sp>
      <p:sp>
        <p:nvSpPr>
          <p:cNvPr id="1171" name="B[7:0]"/>
          <p:cNvSpPr/>
          <p:nvPr/>
        </p:nvSpPr>
        <p:spPr>
          <a:xfrm>
            <a:off x="7538293" y="1568450"/>
            <a:ext cx="4391026" cy="4572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>
                <a:solidFill>
                  <a:srgbClr val="FFFFFF"/>
                </a:solidFill>
              </a:defRPr>
            </a:lvl1pPr>
          </a:lstStyle>
          <a:p>
            <a:r>
              <a:t>B[7:0]</a:t>
            </a:r>
          </a:p>
        </p:txBody>
      </p:sp>
      <p:sp>
        <p:nvSpPr>
          <p:cNvPr id="1172" name="Line"/>
          <p:cNvSpPr/>
          <p:nvPr/>
        </p:nvSpPr>
        <p:spPr>
          <a:xfrm>
            <a:off x="37940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73" name="Line"/>
          <p:cNvSpPr/>
          <p:nvPr/>
        </p:nvSpPr>
        <p:spPr>
          <a:xfrm>
            <a:off x="43655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74" name="Line"/>
          <p:cNvSpPr/>
          <p:nvPr/>
        </p:nvSpPr>
        <p:spPr>
          <a:xfrm>
            <a:off x="49243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75" name="Line"/>
          <p:cNvSpPr/>
          <p:nvPr/>
        </p:nvSpPr>
        <p:spPr>
          <a:xfrm>
            <a:off x="54958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76" name="Line"/>
          <p:cNvSpPr/>
          <p:nvPr/>
        </p:nvSpPr>
        <p:spPr>
          <a:xfrm>
            <a:off x="60546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77" name="Line"/>
          <p:cNvSpPr/>
          <p:nvPr/>
        </p:nvSpPr>
        <p:spPr>
          <a:xfrm>
            <a:off x="66261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78" name="Line"/>
          <p:cNvSpPr/>
          <p:nvPr/>
        </p:nvSpPr>
        <p:spPr>
          <a:xfrm>
            <a:off x="71849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79" name="Line"/>
          <p:cNvSpPr/>
          <p:nvPr/>
        </p:nvSpPr>
        <p:spPr>
          <a:xfrm>
            <a:off x="77564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80" name="Line"/>
          <p:cNvSpPr/>
          <p:nvPr/>
        </p:nvSpPr>
        <p:spPr>
          <a:xfrm>
            <a:off x="83279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81" name="Line"/>
          <p:cNvSpPr/>
          <p:nvPr/>
        </p:nvSpPr>
        <p:spPr>
          <a:xfrm>
            <a:off x="88994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82" name="Line"/>
          <p:cNvSpPr/>
          <p:nvPr/>
        </p:nvSpPr>
        <p:spPr>
          <a:xfrm>
            <a:off x="94582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83" name="Line"/>
          <p:cNvSpPr/>
          <p:nvPr/>
        </p:nvSpPr>
        <p:spPr>
          <a:xfrm>
            <a:off x="100297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84" name="Line"/>
          <p:cNvSpPr/>
          <p:nvPr/>
        </p:nvSpPr>
        <p:spPr>
          <a:xfrm>
            <a:off x="105885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85" name="Line"/>
          <p:cNvSpPr/>
          <p:nvPr/>
        </p:nvSpPr>
        <p:spPr>
          <a:xfrm>
            <a:off x="111600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86" name="Line"/>
          <p:cNvSpPr/>
          <p:nvPr/>
        </p:nvSpPr>
        <p:spPr>
          <a:xfrm>
            <a:off x="9492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87" name="Line"/>
          <p:cNvSpPr/>
          <p:nvPr/>
        </p:nvSpPr>
        <p:spPr>
          <a:xfrm>
            <a:off x="15080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88" name="Line"/>
          <p:cNvSpPr/>
          <p:nvPr/>
        </p:nvSpPr>
        <p:spPr>
          <a:xfrm>
            <a:off x="20795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89" name="Line"/>
          <p:cNvSpPr/>
          <p:nvPr/>
        </p:nvSpPr>
        <p:spPr>
          <a:xfrm>
            <a:off x="26383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90" name="Line"/>
          <p:cNvSpPr/>
          <p:nvPr/>
        </p:nvSpPr>
        <p:spPr>
          <a:xfrm>
            <a:off x="32098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91" name="adjust"/>
          <p:cNvSpPr/>
          <p:nvPr/>
        </p:nvSpPr>
        <p:spPr>
          <a:xfrm>
            <a:off x="5281314" y="24701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192" name="adjust"/>
          <p:cNvSpPr/>
          <p:nvPr/>
        </p:nvSpPr>
        <p:spPr>
          <a:xfrm>
            <a:off x="3008014" y="24701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193" name="adjust"/>
          <p:cNvSpPr/>
          <p:nvPr/>
        </p:nvSpPr>
        <p:spPr>
          <a:xfrm>
            <a:off x="747414" y="24701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194" name="Line"/>
          <p:cNvSpPr/>
          <p:nvPr/>
        </p:nvSpPr>
        <p:spPr>
          <a:xfrm>
            <a:off x="117188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95" name="0"/>
          <p:cNvSpPr txBox="1"/>
          <p:nvPr/>
        </p:nvSpPr>
        <p:spPr>
          <a:xfrm>
            <a:off x="12151980" y="16763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196" name="Line"/>
          <p:cNvSpPr/>
          <p:nvPr/>
        </p:nvSpPr>
        <p:spPr>
          <a:xfrm>
            <a:off x="38199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97" name="Line"/>
          <p:cNvSpPr/>
          <p:nvPr/>
        </p:nvSpPr>
        <p:spPr>
          <a:xfrm>
            <a:off x="43914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98" name="Line"/>
          <p:cNvSpPr/>
          <p:nvPr/>
        </p:nvSpPr>
        <p:spPr>
          <a:xfrm>
            <a:off x="49502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199" name="Line"/>
          <p:cNvSpPr/>
          <p:nvPr/>
        </p:nvSpPr>
        <p:spPr>
          <a:xfrm>
            <a:off x="55217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00" name="Line"/>
          <p:cNvSpPr/>
          <p:nvPr/>
        </p:nvSpPr>
        <p:spPr>
          <a:xfrm>
            <a:off x="60805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01" name="Line"/>
          <p:cNvSpPr/>
          <p:nvPr/>
        </p:nvSpPr>
        <p:spPr>
          <a:xfrm>
            <a:off x="66520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02" name="Line"/>
          <p:cNvSpPr/>
          <p:nvPr/>
        </p:nvSpPr>
        <p:spPr>
          <a:xfrm>
            <a:off x="71981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03" name="Line"/>
          <p:cNvSpPr/>
          <p:nvPr/>
        </p:nvSpPr>
        <p:spPr>
          <a:xfrm>
            <a:off x="77696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04" name="Line"/>
          <p:cNvSpPr/>
          <p:nvPr/>
        </p:nvSpPr>
        <p:spPr>
          <a:xfrm>
            <a:off x="83411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05" name="Line"/>
          <p:cNvSpPr/>
          <p:nvPr/>
        </p:nvSpPr>
        <p:spPr>
          <a:xfrm>
            <a:off x="88999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06" name="Line"/>
          <p:cNvSpPr/>
          <p:nvPr/>
        </p:nvSpPr>
        <p:spPr>
          <a:xfrm>
            <a:off x="9475391" y="2920095"/>
            <a:ext cx="550692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07" name="Line"/>
          <p:cNvSpPr/>
          <p:nvPr/>
        </p:nvSpPr>
        <p:spPr>
          <a:xfrm>
            <a:off x="100302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08" name="Line"/>
          <p:cNvSpPr/>
          <p:nvPr/>
        </p:nvSpPr>
        <p:spPr>
          <a:xfrm>
            <a:off x="106017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09" name="Line"/>
          <p:cNvSpPr/>
          <p:nvPr/>
        </p:nvSpPr>
        <p:spPr>
          <a:xfrm>
            <a:off x="11172350" y="2920095"/>
            <a:ext cx="54283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10" name="Line"/>
          <p:cNvSpPr/>
          <p:nvPr/>
        </p:nvSpPr>
        <p:spPr>
          <a:xfrm>
            <a:off x="9751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11" name="Line"/>
          <p:cNvSpPr/>
          <p:nvPr/>
        </p:nvSpPr>
        <p:spPr>
          <a:xfrm>
            <a:off x="15339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12" name="Line"/>
          <p:cNvSpPr/>
          <p:nvPr/>
        </p:nvSpPr>
        <p:spPr>
          <a:xfrm>
            <a:off x="21054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13" name="Line"/>
          <p:cNvSpPr/>
          <p:nvPr/>
        </p:nvSpPr>
        <p:spPr>
          <a:xfrm>
            <a:off x="26642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14" name="Line"/>
          <p:cNvSpPr/>
          <p:nvPr/>
        </p:nvSpPr>
        <p:spPr>
          <a:xfrm>
            <a:off x="32357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15" name="adjust"/>
          <p:cNvSpPr/>
          <p:nvPr/>
        </p:nvSpPr>
        <p:spPr>
          <a:xfrm>
            <a:off x="5307139" y="33718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216" name="adjust"/>
          <p:cNvSpPr/>
          <p:nvPr/>
        </p:nvSpPr>
        <p:spPr>
          <a:xfrm>
            <a:off x="3033839" y="33718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217" name="adjust"/>
          <p:cNvSpPr/>
          <p:nvPr/>
        </p:nvSpPr>
        <p:spPr>
          <a:xfrm>
            <a:off x="773239" y="33718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218" name="Line"/>
          <p:cNvSpPr/>
          <p:nvPr/>
        </p:nvSpPr>
        <p:spPr>
          <a:xfrm>
            <a:off x="117447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19" name="0"/>
          <p:cNvSpPr txBox="1"/>
          <p:nvPr/>
        </p:nvSpPr>
        <p:spPr>
          <a:xfrm>
            <a:off x="12177805" y="25780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220" name="Line"/>
          <p:cNvSpPr/>
          <p:nvPr/>
        </p:nvSpPr>
        <p:spPr>
          <a:xfrm>
            <a:off x="38194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21" name="Line"/>
          <p:cNvSpPr/>
          <p:nvPr/>
        </p:nvSpPr>
        <p:spPr>
          <a:xfrm>
            <a:off x="43909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22" name="Line"/>
          <p:cNvSpPr/>
          <p:nvPr/>
        </p:nvSpPr>
        <p:spPr>
          <a:xfrm>
            <a:off x="49497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23" name="Line"/>
          <p:cNvSpPr/>
          <p:nvPr/>
        </p:nvSpPr>
        <p:spPr>
          <a:xfrm>
            <a:off x="55212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24" name="Line"/>
          <p:cNvSpPr/>
          <p:nvPr/>
        </p:nvSpPr>
        <p:spPr>
          <a:xfrm>
            <a:off x="60800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25" name="Line"/>
          <p:cNvSpPr/>
          <p:nvPr/>
        </p:nvSpPr>
        <p:spPr>
          <a:xfrm>
            <a:off x="66515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26" name="Line"/>
          <p:cNvSpPr/>
          <p:nvPr/>
        </p:nvSpPr>
        <p:spPr>
          <a:xfrm>
            <a:off x="9746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27" name="Line"/>
          <p:cNvSpPr/>
          <p:nvPr/>
        </p:nvSpPr>
        <p:spPr>
          <a:xfrm>
            <a:off x="15334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28" name="Line"/>
          <p:cNvSpPr/>
          <p:nvPr/>
        </p:nvSpPr>
        <p:spPr>
          <a:xfrm>
            <a:off x="21049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29" name="Line"/>
          <p:cNvSpPr/>
          <p:nvPr/>
        </p:nvSpPr>
        <p:spPr>
          <a:xfrm>
            <a:off x="26637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30" name="Line"/>
          <p:cNvSpPr/>
          <p:nvPr/>
        </p:nvSpPr>
        <p:spPr>
          <a:xfrm>
            <a:off x="32352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31" name="adjust"/>
          <p:cNvSpPr/>
          <p:nvPr/>
        </p:nvSpPr>
        <p:spPr>
          <a:xfrm>
            <a:off x="5306714" y="42735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232" name="adjust"/>
          <p:cNvSpPr/>
          <p:nvPr/>
        </p:nvSpPr>
        <p:spPr>
          <a:xfrm>
            <a:off x="3033414" y="42735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233" name="adjust"/>
          <p:cNvSpPr/>
          <p:nvPr/>
        </p:nvSpPr>
        <p:spPr>
          <a:xfrm>
            <a:off x="772814" y="42735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234" name="Line"/>
          <p:cNvSpPr/>
          <p:nvPr/>
        </p:nvSpPr>
        <p:spPr>
          <a:xfrm>
            <a:off x="117442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35" name="0"/>
          <p:cNvSpPr txBox="1"/>
          <p:nvPr/>
        </p:nvSpPr>
        <p:spPr>
          <a:xfrm>
            <a:off x="12177380" y="34797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236" name="Line"/>
          <p:cNvSpPr/>
          <p:nvPr/>
        </p:nvSpPr>
        <p:spPr>
          <a:xfrm>
            <a:off x="38321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37" name="Line"/>
          <p:cNvSpPr/>
          <p:nvPr/>
        </p:nvSpPr>
        <p:spPr>
          <a:xfrm>
            <a:off x="44036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38" name="Line"/>
          <p:cNvSpPr/>
          <p:nvPr/>
        </p:nvSpPr>
        <p:spPr>
          <a:xfrm>
            <a:off x="49624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39" name="Line"/>
          <p:cNvSpPr/>
          <p:nvPr/>
        </p:nvSpPr>
        <p:spPr>
          <a:xfrm>
            <a:off x="55339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40" name="Line"/>
          <p:cNvSpPr/>
          <p:nvPr/>
        </p:nvSpPr>
        <p:spPr>
          <a:xfrm>
            <a:off x="60927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41" name="Line"/>
          <p:cNvSpPr/>
          <p:nvPr/>
        </p:nvSpPr>
        <p:spPr>
          <a:xfrm>
            <a:off x="66642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42" name="Line"/>
          <p:cNvSpPr/>
          <p:nvPr/>
        </p:nvSpPr>
        <p:spPr>
          <a:xfrm>
            <a:off x="9873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43" name="Line"/>
          <p:cNvSpPr/>
          <p:nvPr/>
        </p:nvSpPr>
        <p:spPr>
          <a:xfrm>
            <a:off x="15461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44" name="Line"/>
          <p:cNvSpPr/>
          <p:nvPr/>
        </p:nvSpPr>
        <p:spPr>
          <a:xfrm>
            <a:off x="21176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45" name="Line"/>
          <p:cNvSpPr/>
          <p:nvPr/>
        </p:nvSpPr>
        <p:spPr>
          <a:xfrm>
            <a:off x="26764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46" name="Line"/>
          <p:cNvSpPr/>
          <p:nvPr/>
        </p:nvSpPr>
        <p:spPr>
          <a:xfrm>
            <a:off x="32479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47" name="adjust"/>
          <p:cNvSpPr/>
          <p:nvPr/>
        </p:nvSpPr>
        <p:spPr>
          <a:xfrm>
            <a:off x="5319414" y="518160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248" name="adjust"/>
          <p:cNvSpPr/>
          <p:nvPr/>
        </p:nvSpPr>
        <p:spPr>
          <a:xfrm>
            <a:off x="3046114" y="518160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249" name="adjust"/>
          <p:cNvSpPr/>
          <p:nvPr/>
        </p:nvSpPr>
        <p:spPr>
          <a:xfrm>
            <a:off x="785514" y="518160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250" name="Line"/>
          <p:cNvSpPr/>
          <p:nvPr/>
        </p:nvSpPr>
        <p:spPr>
          <a:xfrm>
            <a:off x="117569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51" name="0"/>
          <p:cNvSpPr txBox="1"/>
          <p:nvPr/>
        </p:nvSpPr>
        <p:spPr>
          <a:xfrm>
            <a:off x="12190080" y="438784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252" name="Line"/>
          <p:cNvSpPr/>
          <p:nvPr/>
        </p:nvSpPr>
        <p:spPr>
          <a:xfrm>
            <a:off x="38321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53" name="Line"/>
          <p:cNvSpPr/>
          <p:nvPr/>
        </p:nvSpPr>
        <p:spPr>
          <a:xfrm>
            <a:off x="44036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54" name="Line"/>
          <p:cNvSpPr/>
          <p:nvPr/>
        </p:nvSpPr>
        <p:spPr>
          <a:xfrm>
            <a:off x="49624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55" name="Line"/>
          <p:cNvSpPr/>
          <p:nvPr/>
        </p:nvSpPr>
        <p:spPr>
          <a:xfrm>
            <a:off x="55339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56" name="Line"/>
          <p:cNvSpPr/>
          <p:nvPr/>
        </p:nvSpPr>
        <p:spPr>
          <a:xfrm>
            <a:off x="60927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57" name="Line"/>
          <p:cNvSpPr/>
          <p:nvPr/>
        </p:nvSpPr>
        <p:spPr>
          <a:xfrm>
            <a:off x="66642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58" name="Line"/>
          <p:cNvSpPr/>
          <p:nvPr/>
        </p:nvSpPr>
        <p:spPr>
          <a:xfrm>
            <a:off x="9873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59" name="Line"/>
          <p:cNvSpPr/>
          <p:nvPr/>
        </p:nvSpPr>
        <p:spPr>
          <a:xfrm>
            <a:off x="15461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60" name="Line"/>
          <p:cNvSpPr/>
          <p:nvPr/>
        </p:nvSpPr>
        <p:spPr>
          <a:xfrm>
            <a:off x="21176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61" name="Line"/>
          <p:cNvSpPr/>
          <p:nvPr/>
        </p:nvSpPr>
        <p:spPr>
          <a:xfrm>
            <a:off x="26764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62" name="Line"/>
          <p:cNvSpPr/>
          <p:nvPr/>
        </p:nvSpPr>
        <p:spPr>
          <a:xfrm>
            <a:off x="32479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63" name="adjust"/>
          <p:cNvSpPr/>
          <p:nvPr/>
        </p:nvSpPr>
        <p:spPr>
          <a:xfrm>
            <a:off x="5319414" y="60769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264" name="adjust"/>
          <p:cNvSpPr/>
          <p:nvPr/>
        </p:nvSpPr>
        <p:spPr>
          <a:xfrm>
            <a:off x="3046114" y="60769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265" name="adjust"/>
          <p:cNvSpPr/>
          <p:nvPr/>
        </p:nvSpPr>
        <p:spPr>
          <a:xfrm>
            <a:off x="785514" y="60769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266" name="Line"/>
          <p:cNvSpPr/>
          <p:nvPr/>
        </p:nvSpPr>
        <p:spPr>
          <a:xfrm>
            <a:off x="38194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67" name="Line"/>
          <p:cNvSpPr/>
          <p:nvPr/>
        </p:nvSpPr>
        <p:spPr>
          <a:xfrm>
            <a:off x="43909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68" name="Line"/>
          <p:cNvSpPr/>
          <p:nvPr/>
        </p:nvSpPr>
        <p:spPr>
          <a:xfrm>
            <a:off x="49497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69" name="Line"/>
          <p:cNvSpPr/>
          <p:nvPr/>
        </p:nvSpPr>
        <p:spPr>
          <a:xfrm>
            <a:off x="55212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70" name="Line"/>
          <p:cNvSpPr/>
          <p:nvPr/>
        </p:nvSpPr>
        <p:spPr>
          <a:xfrm>
            <a:off x="60800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71" name="Line"/>
          <p:cNvSpPr/>
          <p:nvPr/>
        </p:nvSpPr>
        <p:spPr>
          <a:xfrm>
            <a:off x="66515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72" name="Line"/>
          <p:cNvSpPr/>
          <p:nvPr/>
        </p:nvSpPr>
        <p:spPr>
          <a:xfrm>
            <a:off x="9746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73" name="Line"/>
          <p:cNvSpPr/>
          <p:nvPr/>
        </p:nvSpPr>
        <p:spPr>
          <a:xfrm>
            <a:off x="15334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74" name="Line"/>
          <p:cNvSpPr/>
          <p:nvPr/>
        </p:nvSpPr>
        <p:spPr>
          <a:xfrm>
            <a:off x="21049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75" name="Line"/>
          <p:cNvSpPr/>
          <p:nvPr/>
        </p:nvSpPr>
        <p:spPr>
          <a:xfrm>
            <a:off x="26637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76" name="Line"/>
          <p:cNvSpPr/>
          <p:nvPr/>
        </p:nvSpPr>
        <p:spPr>
          <a:xfrm>
            <a:off x="32352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77" name="adjust"/>
          <p:cNvSpPr/>
          <p:nvPr/>
        </p:nvSpPr>
        <p:spPr>
          <a:xfrm>
            <a:off x="5306714" y="697230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278" name="adjust"/>
          <p:cNvSpPr/>
          <p:nvPr/>
        </p:nvSpPr>
        <p:spPr>
          <a:xfrm>
            <a:off x="3033414" y="697230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279" name="adjust"/>
          <p:cNvSpPr/>
          <p:nvPr/>
        </p:nvSpPr>
        <p:spPr>
          <a:xfrm>
            <a:off x="772814" y="697230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280" name="0"/>
          <p:cNvSpPr txBox="1"/>
          <p:nvPr/>
        </p:nvSpPr>
        <p:spPr>
          <a:xfrm>
            <a:off x="7045942" y="1663699"/>
            <a:ext cx="269689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281" name="0"/>
          <p:cNvSpPr txBox="1"/>
          <p:nvPr/>
        </p:nvSpPr>
        <p:spPr>
          <a:xfrm>
            <a:off x="6482922" y="16636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282" name="0"/>
          <p:cNvSpPr txBox="1"/>
          <p:nvPr/>
        </p:nvSpPr>
        <p:spPr>
          <a:xfrm>
            <a:off x="5928443" y="16636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283" name="0"/>
          <p:cNvSpPr txBox="1"/>
          <p:nvPr/>
        </p:nvSpPr>
        <p:spPr>
          <a:xfrm>
            <a:off x="5356842" y="1663699"/>
            <a:ext cx="269689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284" name="0"/>
          <p:cNvSpPr txBox="1"/>
          <p:nvPr/>
        </p:nvSpPr>
        <p:spPr>
          <a:xfrm>
            <a:off x="4787472" y="16636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285" name="0"/>
          <p:cNvSpPr txBox="1"/>
          <p:nvPr/>
        </p:nvSpPr>
        <p:spPr>
          <a:xfrm>
            <a:off x="4224452" y="16636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286" name="0"/>
          <p:cNvSpPr txBox="1"/>
          <p:nvPr/>
        </p:nvSpPr>
        <p:spPr>
          <a:xfrm>
            <a:off x="3669974" y="16636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287" name="0"/>
          <p:cNvSpPr txBox="1"/>
          <p:nvPr/>
        </p:nvSpPr>
        <p:spPr>
          <a:xfrm>
            <a:off x="3072972" y="16636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288" name="0"/>
          <p:cNvSpPr txBox="1"/>
          <p:nvPr/>
        </p:nvSpPr>
        <p:spPr>
          <a:xfrm>
            <a:off x="2509952" y="16636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289" name="0"/>
          <p:cNvSpPr txBox="1"/>
          <p:nvPr/>
        </p:nvSpPr>
        <p:spPr>
          <a:xfrm>
            <a:off x="1955474" y="16636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290" name="0"/>
          <p:cNvSpPr txBox="1"/>
          <p:nvPr/>
        </p:nvSpPr>
        <p:spPr>
          <a:xfrm>
            <a:off x="1383872" y="16636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291" name="Line"/>
          <p:cNvSpPr/>
          <p:nvPr/>
        </p:nvSpPr>
        <p:spPr>
          <a:xfrm>
            <a:off x="38336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92" name="Line"/>
          <p:cNvSpPr/>
          <p:nvPr/>
        </p:nvSpPr>
        <p:spPr>
          <a:xfrm>
            <a:off x="44051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93" name="Line"/>
          <p:cNvSpPr/>
          <p:nvPr/>
        </p:nvSpPr>
        <p:spPr>
          <a:xfrm>
            <a:off x="49639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94" name="Line"/>
          <p:cNvSpPr/>
          <p:nvPr/>
        </p:nvSpPr>
        <p:spPr>
          <a:xfrm>
            <a:off x="55354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95" name="Line"/>
          <p:cNvSpPr/>
          <p:nvPr/>
        </p:nvSpPr>
        <p:spPr>
          <a:xfrm>
            <a:off x="60942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96" name="Line"/>
          <p:cNvSpPr/>
          <p:nvPr/>
        </p:nvSpPr>
        <p:spPr>
          <a:xfrm>
            <a:off x="66657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97" name="Line"/>
          <p:cNvSpPr/>
          <p:nvPr/>
        </p:nvSpPr>
        <p:spPr>
          <a:xfrm>
            <a:off x="9888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98" name="Line"/>
          <p:cNvSpPr/>
          <p:nvPr/>
        </p:nvSpPr>
        <p:spPr>
          <a:xfrm>
            <a:off x="15476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299" name="Line"/>
          <p:cNvSpPr/>
          <p:nvPr/>
        </p:nvSpPr>
        <p:spPr>
          <a:xfrm>
            <a:off x="21191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00" name="Line"/>
          <p:cNvSpPr/>
          <p:nvPr/>
        </p:nvSpPr>
        <p:spPr>
          <a:xfrm>
            <a:off x="26779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01" name="Line"/>
          <p:cNvSpPr/>
          <p:nvPr/>
        </p:nvSpPr>
        <p:spPr>
          <a:xfrm>
            <a:off x="32494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02" name="adjust"/>
          <p:cNvSpPr/>
          <p:nvPr/>
        </p:nvSpPr>
        <p:spPr>
          <a:xfrm>
            <a:off x="5320906" y="7880350"/>
            <a:ext cx="2114104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303" name="adjust"/>
          <p:cNvSpPr/>
          <p:nvPr/>
        </p:nvSpPr>
        <p:spPr>
          <a:xfrm>
            <a:off x="3047606" y="7880350"/>
            <a:ext cx="2114104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304" name="adjust"/>
          <p:cNvSpPr/>
          <p:nvPr/>
        </p:nvSpPr>
        <p:spPr>
          <a:xfrm>
            <a:off x="787006" y="7880350"/>
            <a:ext cx="2114104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305" name="Line"/>
          <p:cNvSpPr/>
          <p:nvPr/>
        </p:nvSpPr>
        <p:spPr>
          <a:xfrm>
            <a:off x="32522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06" name="Line"/>
          <p:cNvSpPr/>
          <p:nvPr/>
        </p:nvSpPr>
        <p:spPr>
          <a:xfrm>
            <a:off x="38237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07" name="Line"/>
          <p:cNvSpPr/>
          <p:nvPr/>
        </p:nvSpPr>
        <p:spPr>
          <a:xfrm>
            <a:off x="43825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08" name="Line"/>
          <p:cNvSpPr/>
          <p:nvPr/>
        </p:nvSpPr>
        <p:spPr>
          <a:xfrm>
            <a:off x="49540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09" name="Line"/>
          <p:cNvSpPr/>
          <p:nvPr/>
        </p:nvSpPr>
        <p:spPr>
          <a:xfrm>
            <a:off x="55128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10" name="Line"/>
          <p:cNvSpPr/>
          <p:nvPr/>
        </p:nvSpPr>
        <p:spPr>
          <a:xfrm>
            <a:off x="60843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11" name="Line"/>
          <p:cNvSpPr/>
          <p:nvPr/>
        </p:nvSpPr>
        <p:spPr>
          <a:xfrm>
            <a:off x="6643197" y="8319404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12" name="Line"/>
          <p:cNvSpPr/>
          <p:nvPr/>
        </p:nvSpPr>
        <p:spPr>
          <a:xfrm>
            <a:off x="9662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13" name="Line"/>
          <p:cNvSpPr/>
          <p:nvPr/>
        </p:nvSpPr>
        <p:spPr>
          <a:xfrm>
            <a:off x="15377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14" name="Line"/>
          <p:cNvSpPr/>
          <p:nvPr/>
        </p:nvSpPr>
        <p:spPr>
          <a:xfrm>
            <a:off x="20965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15" name="Line"/>
          <p:cNvSpPr/>
          <p:nvPr/>
        </p:nvSpPr>
        <p:spPr>
          <a:xfrm>
            <a:off x="26680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16" name="BCD[0]"/>
          <p:cNvSpPr/>
          <p:nvPr/>
        </p:nvSpPr>
        <p:spPr>
          <a:xfrm>
            <a:off x="5325764" y="8775700"/>
            <a:ext cx="2114105" cy="4572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>
                <a:solidFill>
                  <a:srgbClr val="FFFFFF"/>
                </a:solidFill>
              </a:defRPr>
            </a:lvl1pPr>
          </a:lstStyle>
          <a:p>
            <a:r>
              <a:t>BCD[0]</a:t>
            </a:r>
          </a:p>
        </p:txBody>
      </p:sp>
      <p:sp>
        <p:nvSpPr>
          <p:cNvPr id="1317" name="BCD[1]"/>
          <p:cNvSpPr/>
          <p:nvPr/>
        </p:nvSpPr>
        <p:spPr>
          <a:xfrm>
            <a:off x="3052464" y="8775700"/>
            <a:ext cx="2114105" cy="4572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>
                <a:solidFill>
                  <a:srgbClr val="FFFFFF"/>
                </a:solidFill>
              </a:defRPr>
            </a:lvl1pPr>
          </a:lstStyle>
          <a:p>
            <a:r>
              <a:t>BCD[1]</a:t>
            </a:r>
          </a:p>
        </p:txBody>
      </p:sp>
      <p:sp>
        <p:nvSpPr>
          <p:cNvPr id="1318" name="BCD[2]"/>
          <p:cNvSpPr/>
          <p:nvPr/>
        </p:nvSpPr>
        <p:spPr>
          <a:xfrm>
            <a:off x="791864" y="8775700"/>
            <a:ext cx="2114105" cy="4572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>
                <a:solidFill>
                  <a:srgbClr val="FFFFFF"/>
                </a:solidFill>
              </a:defRPr>
            </a:lvl1pPr>
          </a:lstStyle>
          <a:p>
            <a:r>
              <a:t>BCD[2]</a:t>
            </a:r>
          </a:p>
        </p:txBody>
      </p:sp>
      <p:sp>
        <p:nvSpPr>
          <p:cNvPr id="1319" name="Line"/>
          <p:cNvSpPr/>
          <p:nvPr/>
        </p:nvSpPr>
        <p:spPr>
          <a:xfrm flipV="1">
            <a:off x="7758653" y="2469153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20" name="Line"/>
          <p:cNvSpPr/>
          <p:nvPr/>
        </p:nvSpPr>
        <p:spPr>
          <a:xfrm flipV="1">
            <a:off x="8338616" y="2472872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21" name="Line"/>
          <p:cNvSpPr/>
          <p:nvPr/>
        </p:nvSpPr>
        <p:spPr>
          <a:xfrm flipV="1">
            <a:off x="8904191" y="2468156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22" name="Line"/>
          <p:cNvSpPr/>
          <p:nvPr/>
        </p:nvSpPr>
        <p:spPr>
          <a:xfrm flipV="1">
            <a:off x="9464995" y="2472872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23" name="Line"/>
          <p:cNvSpPr/>
          <p:nvPr/>
        </p:nvSpPr>
        <p:spPr>
          <a:xfrm flipV="1">
            <a:off x="10025233" y="247386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24" name="Line"/>
          <p:cNvSpPr/>
          <p:nvPr/>
        </p:nvSpPr>
        <p:spPr>
          <a:xfrm flipV="1">
            <a:off x="10592496" y="247758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25" name="Line"/>
          <p:cNvSpPr/>
          <p:nvPr/>
        </p:nvSpPr>
        <p:spPr>
          <a:xfrm flipV="1">
            <a:off x="11170770" y="2472872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26" name="Line"/>
          <p:cNvSpPr/>
          <p:nvPr/>
        </p:nvSpPr>
        <p:spPr>
          <a:xfrm flipV="1">
            <a:off x="11718875" y="247758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27" name="Line"/>
          <p:cNvSpPr/>
          <p:nvPr/>
        </p:nvSpPr>
        <p:spPr>
          <a:xfrm>
            <a:off x="7204608" y="3815898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28" name="Line"/>
          <p:cNvSpPr/>
          <p:nvPr/>
        </p:nvSpPr>
        <p:spPr>
          <a:xfrm>
            <a:off x="7776108" y="3815898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29" name="Line"/>
          <p:cNvSpPr/>
          <p:nvPr/>
        </p:nvSpPr>
        <p:spPr>
          <a:xfrm>
            <a:off x="8347608" y="3815898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30" name="Line"/>
          <p:cNvSpPr/>
          <p:nvPr/>
        </p:nvSpPr>
        <p:spPr>
          <a:xfrm>
            <a:off x="8906408" y="3815898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31" name="Line"/>
          <p:cNvSpPr/>
          <p:nvPr/>
        </p:nvSpPr>
        <p:spPr>
          <a:xfrm>
            <a:off x="9481899" y="3815898"/>
            <a:ext cx="550692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32" name="Line"/>
          <p:cNvSpPr/>
          <p:nvPr/>
        </p:nvSpPr>
        <p:spPr>
          <a:xfrm>
            <a:off x="10036708" y="3815898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33" name="Line"/>
          <p:cNvSpPr/>
          <p:nvPr/>
        </p:nvSpPr>
        <p:spPr>
          <a:xfrm>
            <a:off x="10608208" y="3815898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34" name="Line"/>
          <p:cNvSpPr/>
          <p:nvPr/>
        </p:nvSpPr>
        <p:spPr>
          <a:xfrm>
            <a:off x="11178858" y="3815898"/>
            <a:ext cx="54283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35" name="Line"/>
          <p:cNvSpPr/>
          <p:nvPr/>
        </p:nvSpPr>
        <p:spPr>
          <a:xfrm flipV="1">
            <a:off x="7765161" y="3364955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36" name="Line"/>
          <p:cNvSpPr/>
          <p:nvPr/>
        </p:nvSpPr>
        <p:spPr>
          <a:xfrm flipV="1">
            <a:off x="8345124" y="3368674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37" name="Line"/>
          <p:cNvSpPr/>
          <p:nvPr/>
        </p:nvSpPr>
        <p:spPr>
          <a:xfrm flipV="1">
            <a:off x="8910699" y="3363958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38" name="Line"/>
          <p:cNvSpPr/>
          <p:nvPr/>
        </p:nvSpPr>
        <p:spPr>
          <a:xfrm flipV="1">
            <a:off x="9471504" y="3368674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39" name="Line"/>
          <p:cNvSpPr/>
          <p:nvPr/>
        </p:nvSpPr>
        <p:spPr>
          <a:xfrm flipV="1">
            <a:off x="10031741" y="3369671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40" name="Line"/>
          <p:cNvSpPr/>
          <p:nvPr/>
        </p:nvSpPr>
        <p:spPr>
          <a:xfrm flipV="1">
            <a:off x="10599004" y="3373391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41" name="Line"/>
          <p:cNvSpPr/>
          <p:nvPr/>
        </p:nvSpPr>
        <p:spPr>
          <a:xfrm flipV="1">
            <a:off x="11177279" y="3368674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42" name="Line"/>
          <p:cNvSpPr/>
          <p:nvPr/>
        </p:nvSpPr>
        <p:spPr>
          <a:xfrm flipV="1">
            <a:off x="11725383" y="3373391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43" name="Line"/>
          <p:cNvSpPr/>
          <p:nvPr/>
        </p:nvSpPr>
        <p:spPr>
          <a:xfrm>
            <a:off x="7219145" y="472239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44" name="Line"/>
          <p:cNvSpPr/>
          <p:nvPr/>
        </p:nvSpPr>
        <p:spPr>
          <a:xfrm>
            <a:off x="7790645" y="472239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45" name="Line"/>
          <p:cNvSpPr/>
          <p:nvPr/>
        </p:nvSpPr>
        <p:spPr>
          <a:xfrm>
            <a:off x="8362145" y="472239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46" name="Line"/>
          <p:cNvSpPr/>
          <p:nvPr/>
        </p:nvSpPr>
        <p:spPr>
          <a:xfrm>
            <a:off x="8920945" y="472239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47" name="Line"/>
          <p:cNvSpPr/>
          <p:nvPr/>
        </p:nvSpPr>
        <p:spPr>
          <a:xfrm>
            <a:off x="9496436" y="4722396"/>
            <a:ext cx="550692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48" name="Line"/>
          <p:cNvSpPr/>
          <p:nvPr/>
        </p:nvSpPr>
        <p:spPr>
          <a:xfrm>
            <a:off x="10051245" y="472239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49" name="Line"/>
          <p:cNvSpPr/>
          <p:nvPr/>
        </p:nvSpPr>
        <p:spPr>
          <a:xfrm>
            <a:off x="10622745" y="472239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50" name="Line"/>
          <p:cNvSpPr/>
          <p:nvPr/>
        </p:nvSpPr>
        <p:spPr>
          <a:xfrm>
            <a:off x="11193395" y="4722396"/>
            <a:ext cx="54283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51" name="Line"/>
          <p:cNvSpPr/>
          <p:nvPr/>
        </p:nvSpPr>
        <p:spPr>
          <a:xfrm flipV="1">
            <a:off x="7779698" y="4271453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52" name="Line"/>
          <p:cNvSpPr/>
          <p:nvPr/>
        </p:nvSpPr>
        <p:spPr>
          <a:xfrm flipV="1">
            <a:off x="8346961" y="4275173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53" name="Line"/>
          <p:cNvSpPr/>
          <p:nvPr/>
        </p:nvSpPr>
        <p:spPr>
          <a:xfrm flipV="1">
            <a:off x="8925236" y="4270457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54" name="Line"/>
          <p:cNvSpPr/>
          <p:nvPr/>
        </p:nvSpPr>
        <p:spPr>
          <a:xfrm flipV="1">
            <a:off x="9486041" y="4275173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55" name="Line"/>
          <p:cNvSpPr/>
          <p:nvPr/>
        </p:nvSpPr>
        <p:spPr>
          <a:xfrm flipV="1">
            <a:off x="10046278" y="4276170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56" name="Line"/>
          <p:cNvSpPr/>
          <p:nvPr/>
        </p:nvSpPr>
        <p:spPr>
          <a:xfrm flipV="1">
            <a:off x="10613541" y="4279890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57" name="Line"/>
          <p:cNvSpPr/>
          <p:nvPr/>
        </p:nvSpPr>
        <p:spPr>
          <a:xfrm flipV="1">
            <a:off x="11191816" y="4275173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58" name="Line"/>
          <p:cNvSpPr/>
          <p:nvPr/>
        </p:nvSpPr>
        <p:spPr>
          <a:xfrm flipV="1">
            <a:off x="11739920" y="4279890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59" name="Line"/>
          <p:cNvSpPr/>
          <p:nvPr/>
        </p:nvSpPr>
        <p:spPr>
          <a:xfrm>
            <a:off x="7221441" y="5629912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60" name="Line"/>
          <p:cNvSpPr/>
          <p:nvPr/>
        </p:nvSpPr>
        <p:spPr>
          <a:xfrm>
            <a:off x="7792941" y="5629912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61" name="Line"/>
          <p:cNvSpPr/>
          <p:nvPr/>
        </p:nvSpPr>
        <p:spPr>
          <a:xfrm>
            <a:off x="8364441" y="5629912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62" name="Line"/>
          <p:cNvSpPr/>
          <p:nvPr/>
        </p:nvSpPr>
        <p:spPr>
          <a:xfrm>
            <a:off x="8923241" y="5629912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63" name="Line"/>
          <p:cNvSpPr/>
          <p:nvPr/>
        </p:nvSpPr>
        <p:spPr>
          <a:xfrm>
            <a:off x="9498732" y="5629912"/>
            <a:ext cx="550692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64" name="Line"/>
          <p:cNvSpPr/>
          <p:nvPr/>
        </p:nvSpPr>
        <p:spPr>
          <a:xfrm>
            <a:off x="10053541" y="5629912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65" name="Line"/>
          <p:cNvSpPr/>
          <p:nvPr/>
        </p:nvSpPr>
        <p:spPr>
          <a:xfrm>
            <a:off x="10625041" y="5629912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66" name="Line"/>
          <p:cNvSpPr/>
          <p:nvPr/>
        </p:nvSpPr>
        <p:spPr>
          <a:xfrm>
            <a:off x="11195691" y="5629912"/>
            <a:ext cx="54283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67" name="Line"/>
          <p:cNvSpPr/>
          <p:nvPr/>
        </p:nvSpPr>
        <p:spPr>
          <a:xfrm flipV="1">
            <a:off x="7781994" y="517896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68" name="Line"/>
          <p:cNvSpPr/>
          <p:nvPr/>
        </p:nvSpPr>
        <p:spPr>
          <a:xfrm flipV="1">
            <a:off x="8361957" y="518268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69" name="Line"/>
          <p:cNvSpPr/>
          <p:nvPr/>
        </p:nvSpPr>
        <p:spPr>
          <a:xfrm flipV="1">
            <a:off x="8927532" y="5177972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70" name="Line"/>
          <p:cNvSpPr/>
          <p:nvPr/>
        </p:nvSpPr>
        <p:spPr>
          <a:xfrm flipV="1">
            <a:off x="9488337" y="518268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71" name="Line"/>
          <p:cNvSpPr/>
          <p:nvPr/>
        </p:nvSpPr>
        <p:spPr>
          <a:xfrm flipV="1">
            <a:off x="10048574" y="5183686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72" name="Line"/>
          <p:cNvSpPr/>
          <p:nvPr/>
        </p:nvSpPr>
        <p:spPr>
          <a:xfrm flipV="1">
            <a:off x="10615837" y="5187405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73" name="Line"/>
          <p:cNvSpPr/>
          <p:nvPr/>
        </p:nvSpPr>
        <p:spPr>
          <a:xfrm flipV="1">
            <a:off x="11194112" y="518268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74" name="Line"/>
          <p:cNvSpPr/>
          <p:nvPr/>
        </p:nvSpPr>
        <p:spPr>
          <a:xfrm flipV="1">
            <a:off x="11742216" y="5187405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75" name="Line"/>
          <p:cNvSpPr/>
          <p:nvPr/>
        </p:nvSpPr>
        <p:spPr>
          <a:xfrm>
            <a:off x="7227949" y="652571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76" name="Line"/>
          <p:cNvSpPr/>
          <p:nvPr/>
        </p:nvSpPr>
        <p:spPr>
          <a:xfrm>
            <a:off x="7799449" y="652571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77" name="Line"/>
          <p:cNvSpPr/>
          <p:nvPr/>
        </p:nvSpPr>
        <p:spPr>
          <a:xfrm>
            <a:off x="8370949" y="652571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78" name="Line"/>
          <p:cNvSpPr/>
          <p:nvPr/>
        </p:nvSpPr>
        <p:spPr>
          <a:xfrm>
            <a:off x="8929749" y="652571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79" name="Line"/>
          <p:cNvSpPr/>
          <p:nvPr/>
        </p:nvSpPr>
        <p:spPr>
          <a:xfrm>
            <a:off x="9505240" y="6525714"/>
            <a:ext cx="550692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80" name="Line"/>
          <p:cNvSpPr/>
          <p:nvPr/>
        </p:nvSpPr>
        <p:spPr>
          <a:xfrm>
            <a:off x="10060049" y="652571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81" name="Line"/>
          <p:cNvSpPr/>
          <p:nvPr/>
        </p:nvSpPr>
        <p:spPr>
          <a:xfrm>
            <a:off x="10631549" y="652571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82" name="Line"/>
          <p:cNvSpPr/>
          <p:nvPr/>
        </p:nvSpPr>
        <p:spPr>
          <a:xfrm>
            <a:off x="11214899" y="6525714"/>
            <a:ext cx="54283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83" name="Line"/>
          <p:cNvSpPr/>
          <p:nvPr/>
        </p:nvSpPr>
        <p:spPr>
          <a:xfrm flipV="1">
            <a:off x="7788502" y="6074771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84" name="Line"/>
          <p:cNvSpPr/>
          <p:nvPr/>
        </p:nvSpPr>
        <p:spPr>
          <a:xfrm flipV="1">
            <a:off x="8368465" y="6078491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85" name="Line"/>
          <p:cNvSpPr/>
          <p:nvPr/>
        </p:nvSpPr>
        <p:spPr>
          <a:xfrm flipV="1">
            <a:off x="8934040" y="6073774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86" name="Line"/>
          <p:cNvSpPr/>
          <p:nvPr/>
        </p:nvSpPr>
        <p:spPr>
          <a:xfrm flipV="1">
            <a:off x="9494845" y="6078491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87" name="Line"/>
          <p:cNvSpPr/>
          <p:nvPr/>
        </p:nvSpPr>
        <p:spPr>
          <a:xfrm flipV="1">
            <a:off x="10055082" y="6079488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88" name="Line"/>
          <p:cNvSpPr/>
          <p:nvPr/>
        </p:nvSpPr>
        <p:spPr>
          <a:xfrm flipV="1">
            <a:off x="10622345" y="6083208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89" name="Line"/>
          <p:cNvSpPr/>
          <p:nvPr/>
        </p:nvSpPr>
        <p:spPr>
          <a:xfrm flipV="1">
            <a:off x="11200620" y="6078491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90" name="Line"/>
          <p:cNvSpPr/>
          <p:nvPr/>
        </p:nvSpPr>
        <p:spPr>
          <a:xfrm>
            <a:off x="7242486" y="7432213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91" name="Line"/>
          <p:cNvSpPr/>
          <p:nvPr/>
        </p:nvSpPr>
        <p:spPr>
          <a:xfrm>
            <a:off x="7813986" y="7432213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92" name="Line"/>
          <p:cNvSpPr/>
          <p:nvPr/>
        </p:nvSpPr>
        <p:spPr>
          <a:xfrm>
            <a:off x="8385486" y="7432213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93" name="Line"/>
          <p:cNvSpPr/>
          <p:nvPr/>
        </p:nvSpPr>
        <p:spPr>
          <a:xfrm>
            <a:off x="8944286" y="7432213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94" name="Line"/>
          <p:cNvSpPr/>
          <p:nvPr/>
        </p:nvSpPr>
        <p:spPr>
          <a:xfrm>
            <a:off x="9519777" y="7432213"/>
            <a:ext cx="55069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95" name="Line"/>
          <p:cNvSpPr/>
          <p:nvPr/>
        </p:nvSpPr>
        <p:spPr>
          <a:xfrm>
            <a:off x="10074586" y="7432213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96" name="Line"/>
          <p:cNvSpPr/>
          <p:nvPr/>
        </p:nvSpPr>
        <p:spPr>
          <a:xfrm>
            <a:off x="10646086" y="7432213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97" name="Line"/>
          <p:cNvSpPr/>
          <p:nvPr/>
        </p:nvSpPr>
        <p:spPr>
          <a:xfrm>
            <a:off x="11229437" y="7432213"/>
            <a:ext cx="542832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98" name="Line"/>
          <p:cNvSpPr/>
          <p:nvPr/>
        </p:nvSpPr>
        <p:spPr>
          <a:xfrm flipV="1">
            <a:off x="7803040" y="6981270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399" name="Line"/>
          <p:cNvSpPr/>
          <p:nvPr/>
        </p:nvSpPr>
        <p:spPr>
          <a:xfrm flipV="1">
            <a:off x="8370303" y="698498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00" name="Line"/>
          <p:cNvSpPr/>
          <p:nvPr/>
        </p:nvSpPr>
        <p:spPr>
          <a:xfrm flipV="1">
            <a:off x="8948577" y="6980273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01" name="Line"/>
          <p:cNvSpPr/>
          <p:nvPr/>
        </p:nvSpPr>
        <p:spPr>
          <a:xfrm flipV="1">
            <a:off x="9509382" y="698498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02" name="Line"/>
          <p:cNvSpPr/>
          <p:nvPr/>
        </p:nvSpPr>
        <p:spPr>
          <a:xfrm flipV="1">
            <a:off x="10069619" y="6985986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03" name="Line"/>
          <p:cNvSpPr/>
          <p:nvPr/>
        </p:nvSpPr>
        <p:spPr>
          <a:xfrm flipV="1">
            <a:off x="10636882" y="6989706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04" name="Line"/>
          <p:cNvSpPr/>
          <p:nvPr/>
        </p:nvSpPr>
        <p:spPr>
          <a:xfrm flipV="1">
            <a:off x="11215157" y="698498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05" name="Line"/>
          <p:cNvSpPr/>
          <p:nvPr/>
        </p:nvSpPr>
        <p:spPr>
          <a:xfrm>
            <a:off x="7250841" y="8332289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06" name="Line"/>
          <p:cNvSpPr/>
          <p:nvPr/>
        </p:nvSpPr>
        <p:spPr>
          <a:xfrm>
            <a:off x="7822341" y="8332289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07" name="Line"/>
          <p:cNvSpPr/>
          <p:nvPr/>
        </p:nvSpPr>
        <p:spPr>
          <a:xfrm>
            <a:off x="8393841" y="8332289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08" name="Line"/>
          <p:cNvSpPr/>
          <p:nvPr/>
        </p:nvSpPr>
        <p:spPr>
          <a:xfrm>
            <a:off x="8952641" y="8332289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09" name="Line"/>
          <p:cNvSpPr/>
          <p:nvPr/>
        </p:nvSpPr>
        <p:spPr>
          <a:xfrm>
            <a:off x="9528132" y="8332289"/>
            <a:ext cx="550692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10" name="Line"/>
          <p:cNvSpPr/>
          <p:nvPr/>
        </p:nvSpPr>
        <p:spPr>
          <a:xfrm>
            <a:off x="10082941" y="8332289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11" name="Line"/>
          <p:cNvSpPr/>
          <p:nvPr/>
        </p:nvSpPr>
        <p:spPr>
          <a:xfrm>
            <a:off x="10654441" y="8332289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12" name="Line"/>
          <p:cNvSpPr/>
          <p:nvPr/>
        </p:nvSpPr>
        <p:spPr>
          <a:xfrm>
            <a:off x="11237791" y="8332289"/>
            <a:ext cx="54283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13" name="Line"/>
          <p:cNvSpPr/>
          <p:nvPr/>
        </p:nvSpPr>
        <p:spPr>
          <a:xfrm flipV="1">
            <a:off x="7811394" y="7881346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14" name="Line"/>
          <p:cNvSpPr/>
          <p:nvPr/>
        </p:nvSpPr>
        <p:spPr>
          <a:xfrm flipV="1">
            <a:off x="8378657" y="7885065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15" name="Line"/>
          <p:cNvSpPr/>
          <p:nvPr/>
        </p:nvSpPr>
        <p:spPr>
          <a:xfrm flipV="1">
            <a:off x="8956932" y="788034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16" name="Line"/>
          <p:cNvSpPr/>
          <p:nvPr/>
        </p:nvSpPr>
        <p:spPr>
          <a:xfrm flipV="1">
            <a:off x="9517736" y="7885065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17" name="Line"/>
          <p:cNvSpPr/>
          <p:nvPr/>
        </p:nvSpPr>
        <p:spPr>
          <a:xfrm flipV="1">
            <a:off x="10077974" y="7886062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18" name="Line"/>
          <p:cNvSpPr/>
          <p:nvPr/>
        </p:nvSpPr>
        <p:spPr>
          <a:xfrm flipV="1">
            <a:off x="10645237" y="7889782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19" name="Line"/>
          <p:cNvSpPr/>
          <p:nvPr/>
        </p:nvSpPr>
        <p:spPr>
          <a:xfrm flipV="1">
            <a:off x="11223511" y="7885065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20" name="Line"/>
          <p:cNvSpPr/>
          <p:nvPr/>
        </p:nvSpPr>
        <p:spPr>
          <a:xfrm>
            <a:off x="11768041" y="56315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21" name="0"/>
          <p:cNvSpPr txBox="1"/>
          <p:nvPr/>
        </p:nvSpPr>
        <p:spPr>
          <a:xfrm>
            <a:off x="12201146" y="528954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422" name="Line"/>
          <p:cNvSpPr/>
          <p:nvPr/>
        </p:nvSpPr>
        <p:spPr>
          <a:xfrm>
            <a:off x="11793866" y="65332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23" name="0"/>
          <p:cNvSpPr txBox="1"/>
          <p:nvPr/>
        </p:nvSpPr>
        <p:spPr>
          <a:xfrm>
            <a:off x="12226971" y="619124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424" name="Line"/>
          <p:cNvSpPr/>
          <p:nvPr/>
        </p:nvSpPr>
        <p:spPr>
          <a:xfrm>
            <a:off x="11793441" y="74349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25" name="0"/>
          <p:cNvSpPr txBox="1"/>
          <p:nvPr/>
        </p:nvSpPr>
        <p:spPr>
          <a:xfrm>
            <a:off x="12226546" y="709294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426" name="Line"/>
          <p:cNvSpPr/>
          <p:nvPr/>
        </p:nvSpPr>
        <p:spPr>
          <a:xfrm>
            <a:off x="11806141" y="834299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27" name="0"/>
          <p:cNvSpPr txBox="1"/>
          <p:nvPr/>
        </p:nvSpPr>
        <p:spPr>
          <a:xfrm>
            <a:off x="12239246" y="80009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428" name="Line"/>
          <p:cNvSpPr/>
          <p:nvPr/>
        </p:nvSpPr>
        <p:spPr>
          <a:xfrm flipV="1">
            <a:off x="11769675" y="608066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29" name="Line"/>
          <p:cNvSpPr/>
          <p:nvPr/>
        </p:nvSpPr>
        <p:spPr>
          <a:xfrm flipV="1">
            <a:off x="11784212" y="6987168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30" name="Line"/>
          <p:cNvSpPr/>
          <p:nvPr/>
        </p:nvSpPr>
        <p:spPr>
          <a:xfrm flipV="1">
            <a:off x="11786508" y="7894684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</p:spTree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62</a:t>
            </a:fld>
            <a:endParaRPr/>
          </a:p>
        </p:txBody>
      </p:sp>
      <p:sp>
        <p:nvSpPr>
          <p:cNvPr id="1433" name="B[7:0]"/>
          <p:cNvSpPr/>
          <p:nvPr/>
        </p:nvSpPr>
        <p:spPr>
          <a:xfrm>
            <a:off x="7538293" y="1568450"/>
            <a:ext cx="4391026" cy="4572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>
                <a:solidFill>
                  <a:srgbClr val="FFFFFF"/>
                </a:solidFill>
              </a:defRPr>
            </a:lvl1pPr>
          </a:lstStyle>
          <a:p>
            <a:r>
              <a:t>B[7:0]</a:t>
            </a:r>
          </a:p>
        </p:txBody>
      </p:sp>
      <p:sp>
        <p:nvSpPr>
          <p:cNvPr id="1434" name="Line"/>
          <p:cNvSpPr/>
          <p:nvPr/>
        </p:nvSpPr>
        <p:spPr>
          <a:xfrm>
            <a:off x="37940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35" name="Line"/>
          <p:cNvSpPr/>
          <p:nvPr/>
        </p:nvSpPr>
        <p:spPr>
          <a:xfrm>
            <a:off x="43655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36" name="Line"/>
          <p:cNvSpPr/>
          <p:nvPr/>
        </p:nvSpPr>
        <p:spPr>
          <a:xfrm>
            <a:off x="49243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37" name="Line"/>
          <p:cNvSpPr/>
          <p:nvPr/>
        </p:nvSpPr>
        <p:spPr>
          <a:xfrm>
            <a:off x="54958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38" name="Line"/>
          <p:cNvSpPr/>
          <p:nvPr/>
        </p:nvSpPr>
        <p:spPr>
          <a:xfrm>
            <a:off x="60546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39" name="Line"/>
          <p:cNvSpPr/>
          <p:nvPr/>
        </p:nvSpPr>
        <p:spPr>
          <a:xfrm>
            <a:off x="66261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40" name="Line"/>
          <p:cNvSpPr/>
          <p:nvPr/>
        </p:nvSpPr>
        <p:spPr>
          <a:xfrm>
            <a:off x="71849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41" name="Line"/>
          <p:cNvSpPr/>
          <p:nvPr/>
        </p:nvSpPr>
        <p:spPr>
          <a:xfrm>
            <a:off x="77564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42" name="Line"/>
          <p:cNvSpPr/>
          <p:nvPr/>
        </p:nvSpPr>
        <p:spPr>
          <a:xfrm>
            <a:off x="83279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43" name="Line"/>
          <p:cNvSpPr/>
          <p:nvPr/>
        </p:nvSpPr>
        <p:spPr>
          <a:xfrm>
            <a:off x="88994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44" name="Line"/>
          <p:cNvSpPr/>
          <p:nvPr/>
        </p:nvSpPr>
        <p:spPr>
          <a:xfrm>
            <a:off x="94582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45" name="Line"/>
          <p:cNvSpPr/>
          <p:nvPr/>
        </p:nvSpPr>
        <p:spPr>
          <a:xfrm>
            <a:off x="100297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46" name="Line"/>
          <p:cNvSpPr/>
          <p:nvPr/>
        </p:nvSpPr>
        <p:spPr>
          <a:xfrm>
            <a:off x="105885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47" name="Line"/>
          <p:cNvSpPr/>
          <p:nvPr/>
        </p:nvSpPr>
        <p:spPr>
          <a:xfrm>
            <a:off x="111600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chemeClr val="accent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48" name="Line"/>
          <p:cNvSpPr/>
          <p:nvPr/>
        </p:nvSpPr>
        <p:spPr>
          <a:xfrm>
            <a:off x="9492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49" name="Line"/>
          <p:cNvSpPr/>
          <p:nvPr/>
        </p:nvSpPr>
        <p:spPr>
          <a:xfrm>
            <a:off x="15080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50" name="Line"/>
          <p:cNvSpPr/>
          <p:nvPr/>
        </p:nvSpPr>
        <p:spPr>
          <a:xfrm>
            <a:off x="20795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51" name="Line"/>
          <p:cNvSpPr/>
          <p:nvPr/>
        </p:nvSpPr>
        <p:spPr>
          <a:xfrm>
            <a:off x="26383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52" name="Line"/>
          <p:cNvSpPr/>
          <p:nvPr/>
        </p:nvSpPr>
        <p:spPr>
          <a:xfrm>
            <a:off x="32098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53" name="adjust"/>
          <p:cNvSpPr/>
          <p:nvPr/>
        </p:nvSpPr>
        <p:spPr>
          <a:xfrm>
            <a:off x="5281314" y="24701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454" name="adjust"/>
          <p:cNvSpPr/>
          <p:nvPr/>
        </p:nvSpPr>
        <p:spPr>
          <a:xfrm>
            <a:off x="3008014" y="24701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455" name="adjust"/>
          <p:cNvSpPr/>
          <p:nvPr/>
        </p:nvSpPr>
        <p:spPr>
          <a:xfrm>
            <a:off x="747414" y="24701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456" name="Line"/>
          <p:cNvSpPr/>
          <p:nvPr/>
        </p:nvSpPr>
        <p:spPr>
          <a:xfrm>
            <a:off x="117188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57" name="0"/>
          <p:cNvSpPr txBox="1"/>
          <p:nvPr/>
        </p:nvSpPr>
        <p:spPr>
          <a:xfrm>
            <a:off x="12151980" y="16763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458" name="Line"/>
          <p:cNvSpPr/>
          <p:nvPr/>
        </p:nvSpPr>
        <p:spPr>
          <a:xfrm>
            <a:off x="38199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59" name="Line"/>
          <p:cNvSpPr/>
          <p:nvPr/>
        </p:nvSpPr>
        <p:spPr>
          <a:xfrm>
            <a:off x="43914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60" name="Line"/>
          <p:cNvSpPr/>
          <p:nvPr/>
        </p:nvSpPr>
        <p:spPr>
          <a:xfrm>
            <a:off x="49502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61" name="Line"/>
          <p:cNvSpPr/>
          <p:nvPr/>
        </p:nvSpPr>
        <p:spPr>
          <a:xfrm>
            <a:off x="55217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62" name="Line"/>
          <p:cNvSpPr/>
          <p:nvPr/>
        </p:nvSpPr>
        <p:spPr>
          <a:xfrm>
            <a:off x="60805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63" name="Line"/>
          <p:cNvSpPr/>
          <p:nvPr/>
        </p:nvSpPr>
        <p:spPr>
          <a:xfrm>
            <a:off x="66520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64" name="Line"/>
          <p:cNvSpPr/>
          <p:nvPr/>
        </p:nvSpPr>
        <p:spPr>
          <a:xfrm>
            <a:off x="71981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65" name="Line"/>
          <p:cNvSpPr/>
          <p:nvPr/>
        </p:nvSpPr>
        <p:spPr>
          <a:xfrm>
            <a:off x="77696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66" name="Line"/>
          <p:cNvSpPr/>
          <p:nvPr/>
        </p:nvSpPr>
        <p:spPr>
          <a:xfrm>
            <a:off x="83411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67" name="Line"/>
          <p:cNvSpPr/>
          <p:nvPr/>
        </p:nvSpPr>
        <p:spPr>
          <a:xfrm>
            <a:off x="88999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68" name="Line"/>
          <p:cNvSpPr/>
          <p:nvPr/>
        </p:nvSpPr>
        <p:spPr>
          <a:xfrm>
            <a:off x="9475391" y="2920095"/>
            <a:ext cx="550692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69" name="Line"/>
          <p:cNvSpPr/>
          <p:nvPr/>
        </p:nvSpPr>
        <p:spPr>
          <a:xfrm>
            <a:off x="100302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70" name="Line"/>
          <p:cNvSpPr/>
          <p:nvPr/>
        </p:nvSpPr>
        <p:spPr>
          <a:xfrm>
            <a:off x="106017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chemeClr val="accent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71" name="Line"/>
          <p:cNvSpPr/>
          <p:nvPr/>
        </p:nvSpPr>
        <p:spPr>
          <a:xfrm>
            <a:off x="11172350" y="2920095"/>
            <a:ext cx="54283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72" name="Line"/>
          <p:cNvSpPr/>
          <p:nvPr/>
        </p:nvSpPr>
        <p:spPr>
          <a:xfrm>
            <a:off x="9751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73" name="Line"/>
          <p:cNvSpPr/>
          <p:nvPr/>
        </p:nvSpPr>
        <p:spPr>
          <a:xfrm>
            <a:off x="15339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74" name="Line"/>
          <p:cNvSpPr/>
          <p:nvPr/>
        </p:nvSpPr>
        <p:spPr>
          <a:xfrm>
            <a:off x="21054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75" name="Line"/>
          <p:cNvSpPr/>
          <p:nvPr/>
        </p:nvSpPr>
        <p:spPr>
          <a:xfrm>
            <a:off x="26642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76" name="Line"/>
          <p:cNvSpPr/>
          <p:nvPr/>
        </p:nvSpPr>
        <p:spPr>
          <a:xfrm>
            <a:off x="32357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77" name="adjust"/>
          <p:cNvSpPr/>
          <p:nvPr/>
        </p:nvSpPr>
        <p:spPr>
          <a:xfrm>
            <a:off x="5307139" y="33718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478" name="adjust"/>
          <p:cNvSpPr/>
          <p:nvPr/>
        </p:nvSpPr>
        <p:spPr>
          <a:xfrm>
            <a:off x="3033839" y="33718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479" name="adjust"/>
          <p:cNvSpPr/>
          <p:nvPr/>
        </p:nvSpPr>
        <p:spPr>
          <a:xfrm>
            <a:off x="773239" y="33718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480" name="Line"/>
          <p:cNvSpPr/>
          <p:nvPr/>
        </p:nvSpPr>
        <p:spPr>
          <a:xfrm>
            <a:off x="117447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81" name="0"/>
          <p:cNvSpPr txBox="1"/>
          <p:nvPr/>
        </p:nvSpPr>
        <p:spPr>
          <a:xfrm>
            <a:off x="12177805" y="25780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482" name="Line"/>
          <p:cNvSpPr/>
          <p:nvPr/>
        </p:nvSpPr>
        <p:spPr>
          <a:xfrm>
            <a:off x="38194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83" name="Line"/>
          <p:cNvSpPr/>
          <p:nvPr/>
        </p:nvSpPr>
        <p:spPr>
          <a:xfrm>
            <a:off x="43909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84" name="Line"/>
          <p:cNvSpPr/>
          <p:nvPr/>
        </p:nvSpPr>
        <p:spPr>
          <a:xfrm>
            <a:off x="49497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85" name="Line"/>
          <p:cNvSpPr/>
          <p:nvPr/>
        </p:nvSpPr>
        <p:spPr>
          <a:xfrm>
            <a:off x="55212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86" name="Line"/>
          <p:cNvSpPr/>
          <p:nvPr/>
        </p:nvSpPr>
        <p:spPr>
          <a:xfrm>
            <a:off x="60800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87" name="Line"/>
          <p:cNvSpPr/>
          <p:nvPr/>
        </p:nvSpPr>
        <p:spPr>
          <a:xfrm>
            <a:off x="66515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88" name="Line"/>
          <p:cNvSpPr/>
          <p:nvPr/>
        </p:nvSpPr>
        <p:spPr>
          <a:xfrm>
            <a:off x="9746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89" name="Line"/>
          <p:cNvSpPr/>
          <p:nvPr/>
        </p:nvSpPr>
        <p:spPr>
          <a:xfrm>
            <a:off x="15334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90" name="Line"/>
          <p:cNvSpPr/>
          <p:nvPr/>
        </p:nvSpPr>
        <p:spPr>
          <a:xfrm>
            <a:off x="21049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91" name="Line"/>
          <p:cNvSpPr/>
          <p:nvPr/>
        </p:nvSpPr>
        <p:spPr>
          <a:xfrm>
            <a:off x="26637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92" name="Line"/>
          <p:cNvSpPr/>
          <p:nvPr/>
        </p:nvSpPr>
        <p:spPr>
          <a:xfrm>
            <a:off x="32352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93" name="adjust"/>
          <p:cNvSpPr/>
          <p:nvPr/>
        </p:nvSpPr>
        <p:spPr>
          <a:xfrm>
            <a:off x="5306714" y="42735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494" name="adjust"/>
          <p:cNvSpPr/>
          <p:nvPr/>
        </p:nvSpPr>
        <p:spPr>
          <a:xfrm>
            <a:off x="3033414" y="42735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495" name="adjust"/>
          <p:cNvSpPr/>
          <p:nvPr/>
        </p:nvSpPr>
        <p:spPr>
          <a:xfrm>
            <a:off x="772814" y="42735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496" name="Line"/>
          <p:cNvSpPr/>
          <p:nvPr/>
        </p:nvSpPr>
        <p:spPr>
          <a:xfrm>
            <a:off x="117442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97" name="0"/>
          <p:cNvSpPr txBox="1"/>
          <p:nvPr/>
        </p:nvSpPr>
        <p:spPr>
          <a:xfrm>
            <a:off x="12177380" y="34797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498" name="Line"/>
          <p:cNvSpPr/>
          <p:nvPr/>
        </p:nvSpPr>
        <p:spPr>
          <a:xfrm>
            <a:off x="38321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499" name="Line"/>
          <p:cNvSpPr/>
          <p:nvPr/>
        </p:nvSpPr>
        <p:spPr>
          <a:xfrm>
            <a:off x="44036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00" name="Line"/>
          <p:cNvSpPr/>
          <p:nvPr/>
        </p:nvSpPr>
        <p:spPr>
          <a:xfrm>
            <a:off x="49624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01" name="Line"/>
          <p:cNvSpPr/>
          <p:nvPr/>
        </p:nvSpPr>
        <p:spPr>
          <a:xfrm>
            <a:off x="55339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02" name="Line"/>
          <p:cNvSpPr/>
          <p:nvPr/>
        </p:nvSpPr>
        <p:spPr>
          <a:xfrm>
            <a:off x="60927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03" name="Line"/>
          <p:cNvSpPr/>
          <p:nvPr/>
        </p:nvSpPr>
        <p:spPr>
          <a:xfrm>
            <a:off x="66642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04" name="Line"/>
          <p:cNvSpPr/>
          <p:nvPr/>
        </p:nvSpPr>
        <p:spPr>
          <a:xfrm>
            <a:off x="9873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05" name="Line"/>
          <p:cNvSpPr/>
          <p:nvPr/>
        </p:nvSpPr>
        <p:spPr>
          <a:xfrm>
            <a:off x="15461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06" name="Line"/>
          <p:cNvSpPr/>
          <p:nvPr/>
        </p:nvSpPr>
        <p:spPr>
          <a:xfrm>
            <a:off x="21176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07" name="Line"/>
          <p:cNvSpPr/>
          <p:nvPr/>
        </p:nvSpPr>
        <p:spPr>
          <a:xfrm>
            <a:off x="26764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08" name="Line"/>
          <p:cNvSpPr/>
          <p:nvPr/>
        </p:nvSpPr>
        <p:spPr>
          <a:xfrm>
            <a:off x="32479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09" name="adjust"/>
          <p:cNvSpPr/>
          <p:nvPr/>
        </p:nvSpPr>
        <p:spPr>
          <a:xfrm>
            <a:off x="5319414" y="518160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510" name="adjust"/>
          <p:cNvSpPr/>
          <p:nvPr/>
        </p:nvSpPr>
        <p:spPr>
          <a:xfrm>
            <a:off x="3046114" y="518160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511" name="adjust"/>
          <p:cNvSpPr/>
          <p:nvPr/>
        </p:nvSpPr>
        <p:spPr>
          <a:xfrm>
            <a:off x="785514" y="518160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512" name="Line"/>
          <p:cNvSpPr/>
          <p:nvPr/>
        </p:nvSpPr>
        <p:spPr>
          <a:xfrm>
            <a:off x="117569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13" name="0"/>
          <p:cNvSpPr txBox="1"/>
          <p:nvPr/>
        </p:nvSpPr>
        <p:spPr>
          <a:xfrm>
            <a:off x="12190080" y="438784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514" name="Line"/>
          <p:cNvSpPr/>
          <p:nvPr/>
        </p:nvSpPr>
        <p:spPr>
          <a:xfrm>
            <a:off x="38321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15" name="Line"/>
          <p:cNvSpPr/>
          <p:nvPr/>
        </p:nvSpPr>
        <p:spPr>
          <a:xfrm>
            <a:off x="44036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16" name="Line"/>
          <p:cNvSpPr/>
          <p:nvPr/>
        </p:nvSpPr>
        <p:spPr>
          <a:xfrm>
            <a:off x="49624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17" name="Line"/>
          <p:cNvSpPr/>
          <p:nvPr/>
        </p:nvSpPr>
        <p:spPr>
          <a:xfrm>
            <a:off x="55339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18" name="Line"/>
          <p:cNvSpPr/>
          <p:nvPr/>
        </p:nvSpPr>
        <p:spPr>
          <a:xfrm>
            <a:off x="60927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19" name="Line"/>
          <p:cNvSpPr/>
          <p:nvPr/>
        </p:nvSpPr>
        <p:spPr>
          <a:xfrm>
            <a:off x="66642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20" name="Line"/>
          <p:cNvSpPr/>
          <p:nvPr/>
        </p:nvSpPr>
        <p:spPr>
          <a:xfrm>
            <a:off x="9873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21" name="Line"/>
          <p:cNvSpPr/>
          <p:nvPr/>
        </p:nvSpPr>
        <p:spPr>
          <a:xfrm>
            <a:off x="15461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22" name="Line"/>
          <p:cNvSpPr/>
          <p:nvPr/>
        </p:nvSpPr>
        <p:spPr>
          <a:xfrm>
            <a:off x="21176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23" name="Line"/>
          <p:cNvSpPr/>
          <p:nvPr/>
        </p:nvSpPr>
        <p:spPr>
          <a:xfrm>
            <a:off x="26764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24" name="Line"/>
          <p:cNvSpPr/>
          <p:nvPr/>
        </p:nvSpPr>
        <p:spPr>
          <a:xfrm>
            <a:off x="32479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25" name="adjust"/>
          <p:cNvSpPr/>
          <p:nvPr/>
        </p:nvSpPr>
        <p:spPr>
          <a:xfrm>
            <a:off x="5319414" y="60769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526" name="adjust"/>
          <p:cNvSpPr/>
          <p:nvPr/>
        </p:nvSpPr>
        <p:spPr>
          <a:xfrm>
            <a:off x="3046114" y="60769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527" name="adjust"/>
          <p:cNvSpPr/>
          <p:nvPr/>
        </p:nvSpPr>
        <p:spPr>
          <a:xfrm>
            <a:off x="785514" y="60769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528" name="Line"/>
          <p:cNvSpPr/>
          <p:nvPr/>
        </p:nvSpPr>
        <p:spPr>
          <a:xfrm>
            <a:off x="38194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29" name="Line"/>
          <p:cNvSpPr/>
          <p:nvPr/>
        </p:nvSpPr>
        <p:spPr>
          <a:xfrm>
            <a:off x="43909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30" name="Line"/>
          <p:cNvSpPr/>
          <p:nvPr/>
        </p:nvSpPr>
        <p:spPr>
          <a:xfrm>
            <a:off x="49497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31" name="Line"/>
          <p:cNvSpPr/>
          <p:nvPr/>
        </p:nvSpPr>
        <p:spPr>
          <a:xfrm>
            <a:off x="55212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32" name="Line"/>
          <p:cNvSpPr/>
          <p:nvPr/>
        </p:nvSpPr>
        <p:spPr>
          <a:xfrm>
            <a:off x="60800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33" name="Line"/>
          <p:cNvSpPr/>
          <p:nvPr/>
        </p:nvSpPr>
        <p:spPr>
          <a:xfrm>
            <a:off x="66515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34" name="Line"/>
          <p:cNvSpPr/>
          <p:nvPr/>
        </p:nvSpPr>
        <p:spPr>
          <a:xfrm>
            <a:off x="9746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35" name="Line"/>
          <p:cNvSpPr/>
          <p:nvPr/>
        </p:nvSpPr>
        <p:spPr>
          <a:xfrm>
            <a:off x="15334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36" name="Line"/>
          <p:cNvSpPr/>
          <p:nvPr/>
        </p:nvSpPr>
        <p:spPr>
          <a:xfrm>
            <a:off x="21049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37" name="Line"/>
          <p:cNvSpPr/>
          <p:nvPr/>
        </p:nvSpPr>
        <p:spPr>
          <a:xfrm>
            <a:off x="26637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38" name="Line"/>
          <p:cNvSpPr/>
          <p:nvPr/>
        </p:nvSpPr>
        <p:spPr>
          <a:xfrm>
            <a:off x="32352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39" name="adjust"/>
          <p:cNvSpPr/>
          <p:nvPr/>
        </p:nvSpPr>
        <p:spPr>
          <a:xfrm>
            <a:off x="5306714" y="697230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540" name="adjust"/>
          <p:cNvSpPr/>
          <p:nvPr/>
        </p:nvSpPr>
        <p:spPr>
          <a:xfrm>
            <a:off x="3033414" y="697230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541" name="adjust"/>
          <p:cNvSpPr/>
          <p:nvPr/>
        </p:nvSpPr>
        <p:spPr>
          <a:xfrm>
            <a:off x="772814" y="697230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542" name="0"/>
          <p:cNvSpPr txBox="1"/>
          <p:nvPr/>
        </p:nvSpPr>
        <p:spPr>
          <a:xfrm>
            <a:off x="7045942" y="1663699"/>
            <a:ext cx="269689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543" name="0"/>
          <p:cNvSpPr txBox="1"/>
          <p:nvPr/>
        </p:nvSpPr>
        <p:spPr>
          <a:xfrm>
            <a:off x="6482922" y="16636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544" name="0"/>
          <p:cNvSpPr txBox="1"/>
          <p:nvPr/>
        </p:nvSpPr>
        <p:spPr>
          <a:xfrm>
            <a:off x="5928443" y="16636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545" name="0"/>
          <p:cNvSpPr txBox="1"/>
          <p:nvPr/>
        </p:nvSpPr>
        <p:spPr>
          <a:xfrm>
            <a:off x="5356842" y="1663699"/>
            <a:ext cx="269689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546" name="0"/>
          <p:cNvSpPr txBox="1"/>
          <p:nvPr/>
        </p:nvSpPr>
        <p:spPr>
          <a:xfrm>
            <a:off x="4787472" y="16636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547" name="0"/>
          <p:cNvSpPr txBox="1"/>
          <p:nvPr/>
        </p:nvSpPr>
        <p:spPr>
          <a:xfrm>
            <a:off x="4224452" y="16636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548" name="0"/>
          <p:cNvSpPr txBox="1"/>
          <p:nvPr/>
        </p:nvSpPr>
        <p:spPr>
          <a:xfrm>
            <a:off x="3669974" y="16636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549" name="0"/>
          <p:cNvSpPr txBox="1"/>
          <p:nvPr/>
        </p:nvSpPr>
        <p:spPr>
          <a:xfrm>
            <a:off x="3072972" y="16636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550" name="0"/>
          <p:cNvSpPr txBox="1"/>
          <p:nvPr/>
        </p:nvSpPr>
        <p:spPr>
          <a:xfrm>
            <a:off x="2509952" y="16636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551" name="0"/>
          <p:cNvSpPr txBox="1"/>
          <p:nvPr/>
        </p:nvSpPr>
        <p:spPr>
          <a:xfrm>
            <a:off x="1955474" y="16636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552" name="0"/>
          <p:cNvSpPr txBox="1"/>
          <p:nvPr/>
        </p:nvSpPr>
        <p:spPr>
          <a:xfrm>
            <a:off x="1383872" y="16636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553" name="Line"/>
          <p:cNvSpPr/>
          <p:nvPr/>
        </p:nvSpPr>
        <p:spPr>
          <a:xfrm>
            <a:off x="38336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54" name="Line"/>
          <p:cNvSpPr/>
          <p:nvPr/>
        </p:nvSpPr>
        <p:spPr>
          <a:xfrm>
            <a:off x="44051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55" name="Line"/>
          <p:cNvSpPr/>
          <p:nvPr/>
        </p:nvSpPr>
        <p:spPr>
          <a:xfrm>
            <a:off x="49639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56" name="Line"/>
          <p:cNvSpPr/>
          <p:nvPr/>
        </p:nvSpPr>
        <p:spPr>
          <a:xfrm>
            <a:off x="55354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57" name="Line"/>
          <p:cNvSpPr/>
          <p:nvPr/>
        </p:nvSpPr>
        <p:spPr>
          <a:xfrm>
            <a:off x="60942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58" name="Line"/>
          <p:cNvSpPr/>
          <p:nvPr/>
        </p:nvSpPr>
        <p:spPr>
          <a:xfrm>
            <a:off x="66657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59" name="Line"/>
          <p:cNvSpPr/>
          <p:nvPr/>
        </p:nvSpPr>
        <p:spPr>
          <a:xfrm>
            <a:off x="9888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60" name="Line"/>
          <p:cNvSpPr/>
          <p:nvPr/>
        </p:nvSpPr>
        <p:spPr>
          <a:xfrm>
            <a:off x="15476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61" name="Line"/>
          <p:cNvSpPr/>
          <p:nvPr/>
        </p:nvSpPr>
        <p:spPr>
          <a:xfrm>
            <a:off x="21191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62" name="Line"/>
          <p:cNvSpPr/>
          <p:nvPr/>
        </p:nvSpPr>
        <p:spPr>
          <a:xfrm>
            <a:off x="26779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63" name="Line"/>
          <p:cNvSpPr/>
          <p:nvPr/>
        </p:nvSpPr>
        <p:spPr>
          <a:xfrm>
            <a:off x="32494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64" name="adjust"/>
          <p:cNvSpPr/>
          <p:nvPr/>
        </p:nvSpPr>
        <p:spPr>
          <a:xfrm>
            <a:off x="5320906" y="7880350"/>
            <a:ext cx="2114104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565" name="adjust"/>
          <p:cNvSpPr/>
          <p:nvPr/>
        </p:nvSpPr>
        <p:spPr>
          <a:xfrm>
            <a:off x="3047606" y="7880350"/>
            <a:ext cx="2114104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566" name="adjust"/>
          <p:cNvSpPr/>
          <p:nvPr/>
        </p:nvSpPr>
        <p:spPr>
          <a:xfrm>
            <a:off x="787006" y="7880350"/>
            <a:ext cx="2114104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567" name="Line"/>
          <p:cNvSpPr/>
          <p:nvPr/>
        </p:nvSpPr>
        <p:spPr>
          <a:xfrm>
            <a:off x="32522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68" name="Line"/>
          <p:cNvSpPr/>
          <p:nvPr/>
        </p:nvSpPr>
        <p:spPr>
          <a:xfrm>
            <a:off x="38237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69" name="Line"/>
          <p:cNvSpPr/>
          <p:nvPr/>
        </p:nvSpPr>
        <p:spPr>
          <a:xfrm>
            <a:off x="43825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70" name="Line"/>
          <p:cNvSpPr/>
          <p:nvPr/>
        </p:nvSpPr>
        <p:spPr>
          <a:xfrm>
            <a:off x="49540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71" name="Line"/>
          <p:cNvSpPr/>
          <p:nvPr/>
        </p:nvSpPr>
        <p:spPr>
          <a:xfrm>
            <a:off x="55128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72" name="Line"/>
          <p:cNvSpPr/>
          <p:nvPr/>
        </p:nvSpPr>
        <p:spPr>
          <a:xfrm>
            <a:off x="60843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73" name="Line"/>
          <p:cNvSpPr/>
          <p:nvPr/>
        </p:nvSpPr>
        <p:spPr>
          <a:xfrm>
            <a:off x="6643197" y="8319404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74" name="Line"/>
          <p:cNvSpPr/>
          <p:nvPr/>
        </p:nvSpPr>
        <p:spPr>
          <a:xfrm>
            <a:off x="9662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75" name="Line"/>
          <p:cNvSpPr/>
          <p:nvPr/>
        </p:nvSpPr>
        <p:spPr>
          <a:xfrm>
            <a:off x="15377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76" name="Line"/>
          <p:cNvSpPr/>
          <p:nvPr/>
        </p:nvSpPr>
        <p:spPr>
          <a:xfrm>
            <a:off x="20965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77" name="Line"/>
          <p:cNvSpPr/>
          <p:nvPr/>
        </p:nvSpPr>
        <p:spPr>
          <a:xfrm>
            <a:off x="26680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78" name="BCD[0]"/>
          <p:cNvSpPr/>
          <p:nvPr/>
        </p:nvSpPr>
        <p:spPr>
          <a:xfrm>
            <a:off x="5325764" y="8775700"/>
            <a:ext cx="2114105" cy="4572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>
                <a:solidFill>
                  <a:srgbClr val="FFFFFF"/>
                </a:solidFill>
              </a:defRPr>
            </a:lvl1pPr>
          </a:lstStyle>
          <a:p>
            <a:r>
              <a:t>BCD[0]</a:t>
            </a:r>
          </a:p>
        </p:txBody>
      </p:sp>
      <p:sp>
        <p:nvSpPr>
          <p:cNvPr id="1579" name="BCD[1]"/>
          <p:cNvSpPr/>
          <p:nvPr/>
        </p:nvSpPr>
        <p:spPr>
          <a:xfrm>
            <a:off x="3052464" y="8775700"/>
            <a:ext cx="2114105" cy="4572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>
                <a:solidFill>
                  <a:srgbClr val="FFFFFF"/>
                </a:solidFill>
              </a:defRPr>
            </a:lvl1pPr>
          </a:lstStyle>
          <a:p>
            <a:r>
              <a:t>BCD[1]</a:t>
            </a:r>
          </a:p>
        </p:txBody>
      </p:sp>
      <p:sp>
        <p:nvSpPr>
          <p:cNvPr id="1580" name="BCD[2]"/>
          <p:cNvSpPr/>
          <p:nvPr/>
        </p:nvSpPr>
        <p:spPr>
          <a:xfrm>
            <a:off x="791864" y="8775700"/>
            <a:ext cx="2114105" cy="4572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>
                <a:solidFill>
                  <a:srgbClr val="FFFFFF"/>
                </a:solidFill>
              </a:defRPr>
            </a:lvl1pPr>
          </a:lstStyle>
          <a:p>
            <a:r>
              <a:t>BCD[2]</a:t>
            </a:r>
          </a:p>
        </p:txBody>
      </p:sp>
      <p:sp>
        <p:nvSpPr>
          <p:cNvPr id="1581" name="Line"/>
          <p:cNvSpPr/>
          <p:nvPr/>
        </p:nvSpPr>
        <p:spPr>
          <a:xfrm flipV="1">
            <a:off x="7758653" y="2469153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82" name="Line"/>
          <p:cNvSpPr/>
          <p:nvPr/>
        </p:nvSpPr>
        <p:spPr>
          <a:xfrm flipV="1">
            <a:off x="8338616" y="2472872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83" name="Line"/>
          <p:cNvSpPr/>
          <p:nvPr/>
        </p:nvSpPr>
        <p:spPr>
          <a:xfrm flipV="1">
            <a:off x="8904191" y="2468156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84" name="Line"/>
          <p:cNvSpPr/>
          <p:nvPr/>
        </p:nvSpPr>
        <p:spPr>
          <a:xfrm flipV="1">
            <a:off x="9464995" y="2472872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85" name="Line"/>
          <p:cNvSpPr/>
          <p:nvPr/>
        </p:nvSpPr>
        <p:spPr>
          <a:xfrm flipV="1">
            <a:off x="10025233" y="247386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86" name="Line"/>
          <p:cNvSpPr/>
          <p:nvPr/>
        </p:nvSpPr>
        <p:spPr>
          <a:xfrm flipV="1">
            <a:off x="10592496" y="247758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87" name="Line"/>
          <p:cNvSpPr/>
          <p:nvPr/>
        </p:nvSpPr>
        <p:spPr>
          <a:xfrm flipV="1">
            <a:off x="11170770" y="2472872"/>
            <a:ext cx="1" cy="459195"/>
          </a:xfrm>
          <a:prstGeom prst="line">
            <a:avLst/>
          </a:prstGeom>
          <a:ln w="25400">
            <a:solidFill>
              <a:schemeClr val="accent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88" name="Line"/>
          <p:cNvSpPr/>
          <p:nvPr/>
        </p:nvSpPr>
        <p:spPr>
          <a:xfrm flipV="1">
            <a:off x="11718875" y="247758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89" name="Line"/>
          <p:cNvSpPr/>
          <p:nvPr/>
        </p:nvSpPr>
        <p:spPr>
          <a:xfrm>
            <a:off x="7204608" y="3815898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90" name="Line"/>
          <p:cNvSpPr/>
          <p:nvPr/>
        </p:nvSpPr>
        <p:spPr>
          <a:xfrm>
            <a:off x="7776108" y="3815898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91" name="Line"/>
          <p:cNvSpPr/>
          <p:nvPr/>
        </p:nvSpPr>
        <p:spPr>
          <a:xfrm>
            <a:off x="8347608" y="3815898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92" name="Line"/>
          <p:cNvSpPr/>
          <p:nvPr/>
        </p:nvSpPr>
        <p:spPr>
          <a:xfrm>
            <a:off x="8906408" y="3815898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93" name="Line"/>
          <p:cNvSpPr/>
          <p:nvPr/>
        </p:nvSpPr>
        <p:spPr>
          <a:xfrm>
            <a:off x="9481899" y="3815898"/>
            <a:ext cx="550692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94" name="Line"/>
          <p:cNvSpPr/>
          <p:nvPr/>
        </p:nvSpPr>
        <p:spPr>
          <a:xfrm>
            <a:off x="10036708" y="3815898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chemeClr val="accent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95" name="Line"/>
          <p:cNvSpPr/>
          <p:nvPr/>
        </p:nvSpPr>
        <p:spPr>
          <a:xfrm>
            <a:off x="10608208" y="3815898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96" name="Line"/>
          <p:cNvSpPr/>
          <p:nvPr/>
        </p:nvSpPr>
        <p:spPr>
          <a:xfrm>
            <a:off x="11178858" y="3815898"/>
            <a:ext cx="54283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97" name="Line"/>
          <p:cNvSpPr/>
          <p:nvPr/>
        </p:nvSpPr>
        <p:spPr>
          <a:xfrm flipV="1">
            <a:off x="7765161" y="3364955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98" name="Line"/>
          <p:cNvSpPr/>
          <p:nvPr/>
        </p:nvSpPr>
        <p:spPr>
          <a:xfrm flipV="1">
            <a:off x="8345124" y="3368674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599" name="Line"/>
          <p:cNvSpPr/>
          <p:nvPr/>
        </p:nvSpPr>
        <p:spPr>
          <a:xfrm flipV="1">
            <a:off x="8910699" y="3363958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00" name="Line"/>
          <p:cNvSpPr/>
          <p:nvPr/>
        </p:nvSpPr>
        <p:spPr>
          <a:xfrm flipV="1">
            <a:off x="9471504" y="3368674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01" name="Line"/>
          <p:cNvSpPr/>
          <p:nvPr/>
        </p:nvSpPr>
        <p:spPr>
          <a:xfrm flipV="1">
            <a:off x="10031741" y="3369671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02" name="Line"/>
          <p:cNvSpPr/>
          <p:nvPr/>
        </p:nvSpPr>
        <p:spPr>
          <a:xfrm flipV="1">
            <a:off x="10599004" y="3373391"/>
            <a:ext cx="1" cy="459195"/>
          </a:xfrm>
          <a:prstGeom prst="line">
            <a:avLst/>
          </a:prstGeom>
          <a:ln w="25400">
            <a:solidFill>
              <a:schemeClr val="accent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03" name="Line"/>
          <p:cNvSpPr/>
          <p:nvPr/>
        </p:nvSpPr>
        <p:spPr>
          <a:xfrm flipV="1">
            <a:off x="11177279" y="3368674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04" name="Line"/>
          <p:cNvSpPr/>
          <p:nvPr/>
        </p:nvSpPr>
        <p:spPr>
          <a:xfrm flipV="1">
            <a:off x="11725383" y="3373391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05" name="Line"/>
          <p:cNvSpPr/>
          <p:nvPr/>
        </p:nvSpPr>
        <p:spPr>
          <a:xfrm>
            <a:off x="7219145" y="472239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06" name="Line"/>
          <p:cNvSpPr/>
          <p:nvPr/>
        </p:nvSpPr>
        <p:spPr>
          <a:xfrm>
            <a:off x="7790645" y="472239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07" name="Line"/>
          <p:cNvSpPr/>
          <p:nvPr/>
        </p:nvSpPr>
        <p:spPr>
          <a:xfrm>
            <a:off x="8362145" y="472239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08" name="Line"/>
          <p:cNvSpPr/>
          <p:nvPr/>
        </p:nvSpPr>
        <p:spPr>
          <a:xfrm>
            <a:off x="8920945" y="472239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09" name="Line"/>
          <p:cNvSpPr/>
          <p:nvPr/>
        </p:nvSpPr>
        <p:spPr>
          <a:xfrm>
            <a:off x="9496436" y="4722396"/>
            <a:ext cx="550692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chemeClr val="accent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10" name="Line"/>
          <p:cNvSpPr/>
          <p:nvPr/>
        </p:nvSpPr>
        <p:spPr>
          <a:xfrm>
            <a:off x="10051245" y="472239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11" name="Line"/>
          <p:cNvSpPr/>
          <p:nvPr/>
        </p:nvSpPr>
        <p:spPr>
          <a:xfrm>
            <a:off x="10622745" y="472239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12" name="Line"/>
          <p:cNvSpPr/>
          <p:nvPr/>
        </p:nvSpPr>
        <p:spPr>
          <a:xfrm>
            <a:off x="11193395" y="4722396"/>
            <a:ext cx="54283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13" name="Line"/>
          <p:cNvSpPr/>
          <p:nvPr/>
        </p:nvSpPr>
        <p:spPr>
          <a:xfrm flipV="1">
            <a:off x="7779698" y="4271453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14" name="Line"/>
          <p:cNvSpPr/>
          <p:nvPr/>
        </p:nvSpPr>
        <p:spPr>
          <a:xfrm flipV="1">
            <a:off x="8346961" y="4275173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15" name="Line"/>
          <p:cNvSpPr/>
          <p:nvPr/>
        </p:nvSpPr>
        <p:spPr>
          <a:xfrm flipV="1">
            <a:off x="8925236" y="4270457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16" name="Line"/>
          <p:cNvSpPr/>
          <p:nvPr/>
        </p:nvSpPr>
        <p:spPr>
          <a:xfrm flipV="1">
            <a:off x="9486041" y="4275173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17" name="Line"/>
          <p:cNvSpPr/>
          <p:nvPr/>
        </p:nvSpPr>
        <p:spPr>
          <a:xfrm flipV="1">
            <a:off x="10046278" y="4276170"/>
            <a:ext cx="1" cy="459195"/>
          </a:xfrm>
          <a:prstGeom prst="line">
            <a:avLst/>
          </a:prstGeom>
          <a:ln w="25400">
            <a:solidFill>
              <a:schemeClr val="accent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18" name="Line"/>
          <p:cNvSpPr/>
          <p:nvPr/>
        </p:nvSpPr>
        <p:spPr>
          <a:xfrm flipV="1">
            <a:off x="10613541" y="4279890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19" name="Line"/>
          <p:cNvSpPr/>
          <p:nvPr/>
        </p:nvSpPr>
        <p:spPr>
          <a:xfrm flipV="1">
            <a:off x="11191816" y="4275173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20" name="Line"/>
          <p:cNvSpPr/>
          <p:nvPr/>
        </p:nvSpPr>
        <p:spPr>
          <a:xfrm flipV="1">
            <a:off x="11739920" y="4279890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21" name="Line"/>
          <p:cNvSpPr/>
          <p:nvPr/>
        </p:nvSpPr>
        <p:spPr>
          <a:xfrm>
            <a:off x="7221441" y="5629912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22" name="Line"/>
          <p:cNvSpPr/>
          <p:nvPr/>
        </p:nvSpPr>
        <p:spPr>
          <a:xfrm>
            <a:off x="7792941" y="5629912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23" name="Line"/>
          <p:cNvSpPr/>
          <p:nvPr/>
        </p:nvSpPr>
        <p:spPr>
          <a:xfrm>
            <a:off x="8364441" y="5629912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24" name="Line"/>
          <p:cNvSpPr/>
          <p:nvPr/>
        </p:nvSpPr>
        <p:spPr>
          <a:xfrm>
            <a:off x="8923241" y="5629912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chemeClr val="accent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25" name="Line"/>
          <p:cNvSpPr/>
          <p:nvPr/>
        </p:nvSpPr>
        <p:spPr>
          <a:xfrm>
            <a:off x="9498732" y="5629912"/>
            <a:ext cx="550692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26" name="Line"/>
          <p:cNvSpPr/>
          <p:nvPr/>
        </p:nvSpPr>
        <p:spPr>
          <a:xfrm>
            <a:off x="10053541" y="5629912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27" name="Line"/>
          <p:cNvSpPr/>
          <p:nvPr/>
        </p:nvSpPr>
        <p:spPr>
          <a:xfrm>
            <a:off x="10625041" y="5629912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28" name="Line"/>
          <p:cNvSpPr/>
          <p:nvPr/>
        </p:nvSpPr>
        <p:spPr>
          <a:xfrm>
            <a:off x="11195691" y="5629912"/>
            <a:ext cx="54283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29" name="Line"/>
          <p:cNvSpPr/>
          <p:nvPr/>
        </p:nvSpPr>
        <p:spPr>
          <a:xfrm flipV="1">
            <a:off x="7781994" y="517896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30" name="Line"/>
          <p:cNvSpPr/>
          <p:nvPr/>
        </p:nvSpPr>
        <p:spPr>
          <a:xfrm flipV="1">
            <a:off x="8361957" y="518268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31" name="Line"/>
          <p:cNvSpPr/>
          <p:nvPr/>
        </p:nvSpPr>
        <p:spPr>
          <a:xfrm flipV="1">
            <a:off x="8927532" y="5177972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32" name="Line"/>
          <p:cNvSpPr/>
          <p:nvPr/>
        </p:nvSpPr>
        <p:spPr>
          <a:xfrm flipV="1">
            <a:off x="9488337" y="5182689"/>
            <a:ext cx="1" cy="459195"/>
          </a:xfrm>
          <a:prstGeom prst="line">
            <a:avLst/>
          </a:prstGeom>
          <a:ln w="25400">
            <a:solidFill>
              <a:schemeClr val="accent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33" name="Line"/>
          <p:cNvSpPr/>
          <p:nvPr/>
        </p:nvSpPr>
        <p:spPr>
          <a:xfrm flipV="1">
            <a:off x="10048574" y="5183686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34" name="Line"/>
          <p:cNvSpPr/>
          <p:nvPr/>
        </p:nvSpPr>
        <p:spPr>
          <a:xfrm flipV="1">
            <a:off x="10615837" y="5187405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35" name="Line"/>
          <p:cNvSpPr/>
          <p:nvPr/>
        </p:nvSpPr>
        <p:spPr>
          <a:xfrm flipV="1">
            <a:off x="11194112" y="518268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36" name="Line"/>
          <p:cNvSpPr/>
          <p:nvPr/>
        </p:nvSpPr>
        <p:spPr>
          <a:xfrm flipV="1">
            <a:off x="11742216" y="5187405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37" name="Line"/>
          <p:cNvSpPr/>
          <p:nvPr/>
        </p:nvSpPr>
        <p:spPr>
          <a:xfrm>
            <a:off x="7227949" y="652571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38" name="Line"/>
          <p:cNvSpPr/>
          <p:nvPr/>
        </p:nvSpPr>
        <p:spPr>
          <a:xfrm>
            <a:off x="7799449" y="652571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39" name="Line"/>
          <p:cNvSpPr/>
          <p:nvPr/>
        </p:nvSpPr>
        <p:spPr>
          <a:xfrm>
            <a:off x="8370949" y="652571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chemeClr val="accent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40" name="Line"/>
          <p:cNvSpPr/>
          <p:nvPr/>
        </p:nvSpPr>
        <p:spPr>
          <a:xfrm>
            <a:off x="8929749" y="652571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41" name="Line"/>
          <p:cNvSpPr/>
          <p:nvPr/>
        </p:nvSpPr>
        <p:spPr>
          <a:xfrm>
            <a:off x="9505240" y="6525714"/>
            <a:ext cx="550692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42" name="Line"/>
          <p:cNvSpPr/>
          <p:nvPr/>
        </p:nvSpPr>
        <p:spPr>
          <a:xfrm>
            <a:off x="10060049" y="652571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43" name="Line"/>
          <p:cNvSpPr/>
          <p:nvPr/>
        </p:nvSpPr>
        <p:spPr>
          <a:xfrm>
            <a:off x="10631549" y="652571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44" name="Line"/>
          <p:cNvSpPr/>
          <p:nvPr/>
        </p:nvSpPr>
        <p:spPr>
          <a:xfrm>
            <a:off x="11214899" y="6525714"/>
            <a:ext cx="54283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45" name="Line"/>
          <p:cNvSpPr/>
          <p:nvPr/>
        </p:nvSpPr>
        <p:spPr>
          <a:xfrm flipV="1">
            <a:off x="7788502" y="6074771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46" name="Line"/>
          <p:cNvSpPr/>
          <p:nvPr/>
        </p:nvSpPr>
        <p:spPr>
          <a:xfrm flipV="1">
            <a:off x="8368465" y="6078491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47" name="Line"/>
          <p:cNvSpPr/>
          <p:nvPr/>
        </p:nvSpPr>
        <p:spPr>
          <a:xfrm flipV="1">
            <a:off x="8934040" y="6073774"/>
            <a:ext cx="1" cy="459195"/>
          </a:xfrm>
          <a:prstGeom prst="line">
            <a:avLst/>
          </a:prstGeom>
          <a:ln w="25400">
            <a:solidFill>
              <a:schemeClr val="accent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48" name="Line"/>
          <p:cNvSpPr/>
          <p:nvPr/>
        </p:nvSpPr>
        <p:spPr>
          <a:xfrm flipV="1">
            <a:off x="9494845" y="6078491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49" name="Line"/>
          <p:cNvSpPr/>
          <p:nvPr/>
        </p:nvSpPr>
        <p:spPr>
          <a:xfrm flipV="1">
            <a:off x="10055082" y="6079488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50" name="Line"/>
          <p:cNvSpPr/>
          <p:nvPr/>
        </p:nvSpPr>
        <p:spPr>
          <a:xfrm flipV="1">
            <a:off x="10622345" y="6083208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51" name="Line"/>
          <p:cNvSpPr/>
          <p:nvPr/>
        </p:nvSpPr>
        <p:spPr>
          <a:xfrm flipV="1">
            <a:off x="11200620" y="6078491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52" name="Line"/>
          <p:cNvSpPr/>
          <p:nvPr/>
        </p:nvSpPr>
        <p:spPr>
          <a:xfrm>
            <a:off x="7242486" y="7432213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53" name="Line"/>
          <p:cNvSpPr/>
          <p:nvPr/>
        </p:nvSpPr>
        <p:spPr>
          <a:xfrm>
            <a:off x="7813986" y="7432213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chemeClr val="accent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54" name="Line"/>
          <p:cNvSpPr/>
          <p:nvPr/>
        </p:nvSpPr>
        <p:spPr>
          <a:xfrm>
            <a:off x="8385486" y="7432213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55" name="Line"/>
          <p:cNvSpPr/>
          <p:nvPr/>
        </p:nvSpPr>
        <p:spPr>
          <a:xfrm>
            <a:off x="8944286" y="7432213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56" name="Line"/>
          <p:cNvSpPr/>
          <p:nvPr/>
        </p:nvSpPr>
        <p:spPr>
          <a:xfrm>
            <a:off x="9519777" y="7432213"/>
            <a:ext cx="55069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57" name="Line"/>
          <p:cNvSpPr/>
          <p:nvPr/>
        </p:nvSpPr>
        <p:spPr>
          <a:xfrm>
            <a:off x="10074586" y="7432213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58" name="Line"/>
          <p:cNvSpPr/>
          <p:nvPr/>
        </p:nvSpPr>
        <p:spPr>
          <a:xfrm>
            <a:off x="10646086" y="7432213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59" name="Line"/>
          <p:cNvSpPr/>
          <p:nvPr/>
        </p:nvSpPr>
        <p:spPr>
          <a:xfrm>
            <a:off x="11229437" y="7432213"/>
            <a:ext cx="542832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60" name="Line"/>
          <p:cNvSpPr/>
          <p:nvPr/>
        </p:nvSpPr>
        <p:spPr>
          <a:xfrm flipV="1">
            <a:off x="7803040" y="6981270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61" name="Line"/>
          <p:cNvSpPr/>
          <p:nvPr/>
        </p:nvSpPr>
        <p:spPr>
          <a:xfrm flipV="1">
            <a:off x="8370303" y="6984989"/>
            <a:ext cx="1" cy="459195"/>
          </a:xfrm>
          <a:prstGeom prst="line">
            <a:avLst/>
          </a:prstGeom>
          <a:ln w="25400">
            <a:solidFill>
              <a:schemeClr val="accent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62" name="Line"/>
          <p:cNvSpPr/>
          <p:nvPr/>
        </p:nvSpPr>
        <p:spPr>
          <a:xfrm flipV="1">
            <a:off x="8948577" y="6980273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63" name="Line"/>
          <p:cNvSpPr/>
          <p:nvPr/>
        </p:nvSpPr>
        <p:spPr>
          <a:xfrm flipV="1">
            <a:off x="9509382" y="698498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64" name="Line"/>
          <p:cNvSpPr/>
          <p:nvPr/>
        </p:nvSpPr>
        <p:spPr>
          <a:xfrm flipV="1">
            <a:off x="10069619" y="6985986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65" name="Line"/>
          <p:cNvSpPr/>
          <p:nvPr/>
        </p:nvSpPr>
        <p:spPr>
          <a:xfrm flipV="1">
            <a:off x="10636882" y="6989706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66" name="Line"/>
          <p:cNvSpPr/>
          <p:nvPr/>
        </p:nvSpPr>
        <p:spPr>
          <a:xfrm flipV="1">
            <a:off x="11215157" y="698498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67" name="Line"/>
          <p:cNvSpPr/>
          <p:nvPr/>
        </p:nvSpPr>
        <p:spPr>
          <a:xfrm>
            <a:off x="7250841" y="8332289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chemeClr val="accent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68" name="Line"/>
          <p:cNvSpPr/>
          <p:nvPr/>
        </p:nvSpPr>
        <p:spPr>
          <a:xfrm>
            <a:off x="7822341" y="8332289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69" name="Line"/>
          <p:cNvSpPr/>
          <p:nvPr/>
        </p:nvSpPr>
        <p:spPr>
          <a:xfrm>
            <a:off x="8393841" y="8332289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70" name="Line"/>
          <p:cNvSpPr/>
          <p:nvPr/>
        </p:nvSpPr>
        <p:spPr>
          <a:xfrm>
            <a:off x="8952641" y="8332289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71" name="Line"/>
          <p:cNvSpPr/>
          <p:nvPr/>
        </p:nvSpPr>
        <p:spPr>
          <a:xfrm>
            <a:off x="9528132" y="8332289"/>
            <a:ext cx="550692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72" name="Line"/>
          <p:cNvSpPr/>
          <p:nvPr/>
        </p:nvSpPr>
        <p:spPr>
          <a:xfrm>
            <a:off x="10082941" y="8332289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73" name="Line"/>
          <p:cNvSpPr/>
          <p:nvPr/>
        </p:nvSpPr>
        <p:spPr>
          <a:xfrm>
            <a:off x="10654441" y="8332289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74" name="Line"/>
          <p:cNvSpPr/>
          <p:nvPr/>
        </p:nvSpPr>
        <p:spPr>
          <a:xfrm>
            <a:off x="11237791" y="8332289"/>
            <a:ext cx="54283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75" name="Line"/>
          <p:cNvSpPr/>
          <p:nvPr/>
        </p:nvSpPr>
        <p:spPr>
          <a:xfrm flipV="1">
            <a:off x="7811394" y="7881346"/>
            <a:ext cx="1" cy="459195"/>
          </a:xfrm>
          <a:prstGeom prst="line">
            <a:avLst/>
          </a:prstGeom>
          <a:ln w="25400">
            <a:solidFill>
              <a:schemeClr val="accent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76" name="Line"/>
          <p:cNvSpPr/>
          <p:nvPr/>
        </p:nvSpPr>
        <p:spPr>
          <a:xfrm flipV="1">
            <a:off x="8378657" y="7885065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77" name="Line"/>
          <p:cNvSpPr/>
          <p:nvPr/>
        </p:nvSpPr>
        <p:spPr>
          <a:xfrm flipV="1">
            <a:off x="8956932" y="788034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78" name="Line"/>
          <p:cNvSpPr/>
          <p:nvPr/>
        </p:nvSpPr>
        <p:spPr>
          <a:xfrm flipV="1">
            <a:off x="9517736" y="7885065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79" name="Line"/>
          <p:cNvSpPr/>
          <p:nvPr/>
        </p:nvSpPr>
        <p:spPr>
          <a:xfrm flipV="1">
            <a:off x="10077974" y="7886062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80" name="Line"/>
          <p:cNvSpPr/>
          <p:nvPr/>
        </p:nvSpPr>
        <p:spPr>
          <a:xfrm flipV="1">
            <a:off x="10645237" y="7889782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81" name="Line"/>
          <p:cNvSpPr/>
          <p:nvPr/>
        </p:nvSpPr>
        <p:spPr>
          <a:xfrm flipV="1">
            <a:off x="11223511" y="7885065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82" name="Line"/>
          <p:cNvSpPr/>
          <p:nvPr/>
        </p:nvSpPr>
        <p:spPr>
          <a:xfrm>
            <a:off x="11768041" y="56315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83" name="0"/>
          <p:cNvSpPr txBox="1"/>
          <p:nvPr/>
        </p:nvSpPr>
        <p:spPr>
          <a:xfrm>
            <a:off x="12201146" y="528954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684" name="Line"/>
          <p:cNvSpPr/>
          <p:nvPr/>
        </p:nvSpPr>
        <p:spPr>
          <a:xfrm>
            <a:off x="11793866" y="65332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85" name="0"/>
          <p:cNvSpPr txBox="1"/>
          <p:nvPr/>
        </p:nvSpPr>
        <p:spPr>
          <a:xfrm>
            <a:off x="12226971" y="619124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686" name="Line"/>
          <p:cNvSpPr/>
          <p:nvPr/>
        </p:nvSpPr>
        <p:spPr>
          <a:xfrm>
            <a:off x="11793441" y="74349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87" name="0"/>
          <p:cNvSpPr txBox="1"/>
          <p:nvPr/>
        </p:nvSpPr>
        <p:spPr>
          <a:xfrm>
            <a:off x="12226546" y="709294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688" name="Line"/>
          <p:cNvSpPr/>
          <p:nvPr/>
        </p:nvSpPr>
        <p:spPr>
          <a:xfrm>
            <a:off x="11806141" y="834299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89" name="0"/>
          <p:cNvSpPr txBox="1"/>
          <p:nvPr/>
        </p:nvSpPr>
        <p:spPr>
          <a:xfrm>
            <a:off x="12239246" y="80009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690" name="Line"/>
          <p:cNvSpPr/>
          <p:nvPr/>
        </p:nvSpPr>
        <p:spPr>
          <a:xfrm flipV="1">
            <a:off x="11769675" y="608066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91" name="Line"/>
          <p:cNvSpPr/>
          <p:nvPr/>
        </p:nvSpPr>
        <p:spPr>
          <a:xfrm flipV="1">
            <a:off x="11784212" y="6987168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92" name="Line"/>
          <p:cNvSpPr/>
          <p:nvPr/>
        </p:nvSpPr>
        <p:spPr>
          <a:xfrm flipV="1">
            <a:off x="11786508" y="7894684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</p:spTree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Line"/>
          <p:cNvSpPr/>
          <p:nvPr/>
        </p:nvSpPr>
        <p:spPr>
          <a:xfrm flipV="1">
            <a:off x="4933295" y="2459165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95" name="Line"/>
          <p:cNvSpPr/>
          <p:nvPr/>
        </p:nvSpPr>
        <p:spPr>
          <a:xfrm flipV="1">
            <a:off x="5494100" y="2463882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96" name="Line"/>
          <p:cNvSpPr/>
          <p:nvPr/>
        </p:nvSpPr>
        <p:spPr>
          <a:xfrm flipV="1">
            <a:off x="6054337" y="2464879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97" name="Line"/>
          <p:cNvSpPr/>
          <p:nvPr/>
        </p:nvSpPr>
        <p:spPr>
          <a:xfrm flipV="1">
            <a:off x="6621600" y="2468598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98" name="Line"/>
          <p:cNvSpPr/>
          <p:nvPr/>
        </p:nvSpPr>
        <p:spPr>
          <a:xfrm flipV="1">
            <a:off x="7199875" y="2463882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699" name="Line"/>
          <p:cNvSpPr/>
          <p:nvPr/>
        </p:nvSpPr>
        <p:spPr>
          <a:xfrm flipV="1">
            <a:off x="4379576" y="3371527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00" name="Line"/>
          <p:cNvSpPr/>
          <p:nvPr/>
        </p:nvSpPr>
        <p:spPr>
          <a:xfrm flipV="1">
            <a:off x="4945151" y="3366810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01" name="Line"/>
          <p:cNvSpPr/>
          <p:nvPr/>
        </p:nvSpPr>
        <p:spPr>
          <a:xfrm flipV="1">
            <a:off x="5505956" y="3371527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02" name="Line"/>
          <p:cNvSpPr/>
          <p:nvPr/>
        </p:nvSpPr>
        <p:spPr>
          <a:xfrm flipV="1">
            <a:off x="6066193" y="3372523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03" name="Line"/>
          <p:cNvSpPr/>
          <p:nvPr/>
        </p:nvSpPr>
        <p:spPr>
          <a:xfrm flipV="1">
            <a:off x="6633456" y="3376243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04" name="Line"/>
          <p:cNvSpPr/>
          <p:nvPr/>
        </p:nvSpPr>
        <p:spPr>
          <a:xfrm flipV="1">
            <a:off x="7211731" y="3371527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05" name="Line"/>
          <p:cNvSpPr/>
          <p:nvPr/>
        </p:nvSpPr>
        <p:spPr>
          <a:xfrm flipV="1">
            <a:off x="3811353" y="4276664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06" name="Line"/>
          <p:cNvSpPr/>
          <p:nvPr/>
        </p:nvSpPr>
        <p:spPr>
          <a:xfrm flipV="1">
            <a:off x="4391316" y="4280384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07" name="Line"/>
          <p:cNvSpPr/>
          <p:nvPr/>
        </p:nvSpPr>
        <p:spPr>
          <a:xfrm flipV="1">
            <a:off x="4956891" y="4275667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08" name="Line"/>
          <p:cNvSpPr/>
          <p:nvPr/>
        </p:nvSpPr>
        <p:spPr>
          <a:xfrm flipV="1">
            <a:off x="3813463" y="5208037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09" name="Line"/>
          <p:cNvSpPr/>
          <p:nvPr/>
        </p:nvSpPr>
        <p:spPr>
          <a:xfrm flipV="1">
            <a:off x="4393426" y="5211757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10" name="Line"/>
          <p:cNvSpPr/>
          <p:nvPr/>
        </p:nvSpPr>
        <p:spPr>
          <a:xfrm flipV="1">
            <a:off x="4959001" y="5207041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11" name="Line"/>
          <p:cNvSpPr/>
          <p:nvPr/>
        </p:nvSpPr>
        <p:spPr>
          <a:xfrm flipV="1">
            <a:off x="3250480" y="5198614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12" name="Line"/>
          <p:cNvSpPr/>
          <p:nvPr/>
        </p:nvSpPr>
        <p:spPr>
          <a:xfrm flipV="1">
            <a:off x="3813463" y="6095379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13" name="Line"/>
          <p:cNvSpPr/>
          <p:nvPr/>
        </p:nvSpPr>
        <p:spPr>
          <a:xfrm flipV="1">
            <a:off x="4393426" y="6099099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14" name="Line"/>
          <p:cNvSpPr/>
          <p:nvPr/>
        </p:nvSpPr>
        <p:spPr>
          <a:xfrm flipV="1">
            <a:off x="4959001" y="6094382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15" name="Line"/>
          <p:cNvSpPr/>
          <p:nvPr/>
        </p:nvSpPr>
        <p:spPr>
          <a:xfrm flipV="1">
            <a:off x="2672205" y="6090672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16" name="Line"/>
          <p:cNvSpPr/>
          <p:nvPr/>
        </p:nvSpPr>
        <p:spPr>
          <a:xfrm flipV="1">
            <a:off x="3250480" y="6085956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17" name="Line"/>
          <p:cNvSpPr/>
          <p:nvPr/>
        </p:nvSpPr>
        <p:spPr>
          <a:xfrm flipV="1">
            <a:off x="2104521" y="6990200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18" name="Line"/>
          <p:cNvSpPr/>
          <p:nvPr/>
        </p:nvSpPr>
        <p:spPr>
          <a:xfrm flipV="1">
            <a:off x="2670095" y="6985483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19" name="Line"/>
          <p:cNvSpPr/>
          <p:nvPr/>
        </p:nvSpPr>
        <p:spPr>
          <a:xfrm flipV="1">
            <a:off x="1540163" y="7854180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20" name="Line"/>
          <p:cNvSpPr/>
          <p:nvPr/>
        </p:nvSpPr>
        <p:spPr>
          <a:xfrm flipV="1">
            <a:off x="2120126" y="7857900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21" name="Line"/>
          <p:cNvSpPr/>
          <p:nvPr/>
        </p:nvSpPr>
        <p:spPr>
          <a:xfrm flipV="1">
            <a:off x="2685701" y="7853183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63</a:t>
            </a:fld>
            <a:endParaRPr/>
          </a:p>
        </p:txBody>
      </p:sp>
      <p:sp>
        <p:nvSpPr>
          <p:cNvPr id="1723" name="B[7:0]"/>
          <p:cNvSpPr/>
          <p:nvPr/>
        </p:nvSpPr>
        <p:spPr>
          <a:xfrm>
            <a:off x="7538293" y="1568450"/>
            <a:ext cx="4391026" cy="4572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>
                <a:solidFill>
                  <a:srgbClr val="FFFFFF"/>
                </a:solidFill>
              </a:defRPr>
            </a:lvl1pPr>
          </a:lstStyle>
          <a:p>
            <a:r>
              <a:t>B[7:0]</a:t>
            </a:r>
          </a:p>
        </p:txBody>
      </p:sp>
      <p:sp>
        <p:nvSpPr>
          <p:cNvPr id="1724" name="Line"/>
          <p:cNvSpPr/>
          <p:nvPr/>
        </p:nvSpPr>
        <p:spPr>
          <a:xfrm>
            <a:off x="37940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25" name="Line"/>
          <p:cNvSpPr/>
          <p:nvPr/>
        </p:nvSpPr>
        <p:spPr>
          <a:xfrm>
            <a:off x="43655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26" name="Line"/>
          <p:cNvSpPr/>
          <p:nvPr/>
        </p:nvSpPr>
        <p:spPr>
          <a:xfrm>
            <a:off x="49243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27" name="Line"/>
          <p:cNvSpPr/>
          <p:nvPr/>
        </p:nvSpPr>
        <p:spPr>
          <a:xfrm>
            <a:off x="54958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28" name="Line"/>
          <p:cNvSpPr/>
          <p:nvPr/>
        </p:nvSpPr>
        <p:spPr>
          <a:xfrm>
            <a:off x="60546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29" name="Line"/>
          <p:cNvSpPr/>
          <p:nvPr/>
        </p:nvSpPr>
        <p:spPr>
          <a:xfrm>
            <a:off x="66261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30" name="Line"/>
          <p:cNvSpPr/>
          <p:nvPr/>
        </p:nvSpPr>
        <p:spPr>
          <a:xfrm>
            <a:off x="71849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31" name="Line"/>
          <p:cNvSpPr/>
          <p:nvPr/>
        </p:nvSpPr>
        <p:spPr>
          <a:xfrm>
            <a:off x="77564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32" name="Line"/>
          <p:cNvSpPr/>
          <p:nvPr/>
        </p:nvSpPr>
        <p:spPr>
          <a:xfrm>
            <a:off x="83279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33" name="Line"/>
          <p:cNvSpPr/>
          <p:nvPr/>
        </p:nvSpPr>
        <p:spPr>
          <a:xfrm>
            <a:off x="88994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34" name="Line"/>
          <p:cNvSpPr/>
          <p:nvPr/>
        </p:nvSpPr>
        <p:spPr>
          <a:xfrm>
            <a:off x="94582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35" name="Line"/>
          <p:cNvSpPr/>
          <p:nvPr/>
        </p:nvSpPr>
        <p:spPr>
          <a:xfrm>
            <a:off x="100297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36" name="Line"/>
          <p:cNvSpPr/>
          <p:nvPr/>
        </p:nvSpPr>
        <p:spPr>
          <a:xfrm>
            <a:off x="105885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37" name="Line"/>
          <p:cNvSpPr/>
          <p:nvPr/>
        </p:nvSpPr>
        <p:spPr>
          <a:xfrm>
            <a:off x="111600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38" name="Line"/>
          <p:cNvSpPr/>
          <p:nvPr/>
        </p:nvSpPr>
        <p:spPr>
          <a:xfrm>
            <a:off x="9492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39" name="Line"/>
          <p:cNvSpPr/>
          <p:nvPr/>
        </p:nvSpPr>
        <p:spPr>
          <a:xfrm>
            <a:off x="15080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40" name="Line"/>
          <p:cNvSpPr/>
          <p:nvPr/>
        </p:nvSpPr>
        <p:spPr>
          <a:xfrm>
            <a:off x="20795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41" name="Line"/>
          <p:cNvSpPr/>
          <p:nvPr/>
        </p:nvSpPr>
        <p:spPr>
          <a:xfrm>
            <a:off x="26383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42" name="Line"/>
          <p:cNvSpPr/>
          <p:nvPr/>
        </p:nvSpPr>
        <p:spPr>
          <a:xfrm>
            <a:off x="32098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43" name="adjust"/>
          <p:cNvSpPr/>
          <p:nvPr/>
        </p:nvSpPr>
        <p:spPr>
          <a:xfrm>
            <a:off x="5281314" y="24701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744" name="adjust"/>
          <p:cNvSpPr/>
          <p:nvPr/>
        </p:nvSpPr>
        <p:spPr>
          <a:xfrm>
            <a:off x="3008014" y="24701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745" name="adjust"/>
          <p:cNvSpPr/>
          <p:nvPr/>
        </p:nvSpPr>
        <p:spPr>
          <a:xfrm>
            <a:off x="747414" y="24701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746" name="Line"/>
          <p:cNvSpPr/>
          <p:nvPr/>
        </p:nvSpPr>
        <p:spPr>
          <a:xfrm>
            <a:off x="117188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47" name="0"/>
          <p:cNvSpPr txBox="1"/>
          <p:nvPr/>
        </p:nvSpPr>
        <p:spPr>
          <a:xfrm>
            <a:off x="12151980" y="16763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748" name="Line"/>
          <p:cNvSpPr/>
          <p:nvPr/>
        </p:nvSpPr>
        <p:spPr>
          <a:xfrm>
            <a:off x="38199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49" name="Line"/>
          <p:cNvSpPr/>
          <p:nvPr/>
        </p:nvSpPr>
        <p:spPr>
          <a:xfrm>
            <a:off x="43914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50" name="Line"/>
          <p:cNvSpPr/>
          <p:nvPr/>
        </p:nvSpPr>
        <p:spPr>
          <a:xfrm>
            <a:off x="49502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51" name="Line"/>
          <p:cNvSpPr/>
          <p:nvPr/>
        </p:nvSpPr>
        <p:spPr>
          <a:xfrm>
            <a:off x="55217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52" name="Line"/>
          <p:cNvSpPr/>
          <p:nvPr/>
        </p:nvSpPr>
        <p:spPr>
          <a:xfrm>
            <a:off x="60805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53" name="Line"/>
          <p:cNvSpPr/>
          <p:nvPr/>
        </p:nvSpPr>
        <p:spPr>
          <a:xfrm>
            <a:off x="66520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54" name="Line"/>
          <p:cNvSpPr/>
          <p:nvPr/>
        </p:nvSpPr>
        <p:spPr>
          <a:xfrm>
            <a:off x="71981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55" name="Line"/>
          <p:cNvSpPr/>
          <p:nvPr/>
        </p:nvSpPr>
        <p:spPr>
          <a:xfrm>
            <a:off x="77696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56" name="Line"/>
          <p:cNvSpPr/>
          <p:nvPr/>
        </p:nvSpPr>
        <p:spPr>
          <a:xfrm>
            <a:off x="83411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57" name="Line"/>
          <p:cNvSpPr/>
          <p:nvPr/>
        </p:nvSpPr>
        <p:spPr>
          <a:xfrm>
            <a:off x="88999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58" name="Line"/>
          <p:cNvSpPr/>
          <p:nvPr/>
        </p:nvSpPr>
        <p:spPr>
          <a:xfrm>
            <a:off x="9475391" y="2920095"/>
            <a:ext cx="550692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59" name="Line"/>
          <p:cNvSpPr/>
          <p:nvPr/>
        </p:nvSpPr>
        <p:spPr>
          <a:xfrm>
            <a:off x="100302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60" name="Line"/>
          <p:cNvSpPr/>
          <p:nvPr/>
        </p:nvSpPr>
        <p:spPr>
          <a:xfrm>
            <a:off x="106017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61" name="Line"/>
          <p:cNvSpPr/>
          <p:nvPr/>
        </p:nvSpPr>
        <p:spPr>
          <a:xfrm>
            <a:off x="11172350" y="2920095"/>
            <a:ext cx="54283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62" name="Line"/>
          <p:cNvSpPr/>
          <p:nvPr/>
        </p:nvSpPr>
        <p:spPr>
          <a:xfrm>
            <a:off x="9751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63" name="Line"/>
          <p:cNvSpPr/>
          <p:nvPr/>
        </p:nvSpPr>
        <p:spPr>
          <a:xfrm>
            <a:off x="15339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64" name="Line"/>
          <p:cNvSpPr/>
          <p:nvPr/>
        </p:nvSpPr>
        <p:spPr>
          <a:xfrm>
            <a:off x="21054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65" name="Line"/>
          <p:cNvSpPr/>
          <p:nvPr/>
        </p:nvSpPr>
        <p:spPr>
          <a:xfrm>
            <a:off x="26642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66" name="Line"/>
          <p:cNvSpPr/>
          <p:nvPr/>
        </p:nvSpPr>
        <p:spPr>
          <a:xfrm>
            <a:off x="32357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67" name="adjust"/>
          <p:cNvSpPr/>
          <p:nvPr/>
        </p:nvSpPr>
        <p:spPr>
          <a:xfrm>
            <a:off x="5307139" y="33718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768" name="adjust"/>
          <p:cNvSpPr/>
          <p:nvPr/>
        </p:nvSpPr>
        <p:spPr>
          <a:xfrm>
            <a:off x="3033839" y="33718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769" name="adjust"/>
          <p:cNvSpPr/>
          <p:nvPr/>
        </p:nvSpPr>
        <p:spPr>
          <a:xfrm>
            <a:off x="773239" y="33718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770" name="Line"/>
          <p:cNvSpPr/>
          <p:nvPr/>
        </p:nvSpPr>
        <p:spPr>
          <a:xfrm>
            <a:off x="117447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71" name="0"/>
          <p:cNvSpPr txBox="1"/>
          <p:nvPr/>
        </p:nvSpPr>
        <p:spPr>
          <a:xfrm>
            <a:off x="12177805" y="25780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772" name="Line"/>
          <p:cNvSpPr/>
          <p:nvPr/>
        </p:nvSpPr>
        <p:spPr>
          <a:xfrm>
            <a:off x="38194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73" name="Line"/>
          <p:cNvSpPr/>
          <p:nvPr/>
        </p:nvSpPr>
        <p:spPr>
          <a:xfrm>
            <a:off x="43909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74" name="Line"/>
          <p:cNvSpPr/>
          <p:nvPr/>
        </p:nvSpPr>
        <p:spPr>
          <a:xfrm>
            <a:off x="49497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75" name="Line"/>
          <p:cNvSpPr/>
          <p:nvPr/>
        </p:nvSpPr>
        <p:spPr>
          <a:xfrm>
            <a:off x="55212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76" name="Line"/>
          <p:cNvSpPr/>
          <p:nvPr/>
        </p:nvSpPr>
        <p:spPr>
          <a:xfrm>
            <a:off x="60800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77" name="Line"/>
          <p:cNvSpPr/>
          <p:nvPr/>
        </p:nvSpPr>
        <p:spPr>
          <a:xfrm>
            <a:off x="66515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78" name="Line"/>
          <p:cNvSpPr/>
          <p:nvPr/>
        </p:nvSpPr>
        <p:spPr>
          <a:xfrm>
            <a:off x="9746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79" name="Line"/>
          <p:cNvSpPr/>
          <p:nvPr/>
        </p:nvSpPr>
        <p:spPr>
          <a:xfrm>
            <a:off x="15334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80" name="Line"/>
          <p:cNvSpPr/>
          <p:nvPr/>
        </p:nvSpPr>
        <p:spPr>
          <a:xfrm>
            <a:off x="21049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81" name="Line"/>
          <p:cNvSpPr/>
          <p:nvPr/>
        </p:nvSpPr>
        <p:spPr>
          <a:xfrm>
            <a:off x="26637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82" name="Line"/>
          <p:cNvSpPr/>
          <p:nvPr/>
        </p:nvSpPr>
        <p:spPr>
          <a:xfrm>
            <a:off x="32352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83" name="adjust"/>
          <p:cNvSpPr/>
          <p:nvPr/>
        </p:nvSpPr>
        <p:spPr>
          <a:xfrm>
            <a:off x="5306714" y="42735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784" name="adjust"/>
          <p:cNvSpPr/>
          <p:nvPr/>
        </p:nvSpPr>
        <p:spPr>
          <a:xfrm>
            <a:off x="3033414" y="42735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785" name="adjust"/>
          <p:cNvSpPr/>
          <p:nvPr/>
        </p:nvSpPr>
        <p:spPr>
          <a:xfrm>
            <a:off x="772814" y="42735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786" name="Line"/>
          <p:cNvSpPr/>
          <p:nvPr/>
        </p:nvSpPr>
        <p:spPr>
          <a:xfrm>
            <a:off x="117442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87" name="0"/>
          <p:cNvSpPr txBox="1"/>
          <p:nvPr/>
        </p:nvSpPr>
        <p:spPr>
          <a:xfrm>
            <a:off x="12177380" y="34797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788" name="Line"/>
          <p:cNvSpPr/>
          <p:nvPr/>
        </p:nvSpPr>
        <p:spPr>
          <a:xfrm>
            <a:off x="38321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89" name="Line"/>
          <p:cNvSpPr/>
          <p:nvPr/>
        </p:nvSpPr>
        <p:spPr>
          <a:xfrm>
            <a:off x="44036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90" name="Line"/>
          <p:cNvSpPr/>
          <p:nvPr/>
        </p:nvSpPr>
        <p:spPr>
          <a:xfrm>
            <a:off x="49624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91" name="Line"/>
          <p:cNvSpPr/>
          <p:nvPr/>
        </p:nvSpPr>
        <p:spPr>
          <a:xfrm>
            <a:off x="55339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92" name="Line"/>
          <p:cNvSpPr/>
          <p:nvPr/>
        </p:nvSpPr>
        <p:spPr>
          <a:xfrm>
            <a:off x="60927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93" name="Line"/>
          <p:cNvSpPr/>
          <p:nvPr/>
        </p:nvSpPr>
        <p:spPr>
          <a:xfrm>
            <a:off x="66642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94" name="Line"/>
          <p:cNvSpPr/>
          <p:nvPr/>
        </p:nvSpPr>
        <p:spPr>
          <a:xfrm>
            <a:off x="9873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95" name="Line"/>
          <p:cNvSpPr/>
          <p:nvPr/>
        </p:nvSpPr>
        <p:spPr>
          <a:xfrm>
            <a:off x="15461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96" name="Line"/>
          <p:cNvSpPr/>
          <p:nvPr/>
        </p:nvSpPr>
        <p:spPr>
          <a:xfrm>
            <a:off x="21176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97" name="Line"/>
          <p:cNvSpPr/>
          <p:nvPr/>
        </p:nvSpPr>
        <p:spPr>
          <a:xfrm>
            <a:off x="26764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98" name="Line"/>
          <p:cNvSpPr/>
          <p:nvPr/>
        </p:nvSpPr>
        <p:spPr>
          <a:xfrm>
            <a:off x="32479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799" name="adjust"/>
          <p:cNvSpPr/>
          <p:nvPr/>
        </p:nvSpPr>
        <p:spPr>
          <a:xfrm>
            <a:off x="5319414" y="518160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800" name="adjust"/>
          <p:cNvSpPr/>
          <p:nvPr/>
        </p:nvSpPr>
        <p:spPr>
          <a:xfrm>
            <a:off x="3046114" y="518160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801" name="adjust"/>
          <p:cNvSpPr/>
          <p:nvPr/>
        </p:nvSpPr>
        <p:spPr>
          <a:xfrm>
            <a:off x="785514" y="518160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802" name="Line"/>
          <p:cNvSpPr/>
          <p:nvPr/>
        </p:nvSpPr>
        <p:spPr>
          <a:xfrm>
            <a:off x="117569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03" name="0"/>
          <p:cNvSpPr txBox="1"/>
          <p:nvPr/>
        </p:nvSpPr>
        <p:spPr>
          <a:xfrm>
            <a:off x="12190080" y="438784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804" name="Line"/>
          <p:cNvSpPr/>
          <p:nvPr/>
        </p:nvSpPr>
        <p:spPr>
          <a:xfrm>
            <a:off x="38321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05" name="Line"/>
          <p:cNvSpPr/>
          <p:nvPr/>
        </p:nvSpPr>
        <p:spPr>
          <a:xfrm>
            <a:off x="44036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06" name="Line"/>
          <p:cNvSpPr/>
          <p:nvPr/>
        </p:nvSpPr>
        <p:spPr>
          <a:xfrm>
            <a:off x="49624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07" name="Line"/>
          <p:cNvSpPr/>
          <p:nvPr/>
        </p:nvSpPr>
        <p:spPr>
          <a:xfrm>
            <a:off x="55339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08" name="Line"/>
          <p:cNvSpPr/>
          <p:nvPr/>
        </p:nvSpPr>
        <p:spPr>
          <a:xfrm>
            <a:off x="60927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09" name="Line"/>
          <p:cNvSpPr/>
          <p:nvPr/>
        </p:nvSpPr>
        <p:spPr>
          <a:xfrm>
            <a:off x="66642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10" name="Line"/>
          <p:cNvSpPr/>
          <p:nvPr/>
        </p:nvSpPr>
        <p:spPr>
          <a:xfrm>
            <a:off x="9873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11" name="Line"/>
          <p:cNvSpPr/>
          <p:nvPr/>
        </p:nvSpPr>
        <p:spPr>
          <a:xfrm>
            <a:off x="15461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12" name="Line"/>
          <p:cNvSpPr/>
          <p:nvPr/>
        </p:nvSpPr>
        <p:spPr>
          <a:xfrm>
            <a:off x="21176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13" name="Line"/>
          <p:cNvSpPr/>
          <p:nvPr/>
        </p:nvSpPr>
        <p:spPr>
          <a:xfrm>
            <a:off x="26764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14" name="Line"/>
          <p:cNvSpPr/>
          <p:nvPr/>
        </p:nvSpPr>
        <p:spPr>
          <a:xfrm>
            <a:off x="32479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15" name="adjust"/>
          <p:cNvSpPr/>
          <p:nvPr/>
        </p:nvSpPr>
        <p:spPr>
          <a:xfrm>
            <a:off x="5319414" y="60769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816" name="adjust"/>
          <p:cNvSpPr/>
          <p:nvPr/>
        </p:nvSpPr>
        <p:spPr>
          <a:xfrm>
            <a:off x="3046114" y="60769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817" name="adjust"/>
          <p:cNvSpPr/>
          <p:nvPr/>
        </p:nvSpPr>
        <p:spPr>
          <a:xfrm>
            <a:off x="785514" y="60769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818" name="Line"/>
          <p:cNvSpPr/>
          <p:nvPr/>
        </p:nvSpPr>
        <p:spPr>
          <a:xfrm>
            <a:off x="38194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19" name="Line"/>
          <p:cNvSpPr/>
          <p:nvPr/>
        </p:nvSpPr>
        <p:spPr>
          <a:xfrm>
            <a:off x="43909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20" name="Line"/>
          <p:cNvSpPr/>
          <p:nvPr/>
        </p:nvSpPr>
        <p:spPr>
          <a:xfrm>
            <a:off x="49497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21" name="Line"/>
          <p:cNvSpPr/>
          <p:nvPr/>
        </p:nvSpPr>
        <p:spPr>
          <a:xfrm>
            <a:off x="55212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22" name="Line"/>
          <p:cNvSpPr/>
          <p:nvPr/>
        </p:nvSpPr>
        <p:spPr>
          <a:xfrm>
            <a:off x="60800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23" name="Line"/>
          <p:cNvSpPr/>
          <p:nvPr/>
        </p:nvSpPr>
        <p:spPr>
          <a:xfrm>
            <a:off x="66515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24" name="Line"/>
          <p:cNvSpPr/>
          <p:nvPr/>
        </p:nvSpPr>
        <p:spPr>
          <a:xfrm>
            <a:off x="9746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25" name="Line"/>
          <p:cNvSpPr/>
          <p:nvPr/>
        </p:nvSpPr>
        <p:spPr>
          <a:xfrm>
            <a:off x="15334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26" name="Line"/>
          <p:cNvSpPr/>
          <p:nvPr/>
        </p:nvSpPr>
        <p:spPr>
          <a:xfrm>
            <a:off x="21049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27" name="Line"/>
          <p:cNvSpPr/>
          <p:nvPr/>
        </p:nvSpPr>
        <p:spPr>
          <a:xfrm>
            <a:off x="26637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28" name="Line"/>
          <p:cNvSpPr/>
          <p:nvPr/>
        </p:nvSpPr>
        <p:spPr>
          <a:xfrm>
            <a:off x="32352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29" name="adjust"/>
          <p:cNvSpPr/>
          <p:nvPr/>
        </p:nvSpPr>
        <p:spPr>
          <a:xfrm>
            <a:off x="5306714" y="697230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830" name="adjust"/>
          <p:cNvSpPr/>
          <p:nvPr/>
        </p:nvSpPr>
        <p:spPr>
          <a:xfrm>
            <a:off x="3033414" y="697230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831" name="adjust"/>
          <p:cNvSpPr/>
          <p:nvPr/>
        </p:nvSpPr>
        <p:spPr>
          <a:xfrm>
            <a:off x="772814" y="697230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832" name="0"/>
          <p:cNvSpPr txBox="1"/>
          <p:nvPr/>
        </p:nvSpPr>
        <p:spPr>
          <a:xfrm>
            <a:off x="7045942" y="1663699"/>
            <a:ext cx="269689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833" name="0"/>
          <p:cNvSpPr txBox="1"/>
          <p:nvPr/>
        </p:nvSpPr>
        <p:spPr>
          <a:xfrm>
            <a:off x="6482922" y="16636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834" name="0"/>
          <p:cNvSpPr txBox="1"/>
          <p:nvPr/>
        </p:nvSpPr>
        <p:spPr>
          <a:xfrm>
            <a:off x="5928443" y="16636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835" name="0"/>
          <p:cNvSpPr txBox="1"/>
          <p:nvPr/>
        </p:nvSpPr>
        <p:spPr>
          <a:xfrm>
            <a:off x="5356842" y="1663699"/>
            <a:ext cx="269689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836" name="0"/>
          <p:cNvSpPr txBox="1"/>
          <p:nvPr/>
        </p:nvSpPr>
        <p:spPr>
          <a:xfrm>
            <a:off x="4787472" y="16636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837" name="0"/>
          <p:cNvSpPr txBox="1"/>
          <p:nvPr/>
        </p:nvSpPr>
        <p:spPr>
          <a:xfrm>
            <a:off x="4224452" y="16636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838" name="0"/>
          <p:cNvSpPr txBox="1"/>
          <p:nvPr/>
        </p:nvSpPr>
        <p:spPr>
          <a:xfrm>
            <a:off x="3669974" y="16636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839" name="0"/>
          <p:cNvSpPr txBox="1"/>
          <p:nvPr/>
        </p:nvSpPr>
        <p:spPr>
          <a:xfrm>
            <a:off x="3072972" y="16636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840" name="0"/>
          <p:cNvSpPr txBox="1"/>
          <p:nvPr/>
        </p:nvSpPr>
        <p:spPr>
          <a:xfrm>
            <a:off x="2509952" y="16636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841" name="0"/>
          <p:cNvSpPr txBox="1"/>
          <p:nvPr/>
        </p:nvSpPr>
        <p:spPr>
          <a:xfrm>
            <a:off x="1955474" y="16636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842" name="0"/>
          <p:cNvSpPr txBox="1"/>
          <p:nvPr/>
        </p:nvSpPr>
        <p:spPr>
          <a:xfrm>
            <a:off x="1383872" y="16636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843" name="Line"/>
          <p:cNvSpPr/>
          <p:nvPr/>
        </p:nvSpPr>
        <p:spPr>
          <a:xfrm>
            <a:off x="38336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44" name="Line"/>
          <p:cNvSpPr/>
          <p:nvPr/>
        </p:nvSpPr>
        <p:spPr>
          <a:xfrm>
            <a:off x="44051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45" name="Line"/>
          <p:cNvSpPr/>
          <p:nvPr/>
        </p:nvSpPr>
        <p:spPr>
          <a:xfrm>
            <a:off x="49639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46" name="Line"/>
          <p:cNvSpPr/>
          <p:nvPr/>
        </p:nvSpPr>
        <p:spPr>
          <a:xfrm>
            <a:off x="55354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47" name="Line"/>
          <p:cNvSpPr/>
          <p:nvPr/>
        </p:nvSpPr>
        <p:spPr>
          <a:xfrm>
            <a:off x="60942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48" name="Line"/>
          <p:cNvSpPr/>
          <p:nvPr/>
        </p:nvSpPr>
        <p:spPr>
          <a:xfrm>
            <a:off x="66657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49" name="Line"/>
          <p:cNvSpPr/>
          <p:nvPr/>
        </p:nvSpPr>
        <p:spPr>
          <a:xfrm>
            <a:off x="9888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50" name="Line"/>
          <p:cNvSpPr/>
          <p:nvPr/>
        </p:nvSpPr>
        <p:spPr>
          <a:xfrm>
            <a:off x="15476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51" name="Line"/>
          <p:cNvSpPr/>
          <p:nvPr/>
        </p:nvSpPr>
        <p:spPr>
          <a:xfrm>
            <a:off x="21191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52" name="Line"/>
          <p:cNvSpPr/>
          <p:nvPr/>
        </p:nvSpPr>
        <p:spPr>
          <a:xfrm>
            <a:off x="26779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53" name="Line"/>
          <p:cNvSpPr/>
          <p:nvPr/>
        </p:nvSpPr>
        <p:spPr>
          <a:xfrm>
            <a:off x="32494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54" name="adjust"/>
          <p:cNvSpPr/>
          <p:nvPr/>
        </p:nvSpPr>
        <p:spPr>
          <a:xfrm>
            <a:off x="5320906" y="7880350"/>
            <a:ext cx="2114104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855" name="adjust"/>
          <p:cNvSpPr/>
          <p:nvPr/>
        </p:nvSpPr>
        <p:spPr>
          <a:xfrm>
            <a:off x="3047606" y="7880350"/>
            <a:ext cx="2114104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856" name="adjust"/>
          <p:cNvSpPr/>
          <p:nvPr/>
        </p:nvSpPr>
        <p:spPr>
          <a:xfrm>
            <a:off x="787006" y="7880350"/>
            <a:ext cx="2114104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1857" name="Line"/>
          <p:cNvSpPr/>
          <p:nvPr/>
        </p:nvSpPr>
        <p:spPr>
          <a:xfrm>
            <a:off x="32522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58" name="Line"/>
          <p:cNvSpPr/>
          <p:nvPr/>
        </p:nvSpPr>
        <p:spPr>
          <a:xfrm>
            <a:off x="38237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59" name="Line"/>
          <p:cNvSpPr/>
          <p:nvPr/>
        </p:nvSpPr>
        <p:spPr>
          <a:xfrm>
            <a:off x="43825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60" name="Line"/>
          <p:cNvSpPr/>
          <p:nvPr/>
        </p:nvSpPr>
        <p:spPr>
          <a:xfrm>
            <a:off x="49540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61" name="Line"/>
          <p:cNvSpPr/>
          <p:nvPr/>
        </p:nvSpPr>
        <p:spPr>
          <a:xfrm>
            <a:off x="55128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62" name="Line"/>
          <p:cNvSpPr/>
          <p:nvPr/>
        </p:nvSpPr>
        <p:spPr>
          <a:xfrm>
            <a:off x="60843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63" name="Line"/>
          <p:cNvSpPr/>
          <p:nvPr/>
        </p:nvSpPr>
        <p:spPr>
          <a:xfrm>
            <a:off x="6643197" y="8319404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64" name="Line"/>
          <p:cNvSpPr/>
          <p:nvPr/>
        </p:nvSpPr>
        <p:spPr>
          <a:xfrm>
            <a:off x="9662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65" name="Line"/>
          <p:cNvSpPr/>
          <p:nvPr/>
        </p:nvSpPr>
        <p:spPr>
          <a:xfrm>
            <a:off x="15377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66" name="Line"/>
          <p:cNvSpPr/>
          <p:nvPr/>
        </p:nvSpPr>
        <p:spPr>
          <a:xfrm>
            <a:off x="20965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67" name="Line"/>
          <p:cNvSpPr/>
          <p:nvPr/>
        </p:nvSpPr>
        <p:spPr>
          <a:xfrm>
            <a:off x="26680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68" name="BCD[0]"/>
          <p:cNvSpPr/>
          <p:nvPr/>
        </p:nvSpPr>
        <p:spPr>
          <a:xfrm>
            <a:off x="5325764" y="8775700"/>
            <a:ext cx="2114105" cy="4572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>
                <a:solidFill>
                  <a:srgbClr val="FFFFFF"/>
                </a:solidFill>
              </a:defRPr>
            </a:lvl1pPr>
          </a:lstStyle>
          <a:p>
            <a:r>
              <a:t>BCD[0]</a:t>
            </a:r>
          </a:p>
        </p:txBody>
      </p:sp>
      <p:sp>
        <p:nvSpPr>
          <p:cNvPr id="1869" name="BCD[1]"/>
          <p:cNvSpPr/>
          <p:nvPr/>
        </p:nvSpPr>
        <p:spPr>
          <a:xfrm>
            <a:off x="3052464" y="8775700"/>
            <a:ext cx="2114105" cy="4572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>
                <a:solidFill>
                  <a:srgbClr val="FFFFFF"/>
                </a:solidFill>
              </a:defRPr>
            </a:lvl1pPr>
          </a:lstStyle>
          <a:p>
            <a:r>
              <a:t>BCD[1]</a:t>
            </a:r>
          </a:p>
        </p:txBody>
      </p:sp>
      <p:sp>
        <p:nvSpPr>
          <p:cNvPr id="1870" name="BCD[2]"/>
          <p:cNvSpPr/>
          <p:nvPr/>
        </p:nvSpPr>
        <p:spPr>
          <a:xfrm>
            <a:off x="791864" y="8775700"/>
            <a:ext cx="2114105" cy="4572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>
                <a:solidFill>
                  <a:srgbClr val="FFFFFF"/>
                </a:solidFill>
              </a:defRPr>
            </a:lvl1pPr>
          </a:lstStyle>
          <a:p>
            <a:r>
              <a:t>BCD[2]</a:t>
            </a:r>
          </a:p>
        </p:txBody>
      </p:sp>
      <p:sp>
        <p:nvSpPr>
          <p:cNvPr id="1871" name="Line"/>
          <p:cNvSpPr/>
          <p:nvPr/>
        </p:nvSpPr>
        <p:spPr>
          <a:xfrm flipV="1">
            <a:off x="7758653" y="2469153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72" name="Line"/>
          <p:cNvSpPr/>
          <p:nvPr/>
        </p:nvSpPr>
        <p:spPr>
          <a:xfrm flipV="1">
            <a:off x="8338616" y="2472872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73" name="Line"/>
          <p:cNvSpPr/>
          <p:nvPr/>
        </p:nvSpPr>
        <p:spPr>
          <a:xfrm flipV="1">
            <a:off x="8904191" y="2468156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74" name="Line"/>
          <p:cNvSpPr/>
          <p:nvPr/>
        </p:nvSpPr>
        <p:spPr>
          <a:xfrm flipV="1">
            <a:off x="9464995" y="2472872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75" name="Line"/>
          <p:cNvSpPr/>
          <p:nvPr/>
        </p:nvSpPr>
        <p:spPr>
          <a:xfrm flipV="1">
            <a:off x="10025233" y="247386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76" name="Line"/>
          <p:cNvSpPr/>
          <p:nvPr/>
        </p:nvSpPr>
        <p:spPr>
          <a:xfrm flipV="1">
            <a:off x="10592496" y="247758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77" name="Line"/>
          <p:cNvSpPr/>
          <p:nvPr/>
        </p:nvSpPr>
        <p:spPr>
          <a:xfrm flipV="1">
            <a:off x="11170770" y="2472872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78" name="Line"/>
          <p:cNvSpPr/>
          <p:nvPr/>
        </p:nvSpPr>
        <p:spPr>
          <a:xfrm flipV="1">
            <a:off x="11718875" y="247758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79" name="Line"/>
          <p:cNvSpPr/>
          <p:nvPr/>
        </p:nvSpPr>
        <p:spPr>
          <a:xfrm>
            <a:off x="7204608" y="3815898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80" name="Line"/>
          <p:cNvSpPr/>
          <p:nvPr/>
        </p:nvSpPr>
        <p:spPr>
          <a:xfrm>
            <a:off x="7776108" y="3815898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81" name="Line"/>
          <p:cNvSpPr/>
          <p:nvPr/>
        </p:nvSpPr>
        <p:spPr>
          <a:xfrm>
            <a:off x="8347608" y="3815898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82" name="Line"/>
          <p:cNvSpPr/>
          <p:nvPr/>
        </p:nvSpPr>
        <p:spPr>
          <a:xfrm>
            <a:off x="8906408" y="3815898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83" name="Line"/>
          <p:cNvSpPr/>
          <p:nvPr/>
        </p:nvSpPr>
        <p:spPr>
          <a:xfrm>
            <a:off x="9481899" y="3815898"/>
            <a:ext cx="550692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84" name="Line"/>
          <p:cNvSpPr/>
          <p:nvPr/>
        </p:nvSpPr>
        <p:spPr>
          <a:xfrm>
            <a:off x="10036708" y="3815898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85" name="Line"/>
          <p:cNvSpPr/>
          <p:nvPr/>
        </p:nvSpPr>
        <p:spPr>
          <a:xfrm>
            <a:off x="10608208" y="3815898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86" name="Line"/>
          <p:cNvSpPr/>
          <p:nvPr/>
        </p:nvSpPr>
        <p:spPr>
          <a:xfrm>
            <a:off x="11178858" y="3815898"/>
            <a:ext cx="54283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87" name="Line"/>
          <p:cNvSpPr/>
          <p:nvPr/>
        </p:nvSpPr>
        <p:spPr>
          <a:xfrm flipV="1">
            <a:off x="7765161" y="3364955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88" name="Line"/>
          <p:cNvSpPr/>
          <p:nvPr/>
        </p:nvSpPr>
        <p:spPr>
          <a:xfrm flipV="1">
            <a:off x="8345124" y="3368674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89" name="Line"/>
          <p:cNvSpPr/>
          <p:nvPr/>
        </p:nvSpPr>
        <p:spPr>
          <a:xfrm flipV="1">
            <a:off x="8910699" y="3363958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90" name="Line"/>
          <p:cNvSpPr/>
          <p:nvPr/>
        </p:nvSpPr>
        <p:spPr>
          <a:xfrm flipV="1">
            <a:off x="9471504" y="3368674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91" name="Line"/>
          <p:cNvSpPr/>
          <p:nvPr/>
        </p:nvSpPr>
        <p:spPr>
          <a:xfrm flipV="1">
            <a:off x="10031741" y="3369671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92" name="Line"/>
          <p:cNvSpPr/>
          <p:nvPr/>
        </p:nvSpPr>
        <p:spPr>
          <a:xfrm flipV="1">
            <a:off x="10599004" y="3373391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93" name="Line"/>
          <p:cNvSpPr/>
          <p:nvPr/>
        </p:nvSpPr>
        <p:spPr>
          <a:xfrm flipV="1">
            <a:off x="11177279" y="3368674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94" name="Line"/>
          <p:cNvSpPr/>
          <p:nvPr/>
        </p:nvSpPr>
        <p:spPr>
          <a:xfrm flipV="1">
            <a:off x="11725383" y="3373391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95" name="Line"/>
          <p:cNvSpPr/>
          <p:nvPr/>
        </p:nvSpPr>
        <p:spPr>
          <a:xfrm>
            <a:off x="7219145" y="472239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96" name="Line"/>
          <p:cNvSpPr/>
          <p:nvPr/>
        </p:nvSpPr>
        <p:spPr>
          <a:xfrm>
            <a:off x="7790645" y="472239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97" name="Line"/>
          <p:cNvSpPr/>
          <p:nvPr/>
        </p:nvSpPr>
        <p:spPr>
          <a:xfrm>
            <a:off x="8362145" y="472239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98" name="Line"/>
          <p:cNvSpPr/>
          <p:nvPr/>
        </p:nvSpPr>
        <p:spPr>
          <a:xfrm>
            <a:off x="8920945" y="472239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899" name="Line"/>
          <p:cNvSpPr/>
          <p:nvPr/>
        </p:nvSpPr>
        <p:spPr>
          <a:xfrm>
            <a:off x="9496436" y="4722396"/>
            <a:ext cx="550692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00" name="Line"/>
          <p:cNvSpPr/>
          <p:nvPr/>
        </p:nvSpPr>
        <p:spPr>
          <a:xfrm>
            <a:off x="10051245" y="472239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01" name="Line"/>
          <p:cNvSpPr/>
          <p:nvPr/>
        </p:nvSpPr>
        <p:spPr>
          <a:xfrm>
            <a:off x="10622745" y="472239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02" name="Line"/>
          <p:cNvSpPr/>
          <p:nvPr/>
        </p:nvSpPr>
        <p:spPr>
          <a:xfrm>
            <a:off x="11193395" y="4722396"/>
            <a:ext cx="54283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03" name="Line"/>
          <p:cNvSpPr/>
          <p:nvPr/>
        </p:nvSpPr>
        <p:spPr>
          <a:xfrm flipV="1">
            <a:off x="7779698" y="4271453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04" name="Line"/>
          <p:cNvSpPr/>
          <p:nvPr/>
        </p:nvSpPr>
        <p:spPr>
          <a:xfrm flipV="1">
            <a:off x="8346961" y="4275173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05" name="Line"/>
          <p:cNvSpPr/>
          <p:nvPr/>
        </p:nvSpPr>
        <p:spPr>
          <a:xfrm flipV="1">
            <a:off x="8925236" y="4270457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06" name="Line"/>
          <p:cNvSpPr/>
          <p:nvPr/>
        </p:nvSpPr>
        <p:spPr>
          <a:xfrm flipV="1">
            <a:off x="9486041" y="4275173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07" name="Line"/>
          <p:cNvSpPr/>
          <p:nvPr/>
        </p:nvSpPr>
        <p:spPr>
          <a:xfrm flipV="1">
            <a:off x="10046278" y="4276170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08" name="Line"/>
          <p:cNvSpPr/>
          <p:nvPr/>
        </p:nvSpPr>
        <p:spPr>
          <a:xfrm flipV="1">
            <a:off x="10613541" y="4279890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09" name="Line"/>
          <p:cNvSpPr/>
          <p:nvPr/>
        </p:nvSpPr>
        <p:spPr>
          <a:xfrm flipV="1">
            <a:off x="11191816" y="4275173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10" name="Line"/>
          <p:cNvSpPr/>
          <p:nvPr/>
        </p:nvSpPr>
        <p:spPr>
          <a:xfrm flipV="1">
            <a:off x="11739920" y="4279890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11" name="Line"/>
          <p:cNvSpPr/>
          <p:nvPr/>
        </p:nvSpPr>
        <p:spPr>
          <a:xfrm>
            <a:off x="7221441" y="5629912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12" name="Line"/>
          <p:cNvSpPr/>
          <p:nvPr/>
        </p:nvSpPr>
        <p:spPr>
          <a:xfrm>
            <a:off x="7792941" y="5629912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13" name="Line"/>
          <p:cNvSpPr/>
          <p:nvPr/>
        </p:nvSpPr>
        <p:spPr>
          <a:xfrm>
            <a:off x="8364441" y="5629912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14" name="Line"/>
          <p:cNvSpPr/>
          <p:nvPr/>
        </p:nvSpPr>
        <p:spPr>
          <a:xfrm>
            <a:off x="8923241" y="5629912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15" name="Line"/>
          <p:cNvSpPr/>
          <p:nvPr/>
        </p:nvSpPr>
        <p:spPr>
          <a:xfrm>
            <a:off x="9498732" y="5629912"/>
            <a:ext cx="550692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16" name="Line"/>
          <p:cNvSpPr/>
          <p:nvPr/>
        </p:nvSpPr>
        <p:spPr>
          <a:xfrm>
            <a:off x="10053541" y="5629912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17" name="Line"/>
          <p:cNvSpPr/>
          <p:nvPr/>
        </p:nvSpPr>
        <p:spPr>
          <a:xfrm>
            <a:off x="10625041" y="5629912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18" name="Line"/>
          <p:cNvSpPr/>
          <p:nvPr/>
        </p:nvSpPr>
        <p:spPr>
          <a:xfrm>
            <a:off x="11195691" y="5629912"/>
            <a:ext cx="54283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19" name="Line"/>
          <p:cNvSpPr/>
          <p:nvPr/>
        </p:nvSpPr>
        <p:spPr>
          <a:xfrm flipV="1">
            <a:off x="7781994" y="517896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20" name="Line"/>
          <p:cNvSpPr/>
          <p:nvPr/>
        </p:nvSpPr>
        <p:spPr>
          <a:xfrm flipV="1">
            <a:off x="8361957" y="518268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21" name="Line"/>
          <p:cNvSpPr/>
          <p:nvPr/>
        </p:nvSpPr>
        <p:spPr>
          <a:xfrm flipV="1">
            <a:off x="8927532" y="5177972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22" name="Line"/>
          <p:cNvSpPr/>
          <p:nvPr/>
        </p:nvSpPr>
        <p:spPr>
          <a:xfrm flipV="1">
            <a:off x="9488337" y="518268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23" name="Line"/>
          <p:cNvSpPr/>
          <p:nvPr/>
        </p:nvSpPr>
        <p:spPr>
          <a:xfrm flipV="1">
            <a:off x="10048574" y="5183686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24" name="Line"/>
          <p:cNvSpPr/>
          <p:nvPr/>
        </p:nvSpPr>
        <p:spPr>
          <a:xfrm flipV="1">
            <a:off x="10615837" y="5187405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25" name="Line"/>
          <p:cNvSpPr/>
          <p:nvPr/>
        </p:nvSpPr>
        <p:spPr>
          <a:xfrm flipV="1">
            <a:off x="11194112" y="518268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26" name="Line"/>
          <p:cNvSpPr/>
          <p:nvPr/>
        </p:nvSpPr>
        <p:spPr>
          <a:xfrm flipV="1">
            <a:off x="11742216" y="5187405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27" name="Line"/>
          <p:cNvSpPr/>
          <p:nvPr/>
        </p:nvSpPr>
        <p:spPr>
          <a:xfrm>
            <a:off x="7227949" y="652571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28" name="Line"/>
          <p:cNvSpPr/>
          <p:nvPr/>
        </p:nvSpPr>
        <p:spPr>
          <a:xfrm>
            <a:off x="7799449" y="652571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29" name="Line"/>
          <p:cNvSpPr/>
          <p:nvPr/>
        </p:nvSpPr>
        <p:spPr>
          <a:xfrm>
            <a:off x="8370949" y="652571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30" name="Line"/>
          <p:cNvSpPr/>
          <p:nvPr/>
        </p:nvSpPr>
        <p:spPr>
          <a:xfrm>
            <a:off x="8929749" y="652571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31" name="Line"/>
          <p:cNvSpPr/>
          <p:nvPr/>
        </p:nvSpPr>
        <p:spPr>
          <a:xfrm>
            <a:off x="9505240" y="6525714"/>
            <a:ext cx="550692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32" name="Line"/>
          <p:cNvSpPr/>
          <p:nvPr/>
        </p:nvSpPr>
        <p:spPr>
          <a:xfrm>
            <a:off x="10060049" y="652571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33" name="Line"/>
          <p:cNvSpPr/>
          <p:nvPr/>
        </p:nvSpPr>
        <p:spPr>
          <a:xfrm>
            <a:off x="10631549" y="652571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34" name="Line"/>
          <p:cNvSpPr/>
          <p:nvPr/>
        </p:nvSpPr>
        <p:spPr>
          <a:xfrm>
            <a:off x="11214899" y="6525714"/>
            <a:ext cx="54283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35" name="Line"/>
          <p:cNvSpPr/>
          <p:nvPr/>
        </p:nvSpPr>
        <p:spPr>
          <a:xfrm flipV="1">
            <a:off x="7788502" y="6074771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36" name="Line"/>
          <p:cNvSpPr/>
          <p:nvPr/>
        </p:nvSpPr>
        <p:spPr>
          <a:xfrm flipV="1">
            <a:off x="8368465" y="6078491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37" name="Line"/>
          <p:cNvSpPr/>
          <p:nvPr/>
        </p:nvSpPr>
        <p:spPr>
          <a:xfrm flipV="1">
            <a:off x="8934040" y="6073774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38" name="Line"/>
          <p:cNvSpPr/>
          <p:nvPr/>
        </p:nvSpPr>
        <p:spPr>
          <a:xfrm flipV="1">
            <a:off x="9494845" y="6078491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39" name="Line"/>
          <p:cNvSpPr/>
          <p:nvPr/>
        </p:nvSpPr>
        <p:spPr>
          <a:xfrm flipV="1">
            <a:off x="10055082" y="6079488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40" name="Line"/>
          <p:cNvSpPr/>
          <p:nvPr/>
        </p:nvSpPr>
        <p:spPr>
          <a:xfrm flipV="1">
            <a:off x="10622345" y="6083208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41" name="Line"/>
          <p:cNvSpPr/>
          <p:nvPr/>
        </p:nvSpPr>
        <p:spPr>
          <a:xfrm flipV="1">
            <a:off x="11200620" y="6078491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42" name="Line"/>
          <p:cNvSpPr/>
          <p:nvPr/>
        </p:nvSpPr>
        <p:spPr>
          <a:xfrm>
            <a:off x="7242486" y="7432213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43" name="Line"/>
          <p:cNvSpPr/>
          <p:nvPr/>
        </p:nvSpPr>
        <p:spPr>
          <a:xfrm>
            <a:off x="7813986" y="7432213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44" name="Line"/>
          <p:cNvSpPr/>
          <p:nvPr/>
        </p:nvSpPr>
        <p:spPr>
          <a:xfrm>
            <a:off x="8385486" y="7432213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45" name="Line"/>
          <p:cNvSpPr/>
          <p:nvPr/>
        </p:nvSpPr>
        <p:spPr>
          <a:xfrm>
            <a:off x="8944286" y="7432213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46" name="Line"/>
          <p:cNvSpPr/>
          <p:nvPr/>
        </p:nvSpPr>
        <p:spPr>
          <a:xfrm>
            <a:off x="9519777" y="7432213"/>
            <a:ext cx="55069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47" name="Line"/>
          <p:cNvSpPr/>
          <p:nvPr/>
        </p:nvSpPr>
        <p:spPr>
          <a:xfrm>
            <a:off x="10074586" y="7432213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48" name="Line"/>
          <p:cNvSpPr/>
          <p:nvPr/>
        </p:nvSpPr>
        <p:spPr>
          <a:xfrm>
            <a:off x="10646086" y="7432213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49" name="Line"/>
          <p:cNvSpPr/>
          <p:nvPr/>
        </p:nvSpPr>
        <p:spPr>
          <a:xfrm>
            <a:off x="11229437" y="7432213"/>
            <a:ext cx="542832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50" name="Line"/>
          <p:cNvSpPr/>
          <p:nvPr/>
        </p:nvSpPr>
        <p:spPr>
          <a:xfrm flipV="1">
            <a:off x="7803040" y="6981270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51" name="Line"/>
          <p:cNvSpPr/>
          <p:nvPr/>
        </p:nvSpPr>
        <p:spPr>
          <a:xfrm flipV="1">
            <a:off x="8370303" y="698498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52" name="Line"/>
          <p:cNvSpPr/>
          <p:nvPr/>
        </p:nvSpPr>
        <p:spPr>
          <a:xfrm flipV="1">
            <a:off x="8948577" y="6980273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53" name="Line"/>
          <p:cNvSpPr/>
          <p:nvPr/>
        </p:nvSpPr>
        <p:spPr>
          <a:xfrm flipV="1">
            <a:off x="9509382" y="698498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54" name="Line"/>
          <p:cNvSpPr/>
          <p:nvPr/>
        </p:nvSpPr>
        <p:spPr>
          <a:xfrm flipV="1">
            <a:off x="10069619" y="6985986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55" name="Line"/>
          <p:cNvSpPr/>
          <p:nvPr/>
        </p:nvSpPr>
        <p:spPr>
          <a:xfrm flipV="1">
            <a:off x="10636882" y="6989706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56" name="Line"/>
          <p:cNvSpPr/>
          <p:nvPr/>
        </p:nvSpPr>
        <p:spPr>
          <a:xfrm flipV="1">
            <a:off x="11215157" y="698498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57" name="Line"/>
          <p:cNvSpPr/>
          <p:nvPr/>
        </p:nvSpPr>
        <p:spPr>
          <a:xfrm>
            <a:off x="7250841" y="8332289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58" name="Line"/>
          <p:cNvSpPr/>
          <p:nvPr/>
        </p:nvSpPr>
        <p:spPr>
          <a:xfrm>
            <a:off x="7822341" y="8332289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59" name="Line"/>
          <p:cNvSpPr/>
          <p:nvPr/>
        </p:nvSpPr>
        <p:spPr>
          <a:xfrm>
            <a:off x="8393841" y="8332289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60" name="Line"/>
          <p:cNvSpPr/>
          <p:nvPr/>
        </p:nvSpPr>
        <p:spPr>
          <a:xfrm>
            <a:off x="8952641" y="8332289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61" name="Line"/>
          <p:cNvSpPr/>
          <p:nvPr/>
        </p:nvSpPr>
        <p:spPr>
          <a:xfrm>
            <a:off x="9528132" y="8332289"/>
            <a:ext cx="550692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62" name="Line"/>
          <p:cNvSpPr/>
          <p:nvPr/>
        </p:nvSpPr>
        <p:spPr>
          <a:xfrm>
            <a:off x="10082941" y="8332289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63" name="Line"/>
          <p:cNvSpPr/>
          <p:nvPr/>
        </p:nvSpPr>
        <p:spPr>
          <a:xfrm>
            <a:off x="10654441" y="8332289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64" name="Line"/>
          <p:cNvSpPr/>
          <p:nvPr/>
        </p:nvSpPr>
        <p:spPr>
          <a:xfrm>
            <a:off x="11237791" y="8332289"/>
            <a:ext cx="54283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65" name="Line"/>
          <p:cNvSpPr/>
          <p:nvPr/>
        </p:nvSpPr>
        <p:spPr>
          <a:xfrm flipV="1">
            <a:off x="7811394" y="7881346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66" name="Line"/>
          <p:cNvSpPr/>
          <p:nvPr/>
        </p:nvSpPr>
        <p:spPr>
          <a:xfrm flipV="1">
            <a:off x="8378657" y="7885065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67" name="Line"/>
          <p:cNvSpPr/>
          <p:nvPr/>
        </p:nvSpPr>
        <p:spPr>
          <a:xfrm flipV="1">
            <a:off x="8956932" y="788034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68" name="Line"/>
          <p:cNvSpPr/>
          <p:nvPr/>
        </p:nvSpPr>
        <p:spPr>
          <a:xfrm flipV="1">
            <a:off x="9517736" y="7885065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69" name="Line"/>
          <p:cNvSpPr/>
          <p:nvPr/>
        </p:nvSpPr>
        <p:spPr>
          <a:xfrm flipV="1">
            <a:off x="10077974" y="7886062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70" name="Line"/>
          <p:cNvSpPr/>
          <p:nvPr/>
        </p:nvSpPr>
        <p:spPr>
          <a:xfrm flipV="1">
            <a:off x="10645237" y="7889782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71" name="Line"/>
          <p:cNvSpPr/>
          <p:nvPr/>
        </p:nvSpPr>
        <p:spPr>
          <a:xfrm flipV="1">
            <a:off x="11223511" y="7885065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72" name="Line"/>
          <p:cNvSpPr/>
          <p:nvPr/>
        </p:nvSpPr>
        <p:spPr>
          <a:xfrm>
            <a:off x="11768041" y="56315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73" name="0"/>
          <p:cNvSpPr txBox="1"/>
          <p:nvPr/>
        </p:nvSpPr>
        <p:spPr>
          <a:xfrm>
            <a:off x="12201146" y="528954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974" name="Line"/>
          <p:cNvSpPr/>
          <p:nvPr/>
        </p:nvSpPr>
        <p:spPr>
          <a:xfrm>
            <a:off x="11793866" y="65332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75" name="0"/>
          <p:cNvSpPr txBox="1"/>
          <p:nvPr/>
        </p:nvSpPr>
        <p:spPr>
          <a:xfrm>
            <a:off x="12226971" y="619124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976" name="Line"/>
          <p:cNvSpPr/>
          <p:nvPr/>
        </p:nvSpPr>
        <p:spPr>
          <a:xfrm>
            <a:off x="11793441" y="74349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77" name="0"/>
          <p:cNvSpPr txBox="1"/>
          <p:nvPr/>
        </p:nvSpPr>
        <p:spPr>
          <a:xfrm>
            <a:off x="12226546" y="709294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978" name="Line"/>
          <p:cNvSpPr/>
          <p:nvPr/>
        </p:nvSpPr>
        <p:spPr>
          <a:xfrm>
            <a:off x="11806141" y="834299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79" name="0"/>
          <p:cNvSpPr txBox="1"/>
          <p:nvPr/>
        </p:nvSpPr>
        <p:spPr>
          <a:xfrm>
            <a:off x="12239246" y="80009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1980" name="Line"/>
          <p:cNvSpPr/>
          <p:nvPr/>
        </p:nvSpPr>
        <p:spPr>
          <a:xfrm flipV="1">
            <a:off x="11769675" y="608066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81" name="Line"/>
          <p:cNvSpPr/>
          <p:nvPr/>
        </p:nvSpPr>
        <p:spPr>
          <a:xfrm flipV="1">
            <a:off x="11784212" y="6987168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82" name="Line"/>
          <p:cNvSpPr/>
          <p:nvPr/>
        </p:nvSpPr>
        <p:spPr>
          <a:xfrm flipV="1">
            <a:off x="11786508" y="7894684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</p:spTree>
  </p:cSld>
  <p:clrMapOvr>
    <a:masterClrMapping/>
  </p:clrMapOvr>
  <p:transition spd="med" advClick="0" advTm="0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6" dur="1250" fill="hold"/>
                                        <p:tgtEl>
                                          <p:spTgt spid="17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xit" presetSubtype="4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0" dur="1250" fill="hold"/>
                                        <p:tgtEl>
                                          <p:spTgt spid="1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xit" presetSubtype="4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4" dur="1250" fill="hold"/>
                                        <p:tgtEl>
                                          <p:spTgt spid="1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750"/>
                            </p:stCondLst>
                            <p:childTnLst>
                              <p:par>
                                <p:cTn id="17" presetID="22" presetClass="exit" presetSubtype="4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8" dur="1250" fill="hold"/>
                                        <p:tgtEl>
                                          <p:spTgt spid="17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22" presetClass="exit" presetSubtype="4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22" dur="1250" fill="hold"/>
                                        <p:tgtEl>
                                          <p:spTgt spid="17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250"/>
                            </p:stCondLst>
                            <p:childTnLst>
                              <p:par>
                                <p:cTn id="25" presetID="22" presetClass="exit" presetSubtype="4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26" dur="1250" fill="hold"/>
                                        <p:tgtEl>
                                          <p:spTgt spid="17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500"/>
                            </p:stCondLst>
                            <p:childTnLst>
                              <p:par>
                                <p:cTn id="29" presetID="22" presetClass="exit" presetSubtype="4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30" dur="1250" fill="hold"/>
                                        <p:tgtEl>
                                          <p:spTgt spid="17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8750"/>
                            </p:stCondLst>
                            <p:childTnLst>
                              <p:par>
                                <p:cTn id="33" presetID="22" presetClass="exit" presetSubtype="4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34" dur="1250" fill="hold"/>
                                        <p:tgtEl>
                                          <p:spTgt spid="17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0"/>
                            </p:stCondLst>
                            <p:childTnLst>
                              <p:par>
                                <p:cTn id="37" presetID="22" presetClass="exit" presetSubtype="4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38" dur="1250" fill="hold"/>
                                        <p:tgtEl>
                                          <p:spTgt spid="18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1250"/>
                            </p:stCondLst>
                            <p:childTnLst>
                              <p:par>
                                <p:cTn id="41" presetID="22" presetClass="exit" presetSubtype="4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42" dur="1250" fill="hold"/>
                                        <p:tgtEl>
                                          <p:spTgt spid="18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2500"/>
                            </p:stCondLst>
                            <p:childTnLst>
                              <p:par>
                                <p:cTn id="45" presetID="22" presetClass="exit" presetSubtype="4" fill="hold" grpId="1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46" dur="1250" fill="hold"/>
                                        <p:tgtEl>
                                          <p:spTgt spid="18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3750"/>
                            </p:stCondLst>
                            <p:childTnLst>
                              <p:par>
                                <p:cTn id="49" presetID="22" presetClass="exit" presetSubtype="4" fill="hold" grpId="1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50" dur="1250" fill="hold"/>
                                        <p:tgtEl>
                                          <p:spTgt spid="18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0"/>
                            </p:stCondLst>
                            <p:childTnLst>
                              <p:par>
                                <p:cTn id="53" presetID="22" presetClass="exit" presetSubtype="4" fill="hold" grpId="1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54" dur="1250" fill="hold"/>
                                        <p:tgtEl>
                                          <p:spTgt spid="18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6250"/>
                            </p:stCondLst>
                            <p:childTnLst>
                              <p:par>
                                <p:cTn id="57" presetID="22" presetClass="exit" presetSubtype="4" fill="hold" grpId="1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58" dur="1250" fill="hold"/>
                                        <p:tgtEl>
                                          <p:spTgt spid="18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7500"/>
                            </p:stCondLst>
                            <p:childTnLst>
                              <p:par>
                                <p:cTn id="61" presetID="22" presetClass="exit" presetSubtype="4" fill="hold" grpId="1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62" dur="1250" fill="hold"/>
                                        <p:tgtEl>
                                          <p:spTgt spid="18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8750"/>
                            </p:stCondLst>
                            <p:childTnLst>
                              <p:par>
                                <p:cTn id="65" presetID="22" presetClass="exit" presetSubtype="4" fill="hold" grpId="1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66" dur="1250" fill="hold"/>
                                        <p:tgtEl>
                                          <p:spTgt spid="17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0"/>
                            </p:stCondLst>
                            <p:childTnLst>
                              <p:par>
                                <p:cTn id="69" presetID="22" presetClass="exit" presetSubtype="4" fill="hold" grpId="1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70" dur="1250" fill="hold"/>
                                        <p:tgtEl>
                                          <p:spTgt spid="17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1250"/>
                            </p:stCondLst>
                            <p:childTnLst>
                              <p:par>
                                <p:cTn id="73" presetID="22" presetClass="exit" presetSubtype="4" fill="hold" grpId="1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74" dur="1250" fill="hold"/>
                                        <p:tgtEl>
                                          <p:spTgt spid="17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2500"/>
                            </p:stCondLst>
                            <p:childTnLst>
                              <p:par>
                                <p:cTn id="77" presetID="22" presetClass="exit" presetSubtype="4" fill="hold" grpId="1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78" dur="1250" fill="hold"/>
                                        <p:tgtEl>
                                          <p:spTgt spid="17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3750"/>
                            </p:stCondLst>
                            <p:childTnLst>
                              <p:par>
                                <p:cTn id="81" presetID="22" presetClass="exit" presetSubtype="4" fill="hold" grpId="2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82" dur="1250" fill="hold"/>
                                        <p:tgtEl>
                                          <p:spTgt spid="18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5000"/>
                            </p:stCondLst>
                            <p:childTnLst>
                              <p:par>
                                <p:cTn id="85" presetID="22" presetClass="exit" presetSubtype="4" fill="hold" grpId="2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86" dur="1250" fill="hold"/>
                                        <p:tgtEl>
                                          <p:spTgt spid="18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6250"/>
                            </p:stCondLst>
                            <p:childTnLst>
                              <p:par>
                                <p:cTn id="89" presetID="22" presetClass="exit" presetSubtype="4" fill="hold" grpId="2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90" dur="1250" fill="hold"/>
                                        <p:tgtEl>
                                          <p:spTgt spid="18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7500"/>
                            </p:stCondLst>
                            <p:childTnLst>
                              <p:par>
                                <p:cTn id="93" presetID="22" presetClass="exit" presetSubtype="4" fill="hold" grpId="2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94" dur="1250" fill="hold"/>
                                        <p:tgtEl>
                                          <p:spTgt spid="18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8750"/>
                            </p:stCondLst>
                            <p:childTnLst>
                              <p:par>
                                <p:cTn id="97" presetID="22" presetClass="exit" presetSubtype="4" fill="hold" grpId="2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98" dur="1250" fill="hold"/>
                                        <p:tgtEl>
                                          <p:spTgt spid="18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30000"/>
                            </p:stCondLst>
                            <p:childTnLst>
                              <p:par>
                                <p:cTn id="101" presetID="22" presetClass="exit" presetSubtype="4" fill="hold" grpId="2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02" dur="1250" fill="hold"/>
                                        <p:tgtEl>
                                          <p:spTgt spid="18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31250"/>
                            </p:stCondLst>
                            <p:childTnLst>
                              <p:par>
                                <p:cTn id="105" presetID="22" presetClass="exit" presetSubtype="4" fill="hold" grpId="2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06" dur="1250" fill="hold"/>
                                        <p:tgtEl>
                                          <p:spTgt spid="18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32500"/>
                            </p:stCondLst>
                            <p:childTnLst>
                              <p:par>
                                <p:cTn id="109" presetID="22" presetClass="exit" presetSubtype="4" fill="hold" grpId="2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10" dur="1250" fill="hold"/>
                                        <p:tgtEl>
                                          <p:spTgt spid="18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33750"/>
                            </p:stCondLst>
                            <p:childTnLst>
                              <p:par>
                                <p:cTn id="113" presetID="22" presetClass="exit" presetSubtype="4" fill="hold" grpId="2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14" dur="1250" fill="hold"/>
                                        <p:tgtEl>
                                          <p:spTgt spid="17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35000"/>
                            </p:stCondLst>
                            <p:childTnLst>
                              <p:par>
                                <p:cTn id="117" presetID="22" presetClass="exit" presetSubtype="4" fill="hold" grpId="2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18" dur="1250" fill="hold"/>
                                        <p:tgtEl>
                                          <p:spTgt spid="17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36250"/>
                            </p:stCondLst>
                            <p:childTnLst>
                              <p:par>
                                <p:cTn id="121" presetID="22" presetClass="exit" presetSubtype="4" fill="hold" grpId="3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22" dur="1250" fill="hold"/>
                                        <p:tgtEl>
                                          <p:spTgt spid="17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37500"/>
                            </p:stCondLst>
                            <p:childTnLst>
                              <p:par>
                                <p:cTn id="125" presetID="22" presetClass="exit" presetSubtype="4" fill="hold" grpId="3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26" dur="1250" fill="hold"/>
                                        <p:tgtEl>
                                          <p:spTgt spid="17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38750"/>
                            </p:stCondLst>
                            <p:childTnLst>
                              <p:par>
                                <p:cTn id="129" presetID="22" presetClass="exit" presetSubtype="4" fill="hold" grpId="3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30" dur="1250" fill="hold"/>
                                        <p:tgtEl>
                                          <p:spTgt spid="17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40000"/>
                            </p:stCondLst>
                            <p:childTnLst>
                              <p:par>
                                <p:cTn id="133" presetID="22" presetClass="exit" presetSubtype="4" fill="hold" grpId="3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34" dur="1250" fill="hold"/>
                                        <p:tgtEl>
                                          <p:spTgt spid="17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41250"/>
                            </p:stCondLst>
                            <p:childTnLst>
                              <p:par>
                                <p:cTn id="137" presetID="22" presetClass="exit" presetSubtype="4" fill="hold" grpId="3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38" dur="1250" fill="hold"/>
                                        <p:tgtEl>
                                          <p:spTgt spid="17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42500"/>
                            </p:stCondLst>
                            <p:childTnLst>
                              <p:par>
                                <p:cTn id="141" presetID="22" presetClass="exit" presetSubtype="4" fill="hold" grpId="3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42" dur="1250" fill="hold"/>
                                        <p:tgtEl>
                                          <p:spTgt spid="17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43750"/>
                            </p:stCondLst>
                            <p:childTnLst>
                              <p:par>
                                <p:cTn id="145" presetID="22" presetClass="exit" presetSubtype="4" fill="hold" grpId="3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46" dur="1250" fill="hold"/>
                                        <p:tgtEl>
                                          <p:spTgt spid="17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45000"/>
                            </p:stCondLst>
                            <p:childTnLst>
                              <p:par>
                                <p:cTn id="149" presetID="22" presetClass="exit" presetSubtype="4" fill="hold" grpId="3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50" dur="1250" fill="hold"/>
                                        <p:tgtEl>
                                          <p:spTgt spid="17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46250"/>
                            </p:stCondLst>
                            <p:childTnLst>
                              <p:par>
                                <p:cTn id="153" presetID="22" presetClass="exit" presetSubtype="4" fill="hold" grpId="3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54" dur="1250" fill="hold"/>
                                        <p:tgtEl>
                                          <p:spTgt spid="17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47500"/>
                            </p:stCondLst>
                            <p:childTnLst>
                              <p:par>
                                <p:cTn id="157" presetID="22" presetClass="exit" presetSubtype="4" fill="hold" grpId="3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58" dur="1250" fill="hold"/>
                                        <p:tgtEl>
                                          <p:spTgt spid="17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48750"/>
                            </p:stCondLst>
                            <p:childTnLst>
                              <p:par>
                                <p:cTn id="161" presetID="22" presetClass="exit" presetSubtype="4" fill="hold" grpId="4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62" dur="1250" fill="hold"/>
                                        <p:tgtEl>
                                          <p:spTgt spid="17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00"/>
                            </p:stCondLst>
                            <p:childTnLst>
                              <p:par>
                                <p:cTn id="165" presetID="22" presetClass="exit" presetSubtype="4" fill="hold" grpId="4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66" dur="1250" fill="hold"/>
                                        <p:tgtEl>
                                          <p:spTgt spid="17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51250"/>
                            </p:stCondLst>
                            <p:childTnLst>
                              <p:par>
                                <p:cTn id="169" presetID="22" presetClass="exit" presetSubtype="4" fill="hold" grpId="4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70" dur="1250" fill="hold"/>
                                        <p:tgtEl>
                                          <p:spTgt spid="17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52500"/>
                            </p:stCondLst>
                            <p:childTnLst>
                              <p:par>
                                <p:cTn id="173" presetID="22" presetClass="exit" presetSubtype="4" fill="hold" grpId="4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74" dur="1250" fill="hold"/>
                                        <p:tgtEl>
                                          <p:spTgt spid="17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53750"/>
                            </p:stCondLst>
                            <p:childTnLst>
                              <p:par>
                                <p:cTn id="177" presetID="22" presetClass="exit" presetSubtype="4" fill="hold" grpId="4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78" dur="1250" fill="hold"/>
                                        <p:tgtEl>
                                          <p:spTgt spid="17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55000"/>
                            </p:stCondLst>
                            <p:childTnLst>
                              <p:par>
                                <p:cTn id="181" presetID="22" presetClass="exit" presetSubtype="4" fill="hold" grpId="4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82" dur="1250" fill="hold"/>
                                        <p:tgtEl>
                                          <p:spTgt spid="18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56250"/>
                            </p:stCondLst>
                            <p:childTnLst>
                              <p:par>
                                <p:cTn id="185" presetID="22" presetClass="exit" presetSubtype="4" fill="hold" grpId="4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86" dur="1250" fill="hold"/>
                                        <p:tgtEl>
                                          <p:spTgt spid="18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57500"/>
                            </p:stCondLst>
                            <p:childTnLst>
                              <p:par>
                                <p:cTn id="189" presetID="22" presetClass="exit" presetSubtype="4" fill="hold" grpId="4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90" dur="1250" fill="hold"/>
                                        <p:tgtEl>
                                          <p:spTgt spid="18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58750"/>
                            </p:stCondLst>
                            <p:childTnLst>
                              <p:par>
                                <p:cTn id="193" presetID="22" presetClass="exit" presetSubtype="4" fill="hold" grpId="4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94" dur="1250" fill="hold"/>
                                        <p:tgtEl>
                                          <p:spTgt spid="18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60000"/>
                            </p:stCondLst>
                            <p:childTnLst>
                              <p:par>
                                <p:cTn id="197" presetID="22" presetClass="exit" presetSubtype="4" fill="hold" grpId="4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98" dur="1250" fill="hold"/>
                                        <p:tgtEl>
                                          <p:spTgt spid="17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4" grpId="32" animBg="1" advAuto="0"/>
      <p:bldP spid="1725" grpId="49" animBg="1" advAuto="0"/>
      <p:bldP spid="1738" grpId="16" animBg="1" advAuto="0"/>
      <p:bldP spid="1739" grpId="28" animBg="1" advAuto="0"/>
      <p:bldP spid="1740" grpId="29" animBg="1" advAuto="0"/>
      <p:bldP spid="1741" grpId="30" animBg="1" advAuto="0"/>
      <p:bldP spid="1742" grpId="31" animBg="1" advAuto="0"/>
      <p:bldP spid="1743" grpId="3" animBg="1" advAuto="0"/>
      <p:bldP spid="1744" grpId="2" animBg="1" advAuto="0"/>
      <p:bldP spid="1745" grpId="1" animBg="1" advAuto="0"/>
      <p:bldP spid="1748" grpId="37" animBg="1" advAuto="0"/>
      <p:bldP spid="1762" grpId="17" animBg="1" advAuto="0"/>
      <p:bldP spid="1763" grpId="33" animBg="1" advAuto="0"/>
      <p:bldP spid="1764" grpId="34" animBg="1" advAuto="0"/>
      <p:bldP spid="1765" grpId="35" animBg="1" advAuto="0"/>
      <p:bldP spid="1766" grpId="36" animBg="1" advAuto="0"/>
      <p:bldP spid="1767" grpId="6" animBg="1" advAuto="0"/>
      <p:bldP spid="1768" grpId="5" animBg="1" advAuto="0"/>
      <p:bldP spid="1769" grpId="4" animBg="1" advAuto="0"/>
      <p:bldP spid="1778" grpId="18" animBg="1" advAuto="0"/>
      <p:bldP spid="1779" grpId="38" animBg="1" advAuto="0"/>
      <p:bldP spid="1780" grpId="39" animBg="1" advAuto="0"/>
      <p:bldP spid="1781" grpId="40" animBg="1" advAuto="0"/>
      <p:bldP spid="1782" grpId="41" animBg="1" advAuto="0"/>
      <p:bldP spid="1784" grpId="8" animBg="1" advAuto="0"/>
      <p:bldP spid="1785" grpId="7" animBg="1" advAuto="0"/>
      <p:bldP spid="1794" grpId="19" animBg="1" advAuto="0"/>
      <p:bldP spid="1795" grpId="42" animBg="1" advAuto="0"/>
      <p:bldP spid="1796" grpId="43" animBg="1" advAuto="0"/>
      <p:bldP spid="1797" grpId="44" animBg="1" advAuto="0"/>
      <p:bldP spid="1800" grpId="10" animBg="1" advAuto="0"/>
      <p:bldP spid="1801" grpId="9" animBg="1" advAuto="0"/>
      <p:bldP spid="1810" grpId="20" animBg="1" advAuto="0"/>
      <p:bldP spid="1811" grpId="45" animBg="1" advAuto="0"/>
      <p:bldP spid="1812" grpId="46" animBg="1" advAuto="0"/>
      <p:bldP spid="1816" grpId="12" animBg="1" advAuto="0"/>
      <p:bldP spid="1817" grpId="11" animBg="1" advAuto="0"/>
      <p:bldP spid="1824" grpId="21" animBg="1" advAuto="0"/>
      <p:bldP spid="1825" grpId="47" animBg="1" advAuto="0"/>
      <p:bldP spid="1831" grpId="13" animBg="1" advAuto="0"/>
      <p:bldP spid="1836" grpId="48" animBg="1" advAuto="0"/>
      <p:bldP spid="1837" grpId="27" animBg="1" advAuto="0"/>
      <p:bldP spid="1838" grpId="26" animBg="1" advAuto="0"/>
      <p:bldP spid="1839" grpId="25" animBg="1" advAuto="0"/>
      <p:bldP spid="1840" grpId="24" animBg="1" advAuto="0"/>
      <p:bldP spid="1841" grpId="23" animBg="1" advAuto="0"/>
      <p:bldP spid="1842" grpId="15" animBg="1" advAuto="0"/>
      <p:bldP spid="1849" grpId="22" animBg="1" advAuto="0"/>
      <p:bldP spid="1856" grpId="14" animBg="1" advAuto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64</a:t>
            </a:fld>
            <a:endParaRPr/>
          </a:p>
        </p:txBody>
      </p:sp>
      <p:sp>
        <p:nvSpPr>
          <p:cNvPr id="1985" name="B[7:0]"/>
          <p:cNvSpPr/>
          <p:nvPr/>
        </p:nvSpPr>
        <p:spPr>
          <a:xfrm>
            <a:off x="7538293" y="1568450"/>
            <a:ext cx="4391026" cy="4572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>
                <a:solidFill>
                  <a:srgbClr val="FFFFFF"/>
                </a:solidFill>
              </a:defRPr>
            </a:lvl1pPr>
          </a:lstStyle>
          <a:p>
            <a:r>
              <a:t>B[7:0]</a:t>
            </a:r>
          </a:p>
        </p:txBody>
      </p:sp>
      <p:sp>
        <p:nvSpPr>
          <p:cNvPr id="1986" name="Line"/>
          <p:cNvSpPr/>
          <p:nvPr/>
        </p:nvSpPr>
        <p:spPr>
          <a:xfrm>
            <a:off x="49243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87" name="Line"/>
          <p:cNvSpPr/>
          <p:nvPr/>
        </p:nvSpPr>
        <p:spPr>
          <a:xfrm>
            <a:off x="54958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88" name="Line"/>
          <p:cNvSpPr/>
          <p:nvPr/>
        </p:nvSpPr>
        <p:spPr>
          <a:xfrm>
            <a:off x="60546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89" name="Line"/>
          <p:cNvSpPr/>
          <p:nvPr/>
        </p:nvSpPr>
        <p:spPr>
          <a:xfrm>
            <a:off x="66261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90" name="Line"/>
          <p:cNvSpPr/>
          <p:nvPr/>
        </p:nvSpPr>
        <p:spPr>
          <a:xfrm>
            <a:off x="71849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91" name="Line"/>
          <p:cNvSpPr/>
          <p:nvPr/>
        </p:nvSpPr>
        <p:spPr>
          <a:xfrm>
            <a:off x="77564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92" name="Line"/>
          <p:cNvSpPr/>
          <p:nvPr/>
        </p:nvSpPr>
        <p:spPr>
          <a:xfrm>
            <a:off x="83279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93" name="Line"/>
          <p:cNvSpPr/>
          <p:nvPr/>
        </p:nvSpPr>
        <p:spPr>
          <a:xfrm>
            <a:off x="88994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94" name="Line"/>
          <p:cNvSpPr/>
          <p:nvPr/>
        </p:nvSpPr>
        <p:spPr>
          <a:xfrm>
            <a:off x="94582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95" name="Line"/>
          <p:cNvSpPr/>
          <p:nvPr/>
        </p:nvSpPr>
        <p:spPr>
          <a:xfrm>
            <a:off x="100297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96" name="Line"/>
          <p:cNvSpPr/>
          <p:nvPr/>
        </p:nvSpPr>
        <p:spPr>
          <a:xfrm>
            <a:off x="105885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97" name="Line"/>
          <p:cNvSpPr/>
          <p:nvPr/>
        </p:nvSpPr>
        <p:spPr>
          <a:xfrm>
            <a:off x="111600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98" name="Line"/>
          <p:cNvSpPr/>
          <p:nvPr/>
        </p:nvSpPr>
        <p:spPr>
          <a:xfrm>
            <a:off x="117188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1999" name="0"/>
          <p:cNvSpPr txBox="1"/>
          <p:nvPr/>
        </p:nvSpPr>
        <p:spPr>
          <a:xfrm>
            <a:off x="12151980" y="16763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2000" name="Line"/>
          <p:cNvSpPr/>
          <p:nvPr/>
        </p:nvSpPr>
        <p:spPr>
          <a:xfrm>
            <a:off x="43914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01" name="Line"/>
          <p:cNvSpPr/>
          <p:nvPr/>
        </p:nvSpPr>
        <p:spPr>
          <a:xfrm>
            <a:off x="49502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02" name="Line"/>
          <p:cNvSpPr/>
          <p:nvPr/>
        </p:nvSpPr>
        <p:spPr>
          <a:xfrm>
            <a:off x="55217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03" name="Line"/>
          <p:cNvSpPr/>
          <p:nvPr/>
        </p:nvSpPr>
        <p:spPr>
          <a:xfrm>
            <a:off x="60805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04" name="Line"/>
          <p:cNvSpPr/>
          <p:nvPr/>
        </p:nvSpPr>
        <p:spPr>
          <a:xfrm>
            <a:off x="66520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05" name="Line"/>
          <p:cNvSpPr/>
          <p:nvPr/>
        </p:nvSpPr>
        <p:spPr>
          <a:xfrm>
            <a:off x="71981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06" name="Line"/>
          <p:cNvSpPr/>
          <p:nvPr/>
        </p:nvSpPr>
        <p:spPr>
          <a:xfrm>
            <a:off x="77696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07" name="Line"/>
          <p:cNvSpPr/>
          <p:nvPr/>
        </p:nvSpPr>
        <p:spPr>
          <a:xfrm>
            <a:off x="83411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08" name="Line"/>
          <p:cNvSpPr/>
          <p:nvPr/>
        </p:nvSpPr>
        <p:spPr>
          <a:xfrm>
            <a:off x="88999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09" name="Line"/>
          <p:cNvSpPr/>
          <p:nvPr/>
        </p:nvSpPr>
        <p:spPr>
          <a:xfrm>
            <a:off x="9475391" y="2920095"/>
            <a:ext cx="550692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10" name="Line"/>
          <p:cNvSpPr/>
          <p:nvPr/>
        </p:nvSpPr>
        <p:spPr>
          <a:xfrm>
            <a:off x="100302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11" name="Line"/>
          <p:cNvSpPr/>
          <p:nvPr/>
        </p:nvSpPr>
        <p:spPr>
          <a:xfrm>
            <a:off x="106017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12" name="Line"/>
          <p:cNvSpPr/>
          <p:nvPr/>
        </p:nvSpPr>
        <p:spPr>
          <a:xfrm>
            <a:off x="11172350" y="2920095"/>
            <a:ext cx="54283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13" name="Line"/>
          <p:cNvSpPr/>
          <p:nvPr/>
        </p:nvSpPr>
        <p:spPr>
          <a:xfrm>
            <a:off x="117447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14" name="0"/>
          <p:cNvSpPr txBox="1"/>
          <p:nvPr/>
        </p:nvSpPr>
        <p:spPr>
          <a:xfrm>
            <a:off x="12177805" y="25780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2015" name="Line"/>
          <p:cNvSpPr/>
          <p:nvPr/>
        </p:nvSpPr>
        <p:spPr>
          <a:xfrm>
            <a:off x="38194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16" name="Line"/>
          <p:cNvSpPr/>
          <p:nvPr/>
        </p:nvSpPr>
        <p:spPr>
          <a:xfrm>
            <a:off x="43909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17" name="Line"/>
          <p:cNvSpPr/>
          <p:nvPr/>
        </p:nvSpPr>
        <p:spPr>
          <a:xfrm>
            <a:off x="49497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18" name="Line"/>
          <p:cNvSpPr/>
          <p:nvPr/>
        </p:nvSpPr>
        <p:spPr>
          <a:xfrm>
            <a:off x="55212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19" name="Line"/>
          <p:cNvSpPr/>
          <p:nvPr/>
        </p:nvSpPr>
        <p:spPr>
          <a:xfrm>
            <a:off x="60800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20" name="Line"/>
          <p:cNvSpPr/>
          <p:nvPr/>
        </p:nvSpPr>
        <p:spPr>
          <a:xfrm>
            <a:off x="66515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21" name="adjust"/>
          <p:cNvSpPr/>
          <p:nvPr/>
        </p:nvSpPr>
        <p:spPr>
          <a:xfrm>
            <a:off x="5306714" y="42735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2022" name="Line"/>
          <p:cNvSpPr/>
          <p:nvPr/>
        </p:nvSpPr>
        <p:spPr>
          <a:xfrm>
            <a:off x="117442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23" name="0"/>
          <p:cNvSpPr txBox="1"/>
          <p:nvPr/>
        </p:nvSpPr>
        <p:spPr>
          <a:xfrm>
            <a:off x="12177380" y="34797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2024" name="Line"/>
          <p:cNvSpPr/>
          <p:nvPr/>
        </p:nvSpPr>
        <p:spPr>
          <a:xfrm>
            <a:off x="38321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25" name="Line"/>
          <p:cNvSpPr/>
          <p:nvPr/>
        </p:nvSpPr>
        <p:spPr>
          <a:xfrm>
            <a:off x="44036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26" name="Line"/>
          <p:cNvSpPr/>
          <p:nvPr/>
        </p:nvSpPr>
        <p:spPr>
          <a:xfrm>
            <a:off x="49624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27" name="Line"/>
          <p:cNvSpPr/>
          <p:nvPr/>
        </p:nvSpPr>
        <p:spPr>
          <a:xfrm>
            <a:off x="55339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28" name="Line"/>
          <p:cNvSpPr/>
          <p:nvPr/>
        </p:nvSpPr>
        <p:spPr>
          <a:xfrm>
            <a:off x="60927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29" name="Line"/>
          <p:cNvSpPr/>
          <p:nvPr/>
        </p:nvSpPr>
        <p:spPr>
          <a:xfrm>
            <a:off x="66642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30" name="Line"/>
          <p:cNvSpPr/>
          <p:nvPr/>
        </p:nvSpPr>
        <p:spPr>
          <a:xfrm>
            <a:off x="32479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31" name="adjust"/>
          <p:cNvSpPr/>
          <p:nvPr/>
        </p:nvSpPr>
        <p:spPr>
          <a:xfrm>
            <a:off x="5319414" y="518160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2032" name="Line"/>
          <p:cNvSpPr/>
          <p:nvPr/>
        </p:nvSpPr>
        <p:spPr>
          <a:xfrm>
            <a:off x="117569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33" name="0"/>
          <p:cNvSpPr txBox="1"/>
          <p:nvPr/>
        </p:nvSpPr>
        <p:spPr>
          <a:xfrm>
            <a:off x="12190080" y="438784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2034" name="Line"/>
          <p:cNvSpPr/>
          <p:nvPr/>
        </p:nvSpPr>
        <p:spPr>
          <a:xfrm>
            <a:off x="38321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35" name="Line"/>
          <p:cNvSpPr/>
          <p:nvPr/>
        </p:nvSpPr>
        <p:spPr>
          <a:xfrm>
            <a:off x="44036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36" name="Line"/>
          <p:cNvSpPr/>
          <p:nvPr/>
        </p:nvSpPr>
        <p:spPr>
          <a:xfrm>
            <a:off x="49624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37" name="Line"/>
          <p:cNvSpPr/>
          <p:nvPr/>
        </p:nvSpPr>
        <p:spPr>
          <a:xfrm>
            <a:off x="55339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38" name="Line"/>
          <p:cNvSpPr/>
          <p:nvPr/>
        </p:nvSpPr>
        <p:spPr>
          <a:xfrm>
            <a:off x="60927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39" name="Line"/>
          <p:cNvSpPr/>
          <p:nvPr/>
        </p:nvSpPr>
        <p:spPr>
          <a:xfrm>
            <a:off x="66642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40" name="Line"/>
          <p:cNvSpPr/>
          <p:nvPr/>
        </p:nvSpPr>
        <p:spPr>
          <a:xfrm>
            <a:off x="26764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41" name="Line"/>
          <p:cNvSpPr/>
          <p:nvPr/>
        </p:nvSpPr>
        <p:spPr>
          <a:xfrm>
            <a:off x="32479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42" name="adjust"/>
          <p:cNvSpPr/>
          <p:nvPr/>
        </p:nvSpPr>
        <p:spPr>
          <a:xfrm>
            <a:off x="5319414" y="60769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2043" name="Line"/>
          <p:cNvSpPr/>
          <p:nvPr/>
        </p:nvSpPr>
        <p:spPr>
          <a:xfrm>
            <a:off x="38194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44" name="Line"/>
          <p:cNvSpPr/>
          <p:nvPr/>
        </p:nvSpPr>
        <p:spPr>
          <a:xfrm>
            <a:off x="43909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45" name="Line"/>
          <p:cNvSpPr/>
          <p:nvPr/>
        </p:nvSpPr>
        <p:spPr>
          <a:xfrm>
            <a:off x="49497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46" name="Line"/>
          <p:cNvSpPr/>
          <p:nvPr/>
        </p:nvSpPr>
        <p:spPr>
          <a:xfrm>
            <a:off x="55212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47" name="Line"/>
          <p:cNvSpPr/>
          <p:nvPr/>
        </p:nvSpPr>
        <p:spPr>
          <a:xfrm>
            <a:off x="60800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48" name="Line"/>
          <p:cNvSpPr/>
          <p:nvPr/>
        </p:nvSpPr>
        <p:spPr>
          <a:xfrm>
            <a:off x="66515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49" name="Line"/>
          <p:cNvSpPr/>
          <p:nvPr/>
        </p:nvSpPr>
        <p:spPr>
          <a:xfrm>
            <a:off x="21049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50" name="Line"/>
          <p:cNvSpPr/>
          <p:nvPr/>
        </p:nvSpPr>
        <p:spPr>
          <a:xfrm>
            <a:off x="26637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51" name="Line"/>
          <p:cNvSpPr/>
          <p:nvPr/>
        </p:nvSpPr>
        <p:spPr>
          <a:xfrm>
            <a:off x="32352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52" name="adjust"/>
          <p:cNvSpPr/>
          <p:nvPr/>
        </p:nvSpPr>
        <p:spPr>
          <a:xfrm>
            <a:off x="5306714" y="697230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2053" name="adjust"/>
          <p:cNvSpPr/>
          <p:nvPr/>
        </p:nvSpPr>
        <p:spPr>
          <a:xfrm>
            <a:off x="3033414" y="697230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2054" name="0"/>
          <p:cNvSpPr txBox="1"/>
          <p:nvPr/>
        </p:nvSpPr>
        <p:spPr>
          <a:xfrm>
            <a:off x="7045942" y="1663699"/>
            <a:ext cx="269689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2055" name="0"/>
          <p:cNvSpPr txBox="1"/>
          <p:nvPr/>
        </p:nvSpPr>
        <p:spPr>
          <a:xfrm>
            <a:off x="6482922" y="16636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2056" name="0"/>
          <p:cNvSpPr txBox="1"/>
          <p:nvPr/>
        </p:nvSpPr>
        <p:spPr>
          <a:xfrm>
            <a:off x="5928443" y="16636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2057" name="0"/>
          <p:cNvSpPr txBox="1"/>
          <p:nvPr/>
        </p:nvSpPr>
        <p:spPr>
          <a:xfrm>
            <a:off x="5356842" y="1663699"/>
            <a:ext cx="269689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2058" name="Line"/>
          <p:cNvSpPr/>
          <p:nvPr/>
        </p:nvSpPr>
        <p:spPr>
          <a:xfrm>
            <a:off x="38336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59" name="Line"/>
          <p:cNvSpPr/>
          <p:nvPr/>
        </p:nvSpPr>
        <p:spPr>
          <a:xfrm>
            <a:off x="44051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60" name="Line"/>
          <p:cNvSpPr/>
          <p:nvPr/>
        </p:nvSpPr>
        <p:spPr>
          <a:xfrm>
            <a:off x="49639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61" name="Line"/>
          <p:cNvSpPr/>
          <p:nvPr/>
        </p:nvSpPr>
        <p:spPr>
          <a:xfrm>
            <a:off x="55354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62" name="Line"/>
          <p:cNvSpPr/>
          <p:nvPr/>
        </p:nvSpPr>
        <p:spPr>
          <a:xfrm>
            <a:off x="60942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63" name="Line"/>
          <p:cNvSpPr/>
          <p:nvPr/>
        </p:nvSpPr>
        <p:spPr>
          <a:xfrm>
            <a:off x="66657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64" name="Line"/>
          <p:cNvSpPr/>
          <p:nvPr/>
        </p:nvSpPr>
        <p:spPr>
          <a:xfrm>
            <a:off x="15476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65" name="Line"/>
          <p:cNvSpPr/>
          <p:nvPr/>
        </p:nvSpPr>
        <p:spPr>
          <a:xfrm>
            <a:off x="21191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66" name="Line"/>
          <p:cNvSpPr/>
          <p:nvPr/>
        </p:nvSpPr>
        <p:spPr>
          <a:xfrm>
            <a:off x="26779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67" name="Line"/>
          <p:cNvSpPr/>
          <p:nvPr/>
        </p:nvSpPr>
        <p:spPr>
          <a:xfrm>
            <a:off x="32494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68" name="adjust"/>
          <p:cNvSpPr/>
          <p:nvPr/>
        </p:nvSpPr>
        <p:spPr>
          <a:xfrm>
            <a:off x="5320906" y="7880350"/>
            <a:ext cx="2114104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2069" name="adjust"/>
          <p:cNvSpPr/>
          <p:nvPr/>
        </p:nvSpPr>
        <p:spPr>
          <a:xfrm>
            <a:off x="3047606" y="7880350"/>
            <a:ext cx="2114104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2070" name="Line"/>
          <p:cNvSpPr/>
          <p:nvPr/>
        </p:nvSpPr>
        <p:spPr>
          <a:xfrm>
            <a:off x="32522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71" name="Line"/>
          <p:cNvSpPr/>
          <p:nvPr/>
        </p:nvSpPr>
        <p:spPr>
          <a:xfrm>
            <a:off x="38237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72" name="Line"/>
          <p:cNvSpPr/>
          <p:nvPr/>
        </p:nvSpPr>
        <p:spPr>
          <a:xfrm>
            <a:off x="43825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73" name="Line"/>
          <p:cNvSpPr/>
          <p:nvPr/>
        </p:nvSpPr>
        <p:spPr>
          <a:xfrm>
            <a:off x="49540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74" name="Line"/>
          <p:cNvSpPr/>
          <p:nvPr/>
        </p:nvSpPr>
        <p:spPr>
          <a:xfrm>
            <a:off x="55128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75" name="Line"/>
          <p:cNvSpPr/>
          <p:nvPr/>
        </p:nvSpPr>
        <p:spPr>
          <a:xfrm>
            <a:off x="60843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76" name="Line"/>
          <p:cNvSpPr/>
          <p:nvPr/>
        </p:nvSpPr>
        <p:spPr>
          <a:xfrm>
            <a:off x="6643197" y="8319404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77" name="Line"/>
          <p:cNvSpPr/>
          <p:nvPr/>
        </p:nvSpPr>
        <p:spPr>
          <a:xfrm>
            <a:off x="9662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78" name="Line"/>
          <p:cNvSpPr/>
          <p:nvPr/>
        </p:nvSpPr>
        <p:spPr>
          <a:xfrm>
            <a:off x="15377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79" name="Line"/>
          <p:cNvSpPr/>
          <p:nvPr/>
        </p:nvSpPr>
        <p:spPr>
          <a:xfrm>
            <a:off x="20965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80" name="Line"/>
          <p:cNvSpPr/>
          <p:nvPr/>
        </p:nvSpPr>
        <p:spPr>
          <a:xfrm>
            <a:off x="26680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81" name="BCD[0]"/>
          <p:cNvSpPr/>
          <p:nvPr/>
        </p:nvSpPr>
        <p:spPr>
          <a:xfrm>
            <a:off x="5325764" y="8775700"/>
            <a:ext cx="2114105" cy="4572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>
                <a:solidFill>
                  <a:srgbClr val="FFFFFF"/>
                </a:solidFill>
              </a:defRPr>
            </a:lvl1pPr>
          </a:lstStyle>
          <a:p>
            <a:r>
              <a:t>BCD[0]</a:t>
            </a:r>
          </a:p>
        </p:txBody>
      </p:sp>
      <p:sp>
        <p:nvSpPr>
          <p:cNvPr id="2082" name="BCD[1]"/>
          <p:cNvSpPr/>
          <p:nvPr/>
        </p:nvSpPr>
        <p:spPr>
          <a:xfrm>
            <a:off x="3052464" y="8775700"/>
            <a:ext cx="2114105" cy="4572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>
                <a:solidFill>
                  <a:srgbClr val="FFFFFF"/>
                </a:solidFill>
              </a:defRPr>
            </a:lvl1pPr>
          </a:lstStyle>
          <a:p>
            <a:r>
              <a:t>BCD[1]</a:t>
            </a:r>
          </a:p>
        </p:txBody>
      </p:sp>
      <p:sp>
        <p:nvSpPr>
          <p:cNvPr id="2083" name="BCD[2]"/>
          <p:cNvSpPr/>
          <p:nvPr/>
        </p:nvSpPr>
        <p:spPr>
          <a:xfrm>
            <a:off x="791864" y="8775700"/>
            <a:ext cx="2114105" cy="4572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>
                <a:solidFill>
                  <a:srgbClr val="FFFFFF"/>
                </a:solidFill>
              </a:defRPr>
            </a:lvl1pPr>
          </a:lstStyle>
          <a:p>
            <a:r>
              <a:t>BCD[2]</a:t>
            </a:r>
          </a:p>
        </p:txBody>
      </p:sp>
      <p:sp>
        <p:nvSpPr>
          <p:cNvPr id="2084" name="Line"/>
          <p:cNvSpPr/>
          <p:nvPr/>
        </p:nvSpPr>
        <p:spPr>
          <a:xfrm flipV="1">
            <a:off x="7758653" y="2469153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85" name="Line"/>
          <p:cNvSpPr/>
          <p:nvPr/>
        </p:nvSpPr>
        <p:spPr>
          <a:xfrm flipV="1">
            <a:off x="8338616" y="2472872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86" name="Line"/>
          <p:cNvSpPr/>
          <p:nvPr/>
        </p:nvSpPr>
        <p:spPr>
          <a:xfrm flipV="1">
            <a:off x="8904191" y="2468156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87" name="Line"/>
          <p:cNvSpPr/>
          <p:nvPr/>
        </p:nvSpPr>
        <p:spPr>
          <a:xfrm flipV="1">
            <a:off x="9464995" y="2472872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88" name="Line"/>
          <p:cNvSpPr/>
          <p:nvPr/>
        </p:nvSpPr>
        <p:spPr>
          <a:xfrm flipV="1">
            <a:off x="10025233" y="247386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89" name="Line"/>
          <p:cNvSpPr/>
          <p:nvPr/>
        </p:nvSpPr>
        <p:spPr>
          <a:xfrm flipV="1">
            <a:off x="10592496" y="247758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90" name="Line"/>
          <p:cNvSpPr/>
          <p:nvPr/>
        </p:nvSpPr>
        <p:spPr>
          <a:xfrm flipV="1">
            <a:off x="11170770" y="2472872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91" name="Line"/>
          <p:cNvSpPr/>
          <p:nvPr/>
        </p:nvSpPr>
        <p:spPr>
          <a:xfrm flipV="1">
            <a:off x="11718875" y="247758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92" name="Line"/>
          <p:cNvSpPr/>
          <p:nvPr/>
        </p:nvSpPr>
        <p:spPr>
          <a:xfrm>
            <a:off x="7204608" y="3815898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93" name="Line"/>
          <p:cNvSpPr/>
          <p:nvPr/>
        </p:nvSpPr>
        <p:spPr>
          <a:xfrm>
            <a:off x="7776108" y="3815898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94" name="Line"/>
          <p:cNvSpPr/>
          <p:nvPr/>
        </p:nvSpPr>
        <p:spPr>
          <a:xfrm>
            <a:off x="8347608" y="3815898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95" name="Line"/>
          <p:cNvSpPr/>
          <p:nvPr/>
        </p:nvSpPr>
        <p:spPr>
          <a:xfrm>
            <a:off x="8906408" y="3815898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96" name="Line"/>
          <p:cNvSpPr/>
          <p:nvPr/>
        </p:nvSpPr>
        <p:spPr>
          <a:xfrm>
            <a:off x="9481899" y="3815898"/>
            <a:ext cx="550692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97" name="Line"/>
          <p:cNvSpPr/>
          <p:nvPr/>
        </p:nvSpPr>
        <p:spPr>
          <a:xfrm>
            <a:off x="10036708" y="3815898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98" name="Line"/>
          <p:cNvSpPr/>
          <p:nvPr/>
        </p:nvSpPr>
        <p:spPr>
          <a:xfrm>
            <a:off x="10608208" y="3815898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099" name="Line"/>
          <p:cNvSpPr/>
          <p:nvPr/>
        </p:nvSpPr>
        <p:spPr>
          <a:xfrm>
            <a:off x="11178858" y="3815898"/>
            <a:ext cx="54283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00" name="Line"/>
          <p:cNvSpPr/>
          <p:nvPr/>
        </p:nvSpPr>
        <p:spPr>
          <a:xfrm flipV="1">
            <a:off x="7765161" y="3364955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01" name="Line"/>
          <p:cNvSpPr/>
          <p:nvPr/>
        </p:nvSpPr>
        <p:spPr>
          <a:xfrm flipV="1">
            <a:off x="8345124" y="3368674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02" name="Line"/>
          <p:cNvSpPr/>
          <p:nvPr/>
        </p:nvSpPr>
        <p:spPr>
          <a:xfrm flipV="1">
            <a:off x="8910699" y="3363958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03" name="Line"/>
          <p:cNvSpPr/>
          <p:nvPr/>
        </p:nvSpPr>
        <p:spPr>
          <a:xfrm flipV="1">
            <a:off x="9471504" y="3368674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04" name="Line"/>
          <p:cNvSpPr/>
          <p:nvPr/>
        </p:nvSpPr>
        <p:spPr>
          <a:xfrm flipV="1">
            <a:off x="10031741" y="3369671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05" name="Line"/>
          <p:cNvSpPr/>
          <p:nvPr/>
        </p:nvSpPr>
        <p:spPr>
          <a:xfrm flipV="1">
            <a:off x="10599004" y="3373391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06" name="Line"/>
          <p:cNvSpPr/>
          <p:nvPr/>
        </p:nvSpPr>
        <p:spPr>
          <a:xfrm flipV="1">
            <a:off x="11177279" y="3368674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07" name="Line"/>
          <p:cNvSpPr/>
          <p:nvPr/>
        </p:nvSpPr>
        <p:spPr>
          <a:xfrm flipV="1">
            <a:off x="11725383" y="3373391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08" name="Line"/>
          <p:cNvSpPr/>
          <p:nvPr/>
        </p:nvSpPr>
        <p:spPr>
          <a:xfrm>
            <a:off x="7219145" y="472239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09" name="Line"/>
          <p:cNvSpPr/>
          <p:nvPr/>
        </p:nvSpPr>
        <p:spPr>
          <a:xfrm>
            <a:off x="7790645" y="472239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10" name="Line"/>
          <p:cNvSpPr/>
          <p:nvPr/>
        </p:nvSpPr>
        <p:spPr>
          <a:xfrm>
            <a:off x="8362145" y="472239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11" name="Line"/>
          <p:cNvSpPr/>
          <p:nvPr/>
        </p:nvSpPr>
        <p:spPr>
          <a:xfrm>
            <a:off x="8920945" y="472239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12" name="Line"/>
          <p:cNvSpPr/>
          <p:nvPr/>
        </p:nvSpPr>
        <p:spPr>
          <a:xfrm>
            <a:off x="9496436" y="4722396"/>
            <a:ext cx="550692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13" name="Line"/>
          <p:cNvSpPr/>
          <p:nvPr/>
        </p:nvSpPr>
        <p:spPr>
          <a:xfrm>
            <a:off x="10051245" y="472239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14" name="Line"/>
          <p:cNvSpPr/>
          <p:nvPr/>
        </p:nvSpPr>
        <p:spPr>
          <a:xfrm>
            <a:off x="10622745" y="472239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15" name="Line"/>
          <p:cNvSpPr/>
          <p:nvPr/>
        </p:nvSpPr>
        <p:spPr>
          <a:xfrm>
            <a:off x="11193395" y="4722396"/>
            <a:ext cx="54283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16" name="Line"/>
          <p:cNvSpPr/>
          <p:nvPr/>
        </p:nvSpPr>
        <p:spPr>
          <a:xfrm flipV="1">
            <a:off x="7779698" y="4271453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17" name="Line"/>
          <p:cNvSpPr/>
          <p:nvPr/>
        </p:nvSpPr>
        <p:spPr>
          <a:xfrm flipV="1">
            <a:off x="8346961" y="4275173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18" name="Line"/>
          <p:cNvSpPr/>
          <p:nvPr/>
        </p:nvSpPr>
        <p:spPr>
          <a:xfrm flipV="1">
            <a:off x="8925236" y="4270457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19" name="Line"/>
          <p:cNvSpPr/>
          <p:nvPr/>
        </p:nvSpPr>
        <p:spPr>
          <a:xfrm flipV="1">
            <a:off x="9486041" y="4275173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20" name="Line"/>
          <p:cNvSpPr/>
          <p:nvPr/>
        </p:nvSpPr>
        <p:spPr>
          <a:xfrm flipV="1">
            <a:off x="10046278" y="4276170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21" name="Line"/>
          <p:cNvSpPr/>
          <p:nvPr/>
        </p:nvSpPr>
        <p:spPr>
          <a:xfrm flipV="1">
            <a:off x="10613541" y="4279890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22" name="Line"/>
          <p:cNvSpPr/>
          <p:nvPr/>
        </p:nvSpPr>
        <p:spPr>
          <a:xfrm flipV="1">
            <a:off x="11191816" y="4275173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23" name="Line"/>
          <p:cNvSpPr/>
          <p:nvPr/>
        </p:nvSpPr>
        <p:spPr>
          <a:xfrm flipV="1">
            <a:off x="11739920" y="4279890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24" name="Line"/>
          <p:cNvSpPr/>
          <p:nvPr/>
        </p:nvSpPr>
        <p:spPr>
          <a:xfrm>
            <a:off x="7221441" y="5629912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25" name="Line"/>
          <p:cNvSpPr/>
          <p:nvPr/>
        </p:nvSpPr>
        <p:spPr>
          <a:xfrm>
            <a:off x="7792941" y="5629912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26" name="Line"/>
          <p:cNvSpPr/>
          <p:nvPr/>
        </p:nvSpPr>
        <p:spPr>
          <a:xfrm>
            <a:off x="8364441" y="5629912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27" name="Line"/>
          <p:cNvSpPr/>
          <p:nvPr/>
        </p:nvSpPr>
        <p:spPr>
          <a:xfrm>
            <a:off x="8923241" y="5629912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28" name="Line"/>
          <p:cNvSpPr/>
          <p:nvPr/>
        </p:nvSpPr>
        <p:spPr>
          <a:xfrm>
            <a:off x="9498732" y="5629912"/>
            <a:ext cx="550692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29" name="Line"/>
          <p:cNvSpPr/>
          <p:nvPr/>
        </p:nvSpPr>
        <p:spPr>
          <a:xfrm>
            <a:off x="10053541" y="5629912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30" name="Line"/>
          <p:cNvSpPr/>
          <p:nvPr/>
        </p:nvSpPr>
        <p:spPr>
          <a:xfrm>
            <a:off x="10625041" y="5629912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31" name="Line"/>
          <p:cNvSpPr/>
          <p:nvPr/>
        </p:nvSpPr>
        <p:spPr>
          <a:xfrm>
            <a:off x="11195691" y="5629912"/>
            <a:ext cx="54283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32" name="Line"/>
          <p:cNvSpPr/>
          <p:nvPr/>
        </p:nvSpPr>
        <p:spPr>
          <a:xfrm flipV="1">
            <a:off x="7781994" y="517896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33" name="Line"/>
          <p:cNvSpPr/>
          <p:nvPr/>
        </p:nvSpPr>
        <p:spPr>
          <a:xfrm flipV="1">
            <a:off x="8361957" y="518268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34" name="Line"/>
          <p:cNvSpPr/>
          <p:nvPr/>
        </p:nvSpPr>
        <p:spPr>
          <a:xfrm flipV="1">
            <a:off x="8927532" y="5177972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35" name="Line"/>
          <p:cNvSpPr/>
          <p:nvPr/>
        </p:nvSpPr>
        <p:spPr>
          <a:xfrm flipV="1">
            <a:off x="9488337" y="518268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36" name="Line"/>
          <p:cNvSpPr/>
          <p:nvPr/>
        </p:nvSpPr>
        <p:spPr>
          <a:xfrm flipV="1">
            <a:off x="10048574" y="5183686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37" name="Line"/>
          <p:cNvSpPr/>
          <p:nvPr/>
        </p:nvSpPr>
        <p:spPr>
          <a:xfrm flipV="1">
            <a:off x="10615837" y="5187405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38" name="Line"/>
          <p:cNvSpPr/>
          <p:nvPr/>
        </p:nvSpPr>
        <p:spPr>
          <a:xfrm flipV="1">
            <a:off x="11194112" y="518268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39" name="Line"/>
          <p:cNvSpPr/>
          <p:nvPr/>
        </p:nvSpPr>
        <p:spPr>
          <a:xfrm flipV="1">
            <a:off x="11742216" y="5187405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40" name="Line"/>
          <p:cNvSpPr/>
          <p:nvPr/>
        </p:nvSpPr>
        <p:spPr>
          <a:xfrm>
            <a:off x="7227949" y="652571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41" name="Line"/>
          <p:cNvSpPr/>
          <p:nvPr/>
        </p:nvSpPr>
        <p:spPr>
          <a:xfrm>
            <a:off x="7799449" y="652571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42" name="Line"/>
          <p:cNvSpPr/>
          <p:nvPr/>
        </p:nvSpPr>
        <p:spPr>
          <a:xfrm>
            <a:off x="8370949" y="652571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43" name="Line"/>
          <p:cNvSpPr/>
          <p:nvPr/>
        </p:nvSpPr>
        <p:spPr>
          <a:xfrm>
            <a:off x="8929749" y="652571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44" name="Line"/>
          <p:cNvSpPr/>
          <p:nvPr/>
        </p:nvSpPr>
        <p:spPr>
          <a:xfrm>
            <a:off x="9505240" y="6525714"/>
            <a:ext cx="550692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45" name="Line"/>
          <p:cNvSpPr/>
          <p:nvPr/>
        </p:nvSpPr>
        <p:spPr>
          <a:xfrm>
            <a:off x="10060049" y="652571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46" name="Line"/>
          <p:cNvSpPr/>
          <p:nvPr/>
        </p:nvSpPr>
        <p:spPr>
          <a:xfrm>
            <a:off x="10631549" y="652571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47" name="Line"/>
          <p:cNvSpPr/>
          <p:nvPr/>
        </p:nvSpPr>
        <p:spPr>
          <a:xfrm>
            <a:off x="11214899" y="6525714"/>
            <a:ext cx="54283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48" name="Line"/>
          <p:cNvSpPr/>
          <p:nvPr/>
        </p:nvSpPr>
        <p:spPr>
          <a:xfrm flipV="1">
            <a:off x="7788502" y="6074771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49" name="Line"/>
          <p:cNvSpPr/>
          <p:nvPr/>
        </p:nvSpPr>
        <p:spPr>
          <a:xfrm flipV="1">
            <a:off x="8368465" y="6078491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50" name="Line"/>
          <p:cNvSpPr/>
          <p:nvPr/>
        </p:nvSpPr>
        <p:spPr>
          <a:xfrm flipV="1">
            <a:off x="8934040" y="6073774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51" name="Line"/>
          <p:cNvSpPr/>
          <p:nvPr/>
        </p:nvSpPr>
        <p:spPr>
          <a:xfrm flipV="1">
            <a:off x="9494845" y="6078491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52" name="Line"/>
          <p:cNvSpPr/>
          <p:nvPr/>
        </p:nvSpPr>
        <p:spPr>
          <a:xfrm flipV="1">
            <a:off x="10055082" y="6079488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53" name="Line"/>
          <p:cNvSpPr/>
          <p:nvPr/>
        </p:nvSpPr>
        <p:spPr>
          <a:xfrm flipV="1">
            <a:off x="10622345" y="6083208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54" name="Line"/>
          <p:cNvSpPr/>
          <p:nvPr/>
        </p:nvSpPr>
        <p:spPr>
          <a:xfrm flipV="1">
            <a:off x="11200620" y="6078491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55" name="Line"/>
          <p:cNvSpPr/>
          <p:nvPr/>
        </p:nvSpPr>
        <p:spPr>
          <a:xfrm>
            <a:off x="7242486" y="7432213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56" name="Line"/>
          <p:cNvSpPr/>
          <p:nvPr/>
        </p:nvSpPr>
        <p:spPr>
          <a:xfrm>
            <a:off x="7813986" y="7432213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57" name="Line"/>
          <p:cNvSpPr/>
          <p:nvPr/>
        </p:nvSpPr>
        <p:spPr>
          <a:xfrm>
            <a:off x="8385486" y="7432213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58" name="Line"/>
          <p:cNvSpPr/>
          <p:nvPr/>
        </p:nvSpPr>
        <p:spPr>
          <a:xfrm>
            <a:off x="8944286" y="7432213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59" name="Line"/>
          <p:cNvSpPr/>
          <p:nvPr/>
        </p:nvSpPr>
        <p:spPr>
          <a:xfrm>
            <a:off x="9519777" y="7432213"/>
            <a:ext cx="55069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60" name="Line"/>
          <p:cNvSpPr/>
          <p:nvPr/>
        </p:nvSpPr>
        <p:spPr>
          <a:xfrm>
            <a:off x="10074586" y="7432213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61" name="Line"/>
          <p:cNvSpPr/>
          <p:nvPr/>
        </p:nvSpPr>
        <p:spPr>
          <a:xfrm>
            <a:off x="10646086" y="7432213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62" name="Line"/>
          <p:cNvSpPr/>
          <p:nvPr/>
        </p:nvSpPr>
        <p:spPr>
          <a:xfrm>
            <a:off x="11229437" y="7432213"/>
            <a:ext cx="542832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63" name="Line"/>
          <p:cNvSpPr/>
          <p:nvPr/>
        </p:nvSpPr>
        <p:spPr>
          <a:xfrm flipV="1">
            <a:off x="7803040" y="6981270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64" name="Line"/>
          <p:cNvSpPr/>
          <p:nvPr/>
        </p:nvSpPr>
        <p:spPr>
          <a:xfrm flipV="1">
            <a:off x="8370303" y="698498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65" name="Line"/>
          <p:cNvSpPr/>
          <p:nvPr/>
        </p:nvSpPr>
        <p:spPr>
          <a:xfrm flipV="1">
            <a:off x="8948577" y="6980273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66" name="Line"/>
          <p:cNvSpPr/>
          <p:nvPr/>
        </p:nvSpPr>
        <p:spPr>
          <a:xfrm flipV="1">
            <a:off x="9509382" y="698498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67" name="Line"/>
          <p:cNvSpPr/>
          <p:nvPr/>
        </p:nvSpPr>
        <p:spPr>
          <a:xfrm flipV="1">
            <a:off x="10069619" y="6985986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68" name="Line"/>
          <p:cNvSpPr/>
          <p:nvPr/>
        </p:nvSpPr>
        <p:spPr>
          <a:xfrm flipV="1">
            <a:off x="10636882" y="6989706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69" name="Line"/>
          <p:cNvSpPr/>
          <p:nvPr/>
        </p:nvSpPr>
        <p:spPr>
          <a:xfrm flipV="1">
            <a:off x="11215157" y="698498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70" name="Line"/>
          <p:cNvSpPr/>
          <p:nvPr/>
        </p:nvSpPr>
        <p:spPr>
          <a:xfrm>
            <a:off x="7250841" y="8332289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71" name="Line"/>
          <p:cNvSpPr/>
          <p:nvPr/>
        </p:nvSpPr>
        <p:spPr>
          <a:xfrm>
            <a:off x="7822341" y="8332289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72" name="Line"/>
          <p:cNvSpPr/>
          <p:nvPr/>
        </p:nvSpPr>
        <p:spPr>
          <a:xfrm>
            <a:off x="8393841" y="8332289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73" name="Line"/>
          <p:cNvSpPr/>
          <p:nvPr/>
        </p:nvSpPr>
        <p:spPr>
          <a:xfrm>
            <a:off x="8952641" y="8332289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74" name="Line"/>
          <p:cNvSpPr/>
          <p:nvPr/>
        </p:nvSpPr>
        <p:spPr>
          <a:xfrm>
            <a:off x="9528132" y="8332289"/>
            <a:ext cx="550692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75" name="Line"/>
          <p:cNvSpPr/>
          <p:nvPr/>
        </p:nvSpPr>
        <p:spPr>
          <a:xfrm>
            <a:off x="10082941" y="8332289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76" name="Line"/>
          <p:cNvSpPr/>
          <p:nvPr/>
        </p:nvSpPr>
        <p:spPr>
          <a:xfrm>
            <a:off x="10654441" y="8332289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77" name="Line"/>
          <p:cNvSpPr/>
          <p:nvPr/>
        </p:nvSpPr>
        <p:spPr>
          <a:xfrm>
            <a:off x="11237791" y="8332289"/>
            <a:ext cx="54283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78" name="Line"/>
          <p:cNvSpPr/>
          <p:nvPr/>
        </p:nvSpPr>
        <p:spPr>
          <a:xfrm flipV="1">
            <a:off x="7811394" y="7881346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79" name="Line"/>
          <p:cNvSpPr/>
          <p:nvPr/>
        </p:nvSpPr>
        <p:spPr>
          <a:xfrm flipV="1">
            <a:off x="8378657" y="7885065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80" name="Line"/>
          <p:cNvSpPr/>
          <p:nvPr/>
        </p:nvSpPr>
        <p:spPr>
          <a:xfrm flipV="1">
            <a:off x="8956932" y="788034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81" name="Line"/>
          <p:cNvSpPr/>
          <p:nvPr/>
        </p:nvSpPr>
        <p:spPr>
          <a:xfrm flipV="1">
            <a:off x="9517736" y="7885065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82" name="Line"/>
          <p:cNvSpPr/>
          <p:nvPr/>
        </p:nvSpPr>
        <p:spPr>
          <a:xfrm flipV="1">
            <a:off x="10077974" y="7886062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83" name="Line"/>
          <p:cNvSpPr/>
          <p:nvPr/>
        </p:nvSpPr>
        <p:spPr>
          <a:xfrm flipV="1">
            <a:off x="10645237" y="7889782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84" name="Line"/>
          <p:cNvSpPr/>
          <p:nvPr/>
        </p:nvSpPr>
        <p:spPr>
          <a:xfrm flipV="1">
            <a:off x="11223511" y="7885065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85" name="Line"/>
          <p:cNvSpPr/>
          <p:nvPr/>
        </p:nvSpPr>
        <p:spPr>
          <a:xfrm>
            <a:off x="11768041" y="56315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86" name="0"/>
          <p:cNvSpPr txBox="1"/>
          <p:nvPr/>
        </p:nvSpPr>
        <p:spPr>
          <a:xfrm>
            <a:off x="12201146" y="528954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2187" name="Line"/>
          <p:cNvSpPr/>
          <p:nvPr/>
        </p:nvSpPr>
        <p:spPr>
          <a:xfrm>
            <a:off x="11793866" y="65332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88" name="0"/>
          <p:cNvSpPr txBox="1"/>
          <p:nvPr/>
        </p:nvSpPr>
        <p:spPr>
          <a:xfrm>
            <a:off x="12226971" y="619124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2189" name="Line"/>
          <p:cNvSpPr/>
          <p:nvPr/>
        </p:nvSpPr>
        <p:spPr>
          <a:xfrm>
            <a:off x="11793441" y="74349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90" name="0"/>
          <p:cNvSpPr txBox="1"/>
          <p:nvPr/>
        </p:nvSpPr>
        <p:spPr>
          <a:xfrm>
            <a:off x="12226546" y="709294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2191" name="Line"/>
          <p:cNvSpPr/>
          <p:nvPr/>
        </p:nvSpPr>
        <p:spPr>
          <a:xfrm>
            <a:off x="11806141" y="834299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92" name="0"/>
          <p:cNvSpPr txBox="1"/>
          <p:nvPr/>
        </p:nvSpPr>
        <p:spPr>
          <a:xfrm>
            <a:off x="12239246" y="8000999"/>
            <a:ext cx="26969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/>
            </a:lvl1pPr>
          </a:lstStyle>
          <a:p>
            <a:r>
              <a:t>0</a:t>
            </a:r>
          </a:p>
        </p:txBody>
      </p:sp>
      <p:sp>
        <p:nvSpPr>
          <p:cNvPr id="2193" name="Line"/>
          <p:cNvSpPr/>
          <p:nvPr/>
        </p:nvSpPr>
        <p:spPr>
          <a:xfrm flipV="1">
            <a:off x="11769675" y="608066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94" name="Line"/>
          <p:cNvSpPr/>
          <p:nvPr/>
        </p:nvSpPr>
        <p:spPr>
          <a:xfrm flipV="1">
            <a:off x="11784212" y="6987168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95" name="Line"/>
          <p:cNvSpPr/>
          <p:nvPr/>
        </p:nvSpPr>
        <p:spPr>
          <a:xfrm flipV="1">
            <a:off x="11786508" y="7894684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96" name="Line"/>
          <p:cNvSpPr/>
          <p:nvPr/>
        </p:nvSpPr>
        <p:spPr>
          <a:xfrm flipV="1">
            <a:off x="4933295" y="2459165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97" name="Line"/>
          <p:cNvSpPr/>
          <p:nvPr/>
        </p:nvSpPr>
        <p:spPr>
          <a:xfrm flipV="1">
            <a:off x="5494100" y="2463882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98" name="Line"/>
          <p:cNvSpPr/>
          <p:nvPr/>
        </p:nvSpPr>
        <p:spPr>
          <a:xfrm flipV="1">
            <a:off x="6054337" y="2464879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199" name="Line"/>
          <p:cNvSpPr/>
          <p:nvPr/>
        </p:nvSpPr>
        <p:spPr>
          <a:xfrm flipV="1">
            <a:off x="6621600" y="2468598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00" name="Line"/>
          <p:cNvSpPr/>
          <p:nvPr/>
        </p:nvSpPr>
        <p:spPr>
          <a:xfrm flipV="1">
            <a:off x="7199875" y="2463882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01" name="Line"/>
          <p:cNvSpPr/>
          <p:nvPr/>
        </p:nvSpPr>
        <p:spPr>
          <a:xfrm flipV="1">
            <a:off x="4379576" y="3371527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02" name="Line"/>
          <p:cNvSpPr/>
          <p:nvPr/>
        </p:nvSpPr>
        <p:spPr>
          <a:xfrm flipV="1">
            <a:off x="4945151" y="3366810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03" name="Line"/>
          <p:cNvSpPr/>
          <p:nvPr/>
        </p:nvSpPr>
        <p:spPr>
          <a:xfrm flipV="1">
            <a:off x="5505956" y="3371527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04" name="Line"/>
          <p:cNvSpPr/>
          <p:nvPr/>
        </p:nvSpPr>
        <p:spPr>
          <a:xfrm flipV="1">
            <a:off x="6066193" y="3372523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05" name="Line"/>
          <p:cNvSpPr/>
          <p:nvPr/>
        </p:nvSpPr>
        <p:spPr>
          <a:xfrm flipV="1">
            <a:off x="6633456" y="3376243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06" name="Line"/>
          <p:cNvSpPr/>
          <p:nvPr/>
        </p:nvSpPr>
        <p:spPr>
          <a:xfrm flipV="1">
            <a:off x="7211731" y="3371527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07" name="Line"/>
          <p:cNvSpPr/>
          <p:nvPr/>
        </p:nvSpPr>
        <p:spPr>
          <a:xfrm flipV="1">
            <a:off x="3811353" y="4276664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08" name="Line"/>
          <p:cNvSpPr/>
          <p:nvPr/>
        </p:nvSpPr>
        <p:spPr>
          <a:xfrm flipV="1">
            <a:off x="4391316" y="4280384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09" name="Line"/>
          <p:cNvSpPr/>
          <p:nvPr/>
        </p:nvSpPr>
        <p:spPr>
          <a:xfrm flipV="1">
            <a:off x="4956891" y="4275667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10" name="Line"/>
          <p:cNvSpPr/>
          <p:nvPr/>
        </p:nvSpPr>
        <p:spPr>
          <a:xfrm flipV="1">
            <a:off x="3813463" y="5208037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11" name="Line"/>
          <p:cNvSpPr/>
          <p:nvPr/>
        </p:nvSpPr>
        <p:spPr>
          <a:xfrm flipV="1">
            <a:off x="4393426" y="5211757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12" name="Line"/>
          <p:cNvSpPr/>
          <p:nvPr/>
        </p:nvSpPr>
        <p:spPr>
          <a:xfrm flipV="1">
            <a:off x="4959001" y="5207041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13" name="Line"/>
          <p:cNvSpPr/>
          <p:nvPr/>
        </p:nvSpPr>
        <p:spPr>
          <a:xfrm flipV="1">
            <a:off x="3250480" y="5198614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14" name="Line"/>
          <p:cNvSpPr/>
          <p:nvPr/>
        </p:nvSpPr>
        <p:spPr>
          <a:xfrm flipV="1">
            <a:off x="3813463" y="6095379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15" name="Line"/>
          <p:cNvSpPr/>
          <p:nvPr/>
        </p:nvSpPr>
        <p:spPr>
          <a:xfrm flipV="1">
            <a:off x="4393426" y="6099099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16" name="Line"/>
          <p:cNvSpPr/>
          <p:nvPr/>
        </p:nvSpPr>
        <p:spPr>
          <a:xfrm flipV="1">
            <a:off x="4959001" y="6094382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17" name="Line"/>
          <p:cNvSpPr/>
          <p:nvPr/>
        </p:nvSpPr>
        <p:spPr>
          <a:xfrm flipV="1">
            <a:off x="2672205" y="6090672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18" name="Line"/>
          <p:cNvSpPr/>
          <p:nvPr/>
        </p:nvSpPr>
        <p:spPr>
          <a:xfrm flipV="1">
            <a:off x="3250480" y="6085956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19" name="Line"/>
          <p:cNvSpPr/>
          <p:nvPr/>
        </p:nvSpPr>
        <p:spPr>
          <a:xfrm flipV="1">
            <a:off x="2104521" y="6990200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20" name="Line"/>
          <p:cNvSpPr/>
          <p:nvPr/>
        </p:nvSpPr>
        <p:spPr>
          <a:xfrm flipV="1">
            <a:off x="2670095" y="6985483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21" name="Line"/>
          <p:cNvSpPr/>
          <p:nvPr/>
        </p:nvSpPr>
        <p:spPr>
          <a:xfrm flipV="1">
            <a:off x="1540163" y="7854180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22" name="Line"/>
          <p:cNvSpPr/>
          <p:nvPr/>
        </p:nvSpPr>
        <p:spPr>
          <a:xfrm flipV="1">
            <a:off x="2120126" y="7857900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23" name="Line"/>
          <p:cNvSpPr/>
          <p:nvPr/>
        </p:nvSpPr>
        <p:spPr>
          <a:xfrm flipV="1">
            <a:off x="2685701" y="7853183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</p:spTree>
  </p:cSld>
  <p:clrMapOvr>
    <a:masterClrMapping/>
  </p:clrMapOvr>
  <p:transition spd="med" advClick="0" advTm="0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6" dur="1250" fill="hold"/>
                                        <p:tgtEl>
                                          <p:spTgt spid="19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xit" presetSubtype="4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0" dur="1250" fill="hold"/>
                                        <p:tgtEl>
                                          <p:spTgt spid="19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xit" presetSubtype="4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4" dur="1250" fill="hold"/>
                                        <p:tgtEl>
                                          <p:spTgt spid="20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750"/>
                            </p:stCondLst>
                            <p:childTnLst>
                              <p:par>
                                <p:cTn id="17" presetID="22" presetClass="exit" presetSubtype="4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8" dur="1250" fill="hold"/>
                                        <p:tgtEl>
                                          <p:spTgt spid="20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22" presetClass="exit" presetSubtype="4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22" dur="1250" fill="hold"/>
                                        <p:tgtEl>
                                          <p:spTgt spid="20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250"/>
                            </p:stCondLst>
                            <p:childTnLst>
                              <p:par>
                                <p:cTn id="25" presetID="22" presetClass="exit" presetSubtype="4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26" dur="1250" fill="hold"/>
                                        <p:tgtEl>
                                          <p:spTgt spid="20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500"/>
                            </p:stCondLst>
                            <p:childTnLst>
                              <p:par>
                                <p:cTn id="29" presetID="22" presetClass="exit" presetSubtype="4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30" dur="1250" fill="hold"/>
                                        <p:tgtEl>
                                          <p:spTgt spid="2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8750"/>
                            </p:stCondLst>
                            <p:childTnLst>
                              <p:par>
                                <p:cTn id="33" presetID="22" presetClass="exit" presetSubtype="4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34" dur="1250" fill="hold"/>
                                        <p:tgtEl>
                                          <p:spTgt spid="2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0"/>
                            </p:stCondLst>
                            <p:childTnLst>
                              <p:par>
                                <p:cTn id="37" presetID="22" presetClass="exit" presetSubtype="4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38" dur="1250" fill="hold"/>
                                        <p:tgtEl>
                                          <p:spTgt spid="20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1250"/>
                            </p:stCondLst>
                            <p:childTnLst>
                              <p:par>
                                <p:cTn id="41" presetID="22" presetClass="exit" presetSubtype="4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42" dur="1250" fill="hold"/>
                                        <p:tgtEl>
                                          <p:spTgt spid="20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2500"/>
                            </p:stCondLst>
                            <p:childTnLst>
                              <p:par>
                                <p:cTn id="45" presetID="22" presetClass="exit" presetSubtype="4" fill="hold" grpId="1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46" dur="1250" fill="hold"/>
                                        <p:tgtEl>
                                          <p:spTgt spid="20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3750"/>
                            </p:stCondLst>
                            <p:childTnLst>
                              <p:par>
                                <p:cTn id="49" presetID="22" presetClass="exit" presetSubtype="4" fill="hold" grpId="1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50" dur="1250" fill="hold"/>
                                        <p:tgtEl>
                                          <p:spTgt spid="20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0"/>
                            </p:stCondLst>
                            <p:childTnLst>
                              <p:par>
                                <p:cTn id="53" presetID="22" presetClass="exit" presetSubtype="4" fill="hold" grpId="1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54" dur="1250" fill="hold"/>
                                        <p:tgtEl>
                                          <p:spTgt spid="2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6250"/>
                            </p:stCondLst>
                            <p:childTnLst>
                              <p:par>
                                <p:cTn id="57" presetID="22" presetClass="exit" presetSubtype="4" fill="hold" grpId="1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58" dur="1250" fill="hold"/>
                                        <p:tgtEl>
                                          <p:spTgt spid="2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7500"/>
                            </p:stCondLst>
                            <p:childTnLst>
                              <p:par>
                                <p:cTn id="61" presetID="22" presetClass="exit" presetSubtype="4" fill="hold" grpId="1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62" dur="1250" fill="hold"/>
                                        <p:tgtEl>
                                          <p:spTgt spid="2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8750"/>
                            </p:stCondLst>
                            <p:childTnLst>
                              <p:par>
                                <p:cTn id="65" presetID="22" presetClass="exit" presetSubtype="4" fill="hold" grpId="1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66" dur="1250" fill="hold"/>
                                        <p:tgtEl>
                                          <p:spTgt spid="20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0"/>
                            </p:stCondLst>
                            <p:childTnLst>
                              <p:par>
                                <p:cTn id="69" presetID="22" presetClass="exit" presetSubtype="4" fill="hold" grpId="1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70" dur="1250" fill="hold"/>
                                        <p:tgtEl>
                                          <p:spTgt spid="2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1250"/>
                            </p:stCondLst>
                            <p:childTnLst>
                              <p:par>
                                <p:cTn id="73" presetID="22" presetClass="exit" presetSubtype="4" fill="hold" grpId="1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74" dur="1250" fill="hold"/>
                                        <p:tgtEl>
                                          <p:spTgt spid="2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2500"/>
                            </p:stCondLst>
                            <p:childTnLst>
                              <p:par>
                                <p:cTn id="77" presetID="22" presetClass="exit" presetSubtype="4" fill="hold" grpId="1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78" dur="1250" fill="hold"/>
                                        <p:tgtEl>
                                          <p:spTgt spid="2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3750"/>
                            </p:stCondLst>
                            <p:childTnLst>
                              <p:par>
                                <p:cTn id="81" presetID="22" presetClass="exit" presetSubtype="4" fill="hold" grpId="2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82" dur="1250" fill="hold"/>
                                        <p:tgtEl>
                                          <p:spTgt spid="20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5000"/>
                            </p:stCondLst>
                            <p:childTnLst>
                              <p:par>
                                <p:cTn id="85" presetID="22" presetClass="exit" presetSubtype="4" fill="hold" grpId="2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86" dur="1250" fill="hold"/>
                                        <p:tgtEl>
                                          <p:spTgt spid="2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6250"/>
                            </p:stCondLst>
                            <p:childTnLst>
                              <p:par>
                                <p:cTn id="89" presetID="22" presetClass="exit" presetSubtype="4" fill="hold" grpId="2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90" dur="1250" fill="hold"/>
                                        <p:tgtEl>
                                          <p:spTgt spid="2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7500"/>
                            </p:stCondLst>
                            <p:childTnLst>
                              <p:par>
                                <p:cTn id="93" presetID="22" presetClass="exit" presetSubtype="4" fill="hold" grpId="2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94" dur="1250" fill="hold"/>
                                        <p:tgtEl>
                                          <p:spTgt spid="2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8750"/>
                            </p:stCondLst>
                            <p:childTnLst>
                              <p:par>
                                <p:cTn id="97" presetID="22" presetClass="exit" presetSubtype="4" fill="hold" grpId="2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98" dur="1250" fill="hold"/>
                                        <p:tgtEl>
                                          <p:spTgt spid="2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30000"/>
                            </p:stCondLst>
                            <p:childTnLst>
                              <p:par>
                                <p:cTn id="101" presetID="22" presetClass="exit" presetSubtype="4" fill="hold" grpId="2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02" dur="1250" fill="hold"/>
                                        <p:tgtEl>
                                          <p:spTgt spid="2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31250"/>
                            </p:stCondLst>
                            <p:childTnLst>
                              <p:par>
                                <p:cTn id="105" presetID="22" presetClass="exit" presetSubtype="4" fill="hold" grpId="2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06" dur="1250" fill="hold"/>
                                        <p:tgtEl>
                                          <p:spTgt spid="2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32500"/>
                            </p:stCondLst>
                            <p:childTnLst>
                              <p:par>
                                <p:cTn id="109" presetID="22" presetClass="exit" presetSubtype="4" fill="hold" grpId="2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10" dur="1250" fill="hold"/>
                                        <p:tgtEl>
                                          <p:spTgt spid="2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33750"/>
                            </p:stCondLst>
                            <p:childTnLst>
                              <p:par>
                                <p:cTn id="113" presetID="22" presetClass="exit" presetSubtype="4" fill="hold" grpId="2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14" dur="1250" fill="hold"/>
                                        <p:tgtEl>
                                          <p:spTgt spid="2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35000"/>
                            </p:stCondLst>
                            <p:childTnLst>
                              <p:par>
                                <p:cTn id="117" presetID="22" presetClass="exit" presetSubtype="4" fill="hold" grpId="2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18" dur="1250" fill="hold"/>
                                        <p:tgtEl>
                                          <p:spTgt spid="2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36250"/>
                            </p:stCondLst>
                            <p:childTnLst>
                              <p:par>
                                <p:cTn id="121" presetID="22" presetClass="exit" presetSubtype="4" fill="hold" grpId="3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22" dur="1250" fill="hold"/>
                                        <p:tgtEl>
                                          <p:spTgt spid="2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37500"/>
                            </p:stCondLst>
                            <p:childTnLst>
                              <p:par>
                                <p:cTn id="125" presetID="22" presetClass="exit" presetSubtype="4" fill="hold" grpId="3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26" dur="1250" fill="hold"/>
                                        <p:tgtEl>
                                          <p:spTgt spid="2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38750"/>
                            </p:stCondLst>
                            <p:childTnLst>
                              <p:par>
                                <p:cTn id="129" presetID="22" presetClass="exit" presetSubtype="4" fill="hold" grpId="3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30" dur="1250" fill="hold"/>
                                        <p:tgtEl>
                                          <p:spTgt spid="2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40000"/>
                            </p:stCondLst>
                            <p:childTnLst>
                              <p:par>
                                <p:cTn id="133" presetID="22" presetClass="exit" presetSubtype="4" fill="hold" grpId="3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34" dur="1250" fill="hold"/>
                                        <p:tgtEl>
                                          <p:spTgt spid="2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41250"/>
                            </p:stCondLst>
                            <p:childTnLst>
                              <p:par>
                                <p:cTn id="137" presetID="22" presetClass="exit" presetSubtype="4" fill="hold" grpId="3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38" dur="1250" fill="hold"/>
                                        <p:tgtEl>
                                          <p:spTgt spid="21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42500"/>
                            </p:stCondLst>
                            <p:childTnLst>
                              <p:par>
                                <p:cTn id="141" presetID="22" presetClass="exit" presetSubtype="4" fill="hold" grpId="3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42" dur="1250" fill="hold"/>
                                        <p:tgtEl>
                                          <p:spTgt spid="21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43750"/>
                            </p:stCondLst>
                            <p:childTnLst>
                              <p:par>
                                <p:cTn id="145" presetID="22" presetClass="exit" presetSubtype="4" fill="hold" grpId="3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46" dur="1250" fill="hold"/>
                                        <p:tgtEl>
                                          <p:spTgt spid="21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45000"/>
                            </p:stCondLst>
                            <p:childTnLst>
                              <p:par>
                                <p:cTn id="149" presetID="22" presetClass="exit" presetSubtype="4" fill="hold" grpId="3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50" dur="1250" fill="hold"/>
                                        <p:tgtEl>
                                          <p:spTgt spid="21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46250"/>
                            </p:stCondLst>
                            <p:childTnLst>
                              <p:par>
                                <p:cTn id="153" presetID="22" presetClass="exit" presetSubtype="4" fill="hold" grpId="3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54" dur="1250" fill="hold"/>
                                        <p:tgtEl>
                                          <p:spTgt spid="21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47500"/>
                            </p:stCondLst>
                            <p:childTnLst>
                              <p:par>
                                <p:cTn id="157" presetID="22" presetClass="exit" presetSubtype="4" fill="hold" grpId="3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58" dur="1250" fill="hold"/>
                                        <p:tgtEl>
                                          <p:spTgt spid="21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48750"/>
                            </p:stCondLst>
                            <p:childTnLst>
                              <p:par>
                                <p:cTn id="161" presetID="22" presetClass="exit" presetSubtype="4" fill="hold" grpId="4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62" dur="1250" fill="hold"/>
                                        <p:tgtEl>
                                          <p:spTgt spid="2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00"/>
                            </p:stCondLst>
                            <p:childTnLst>
                              <p:par>
                                <p:cTn id="165" presetID="22" presetClass="exit" presetSubtype="4" fill="hold" grpId="4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66" dur="1250" fill="hold"/>
                                        <p:tgtEl>
                                          <p:spTgt spid="2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51250"/>
                            </p:stCondLst>
                            <p:childTnLst>
                              <p:par>
                                <p:cTn id="169" presetID="22" presetClass="exit" presetSubtype="4" fill="hold" grpId="4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70" dur="1250" fill="hold"/>
                                        <p:tgtEl>
                                          <p:spTgt spid="2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52500"/>
                            </p:stCondLst>
                            <p:childTnLst>
                              <p:par>
                                <p:cTn id="173" presetID="22" presetClass="exit" presetSubtype="4" fill="hold" grpId="4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74" dur="1250" fill="hold"/>
                                        <p:tgtEl>
                                          <p:spTgt spid="21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53750"/>
                            </p:stCondLst>
                            <p:childTnLst>
                              <p:par>
                                <p:cTn id="177" presetID="22" presetClass="exit" presetSubtype="4" fill="hold" grpId="4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78" dur="1250" fill="hold"/>
                                        <p:tgtEl>
                                          <p:spTgt spid="21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55000"/>
                            </p:stCondLst>
                            <p:childTnLst>
                              <p:par>
                                <p:cTn id="181" presetID="22" presetClass="exit" presetSubtype="4" fill="hold" grpId="4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82" dur="1250" fill="hold"/>
                                        <p:tgtEl>
                                          <p:spTgt spid="21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56250"/>
                            </p:stCondLst>
                            <p:childTnLst>
                              <p:par>
                                <p:cTn id="185" presetID="22" presetClass="exit" presetSubtype="4" fill="hold" grpId="4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86" dur="1250" fill="hold"/>
                                        <p:tgtEl>
                                          <p:spTgt spid="2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57500"/>
                            </p:stCondLst>
                            <p:childTnLst>
                              <p:par>
                                <p:cTn id="189" presetID="22" presetClass="exit" presetSubtype="4" fill="hold" grpId="4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90" dur="1250" fill="hold"/>
                                        <p:tgtEl>
                                          <p:spTgt spid="21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58750"/>
                            </p:stCondLst>
                            <p:childTnLst>
                              <p:par>
                                <p:cTn id="193" presetID="22" presetClass="exit" presetSubtype="4" fill="hold" grpId="4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94" dur="1250" fill="hold"/>
                                        <p:tgtEl>
                                          <p:spTgt spid="21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60000"/>
                            </p:stCondLst>
                            <p:childTnLst>
                              <p:par>
                                <p:cTn id="197" presetID="22" presetClass="exit" presetSubtype="4" fill="hold" grpId="4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98" dur="1250" fill="hold"/>
                                        <p:tgtEl>
                                          <p:spTgt spid="21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61250"/>
                            </p:stCondLst>
                            <p:childTnLst>
                              <p:par>
                                <p:cTn id="201" presetID="22" presetClass="exit" presetSubtype="4" fill="hold" grpId="5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202" dur="1250" fill="hold"/>
                                        <p:tgtEl>
                                          <p:spTgt spid="21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3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62500"/>
                            </p:stCondLst>
                            <p:childTnLst>
                              <p:par>
                                <p:cTn id="205" presetID="22" presetClass="exit" presetSubtype="4" fill="hold" grpId="5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206" dur="1250" fill="hold"/>
                                        <p:tgtEl>
                                          <p:spTgt spid="21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63750"/>
                            </p:stCondLst>
                            <p:childTnLst>
                              <p:par>
                                <p:cTn id="209" presetID="22" presetClass="exit" presetSubtype="4" fill="hold" grpId="5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210" dur="1250" fill="hold"/>
                                        <p:tgtEl>
                                          <p:spTgt spid="21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65000"/>
                            </p:stCondLst>
                            <p:childTnLst>
                              <p:par>
                                <p:cTn id="213" presetID="22" presetClass="exit" presetSubtype="4" fill="hold" grpId="5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214" dur="1250" fill="hold"/>
                                        <p:tgtEl>
                                          <p:spTgt spid="21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66250"/>
                            </p:stCondLst>
                            <p:childTnLst>
                              <p:par>
                                <p:cTn id="217" presetID="22" presetClass="exit" presetSubtype="4" fill="hold" grpId="5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218" dur="1250" fill="hold"/>
                                        <p:tgtEl>
                                          <p:spTgt spid="2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67500"/>
                            </p:stCondLst>
                            <p:childTnLst>
                              <p:par>
                                <p:cTn id="221" presetID="22" presetClass="exit" presetSubtype="4" fill="hold" grpId="5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222" dur="1250" fill="hold"/>
                                        <p:tgtEl>
                                          <p:spTgt spid="21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68750"/>
                            </p:stCondLst>
                            <p:childTnLst>
                              <p:par>
                                <p:cTn id="225" presetID="22" presetClass="exit" presetSubtype="4" fill="hold" grpId="5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226" dur="1250" fill="hold"/>
                                        <p:tgtEl>
                                          <p:spTgt spid="21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70000"/>
                            </p:stCondLst>
                            <p:childTnLst>
                              <p:par>
                                <p:cTn id="229" presetID="22" presetClass="exit" presetSubtype="4" fill="hold" grpId="5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230" dur="1250" fill="hold"/>
                                        <p:tgtEl>
                                          <p:spTgt spid="2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71250"/>
                            </p:stCondLst>
                            <p:childTnLst>
                              <p:par>
                                <p:cTn id="233" presetID="22" presetClass="exit" presetSubtype="4" fill="hold" grpId="5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234" dur="1250" fill="hold"/>
                                        <p:tgtEl>
                                          <p:spTgt spid="2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72500"/>
                            </p:stCondLst>
                            <p:childTnLst>
                              <p:par>
                                <p:cTn id="237" presetID="22" presetClass="exit" presetSubtype="4" fill="hold" grpId="5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238" dur="1250" fill="hold"/>
                                        <p:tgtEl>
                                          <p:spTgt spid="2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9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73750"/>
                            </p:stCondLst>
                            <p:childTnLst>
                              <p:par>
                                <p:cTn id="241" presetID="22" presetClass="exit" presetSubtype="4" fill="hold" grpId="6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242" dur="1250" fill="hold"/>
                                        <p:tgtEl>
                                          <p:spTgt spid="21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3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75000"/>
                            </p:stCondLst>
                            <p:childTnLst>
                              <p:par>
                                <p:cTn id="245" presetID="22" presetClass="exit" presetSubtype="4" fill="hold" grpId="6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246" dur="1250" fill="hold"/>
                                        <p:tgtEl>
                                          <p:spTgt spid="2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7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76250"/>
                            </p:stCondLst>
                            <p:childTnLst>
                              <p:par>
                                <p:cTn id="249" presetID="22" presetClass="exit" presetSubtype="4" fill="hold" grpId="6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250" dur="1250" fill="hold"/>
                                        <p:tgtEl>
                                          <p:spTgt spid="2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77500"/>
                            </p:stCondLst>
                            <p:childTnLst>
                              <p:par>
                                <p:cTn id="253" presetID="22" presetClass="exit" presetSubtype="4" fill="hold" grpId="6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254" dur="1250" fill="hold"/>
                                        <p:tgtEl>
                                          <p:spTgt spid="21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5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78750"/>
                            </p:stCondLst>
                            <p:childTnLst>
                              <p:par>
                                <p:cTn id="257" presetID="22" presetClass="exit" presetSubtype="4" fill="hold" grpId="6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258" dur="1250" fill="hold"/>
                                        <p:tgtEl>
                                          <p:spTgt spid="2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9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80000"/>
                            </p:stCondLst>
                            <p:childTnLst>
                              <p:par>
                                <p:cTn id="261" presetID="22" presetClass="exit" presetSubtype="4" fill="hold" grpId="6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262" dur="1250" fill="hold"/>
                                        <p:tgtEl>
                                          <p:spTgt spid="2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81250"/>
                            </p:stCondLst>
                            <p:childTnLst>
                              <p:par>
                                <p:cTn id="265" presetID="22" presetClass="exit" presetSubtype="4" fill="hold" grpId="6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266" dur="1250" fill="hold"/>
                                        <p:tgtEl>
                                          <p:spTgt spid="2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7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82500"/>
                            </p:stCondLst>
                            <p:childTnLst>
                              <p:par>
                                <p:cTn id="269" presetID="22" presetClass="exit" presetSubtype="4" fill="hold" grpId="6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270" dur="1250" fill="hold"/>
                                        <p:tgtEl>
                                          <p:spTgt spid="21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83750"/>
                            </p:stCondLst>
                            <p:childTnLst>
                              <p:par>
                                <p:cTn id="273" presetID="22" presetClass="exit" presetSubtype="4" fill="hold" grpId="6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274" dur="1250" fill="hold"/>
                                        <p:tgtEl>
                                          <p:spTgt spid="21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5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>
                            <p:stCondLst>
                              <p:cond delay="85000"/>
                            </p:stCondLst>
                            <p:childTnLst>
                              <p:par>
                                <p:cTn id="277" presetID="22" presetClass="exit" presetSubtype="4" fill="hold" grpId="6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278" dur="1250" fill="hold"/>
                                        <p:tgtEl>
                                          <p:spTgt spid="2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9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86250"/>
                            </p:stCondLst>
                            <p:childTnLst>
                              <p:par>
                                <p:cTn id="281" presetID="22" presetClass="exit" presetSubtype="4" fill="hold" grpId="7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282" dur="1250" fill="hold"/>
                                        <p:tgtEl>
                                          <p:spTgt spid="2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3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87500"/>
                            </p:stCondLst>
                            <p:childTnLst>
                              <p:par>
                                <p:cTn id="285" presetID="22" presetClass="exit" presetSubtype="4" fill="hold" grpId="7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286" dur="1250" fill="hold"/>
                                        <p:tgtEl>
                                          <p:spTgt spid="2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88750"/>
                            </p:stCondLst>
                            <p:childTnLst>
                              <p:par>
                                <p:cTn id="289" presetID="22" presetClass="exit" presetSubtype="4" fill="hold" grpId="7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290" dur="1250" fill="hold"/>
                                        <p:tgtEl>
                                          <p:spTgt spid="2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8" grpId="2" animBg="1" advAuto="0"/>
      <p:bldP spid="1999" grpId="1" animBg="1" advAuto="0"/>
      <p:bldP spid="2012" grpId="5" animBg="1" advAuto="0"/>
      <p:bldP spid="2013" grpId="6" animBg="1" advAuto="0"/>
      <p:bldP spid="2014" grpId="4" animBg="1" advAuto="0"/>
      <p:bldP spid="2022" grpId="12" animBg="1" advAuto="0"/>
      <p:bldP spid="2023" grpId="9" animBg="1" advAuto="0"/>
      <p:bldP spid="2032" grpId="20" animBg="1" advAuto="0"/>
      <p:bldP spid="2033" grpId="16" animBg="1" advAuto="0"/>
      <p:bldP spid="2091" grpId="3" animBg="1" advAuto="0"/>
      <p:bldP spid="2098" grpId="10" animBg="1" advAuto="0"/>
      <p:bldP spid="2099" grpId="11" animBg="1" advAuto="0"/>
      <p:bldP spid="2106" grpId="7" animBg="1" advAuto="0"/>
      <p:bldP spid="2107" grpId="8" animBg="1" advAuto="0"/>
      <p:bldP spid="2113" grpId="17" animBg="1" advAuto="0"/>
      <p:bldP spid="2114" grpId="18" animBg="1" advAuto="0"/>
      <p:bldP spid="2115" grpId="19" animBg="1" advAuto="0"/>
      <p:bldP spid="2121" grpId="14" animBg="1" advAuto="0"/>
      <p:bldP spid="2122" grpId="13" animBg="1" advAuto="0"/>
      <p:bldP spid="2123" grpId="15" animBg="1" advAuto="0"/>
      <p:bldP spid="2128" grpId="26" animBg="1" advAuto="0"/>
      <p:bldP spid="2129" grpId="27" animBg="1" advAuto="0"/>
      <p:bldP spid="2130" grpId="28" animBg="1" advAuto="0"/>
      <p:bldP spid="2131" grpId="29" animBg="1" advAuto="0"/>
      <p:bldP spid="2136" grpId="22" animBg="1" advAuto="0"/>
      <p:bldP spid="2137" grpId="23" animBg="1" advAuto="0"/>
      <p:bldP spid="2138" grpId="21" animBg="1" advAuto="0"/>
      <p:bldP spid="2139" grpId="24" animBg="1" advAuto="0"/>
      <p:bldP spid="2143" grpId="37" animBg="1" advAuto="0"/>
      <p:bldP spid="2144" grpId="38" animBg="1" advAuto="0"/>
      <p:bldP spid="2145" grpId="39" animBg="1" advAuto="0"/>
      <p:bldP spid="2146" grpId="40" animBg="1" advAuto="0"/>
      <p:bldP spid="2147" grpId="41" animBg="1" advAuto="0"/>
      <p:bldP spid="2151" grpId="31" animBg="1" advAuto="0"/>
      <p:bldP spid="2152" grpId="33" animBg="1" advAuto="0"/>
      <p:bldP spid="2153" grpId="35" animBg="1" advAuto="0"/>
      <p:bldP spid="2154" grpId="32" animBg="1" advAuto="0"/>
      <p:bldP spid="2157" grpId="50" animBg="1" advAuto="0"/>
      <p:bldP spid="2158" grpId="51" animBg="1" advAuto="0"/>
      <p:bldP spid="2159" grpId="52" animBg="1" advAuto="0"/>
      <p:bldP spid="2160" grpId="53" animBg="1" advAuto="0"/>
      <p:bldP spid="2161" grpId="54" animBg="1" advAuto="0"/>
      <p:bldP spid="2162" grpId="55" animBg="1" advAuto="0"/>
      <p:bldP spid="2165" grpId="43" animBg="1" advAuto="0"/>
      <p:bldP spid="2166" grpId="44" animBg="1" advAuto="0"/>
      <p:bldP spid="2167" grpId="46" animBg="1" advAuto="0"/>
      <p:bldP spid="2168" grpId="48" animBg="1" advAuto="0"/>
      <p:bldP spid="2169" grpId="45" animBg="1" advAuto="0"/>
      <p:bldP spid="2171" grpId="65" animBg="1" advAuto="0"/>
      <p:bldP spid="2172" grpId="66" animBg="1" advAuto="0"/>
      <p:bldP spid="2173" grpId="67" animBg="1" advAuto="0"/>
      <p:bldP spid="2174" grpId="68" animBg="1" advAuto="0"/>
      <p:bldP spid="2175" grpId="69" animBg="1" advAuto="0"/>
      <p:bldP spid="2176" grpId="70" animBg="1" advAuto="0"/>
      <p:bldP spid="2177" grpId="71" animBg="1" advAuto="0"/>
      <p:bldP spid="2179" grpId="58" animBg="1" advAuto="0"/>
      <p:bldP spid="2180" grpId="57" animBg="1" advAuto="0"/>
      <p:bldP spid="2181" grpId="59" animBg="1" advAuto="0"/>
      <p:bldP spid="2182" grpId="61" animBg="1" advAuto="0"/>
      <p:bldP spid="2183" grpId="62" animBg="1" advAuto="0"/>
      <p:bldP spid="2184" grpId="60" animBg="1" advAuto="0"/>
      <p:bldP spid="2185" grpId="30" animBg="1" advAuto="0"/>
      <p:bldP spid="2186" grpId="25" animBg="1" advAuto="0"/>
      <p:bldP spid="2187" grpId="42" animBg="1" advAuto="0"/>
      <p:bldP spid="2188" grpId="36" animBg="1" advAuto="0"/>
      <p:bldP spid="2189" grpId="56" animBg="1" advAuto="0"/>
      <p:bldP spid="2190" grpId="49" animBg="1" advAuto="0"/>
      <p:bldP spid="2191" grpId="72" animBg="1" advAuto="0"/>
      <p:bldP spid="2192" grpId="64" animBg="1" advAuto="0"/>
      <p:bldP spid="2193" grpId="34" animBg="1" advAuto="0"/>
      <p:bldP spid="2194" grpId="47" animBg="1" advAuto="0"/>
      <p:bldP spid="2195" grpId="63" animBg="1" advAuto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65</a:t>
            </a:fld>
            <a:endParaRPr/>
          </a:p>
        </p:txBody>
      </p:sp>
      <p:sp>
        <p:nvSpPr>
          <p:cNvPr id="2226" name="B[7:0]"/>
          <p:cNvSpPr/>
          <p:nvPr/>
        </p:nvSpPr>
        <p:spPr>
          <a:xfrm>
            <a:off x="7538293" y="1568450"/>
            <a:ext cx="4391026" cy="4572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>
                <a:solidFill>
                  <a:srgbClr val="FFFFFF"/>
                </a:solidFill>
              </a:defRPr>
            </a:lvl1pPr>
          </a:lstStyle>
          <a:p>
            <a:r>
              <a:t>B[7:0]</a:t>
            </a:r>
          </a:p>
        </p:txBody>
      </p:sp>
      <p:sp>
        <p:nvSpPr>
          <p:cNvPr id="2227" name="Line"/>
          <p:cNvSpPr/>
          <p:nvPr/>
        </p:nvSpPr>
        <p:spPr>
          <a:xfrm>
            <a:off x="49243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28" name="Line"/>
          <p:cNvSpPr/>
          <p:nvPr/>
        </p:nvSpPr>
        <p:spPr>
          <a:xfrm>
            <a:off x="54958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29" name="Line"/>
          <p:cNvSpPr/>
          <p:nvPr/>
        </p:nvSpPr>
        <p:spPr>
          <a:xfrm>
            <a:off x="60546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30" name="Line"/>
          <p:cNvSpPr/>
          <p:nvPr/>
        </p:nvSpPr>
        <p:spPr>
          <a:xfrm>
            <a:off x="66261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31" name="Line"/>
          <p:cNvSpPr/>
          <p:nvPr/>
        </p:nvSpPr>
        <p:spPr>
          <a:xfrm>
            <a:off x="71849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32" name="Line"/>
          <p:cNvSpPr/>
          <p:nvPr/>
        </p:nvSpPr>
        <p:spPr>
          <a:xfrm>
            <a:off x="77564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33" name="Line"/>
          <p:cNvSpPr/>
          <p:nvPr/>
        </p:nvSpPr>
        <p:spPr>
          <a:xfrm>
            <a:off x="83279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34" name="Line"/>
          <p:cNvSpPr/>
          <p:nvPr/>
        </p:nvSpPr>
        <p:spPr>
          <a:xfrm>
            <a:off x="88994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35" name="Line"/>
          <p:cNvSpPr/>
          <p:nvPr/>
        </p:nvSpPr>
        <p:spPr>
          <a:xfrm>
            <a:off x="94582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36" name="Line"/>
          <p:cNvSpPr/>
          <p:nvPr/>
        </p:nvSpPr>
        <p:spPr>
          <a:xfrm>
            <a:off x="100297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37" name="Line"/>
          <p:cNvSpPr/>
          <p:nvPr/>
        </p:nvSpPr>
        <p:spPr>
          <a:xfrm>
            <a:off x="105885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38" name="Line"/>
          <p:cNvSpPr/>
          <p:nvPr/>
        </p:nvSpPr>
        <p:spPr>
          <a:xfrm>
            <a:off x="11160075" y="20183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39" name="Line"/>
          <p:cNvSpPr/>
          <p:nvPr/>
        </p:nvSpPr>
        <p:spPr>
          <a:xfrm>
            <a:off x="43914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40" name="Line"/>
          <p:cNvSpPr/>
          <p:nvPr/>
        </p:nvSpPr>
        <p:spPr>
          <a:xfrm>
            <a:off x="49502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41" name="Line"/>
          <p:cNvSpPr/>
          <p:nvPr/>
        </p:nvSpPr>
        <p:spPr>
          <a:xfrm>
            <a:off x="55217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42" name="Line"/>
          <p:cNvSpPr/>
          <p:nvPr/>
        </p:nvSpPr>
        <p:spPr>
          <a:xfrm>
            <a:off x="60805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43" name="Line"/>
          <p:cNvSpPr/>
          <p:nvPr/>
        </p:nvSpPr>
        <p:spPr>
          <a:xfrm>
            <a:off x="66520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44" name="Line"/>
          <p:cNvSpPr/>
          <p:nvPr/>
        </p:nvSpPr>
        <p:spPr>
          <a:xfrm>
            <a:off x="71981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45" name="Line"/>
          <p:cNvSpPr/>
          <p:nvPr/>
        </p:nvSpPr>
        <p:spPr>
          <a:xfrm>
            <a:off x="77696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46" name="Line"/>
          <p:cNvSpPr/>
          <p:nvPr/>
        </p:nvSpPr>
        <p:spPr>
          <a:xfrm>
            <a:off x="83411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47" name="Line"/>
          <p:cNvSpPr/>
          <p:nvPr/>
        </p:nvSpPr>
        <p:spPr>
          <a:xfrm>
            <a:off x="88999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48" name="Line"/>
          <p:cNvSpPr/>
          <p:nvPr/>
        </p:nvSpPr>
        <p:spPr>
          <a:xfrm>
            <a:off x="9475391" y="2920095"/>
            <a:ext cx="550692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49" name="Line"/>
          <p:cNvSpPr/>
          <p:nvPr/>
        </p:nvSpPr>
        <p:spPr>
          <a:xfrm>
            <a:off x="100302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50" name="Line"/>
          <p:cNvSpPr/>
          <p:nvPr/>
        </p:nvSpPr>
        <p:spPr>
          <a:xfrm>
            <a:off x="10601700" y="29200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51" name="Line"/>
          <p:cNvSpPr/>
          <p:nvPr/>
        </p:nvSpPr>
        <p:spPr>
          <a:xfrm>
            <a:off x="38194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52" name="Line"/>
          <p:cNvSpPr/>
          <p:nvPr/>
        </p:nvSpPr>
        <p:spPr>
          <a:xfrm>
            <a:off x="43909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53" name="Line"/>
          <p:cNvSpPr/>
          <p:nvPr/>
        </p:nvSpPr>
        <p:spPr>
          <a:xfrm>
            <a:off x="49497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54" name="Line"/>
          <p:cNvSpPr/>
          <p:nvPr/>
        </p:nvSpPr>
        <p:spPr>
          <a:xfrm>
            <a:off x="55212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55" name="Line"/>
          <p:cNvSpPr/>
          <p:nvPr/>
        </p:nvSpPr>
        <p:spPr>
          <a:xfrm>
            <a:off x="60800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56" name="Line"/>
          <p:cNvSpPr/>
          <p:nvPr/>
        </p:nvSpPr>
        <p:spPr>
          <a:xfrm>
            <a:off x="6651575" y="38217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57" name="adjust"/>
          <p:cNvSpPr/>
          <p:nvPr/>
        </p:nvSpPr>
        <p:spPr>
          <a:xfrm>
            <a:off x="5306714" y="42735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2258" name="Line"/>
          <p:cNvSpPr/>
          <p:nvPr/>
        </p:nvSpPr>
        <p:spPr>
          <a:xfrm>
            <a:off x="38321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59" name="Line"/>
          <p:cNvSpPr/>
          <p:nvPr/>
        </p:nvSpPr>
        <p:spPr>
          <a:xfrm>
            <a:off x="44036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60" name="Line"/>
          <p:cNvSpPr/>
          <p:nvPr/>
        </p:nvSpPr>
        <p:spPr>
          <a:xfrm>
            <a:off x="49624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61" name="Line"/>
          <p:cNvSpPr/>
          <p:nvPr/>
        </p:nvSpPr>
        <p:spPr>
          <a:xfrm>
            <a:off x="55339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62" name="Line"/>
          <p:cNvSpPr/>
          <p:nvPr/>
        </p:nvSpPr>
        <p:spPr>
          <a:xfrm>
            <a:off x="60927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63" name="Line"/>
          <p:cNvSpPr/>
          <p:nvPr/>
        </p:nvSpPr>
        <p:spPr>
          <a:xfrm>
            <a:off x="66642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64" name="Line"/>
          <p:cNvSpPr/>
          <p:nvPr/>
        </p:nvSpPr>
        <p:spPr>
          <a:xfrm>
            <a:off x="3247975" y="472984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65" name="adjust"/>
          <p:cNvSpPr/>
          <p:nvPr/>
        </p:nvSpPr>
        <p:spPr>
          <a:xfrm>
            <a:off x="5319414" y="518160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2266" name="Line"/>
          <p:cNvSpPr/>
          <p:nvPr/>
        </p:nvSpPr>
        <p:spPr>
          <a:xfrm>
            <a:off x="38321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67" name="Line"/>
          <p:cNvSpPr/>
          <p:nvPr/>
        </p:nvSpPr>
        <p:spPr>
          <a:xfrm>
            <a:off x="44036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68" name="Line"/>
          <p:cNvSpPr/>
          <p:nvPr/>
        </p:nvSpPr>
        <p:spPr>
          <a:xfrm>
            <a:off x="49624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69" name="Line"/>
          <p:cNvSpPr/>
          <p:nvPr/>
        </p:nvSpPr>
        <p:spPr>
          <a:xfrm>
            <a:off x="55339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70" name="Line"/>
          <p:cNvSpPr/>
          <p:nvPr/>
        </p:nvSpPr>
        <p:spPr>
          <a:xfrm>
            <a:off x="60927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71" name="Line"/>
          <p:cNvSpPr/>
          <p:nvPr/>
        </p:nvSpPr>
        <p:spPr>
          <a:xfrm>
            <a:off x="66642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72" name="Line"/>
          <p:cNvSpPr/>
          <p:nvPr/>
        </p:nvSpPr>
        <p:spPr>
          <a:xfrm>
            <a:off x="26764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73" name="Line"/>
          <p:cNvSpPr/>
          <p:nvPr/>
        </p:nvSpPr>
        <p:spPr>
          <a:xfrm>
            <a:off x="3247975" y="5625195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74" name="adjust"/>
          <p:cNvSpPr/>
          <p:nvPr/>
        </p:nvSpPr>
        <p:spPr>
          <a:xfrm>
            <a:off x="5319414" y="60769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2275" name="Line"/>
          <p:cNvSpPr/>
          <p:nvPr/>
        </p:nvSpPr>
        <p:spPr>
          <a:xfrm>
            <a:off x="38194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76" name="Line"/>
          <p:cNvSpPr/>
          <p:nvPr/>
        </p:nvSpPr>
        <p:spPr>
          <a:xfrm>
            <a:off x="43909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77" name="Line"/>
          <p:cNvSpPr/>
          <p:nvPr/>
        </p:nvSpPr>
        <p:spPr>
          <a:xfrm>
            <a:off x="49497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78" name="Line"/>
          <p:cNvSpPr/>
          <p:nvPr/>
        </p:nvSpPr>
        <p:spPr>
          <a:xfrm>
            <a:off x="55212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79" name="Line"/>
          <p:cNvSpPr/>
          <p:nvPr/>
        </p:nvSpPr>
        <p:spPr>
          <a:xfrm>
            <a:off x="60800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80" name="Line"/>
          <p:cNvSpPr/>
          <p:nvPr/>
        </p:nvSpPr>
        <p:spPr>
          <a:xfrm>
            <a:off x="66515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81" name="Line"/>
          <p:cNvSpPr/>
          <p:nvPr/>
        </p:nvSpPr>
        <p:spPr>
          <a:xfrm>
            <a:off x="21049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82" name="Line"/>
          <p:cNvSpPr/>
          <p:nvPr/>
        </p:nvSpPr>
        <p:spPr>
          <a:xfrm>
            <a:off x="26637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83" name="Line"/>
          <p:cNvSpPr/>
          <p:nvPr/>
        </p:nvSpPr>
        <p:spPr>
          <a:xfrm>
            <a:off x="3235275" y="652054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84" name="adjust"/>
          <p:cNvSpPr/>
          <p:nvPr/>
        </p:nvSpPr>
        <p:spPr>
          <a:xfrm>
            <a:off x="5306714" y="697230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2285" name="adjust"/>
          <p:cNvSpPr/>
          <p:nvPr/>
        </p:nvSpPr>
        <p:spPr>
          <a:xfrm>
            <a:off x="3033414" y="697230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grpSp>
        <p:nvGrpSpPr>
          <p:cNvPr id="2290" name="Group"/>
          <p:cNvGrpSpPr/>
          <p:nvPr/>
        </p:nvGrpSpPr>
        <p:grpSpPr>
          <a:xfrm>
            <a:off x="5356842" y="1663699"/>
            <a:ext cx="1958790" cy="431801"/>
            <a:chOff x="-12733" y="-6350"/>
            <a:chExt cx="1958789" cy="431800"/>
          </a:xfrm>
        </p:grpSpPr>
        <p:sp>
          <p:nvSpPr>
            <p:cNvPr id="2286" name="0"/>
            <p:cNvSpPr txBox="1"/>
            <p:nvPr/>
          </p:nvSpPr>
          <p:spPr>
            <a:xfrm>
              <a:off x="1676366" y="-6351"/>
              <a:ext cx="269690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/>
              </a:lvl1pPr>
            </a:lstStyle>
            <a:p>
              <a:r>
                <a:t>0</a:t>
              </a:r>
            </a:p>
          </p:txBody>
        </p:sp>
        <p:sp>
          <p:nvSpPr>
            <p:cNvPr id="2287" name="0"/>
            <p:cNvSpPr txBox="1"/>
            <p:nvPr/>
          </p:nvSpPr>
          <p:spPr>
            <a:xfrm>
              <a:off x="1113346" y="-6351"/>
              <a:ext cx="269690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/>
              </a:lvl1pPr>
            </a:lstStyle>
            <a:p>
              <a:r>
                <a:t>0</a:t>
              </a:r>
            </a:p>
          </p:txBody>
        </p:sp>
        <p:sp>
          <p:nvSpPr>
            <p:cNvPr id="2288" name="0"/>
            <p:cNvSpPr txBox="1"/>
            <p:nvPr/>
          </p:nvSpPr>
          <p:spPr>
            <a:xfrm>
              <a:off x="558867" y="-6351"/>
              <a:ext cx="269690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/>
              </a:lvl1pPr>
            </a:lstStyle>
            <a:p>
              <a:r>
                <a:t>0</a:t>
              </a:r>
            </a:p>
          </p:txBody>
        </p:sp>
        <p:sp>
          <p:nvSpPr>
            <p:cNvPr id="2289" name="0"/>
            <p:cNvSpPr txBox="1"/>
            <p:nvPr/>
          </p:nvSpPr>
          <p:spPr>
            <a:xfrm>
              <a:off x="-12734" y="-6351"/>
              <a:ext cx="269689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/>
              </a:lvl1pPr>
            </a:lstStyle>
            <a:p>
              <a:r>
                <a:t>0</a:t>
              </a:r>
            </a:p>
          </p:txBody>
        </p:sp>
      </p:grpSp>
      <p:sp>
        <p:nvSpPr>
          <p:cNvPr id="2291" name="Line"/>
          <p:cNvSpPr/>
          <p:nvPr/>
        </p:nvSpPr>
        <p:spPr>
          <a:xfrm>
            <a:off x="38336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92" name="Line"/>
          <p:cNvSpPr/>
          <p:nvPr/>
        </p:nvSpPr>
        <p:spPr>
          <a:xfrm>
            <a:off x="44051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93" name="Line"/>
          <p:cNvSpPr/>
          <p:nvPr/>
        </p:nvSpPr>
        <p:spPr>
          <a:xfrm>
            <a:off x="49639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94" name="Line"/>
          <p:cNvSpPr/>
          <p:nvPr/>
        </p:nvSpPr>
        <p:spPr>
          <a:xfrm>
            <a:off x="55354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95" name="Line"/>
          <p:cNvSpPr/>
          <p:nvPr/>
        </p:nvSpPr>
        <p:spPr>
          <a:xfrm>
            <a:off x="60942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96" name="Line"/>
          <p:cNvSpPr/>
          <p:nvPr/>
        </p:nvSpPr>
        <p:spPr>
          <a:xfrm>
            <a:off x="66657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97" name="Line"/>
          <p:cNvSpPr/>
          <p:nvPr/>
        </p:nvSpPr>
        <p:spPr>
          <a:xfrm>
            <a:off x="15476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98" name="Line"/>
          <p:cNvSpPr/>
          <p:nvPr/>
        </p:nvSpPr>
        <p:spPr>
          <a:xfrm>
            <a:off x="21191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299" name="Line"/>
          <p:cNvSpPr/>
          <p:nvPr/>
        </p:nvSpPr>
        <p:spPr>
          <a:xfrm>
            <a:off x="26779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00" name="Line"/>
          <p:cNvSpPr/>
          <p:nvPr/>
        </p:nvSpPr>
        <p:spPr>
          <a:xfrm>
            <a:off x="3249466" y="7428596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01" name="adjust"/>
          <p:cNvSpPr/>
          <p:nvPr/>
        </p:nvSpPr>
        <p:spPr>
          <a:xfrm>
            <a:off x="5320906" y="7880350"/>
            <a:ext cx="2114104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2302" name="adjust"/>
          <p:cNvSpPr/>
          <p:nvPr/>
        </p:nvSpPr>
        <p:spPr>
          <a:xfrm>
            <a:off x="3047606" y="7880350"/>
            <a:ext cx="2114104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2303" name="Line"/>
          <p:cNvSpPr/>
          <p:nvPr/>
        </p:nvSpPr>
        <p:spPr>
          <a:xfrm>
            <a:off x="32522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04" name="Line"/>
          <p:cNvSpPr/>
          <p:nvPr/>
        </p:nvSpPr>
        <p:spPr>
          <a:xfrm>
            <a:off x="38237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05" name="Line"/>
          <p:cNvSpPr/>
          <p:nvPr/>
        </p:nvSpPr>
        <p:spPr>
          <a:xfrm>
            <a:off x="43825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06" name="Line"/>
          <p:cNvSpPr/>
          <p:nvPr/>
        </p:nvSpPr>
        <p:spPr>
          <a:xfrm>
            <a:off x="49540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07" name="Line"/>
          <p:cNvSpPr/>
          <p:nvPr/>
        </p:nvSpPr>
        <p:spPr>
          <a:xfrm>
            <a:off x="55128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08" name="Line"/>
          <p:cNvSpPr/>
          <p:nvPr/>
        </p:nvSpPr>
        <p:spPr>
          <a:xfrm>
            <a:off x="60843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09" name="Line"/>
          <p:cNvSpPr/>
          <p:nvPr/>
        </p:nvSpPr>
        <p:spPr>
          <a:xfrm>
            <a:off x="6643197" y="8319404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10" name="Line"/>
          <p:cNvSpPr/>
          <p:nvPr/>
        </p:nvSpPr>
        <p:spPr>
          <a:xfrm>
            <a:off x="9662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11" name="Line"/>
          <p:cNvSpPr/>
          <p:nvPr/>
        </p:nvSpPr>
        <p:spPr>
          <a:xfrm>
            <a:off x="15377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12" name="Line"/>
          <p:cNvSpPr/>
          <p:nvPr/>
        </p:nvSpPr>
        <p:spPr>
          <a:xfrm>
            <a:off x="20965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13" name="Line"/>
          <p:cNvSpPr/>
          <p:nvPr/>
        </p:nvSpPr>
        <p:spPr>
          <a:xfrm>
            <a:off x="2668097" y="831940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14" name="BCD[0]"/>
          <p:cNvSpPr/>
          <p:nvPr/>
        </p:nvSpPr>
        <p:spPr>
          <a:xfrm>
            <a:off x="5325764" y="8775700"/>
            <a:ext cx="2114105" cy="4572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>
                <a:solidFill>
                  <a:srgbClr val="FFFFFF"/>
                </a:solidFill>
              </a:defRPr>
            </a:lvl1pPr>
          </a:lstStyle>
          <a:p>
            <a:r>
              <a:t>BCD[0]</a:t>
            </a:r>
          </a:p>
        </p:txBody>
      </p:sp>
      <p:sp>
        <p:nvSpPr>
          <p:cNvPr id="2315" name="BCD[1]"/>
          <p:cNvSpPr/>
          <p:nvPr/>
        </p:nvSpPr>
        <p:spPr>
          <a:xfrm>
            <a:off x="3052464" y="8775700"/>
            <a:ext cx="2114105" cy="4572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>
                <a:solidFill>
                  <a:srgbClr val="FFFFFF"/>
                </a:solidFill>
              </a:defRPr>
            </a:lvl1pPr>
          </a:lstStyle>
          <a:p>
            <a:r>
              <a:t>BCD[1]</a:t>
            </a:r>
          </a:p>
        </p:txBody>
      </p:sp>
      <p:sp>
        <p:nvSpPr>
          <p:cNvPr id="2316" name="BCD[2]"/>
          <p:cNvSpPr/>
          <p:nvPr/>
        </p:nvSpPr>
        <p:spPr>
          <a:xfrm>
            <a:off x="791864" y="8775700"/>
            <a:ext cx="2114105" cy="4572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>
                <a:solidFill>
                  <a:srgbClr val="FFFFFF"/>
                </a:solidFill>
              </a:defRPr>
            </a:lvl1pPr>
          </a:lstStyle>
          <a:p>
            <a:r>
              <a:t>BCD[2]</a:t>
            </a:r>
          </a:p>
        </p:txBody>
      </p:sp>
      <p:sp>
        <p:nvSpPr>
          <p:cNvPr id="2317" name="Line"/>
          <p:cNvSpPr/>
          <p:nvPr/>
        </p:nvSpPr>
        <p:spPr>
          <a:xfrm flipV="1">
            <a:off x="7758653" y="2469153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18" name="Line"/>
          <p:cNvSpPr/>
          <p:nvPr/>
        </p:nvSpPr>
        <p:spPr>
          <a:xfrm flipV="1">
            <a:off x="8338616" y="2472872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19" name="Line"/>
          <p:cNvSpPr/>
          <p:nvPr/>
        </p:nvSpPr>
        <p:spPr>
          <a:xfrm flipV="1">
            <a:off x="8904191" y="2468156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20" name="Line"/>
          <p:cNvSpPr/>
          <p:nvPr/>
        </p:nvSpPr>
        <p:spPr>
          <a:xfrm flipV="1">
            <a:off x="9464995" y="2472872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21" name="Line"/>
          <p:cNvSpPr/>
          <p:nvPr/>
        </p:nvSpPr>
        <p:spPr>
          <a:xfrm flipV="1">
            <a:off x="10025233" y="247386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22" name="Line"/>
          <p:cNvSpPr/>
          <p:nvPr/>
        </p:nvSpPr>
        <p:spPr>
          <a:xfrm flipV="1">
            <a:off x="10592496" y="247758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23" name="Line"/>
          <p:cNvSpPr/>
          <p:nvPr/>
        </p:nvSpPr>
        <p:spPr>
          <a:xfrm flipV="1">
            <a:off x="11170770" y="2472872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24" name="Line"/>
          <p:cNvSpPr/>
          <p:nvPr/>
        </p:nvSpPr>
        <p:spPr>
          <a:xfrm>
            <a:off x="7204608" y="3815898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25" name="Line"/>
          <p:cNvSpPr/>
          <p:nvPr/>
        </p:nvSpPr>
        <p:spPr>
          <a:xfrm>
            <a:off x="7776108" y="3815898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26" name="Line"/>
          <p:cNvSpPr/>
          <p:nvPr/>
        </p:nvSpPr>
        <p:spPr>
          <a:xfrm>
            <a:off x="8347608" y="3815898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27" name="Line"/>
          <p:cNvSpPr/>
          <p:nvPr/>
        </p:nvSpPr>
        <p:spPr>
          <a:xfrm>
            <a:off x="8906408" y="3815898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28" name="Line"/>
          <p:cNvSpPr/>
          <p:nvPr/>
        </p:nvSpPr>
        <p:spPr>
          <a:xfrm>
            <a:off x="9481899" y="3815898"/>
            <a:ext cx="550692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29" name="Line"/>
          <p:cNvSpPr/>
          <p:nvPr/>
        </p:nvSpPr>
        <p:spPr>
          <a:xfrm>
            <a:off x="10036708" y="3815898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30" name="Line"/>
          <p:cNvSpPr/>
          <p:nvPr/>
        </p:nvSpPr>
        <p:spPr>
          <a:xfrm flipV="1">
            <a:off x="7765161" y="3364955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31" name="Line"/>
          <p:cNvSpPr/>
          <p:nvPr/>
        </p:nvSpPr>
        <p:spPr>
          <a:xfrm flipV="1">
            <a:off x="8345124" y="3368674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32" name="Line"/>
          <p:cNvSpPr/>
          <p:nvPr/>
        </p:nvSpPr>
        <p:spPr>
          <a:xfrm flipV="1">
            <a:off x="8910699" y="3363958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33" name="Line"/>
          <p:cNvSpPr/>
          <p:nvPr/>
        </p:nvSpPr>
        <p:spPr>
          <a:xfrm flipV="1">
            <a:off x="9471504" y="3368674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34" name="Line"/>
          <p:cNvSpPr/>
          <p:nvPr/>
        </p:nvSpPr>
        <p:spPr>
          <a:xfrm flipV="1">
            <a:off x="10031741" y="3369671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35" name="Line"/>
          <p:cNvSpPr/>
          <p:nvPr/>
        </p:nvSpPr>
        <p:spPr>
          <a:xfrm flipV="1">
            <a:off x="10599004" y="3373391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36" name="Line"/>
          <p:cNvSpPr/>
          <p:nvPr/>
        </p:nvSpPr>
        <p:spPr>
          <a:xfrm>
            <a:off x="7219145" y="472239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37" name="Line"/>
          <p:cNvSpPr/>
          <p:nvPr/>
        </p:nvSpPr>
        <p:spPr>
          <a:xfrm>
            <a:off x="7790645" y="472239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38" name="Line"/>
          <p:cNvSpPr/>
          <p:nvPr/>
        </p:nvSpPr>
        <p:spPr>
          <a:xfrm>
            <a:off x="8362145" y="472239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39" name="Line"/>
          <p:cNvSpPr/>
          <p:nvPr/>
        </p:nvSpPr>
        <p:spPr>
          <a:xfrm>
            <a:off x="8920945" y="4722396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40" name="Line"/>
          <p:cNvSpPr/>
          <p:nvPr/>
        </p:nvSpPr>
        <p:spPr>
          <a:xfrm>
            <a:off x="9496436" y="4722396"/>
            <a:ext cx="550692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41" name="Line"/>
          <p:cNvSpPr/>
          <p:nvPr/>
        </p:nvSpPr>
        <p:spPr>
          <a:xfrm flipV="1">
            <a:off x="7779698" y="4271453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42" name="Line"/>
          <p:cNvSpPr/>
          <p:nvPr/>
        </p:nvSpPr>
        <p:spPr>
          <a:xfrm flipV="1">
            <a:off x="8346961" y="4275173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43" name="Line"/>
          <p:cNvSpPr/>
          <p:nvPr/>
        </p:nvSpPr>
        <p:spPr>
          <a:xfrm flipV="1">
            <a:off x="8925236" y="4270457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44" name="Line"/>
          <p:cNvSpPr/>
          <p:nvPr/>
        </p:nvSpPr>
        <p:spPr>
          <a:xfrm flipV="1">
            <a:off x="9486041" y="4275173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45" name="Line"/>
          <p:cNvSpPr/>
          <p:nvPr/>
        </p:nvSpPr>
        <p:spPr>
          <a:xfrm flipV="1">
            <a:off x="10046278" y="4276170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46" name="Line"/>
          <p:cNvSpPr/>
          <p:nvPr/>
        </p:nvSpPr>
        <p:spPr>
          <a:xfrm>
            <a:off x="7221441" y="5629912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47" name="Line"/>
          <p:cNvSpPr/>
          <p:nvPr/>
        </p:nvSpPr>
        <p:spPr>
          <a:xfrm>
            <a:off x="7792941" y="5629912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48" name="Line"/>
          <p:cNvSpPr/>
          <p:nvPr/>
        </p:nvSpPr>
        <p:spPr>
          <a:xfrm>
            <a:off x="8364441" y="5629912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49" name="Line"/>
          <p:cNvSpPr/>
          <p:nvPr/>
        </p:nvSpPr>
        <p:spPr>
          <a:xfrm>
            <a:off x="8923241" y="5629912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50" name="Line"/>
          <p:cNvSpPr/>
          <p:nvPr/>
        </p:nvSpPr>
        <p:spPr>
          <a:xfrm flipV="1">
            <a:off x="7781994" y="517896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51" name="Line"/>
          <p:cNvSpPr/>
          <p:nvPr/>
        </p:nvSpPr>
        <p:spPr>
          <a:xfrm flipV="1">
            <a:off x="8361957" y="518268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52" name="Line"/>
          <p:cNvSpPr/>
          <p:nvPr/>
        </p:nvSpPr>
        <p:spPr>
          <a:xfrm flipV="1">
            <a:off x="8927532" y="5177972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53" name="Line"/>
          <p:cNvSpPr/>
          <p:nvPr/>
        </p:nvSpPr>
        <p:spPr>
          <a:xfrm flipV="1">
            <a:off x="9488337" y="518268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54" name="Line"/>
          <p:cNvSpPr/>
          <p:nvPr/>
        </p:nvSpPr>
        <p:spPr>
          <a:xfrm>
            <a:off x="7227949" y="652571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55" name="Line"/>
          <p:cNvSpPr/>
          <p:nvPr/>
        </p:nvSpPr>
        <p:spPr>
          <a:xfrm>
            <a:off x="7799449" y="652571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56" name="Line"/>
          <p:cNvSpPr/>
          <p:nvPr/>
        </p:nvSpPr>
        <p:spPr>
          <a:xfrm>
            <a:off x="8370949" y="6525714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57" name="Line"/>
          <p:cNvSpPr/>
          <p:nvPr/>
        </p:nvSpPr>
        <p:spPr>
          <a:xfrm flipV="1">
            <a:off x="7788502" y="6074771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58" name="Line"/>
          <p:cNvSpPr/>
          <p:nvPr/>
        </p:nvSpPr>
        <p:spPr>
          <a:xfrm flipV="1">
            <a:off x="8368465" y="6078491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59" name="Line"/>
          <p:cNvSpPr/>
          <p:nvPr/>
        </p:nvSpPr>
        <p:spPr>
          <a:xfrm flipV="1">
            <a:off x="8934040" y="6073774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60" name="Line"/>
          <p:cNvSpPr/>
          <p:nvPr/>
        </p:nvSpPr>
        <p:spPr>
          <a:xfrm>
            <a:off x="7242486" y="7432213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61" name="Line"/>
          <p:cNvSpPr/>
          <p:nvPr/>
        </p:nvSpPr>
        <p:spPr>
          <a:xfrm>
            <a:off x="7813986" y="7432213"/>
            <a:ext cx="567384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62" name="Line"/>
          <p:cNvSpPr/>
          <p:nvPr/>
        </p:nvSpPr>
        <p:spPr>
          <a:xfrm flipV="1">
            <a:off x="7803040" y="6981270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63" name="Line"/>
          <p:cNvSpPr/>
          <p:nvPr/>
        </p:nvSpPr>
        <p:spPr>
          <a:xfrm flipV="1">
            <a:off x="8370303" y="6984989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64" name="Line"/>
          <p:cNvSpPr/>
          <p:nvPr/>
        </p:nvSpPr>
        <p:spPr>
          <a:xfrm>
            <a:off x="7250841" y="8332289"/>
            <a:ext cx="567383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15195"/>
                </a:lnTo>
                <a:lnTo>
                  <a:pt x="21600" y="6863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65" name="Line"/>
          <p:cNvSpPr/>
          <p:nvPr/>
        </p:nvSpPr>
        <p:spPr>
          <a:xfrm flipV="1">
            <a:off x="7811394" y="7881346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66" name="Line"/>
          <p:cNvSpPr/>
          <p:nvPr/>
        </p:nvSpPr>
        <p:spPr>
          <a:xfrm flipV="1">
            <a:off x="4933295" y="2459165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67" name="Line"/>
          <p:cNvSpPr/>
          <p:nvPr/>
        </p:nvSpPr>
        <p:spPr>
          <a:xfrm flipV="1">
            <a:off x="5494100" y="2463882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68" name="Line"/>
          <p:cNvSpPr/>
          <p:nvPr/>
        </p:nvSpPr>
        <p:spPr>
          <a:xfrm flipV="1">
            <a:off x="6054337" y="2464879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69" name="Line"/>
          <p:cNvSpPr/>
          <p:nvPr/>
        </p:nvSpPr>
        <p:spPr>
          <a:xfrm flipV="1">
            <a:off x="6621600" y="2468598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70" name="Line"/>
          <p:cNvSpPr/>
          <p:nvPr/>
        </p:nvSpPr>
        <p:spPr>
          <a:xfrm flipV="1">
            <a:off x="7199875" y="2463882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71" name="Line"/>
          <p:cNvSpPr/>
          <p:nvPr/>
        </p:nvSpPr>
        <p:spPr>
          <a:xfrm flipV="1">
            <a:off x="4379576" y="3371527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72" name="Line"/>
          <p:cNvSpPr/>
          <p:nvPr/>
        </p:nvSpPr>
        <p:spPr>
          <a:xfrm flipV="1">
            <a:off x="4945151" y="3366810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73" name="Line"/>
          <p:cNvSpPr/>
          <p:nvPr/>
        </p:nvSpPr>
        <p:spPr>
          <a:xfrm flipV="1">
            <a:off x="5505956" y="3371527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74" name="Line"/>
          <p:cNvSpPr/>
          <p:nvPr/>
        </p:nvSpPr>
        <p:spPr>
          <a:xfrm flipV="1">
            <a:off x="6066193" y="3372523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75" name="Line"/>
          <p:cNvSpPr/>
          <p:nvPr/>
        </p:nvSpPr>
        <p:spPr>
          <a:xfrm flipV="1">
            <a:off x="6633456" y="3376243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76" name="Line"/>
          <p:cNvSpPr/>
          <p:nvPr/>
        </p:nvSpPr>
        <p:spPr>
          <a:xfrm flipV="1">
            <a:off x="7211731" y="3371527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77" name="Line"/>
          <p:cNvSpPr/>
          <p:nvPr/>
        </p:nvSpPr>
        <p:spPr>
          <a:xfrm flipV="1">
            <a:off x="3811353" y="4276664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78" name="Line"/>
          <p:cNvSpPr/>
          <p:nvPr/>
        </p:nvSpPr>
        <p:spPr>
          <a:xfrm flipV="1">
            <a:off x="4391316" y="4280384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79" name="Line"/>
          <p:cNvSpPr/>
          <p:nvPr/>
        </p:nvSpPr>
        <p:spPr>
          <a:xfrm flipV="1">
            <a:off x="4956891" y="4275667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80" name="Line"/>
          <p:cNvSpPr/>
          <p:nvPr/>
        </p:nvSpPr>
        <p:spPr>
          <a:xfrm flipV="1">
            <a:off x="3813463" y="5208037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81" name="Line"/>
          <p:cNvSpPr/>
          <p:nvPr/>
        </p:nvSpPr>
        <p:spPr>
          <a:xfrm flipV="1">
            <a:off x="4393426" y="5211757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82" name="Line"/>
          <p:cNvSpPr/>
          <p:nvPr/>
        </p:nvSpPr>
        <p:spPr>
          <a:xfrm flipV="1">
            <a:off x="4959001" y="5207041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83" name="Line"/>
          <p:cNvSpPr/>
          <p:nvPr/>
        </p:nvSpPr>
        <p:spPr>
          <a:xfrm flipV="1">
            <a:off x="3250480" y="5198614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84" name="Line"/>
          <p:cNvSpPr/>
          <p:nvPr/>
        </p:nvSpPr>
        <p:spPr>
          <a:xfrm flipV="1">
            <a:off x="3813463" y="6095379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85" name="Line"/>
          <p:cNvSpPr/>
          <p:nvPr/>
        </p:nvSpPr>
        <p:spPr>
          <a:xfrm flipV="1">
            <a:off x="4393426" y="6099099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86" name="Line"/>
          <p:cNvSpPr/>
          <p:nvPr/>
        </p:nvSpPr>
        <p:spPr>
          <a:xfrm flipV="1">
            <a:off x="4959001" y="6094382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87" name="Line"/>
          <p:cNvSpPr/>
          <p:nvPr/>
        </p:nvSpPr>
        <p:spPr>
          <a:xfrm flipV="1">
            <a:off x="2672205" y="6090672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88" name="Line"/>
          <p:cNvSpPr/>
          <p:nvPr/>
        </p:nvSpPr>
        <p:spPr>
          <a:xfrm flipV="1">
            <a:off x="3250480" y="6085956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89" name="Line"/>
          <p:cNvSpPr/>
          <p:nvPr/>
        </p:nvSpPr>
        <p:spPr>
          <a:xfrm flipV="1">
            <a:off x="2104521" y="6990200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90" name="Line"/>
          <p:cNvSpPr/>
          <p:nvPr/>
        </p:nvSpPr>
        <p:spPr>
          <a:xfrm flipV="1">
            <a:off x="2670095" y="6985483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91" name="Line"/>
          <p:cNvSpPr/>
          <p:nvPr/>
        </p:nvSpPr>
        <p:spPr>
          <a:xfrm flipV="1">
            <a:off x="1540163" y="7854180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92" name="Line"/>
          <p:cNvSpPr/>
          <p:nvPr/>
        </p:nvSpPr>
        <p:spPr>
          <a:xfrm flipV="1">
            <a:off x="2120126" y="7857900"/>
            <a:ext cx="1" cy="4591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393" name="Line"/>
          <p:cNvSpPr/>
          <p:nvPr/>
        </p:nvSpPr>
        <p:spPr>
          <a:xfrm flipV="1">
            <a:off x="2685701" y="7853183"/>
            <a:ext cx="1" cy="4591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</p:spTree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66</a:t>
            </a:fld>
            <a:endParaRPr/>
          </a:p>
        </p:txBody>
      </p:sp>
      <p:sp>
        <p:nvSpPr>
          <p:cNvPr id="2396" name="B[7:0]"/>
          <p:cNvSpPr/>
          <p:nvPr/>
        </p:nvSpPr>
        <p:spPr>
          <a:xfrm>
            <a:off x="2998362" y="1562100"/>
            <a:ext cx="4391026" cy="4572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>
                <a:solidFill>
                  <a:srgbClr val="FFFFFF"/>
                </a:solidFill>
              </a:defRPr>
            </a:lvl1pPr>
          </a:lstStyle>
          <a:p>
            <a:r>
              <a:t>B[7:0]</a:t>
            </a:r>
          </a:p>
        </p:txBody>
      </p:sp>
      <p:sp>
        <p:nvSpPr>
          <p:cNvPr id="2397" name="BCD[0]"/>
          <p:cNvSpPr/>
          <p:nvPr/>
        </p:nvSpPr>
        <p:spPr>
          <a:xfrm>
            <a:off x="5325764" y="8775700"/>
            <a:ext cx="2114105" cy="4572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>
                <a:solidFill>
                  <a:srgbClr val="FFFFFF"/>
                </a:solidFill>
              </a:defRPr>
            </a:lvl1pPr>
          </a:lstStyle>
          <a:p>
            <a:r>
              <a:t>BCD[0]</a:t>
            </a:r>
          </a:p>
        </p:txBody>
      </p:sp>
      <p:sp>
        <p:nvSpPr>
          <p:cNvPr id="2398" name="BCD[1]"/>
          <p:cNvSpPr/>
          <p:nvPr/>
        </p:nvSpPr>
        <p:spPr>
          <a:xfrm>
            <a:off x="3052464" y="8775700"/>
            <a:ext cx="2114105" cy="4572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>
                <a:solidFill>
                  <a:srgbClr val="FFFFFF"/>
                </a:solidFill>
              </a:defRPr>
            </a:lvl1pPr>
          </a:lstStyle>
          <a:p>
            <a:r>
              <a:t>BCD[1]</a:t>
            </a:r>
          </a:p>
        </p:txBody>
      </p:sp>
      <p:sp>
        <p:nvSpPr>
          <p:cNvPr id="2399" name="BCD[2]"/>
          <p:cNvSpPr/>
          <p:nvPr/>
        </p:nvSpPr>
        <p:spPr>
          <a:xfrm>
            <a:off x="791864" y="8775700"/>
            <a:ext cx="2114105" cy="4572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>
                <a:solidFill>
                  <a:srgbClr val="FFFFFF"/>
                </a:solidFill>
              </a:defRPr>
            </a:lvl1pPr>
          </a:lstStyle>
          <a:p>
            <a:r>
              <a:t>BCD[2]</a:t>
            </a:r>
          </a:p>
        </p:txBody>
      </p:sp>
      <p:grpSp>
        <p:nvGrpSpPr>
          <p:cNvPr id="2412" name="Group"/>
          <p:cNvGrpSpPr/>
          <p:nvPr/>
        </p:nvGrpSpPr>
        <p:grpSpPr>
          <a:xfrm>
            <a:off x="975359" y="2012948"/>
            <a:ext cx="6280695" cy="6769103"/>
            <a:chOff x="0" y="0"/>
            <a:chExt cx="6280693" cy="6769101"/>
          </a:xfrm>
        </p:grpSpPr>
        <p:sp>
          <p:nvSpPr>
            <p:cNvPr id="2400" name="Line"/>
            <p:cNvSpPr/>
            <p:nvPr/>
          </p:nvSpPr>
          <p:spPr>
            <a:xfrm flipV="1">
              <a:off x="6280693" y="12700"/>
              <a:ext cx="1" cy="674370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2401" name="Line"/>
            <p:cNvSpPr/>
            <p:nvPr/>
          </p:nvSpPr>
          <p:spPr>
            <a:xfrm flipV="1">
              <a:off x="5703793" y="0"/>
              <a:ext cx="1" cy="676910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2402" name="Line"/>
            <p:cNvSpPr/>
            <p:nvPr/>
          </p:nvSpPr>
          <p:spPr>
            <a:xfrm flipV="1">
              <a:off x="5126894" y="-1"/>
              <a:ext cx="1" cy="676910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2403" name="Line"/>
            <p:cNvSpPr/>
            <p:nvPr/>
          </p:nvSpPr>
          <p:spPr>
            <a:xfrm flipV="1">
              <a:off x="2819295" y="0"/>
              <a:ext cx="1" cy="676910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2404" name="Line"/>
            <p:cNvSpPr/>
            <p:nvPr/>
          </p:nvSpPr>
          <p:spPr>
            <a:xfrm flipV="1">
              <a:off x="4549994" y="0"/>
              <a:ext cx="1" cy="676910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2405" name="Line"/>
            <p:cNvSpPr/>
            <p:nvPr/>
          </p:nvSpPr>
          <p:spPr>
            <a:xfrm flipV="1">
              <a:off x="3973094" y="0"/>
              <a:ext cx="1" cy="676910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2406" name="Line"/>
            <p:cNvSpPr/>
            <p:nvPr/>
          </p:nvSpPr>
          <p:spPr>
            <a:xfrm flipV="1">
              <a:off x="3396195" y="0"/>
              <a:ext cx="1" cy="676910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2407" name="Line"/>
            <p:cNvSpPr/>
            <p:nvPr/>
          </p:nvSpPr>
          <p:spPr>
            <a:xfrm flipV="1">
              <a:off x="2242395" y="0"/>
              <a:ext cx="1" cy="676910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2408" name="Line"/>
            <p:cNvSpPr/>
            <p:nvPr/>
          </p:nvSpPr>
          <p:spPr>
            <a:xfrm flipV="1">
              <a:off x="1665495" y="25400"/>
              <a:ext cx="1" cy="674370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2409" name="Line"/>
            <p:cNvSpPr/>
            <p:nvPr/>
          </p:nvSpPr>
          <p:spPr>
            <a:xfrm flipV="1">
              <a:off x="1102475" y="25401"/>
              <a:ext cx="1" cy="674370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2410" name="Line"/>
            <p:cNvSpPr/>
            <p:nvPr/>
          </p:nvSpPr>
          <p:spPr>
            <a:xfrm flipV="1">
              <a:off x="511696" y="25400"/>
              <a:ext cx="1" cy="674370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2411" name="Line"/>
            <p:cNvSpPr/>
            <p:nvPr/>
          </p:nvSpPr>
          <p:spPr>
            <a:xfrm flipV="1">
              <a:off x="-1" y="25400"/>
              <a:ext cx="2" cy="674370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</p:grpSp>
      <p:sp>
        <p:nvSpPr>
          <p:cNvPr id="2413" name="adjust"/>
          <p:cNvSpPr/>
          <p:nvPr/>
        </p:nvSpPr>
        <p:spPr>
          <a:xfrm>
            <a:off x="2456093" y="42989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2414" name="adjust"/>
          <p:cNvSpPr/>
          <p:nvPr/>
        </p:nvSpPr>
        <p:spPr>
          <a:xfrm>
            <a:off x="3026053" y="5168900"/>
            <a:ext cx="2114104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2415" name="adjust"/>
          <p:cNvSpPr/>
          <p:nvPr/>
        </p:nvSpPr>
        <p:spPr>
          <a:xfrm>
            <a:off x="3643014" y="608965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2416" name="adjust"/>
          <p:cNvSpPr/>
          <p:nvPr/>
        </p:nvSpPr>
        <p:spPr>
          <a:xfrm>
            <a:off x="4136823" y="6972300"/>
            <a:ext cx="2114104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2417" name="adjust"/>
          <p:cNvSpPr/>
          <p:nvPr/>
        </p:nvSpPr>
        <p:spPr>
          <a:xfrm>
            <a:off x="1865014" y="6972300"/>
            <a:ext cx="2114105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2418" name="adjust"/>
          <p:cNvSpPr/>
          <p:nvPr/>
        </p:nvSpPr>
        <p:spPr>
          <a:xfrm>
            <a:off x="4774806" y="7880350"/>
            <a:ext cx="2114104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sp>
        <p:nvSpPr>
          <p:cNvPr id="2419" name="adjust"/>
          <p:cNvSpPr/>
          <p:nvPr/>
        </p:nvSpPr>
        <p:spPr>
          <a:xfrm>
            <a:off x="2501506" y="7880350"/>
            <a:ext cx="2114104" cy="4572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100" b="1"/>
            </a:lvl1pPr>
          </a:lstStyle>
          <a:p>
            <a:r>
              <a:t>adjust</a:t>
            </a:r>
          </a:p>
        </p:txBody>
      </p:sp>
      <p:grpSp>
        <p:nvGrpSpPr>
          <p:cNvPr id="2424" name="Group"/>
          <p:cNvGrpSpPr/>
          <p:nvPr/>
        </p:nvGrpSpPr>
        <p:grpSpPr>
          <a:xfrm>
            <a:off x="831422" y="1657349"/>
            <a:ext cx="1958790" cy="431801"/>
            <a:chOff x="-12733" y="-6350"/>
            <a:chExt cx="1958789" cy="431800"/>
          </a:xfrm>
        </p:grpSpPr>
        <p:sp>
          <p:nvSpPr>
            <p:cNvPr id="2420" name="0"/>
            <p:cNvSpPr txBox="1"/>
            <p:nvPr/>
          </p:nvSpPr>
          <p:spPr>
            <a:xfrm>
              <a:off x="1676366" y="-6351"/>
              <a:ext cx="269690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/>
              </a:lvl1pPr>
            </a:lstStyle>
            <a:p>
              <a:r>
                <a:t>0</a:t>
              </a:r>
            </a:p>
          </p:txBody>
        </p:sp>
        <p:sp>
          <p:nvSpPr>
            <p:cNvPr id="2421" name="0"/>
            <p:cNvSpPr txBox="1"/>
            <p:nvPr/>
          </p:nvSpPr>
          <p:spPr>
            <a:xfrm>
              <a:off x="1113346" y="-6351"/>
              <a:ext cx="269690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/>
              </a:lvl1pPr>
            </a:lstStyle>
            <a:p>
              <a:r>
                <a:t>0</a:t>
              </a:r>
            </a:p>
          </p:txBody>
        </p:sp>
        <p:sp>
          <p:nvSpPr>
            <p:cNvPr id="2422" name="0"/>
            <p:cNvSpPr txBox="1"/>
            <p:nvPr/>
          </p:nvSpPr>
          <p:spPr>
            <a:xfrm>
              <a:off x="558867" y="-6351"/>
              <a:ext cx="269690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/>
              </a:lvl1pPr>
            </a:lstStyle>
            <a:p>
              <a:r>
                <a:t>0</a:t>
              </a:r>
            </a:p>
          </p:txBody>
        </p:sp>
        <p:sp>
          <p:nvSpPr>
            <p:cNvPr id="2423" name="0"/>
            <p:cNvSpPr txBox="1"/>
            <p:nvPr/>
          </p:nvSpPr>
          <p:spPr>
            <a:xfrm>
              <a:off x="-12734" y="-6351"/>
              <a:ext cx="269689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/>
              </a:lvl1pPr>
            </a:lstStyle>
            <a:p>
              <a:r>
                <a:t>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" name="Binary to BCD"/>
          <p:cNvSpPr txBox="1">
            <a:spLocks noGrp="1"/>
          </p:cNvSpPr>
          <p:nvPr>
            <p:ph type="title"/>
          </p:nvPr>
        </p:nvSpPr>
        <p:spPr>
          <a:xfrm>
            <a:off x="6702458" y="3647517"/>
            <a:ext cx="5929459" cy="281926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dirty="0"/>
              <a:t>Binary to BCD</a:t>
            </a:r>
          </a:p>
        </p:txBody>
      </p:sp>
      <p:sp>
        <p:nvSpPr>
          <p:cNvPr id="24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67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23336F-B438-55C9-AB8A-6323355B2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" y="508392"/>
            <a:ext cx="6409836" cy="92075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0" name="This lectu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This lecture</a:t>
            </a:r>
          </a:p>
        </p:txBody>
      </p:sp>
      <p:sp>
        <p:nvSpPr>
          <p:cNvPr id="2431" name="Arithmetic and logical operators in Verilog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Arithmetic and logical operators in Verilog</a:t>
            </a:r>
          </a:p>
          <a:p>
            <a:r>
              <a:t>Clocked circuits</a:t>
            </a:r>
          </a:p>
          <a:p>
            <a:r>
              <a:t>Shift registers</a:t>
            </a:r>
          </a:p>
          <a:p>
            <a:r>
              <a:t>Converting from binary to binary-coded decimal (BCD)</a:t>
            </a:r>
          </a:p>
        </p:txBody>
      </p:sp>
      <p:sp>
        <p:nvSpPr>
          <p:cNvPr id="24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68</a:t>
            </a:fld>
            <a:endParaRPr/>
          </a:p>
        </p:txBody>
      </p:sp>
    </p:spTree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BD910-8B73-00AE-C4D4-A2405A59D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Backup Bin2BCD Proof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1059A74D-60F4-41DD-8D98-4870E2AAC2A2}"/>
              </a:ext>
            </a:extLst>
          </p:cNvPr>
          <p:cNvSpPr>
            <a:spLocks noGrp="1"/>
          </p:cNvSpPr>
          <p:nvPr/>
        </p:nvSpPr>
        <p:spPr>
          <a:xfrm>
            <a:off x="1000125" y="2714625"/>
            <a:ext cx="11001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2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322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1. What each step must compute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15A0363-E58B-4505-8BEB-DAFADC3BA63F}"/>
              </a:ext>
            </a:extLst>
          </p:cNvPr>
          <p:cNvSpPr>
            <a:spLocks noGrp="1"/>
          </p:cNvSpPr>
          <p:nvPr/>
        </p:nvSpPr>
        <p:spPr>
          <a:xfrm>
            <a:off x="1000125" y="3476625"/>
            <a:ext cx="1100137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8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Read the binary input from left to right. Appending a bit</a:t>
            </a:r>
          </a:p>
          <a:p>
            <a:pPr algn="l">
              <a:defRPr sz="28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8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 ∈ {0, 1} to a prefix of value V gives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78EE66A9-3F6B-4DA0-827B-CC6B3DB3AD12}"/>
              </a:ext>
            </a:extLst>
          </p:cNvPr>
          <p:cNvSpPr>
            <a:spLocks noGrp="1"/>
          </p:cNvSpPr>
          <p:nvPr/>
        </p:nvSpPr>
        <p:spPr>
          <a:xfrm>
            <a:off x="1000125" y="4667250"/>
            <a:ext cx="11001375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4050" b="1">
                <a:solidFill>
                  <a:srgbClr val="9E7D22"/>
                </a:solidFill>
                <a:latin typeface="Helvetica"/>
                <a:ea typeface="Helvetica"/>
                <a:cs typeface="Helvetica"/>
              </a:defRPr>
            </a:pPr>
            <a:r>
              <a:rPr sz="4050" b="1">
                <a:solidFill>
                  <a:srgbClr val="9E7D22"/>
                </a:solidFill>
                <a:latin typeface="Helvetica"/>
                <a:ea typeface="Helvetica"/>
                <a:cs typeface="Helvetica"/>
              </a:rPr>
              <a:t>V′ = 2V + b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4872FFE3-0040-464D-9611-F9DBC1B75D28}"/>
              </a:ext>
            </a:extLst>
          </p:cNvPr>
          <p:cNvSpPr>
            <a:spLocks noGrp="1"/>
          </p:cNvSpPr>
          <p:nvPr/>
        </p:nvSpPr>
        <p:spPr>
          <a:xfrm>
            <a:off x="1000125" y="5762625"/>
            <a:ext cx="11001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8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Example: appending 1 to binary 111 gives binary 1111.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9BD31E0D-E99A-42D6-87F2-085ACF7B1C83}"/>
              </a:ext>
            </a:extLst>
          </p:cNvPr>
          <p:cNvSpPr>
            <a:spLocks noGrp="1"/>
          </p:cNvSpPr>
          <p:nvPr/>
        </p:nvSpPr>
        <p:spPr>
          <a:xfrm>
            <a:off x="1000125" y="6477000"/>
            <a:ext cx="11001375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6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367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15 = 2 × 7 + 1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7F40FE9-064E-4194-BD7B-A198D190ED56}"/>
              </a:ext>
            </a:extLst>
          </p:cNvPr>
          <p:cNvSpPr>
            <a:spLocks noGrp="1"/>
          </p:cNvSpPr>
          <p:nvPr/>
        </p:nvSpPr>
        <p:spPr>
          <a:xfrm>
            <a:off x="1000125" y="7620000"/>
            <a:ext cx="11001375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8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Each step must therefore double the current value and add</a:t>
            </a:r>
          </a:p>
          <a:p>
            <a:pPr algn="l">
              <a:defRPr sz="28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8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the next input bit, keeping the result in BCD.</a:t>
            </a:r>
          </a:p>
        </p:txBody>
      </p:sp>
    </p:spTree>
    <p:extLst>
      <p:ext uri="{BB962C8B-B14F-4D97-AF65-F5344CB8AC3E}">
        <p14:creationId xmlns:p14="http://schemas.microsoft.com/office/powerpoint/2010/main" val="361289987"/>
      </p:ext>
    </p:extLst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BD910-8B73-00AE-C4D4-A2405A59D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Backup Bin2BCD Proof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1D4AA07-ACF5-439F-AACD-67CDF4F2307A}"/>
              </a:ext>
            </a:extLst>
          </p:cNvPr>
          <p:cNvSpPr>
            <a:spLocks noGrp="1"/>
          </p:cNvSpPr>
          <p:nvPr/>
        </p:nvSpPr>
        <p:spPr>
          <a:xfrm>
            <a:off x="1000125" y="2667000"/>
            <a:ext cx="1100137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2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322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2. Why adding 3 works for one digit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6C7E58B-DDD2-4A0E-894E-31EE40942978}"/>
              </a:ext>
            </a:extLst>
          </p:cNvPr>
          <p:cNvSpPr>
            <a:spLocks noGrp="1"/>
          </p:cNvSpPr>
          <p:nvPr/>
        </p:nvSpPr>
        <p:spPr>
          <a:xfrm>
            <a:off x="1000125" y="3333750"/>
            <a:ext cx="11001375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Let d ∈ {0, …, 9} be a decimal digit and c ∈ {0, 1} the incoming</a:t>
            </a:r>
          </a:p>
          <a:p>
            <a:pPr algn="l">
              <a:defRPr sz="25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bit: the next input bit for units, or a carry for other digits.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B527BD19-D5B8-4789-A270-EDAB20A5A2FF}"/>
              </a:ext>
            </a:extLst>
          </p:cNvPr>
          <p:cNvSpPr>
            <a:spLocks noGrp="1"/>
          </p:cNvSpPr>
          <p:nvPr/>
        </p:nvSpPr>
        <p:spPr>
          <a:xfrm>
            <a:off x="1000125" y="4333875"/>
            <a:ext cx="1100137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Required: digit = (2d + c) mod 10,  carry = ⌊(2d + c) / 10⌋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57F4E23-1122-4198-BC27-F50876395C78}"/>
              </a:ext>
            </a:extLst>
          </p:cNvPr>
          <p:cNvSpPr>
            <a:spLocks noGrp="1"/>
          </p:cNvSpPr>
          <p:nvPr/>
        </p:nvSpPr>
        <p:spPr>
          <a:xfrm>
            <a:off x="1000125" y="5095875"/>
            <a:ext cx="1100137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77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If d &lt; 5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57EAA6C0-D651-48FF-8768-F04E7E2C8B3A}"/>
              </a:ext>
            </a:extLst>
          </p:cNvPr>
          <p:cNvSpPr>
            <a:spLocks noGrp="1"/>
          </p:cNvSpPr>
          <p:nvPr/>
        </p:nvSpPr>
        <p:spPr>
          <a:xfrm>
            <a:off x="1000125" y="5572125"/>
            <a:ext cx="11001375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0 ≤ 2d + c ≤ 9, so a normal shift gives the correct digit</a:t>
            </a:r>
          </a:p>
          <a:p>
            <a:pPr algn="l">
              <a:defRPr sz="25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and no carry. No adjustment is needed.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5C02865-0F30-4C97-A7B4-944A28541ED3}"/>
              </a:ext>
            </a:extLst>
          </p:cNvPr>
          <p:cNvSpPr>
            <a:spLocks noGrp="1"/>
          </p:cNvSpPr>
          <p:nvPr/>
        </p:nvSpPr>
        <p:spPr>
          <a:xfrm>
            <a:off x="1000125" y="6572250"/>
            <a:ext cx="1100137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77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If d ≥ 5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7DDF723-F0F5-44A0-AFC9-C6077175699B}"/>
              </a:ext>
            </a:extLst>
          </p:cNvPr>
          <p:cNvSpPr>
            <a:spLocks noGrp="1"/>
          </p:cNvSpPr>
          <p:nvPr/>
        </p:nvSpPr>
        <p:spPr>
          <a:xfrm>
            <a:off x="1000125" y="7048500"/>
            <a:ext cx="11001375" cy="1285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Add 3 before shifting:  2(d + 3) + c = 2d + c + 6.</a:t>
            </a:r>
          </a:p>
          <a:p>
            <a:pPr algn="l">
              <a:defRPr sz="25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This lies between 16 and 25, so the 4-bit group carries 1.</a:t>
            </a:r>
          </a:p>
          <a:p>
            <a:pPr algn="l">
              <a:defRPr sz="25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The remaining digit is 2d + c + 6 − 16 = 2d + c − 10.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E50EB29-F1A8-4359-8C92-EDF7AF98C149}"/>
              </a:ext>
            </a:extLst>
          </p:cNvPr>
          <p:cNvSpPr>
            <a:spLocks noGrp="1"/>
          </p:cNvSpPr>
          <p:nvPr/>
        </p:nvSpPr>
        <p:spPr>
          <a:xfrm>
            <a:off x="1000125" y="8620125"/>
            <a:ext cx="11001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150" b="1">
                <a:solidFill>
                  <a:srgbClr val="9E7D22"/>
                </a:solidFill>
                <a:latin typeface="Helvetica"/>
                <a:ea typeface="Helvetica"/>
                <a:cs typeface="Helvetica"/>
              </a:defRPr>
            </a:pPr>
            <a:r>
              <a:rPr sz="3150" b="1">
                <a:solidFill>
                  <a:srgbClr val="9E7D22"/>
                </a:solidFill>
                <a:latin typeface="Helvetica"/>
                <a:ea typeface="Helvetica"/>
                <a:cs typeface="Helvetica"/>
              </a:rPr>
              <a:t>Why 3?  (16 − 10) / 2 = 3</a:t>
            </a:r>
          </a:p>
        </p:txBody>
      </p:sp>
    </p:spTree>
    <p:extLst>
      <p:ext uri="{BB962C8B-B14F-4D97-AF65-F5344CB8AC3E}">
        <p14:creationId xmlns:p14="http://schemas.microsoft.com/office/powerpoint/2010/main" val="36128998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6E8627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1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6E8627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1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11518</TotalTime>
  <Words>3645</Words>
  <Application>Microsoft Macintosh PowerPoint</Application>
  <PresentationFormat>Custom</PresentationFormat>
  <Paragraphs>1080</Paragraphs>
  <Slides>70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7" baseType="lpstr">
      <vt:lpstr>Cambria Math</vt:lpstr>
      <vt:lpstr>Courier</vt:lpstr>
      <vt:lpstr>Courier New</vt:lpstr>
      <vt:lpstr>Helvetica</vt:lpstr>
      <vt:lpstr>Helvetica Neue</vt:lpstr>
      <vt:lpstr>Helvetica Neue Thin</vt:lpstr>
      <vt:lpstr>White</vt:lpstr>
      <vt:lpstr>Mastering  Digital Design</vt:lpstr>
      <vt:lpstr>This lecture</vt:lpstr>
      <vt:lpstr>Arithmetic and Logical Operators</vt:lpstr>
      <vt:lpstr>Integer Arithmetic</vt:lpstr>
      <vt:lpstr>Question</vt:lpstr>
      <vt:lpstr>Boolean operators</vt:lpstr>
      <vt:lpstr>Boolean operators</vt:lpstr>
      <vt:lpstr>Boolean operators</vt:lpstr>
      <vt:lpstr>Boolean operators</vt:lpstr>
      <vt:lpstr>Boolean operators</vt:lpstr>
      <vt:lpstr>Boolean operators</vt:lpstr>
      <vt:lpstr>Boolean operators</vt:lpstr>
      <vt:lpstr>Boolean operators</vt:lpstr>
      <vt:lpstr>Boolean operators</vt:lpstr>
      <vt:lpstr>Boolean operators</vt:lpstr>
      <vt:lpstr>Boolean operators</vt:lpstr>
      <vt:lpstr>Boolean operators</vt:lpstr>
      <vt:lpstr>Boolean operators</vt:lpstr>
      <vt:lpstr>Boolean operators</vt:lpstr>
      <vt:lpstr>Boolean operators</vt:lpstr>
      <vt:lpstr>Incomplete specification</vt:lpstr>
      <vt:lpstr>Incomplete specification</vt:lpstr>
      <vt:lpstr>Incomplete specification</vt:lpstr>
      <vt:lpstr>Incomplete specification</vt:lpstr>
      <vt:lpstr>An ALU</vt:lpstr>
      <vt:lpstr>An ALU</vt:lpstr>
      <vt:lpstr>An ALU</vt:lpstr>
      <vt:lpstr>Question</vt:lpstr>
      <vt:lpstr>Clocked circuits</vt:lpstr>
      <vt:lpstr>Sequential logic</vt:lpstr>
      <vt:lpstr>Flip flop vs latch</vt:lpstr>
      <vt:lpstr>Defining a flip flop</vt:lpstr>
      <vt:lpstr>Blocking vs non-blocking assignment</vt:lpstr>
      <vt:lpstr>Blocking vs non-blocking assignment</vt:lpstr>
      <vt:lpstr>PowerPoint Presentation</vt:lpstr>
      <vt:lpstr>A flexible clock tick</vt:lpstr>
      <vt:lpstr>Cascading counters</vt:lpstr>
      <vt:lpstr>A clock divider</vt:lpstr>
      <vt:lpstr>Shift registers</vt:lpstr>
      <vt:lpstr>A shift register</vt:lpstr>
      <vt:lpstr>A shift register</vt:lpstr>
      <vt:lpstr>Linear feedback shift register</vt:lpstr>
      <vt:lpstr>Linear feedback shift register</vt:lpstr>
      <vt:lpstr>Linear feedback shift register</vt:lpstr>
      <vt:lpstr>Linear feedback shift register</vt:lpstr>
      <vt:lpstr>Linear feedback shift register</vt:lpstr>
      <vt:lpstr>Linear feedback shift register</vt:lpstr>
      <vt:lpstr>Linear feedback shift register</vt:lpstr>
      <vt:lpstr>Linear feedback shift register</vt:lpstr>
      <vt:lpstr>Linear feedback shift register</vt:lpstr>
      <vt:lpstr>Linear feedback shift register</vt:lpstr>
      <vt:lpstr>Linear feedback shift register</vt:lpstr>
      <vt:lpstr>Linear feedback shift register</vt:lpstr>
      <vt:lpstr>Linear feedback shift register</vt:lpstr>
      <vt:lpstr>Linear feedback shift register</vt:lpstr>
      <vt:lpstr>Linear feedback shift register</vt:lpstr>
      <vt:lpstr>Linear feedback shift register</vt:lpstr>
      <vt:lpstr>Linear feedback shift register</vt:lpstr>
      <vt:lpstr>Binary to BCD</vt:lpstr>
      <vt:lpstr>Binary to BCD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Binary to BCD</vt:lpstr>
      <vt:lpstr>This lecture</vt:lpstr>
      <vt:lpstr>Backup Bin2BCD Proof</vt:lpstr>
      <vt:lpstr>Backup Bin2BCD Proof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Coward, Samuel R</cp:lastModifiedBy>
  <cp:revision>12</cp:revision>
  <dcterms:modified xsi:type="dcterms:W3CDTF">2026-10-19T08:22:09Z</dcterms:modified>
</cp:coreProperties>
</file>