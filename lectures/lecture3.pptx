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85" d="100"/>
          <a:sy n="85" d="100"/>
        </p:scale>
        <p:origin x="19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49-8740-81C1-A96F496BFBE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49-8740-81C1-A96F496BFB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 b="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65281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 b="1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4963355" y="25400"/>
            <a:ext cx="3078089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 b="1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3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Lecture 3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Mastering </a:t>
            </a:r>
            <a:br/>
            <a:r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t>with Verilog on FPGAs</a:t>
            </a:r>
          </a:p>
        </p:txBody>
      </p:sp>
      <p:sp>
        <p:nvSpPr>
          <p:cNvPr id="2" name="Slides by John Wickerson">
            <a:extLst>
              <a:ext uri="{FF2B5EF4-FFF2-40B4-BE49-F238E27FC236}">
                <a16:creationId xmlns:a16="http://schemas.microsoft.com/office/drawing/2014/main" id="{26B812DB-C489-FACB-FD20-0014A15BB8E2}"/>
              </a:ext>
            </a:extLst>
          </p:cNvPr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67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71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Pulse-width modulation (PWM)</a:t>
            </a:r>
          </a:p>
          <a:p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DAC</a:t>
            </a:r>
          </a:p>
        </p:txBody>
      </p:sp>
      <p:sp>
        <p:nvSpPr>
          <p:cNvPr id="75" name="Digital-to-analogue conversion (DAC) can be done using a string of resistors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703144"/>
          </a:xfrm>
          <a:prstGeom prst="rect">
            <a:avLst/>
          </a:prstGeom>
        </p:spPr>
        <p:txBody>
          <a:bodyPr/>
          <a:lstStyle/>
          <a:p>
            <a:r>
              <a:rPr b="1"/>
              <a:t>Digital-to-analogue conversion</a:t>
            </a:r>
            <a:r>
              <a:t> (DAC) can be done using a string of resistors. 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/>
          </a:p>
        </p:txBody>
      </p:sp>
      <p:grpSp>
        <p:nvGrpSpPr>
          <p:cNvPr id="152" name="Group"/>
          <p:cNvGrpSpPr/>
          <p:nvPr/>
        </p:nvGrpSpPr>
        <p:grpSpPr>
          <a:xfrm>
            <a:off x="473204" y="4514849"/>
            <a:ext cx="5270480" cy="4917018"/>
            <a:chOff x="-10869" y="-12700"/>
            <a:chExt cx="5270479" cy="4917016"/>
          </a:xfrm>
        </p:grpSpPr>
        <p:sp>
          <p:nvSpPr>
            <p:cNvPr id="77" name="Line"/>
            <p:cNvSpPr/>
            <p:nvPr/>
          </p:nvSpPr>
          <p:spPr>
            <a:xfrm>
              <a:off x="523460" y="234950"/>
              <a:ext cx="548868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8" name="Line"/>
            <p:cNvSpPr/>
            <p:nvPr/>
          </p:nvSpPr>
          <p:spPr>
            <a:xfrm flipH="1">
              <a:off x="1073793" y="226329"/>
              <a:ext cx="1" cy="447390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9" name="Line"/>
            <p:cNvSpPr/>
            <p:nvPr/>
          </p:nvSpPr>
          <p:spPr>
            <a:xfrm>
              <a:off x="898533" y="4701116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0" name="Line"/>
            <p:cNvSpPr/>
            <p:nvPr/>
          </p:nvSpPr>
          <p:spPr>
            <a:xfrm>
              <a:off x="947416" y="4802716"/>
              <a:ext cx="252755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1" name="Line"/>
            <p:cNvSpPr/>
            <p:nvPr/>
          </p:nvSpPr>
          <p:spPr>
            <a:xfrm>
              <a:off x="1009763" y="4904316"/>
              <a:ext cx="12806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2" name="Line"/>
            <p:cNvSpPr/>
            <p:nvPr/>
          </p:nvSpPr>
          <p:spPr>
            <a:xfrm flipH="1">
              <a:off x="2839093" y="870885"/>
              <a:ext cx="1" cy="352454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3" name="Line"/>
            <p:cNvSpPr/>
            <p:nvPr/>
          </p:nvSpPr>
          <p:spPr>
            <a:xfrm>
              <a:off x="2847560" y="2135538"/>
              <a:ext cx="177647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88" name="Group"/>
            <p:cNvGrpSpPr/>
            <p:nvPr/>
          </p:nvGrpSpPr>
          <p:grpSpPr>
            <a:xfrm>
              <a:off x="1069559" y="4286250"/>
              <a:ext cx="1776478" cy="203200"/>
              <a:chOff x="0" y="0"/>
              <a:chExt cx="1776476" cy="203200"/>
            </a:xfrm>
          </p:grpSpPr>
          <p:sp>
            <p:nvSpPr>
              <p:cNvPr id="84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87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85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86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93" name="Group"/>
            <p:cNvGrpSpPr/>
            <p:nvPr/>
          </p:nvGrpSpPr>
          <p:grpSpPr>
            <a:xfrm>
              <a:off x="1069559" y="3782483"/>
              <a:ext cx="1776478" cy="203201"/>
              <a:chOff x="0" y="0"/>
              <a:chExt cx="1776476" cy="203200"/>
            </a:xfrm>
          </p:grpSpPr>
          <p:sp>
            <p:nvSpPr>
              <p:cNvPr id="89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92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90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91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98" name="Group"/>
            <p:cNvGrpSpPr/>
            <p:nvPr/>
          </p:nvGrpSpPr>
          <p:grpSpPr>
            <a:xfrm>
              <a:off x="1069559" y="3278716"/>
              <a:ext cx="1776478" cy="203201"/>
              <a:chOff x="0" y="0"/>
              <a:chExt cx="1776476" cy="203200"/>
            </a:xfrm>
          </p:grpSpPr>
          <p:sp>
            <p:nvSpPr>
              <p:cNvPr id="94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97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95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96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03" name="Group"/>
            <p:cNvGrpSpPr/>
            <p:nvPr/>
          </p:nvGrpSpPr>
          <p:grpSpPr>
            <a:xfrm>
              <a:off x="1069559" y="2774949"/>
              <a:ext cx="1776478" cy="203201"/>
              <a:chOff x="0" y="0"/>
              <a:chExt cx="1776476" cy="203200"/>
            </a:xfrm>
          </p:grpSpPr>
          <p:sp>
            <p:nvSpPr>
              <p:cNvPr id="99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02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00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01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08" name="Group"/>
            <p:cNvGrpSpPr/>
            <p:nvPr/>
          </p:nvGrpSpPr>
          <p:grpSpPr>
            <a:xfrm>
              <a:off x="1069559" y="2271182"/>
              <a:ext cx="1776478" cy="203201"/>
              <a:chOff x="0" y="0"/>
              <a:chExt cx="1776476" cy="203200"/>
            </a:xfrm>
          </p:grpSpPr>
          <p:sp>
            <p:nvSpPr>
              <p:cNvPr id="104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07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05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06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13" name="Group"/>
            <p:cNvGrpSpPr/>
            <p:nvPr/>
          </p:nvGrpSpPr>
          <p:grpSpPr>
            <a:xfrm>
              <a:off x="1069559" y="1775883"/>
              <a:ext cx="1776478" cy="203201"/>
              <a:chOff x="0" y="0"/>
              <a:chExt cx="1776476" cy="203200"/>
            </a:xfrm>
          </p:grpSpPr>
          <p:sp>
            <p:nvSpPr>
              <p:cNvPr id="109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12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10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11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18" name="Group"/>
            <p:cNvGrpSpPr/>
            <p:nvPr/>
          </p:nvGrpSpPr>
          <p:grpSpPr>
            <a:xfrm>
              <a:off x="1069559" y="1280583"/>
              <a:ext cx="1776478" cy="203201"/>
              <a:chOff x="0" y="0"/>
              <a:chExt cx="1776476" cy="203200"/>
            </a:xfrm>
          </p:grpSpPr>
          <p:sp>
            <p:nvSpPr>
              <p:cNvPr id="114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17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15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16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23" name="Group"/>
            <p:cNvGrpSpPr/>
            <p:nvPr/>
          </p:nvGrpSpPr>
          <p:grpSpPr>
            <a:xfrm>
              <a:off x="1069559" y="776816"/>
              <a:ext cx="1776478" cy="203201"/>
              <a:chOff x="0" y="0"/>
              <a:chExt cx="1776476" cy="203200"/>
            </a:xfrm>
          </p:grpSpPr>
          <p:sp>
            <p:nvSpPr>
              <p:cNvPr id="119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22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20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21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sp>
          <p:nvSpPr>
            <p:cNvPr id="124" name="Rectangle"/>
            <p:cNvSpPr/>
            <p:nvPr/>
          </p:nvSpPr>
          <p:spPr>
            <a:xfrm>
              <a:off x="978843" y="487064"/>
              <a:ext cx="189900" cy="283172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5" name="Rectangle"/>
            <p:cNvSpPr/>
            <p:nvPr/>
          </p:nvSpPr>
          <p:spPr>
            <a:xfrm>
              <a:off x="978843" y="992716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6" name="Rectangle"/>
            <p:cNvSpPr/>
            <p:nvPr/>
          </p:nvSpPr>
          <p:spPr>
            <a:xfrm>
              <a:off x="978843" y="1486131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7" name="Rectangle"/>
            <p:cNvSpPr/>
            <p:nvPr/>
          </p:nvSpPr>
          <p:spPr>
            <a:xfrm>
              <a:off x="978843" y="1981253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8" name="Rectangle"/>
            <p:cNvSpPr/>
            <p:nvPr/>
          </p:nvSpPr>
          <p:spPr>
            <a:xfrm>
              <a:off x="978843" y="2474667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9" name="Rectangle"/>
            <p:cNvSpPr/>
            <p:nvPr/>
          </p:nvSpPr>
          <p:spPr>
            <a:xfrm>
              <a:off x="978843" y="2995314"/>
              <a:ext cx="189900" cy="283172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30" name="Rectangle"/>
            <p:cNvSpPr/>
            <p:nvPr/>
          </p:nvSpPr>
          <p:spPr>
            <a:xfrm>
              <a:off x="978843" y="3490614"/>
              <a:ext cx="189900" cy="283172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31" name="Rectangle"/>
            <p:cNvSpPr/>
            <p:nvPr/>
          </p:nvSpPr>
          <p:spPr>
            <a:xfrm>
              <a:off x="978843" y="4002500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32" name="Triangle"/>
            <p:cNvSpPr/>
            <p:nvPr/>
          </p:nvSpPr>
          <p:spPr>
            <a:xfrm rot="5400000">
              <a:off x="3372835" y="1782542"/>
              <a:ext cx="711201" cy="6805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33" name="R"/>
            <p:cNvSpPr txBox="1"/>
            <p:nvPr/>
          </p:nvSpPr>
          <p:spPr>
            <a:xfrm>
              <a:off x="630685" y="391752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4" name="R"/>
            <p:cNvSpPr txBox="1"/>
            <p:nvPr/>
          </p:nvSpPr>
          <p:spPr>
            <a:xfrm>
              <a:off x="630685" y="895181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5" name="R"/>
            <p:cNvSpPr txBox="1"/>
            <p:nvPr/>
          </p:nvSpPr>
          <p:spPr>
            <a:xfrm>
              <a:off x="630685" y="1382213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6" name="R"/>
            <p:cNvSpPr txBox="1"/>
            <p:nvPr/>
          </p:nvSpPr>
          <p:spPr>
            <a:xfrm>
              <a:off x="630685" y="1885642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7" name="R"/>
            <p:cNvSpPr txBox="1"/>
            <p:nvPr/>
          </p:nvSpPr>
          <p:spPr>
            <a:xfrm>
              <a:off x="630685" y="2390021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8" name="R"/>
            <p:cNvSpPr txBox="1"/>
            <p:nvPr/>
          </p:nvSpPr>
          <p:spPr>
            <a:xfrm>
              <a:off x="630685" y="2893451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9" name="R"/>
            <p:cNvSpPr txBox="1"/>
            <p:nvPr/>
          </p:nvSpPr>
          <p:spPr>
            <a:xfrm>
              <a:off x="630685" y="3397830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40" name="R"/>
            <p:cNvSpPr txBox="1"/>
            <p:nvPr/>
          </p:nvSpPr>
          <p:spPr>
            <a:xfrm>
              <a:off x="630685" y="3902210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41" name="sw7"/>
            <p:cNvSpPr txBox="1"/>
            <p:nvPr/>
          </p:nvSpPr>
          <p:spPr>
            <a:xfrm>
              <a:off x="1672010" y="485357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sw7</a:t>
              </a:r>
            </a:p>
          </p:txBody>
        </p:sp>
        <p:sp>
          <p:nvSpPr>
            <p:cNvPr id="142" name="sw6"/>
            <p:cNvSpPr txBox="1"/>
            <p:nvPr/>
          </p:nvSpPr>
          <p:spPr>
            <a:xfrm>
              <a:off x="1672010" y="992388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sw6</a:t>
              </a:r>
            </a:p>
          </p:txBody>
        </p:sp>
        <p:sp>
          <p:nvSpPr>
            <p:cNvPr id="143" name="sw5"/>
            <p:cNvSpPr txBox="1"/>
            <p:nvPr/>
          </p:nvSpPr>
          <p:spPr>
            <a:xfrm>
              <a:off x="1672010" y="1498167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sw5</a:t>
              </a:r>
            </a:p>
          </p:txBody>
        </p:sp>
        <p:sp>
          <p:nvSpPr>
            <p:cNvPr id="144" name="sw4"/>
            <p:cNvSpPr txBox="1"/>
            <p:nvPr/>
          </p:nvSpPr>
          <p:spPr>
            <a:xfrm>
              <a:off x="1672010" y="1977163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sw4</a:t>
              </a:r>
            </a:p>
          </p:txBody>
        </p:sp>
        <p:sp>
          <p:nvSpPr>
            <p:cNvPr id="145" name="sw3"/>
            <p:cNvSpPr txBox="1"/>
            <p:nvPr/>
          </p:nvSpPr>
          <p:spPr>
            <a:xfrm>
              <a:off x="1672010" y="2494554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sw3</a:t>
              </a:r>
            </a:p>
          </p:txBody>
        </p:sp>
        <p:sp>
          <p:nvSpPr>
            <p:cNvPr id="146" name="sw2"/>
            <p:cNvSpPr txBox="1"/>
            <p:nvPr/>
          </p:nvSpPr>
          <p:spPr>
            <a:xfrm>
              <a:off x="1672010" y="3000334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sw2</a:t>
              </a:r>
            </a:p>
          </p:txBody>
        </p:sp>
        <p:sp>
          <p:nvSpPr>
            <p:cNvPr id="147" name="sw1"/>
            <p:cNvSpPr txBox="1"/>
            <p:nvPr/>
          </p:nvSpPr>
          <p:spPr>
            <a:xfrm>
              <a:off x="1672010" y="3504729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sw1</a:t>
              </a:r>
            </a:p>
          </p:txBody>
        </p:sp>
        <p:sp>
          <p:nvSpPr>
            <p:cNvPr id="148" name="sw0"/>
            <p:cNvSpPr txBox="1"/>
            <p:nvPr/>
          </p:nvSpPr>
          <p:spPr>
            <a:xfrm>
              <a:off x="1672010" y="3988119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sw0</a:t>
              </a:r>
            </a:p>
          </p:txBody>
        </p:sp>
        <p:sp>
          <p:nvSpPr>
            <p:cNvPr id="149" name="Vref"/>
            <p:cNvSpPr txBox="1"/>
            <p:nvPr/>
          </p:nvSpPr>
          <p:spPr>
            <a:xfrm>
              <a:off x="-10870" y="-12701"/>
              <a:ext cx="554733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sz="2400"/>
              </a:pPr>
              <a:r>
                <a:t>V</a:t>
              </a:r>
              <a:r>
                <a:rPr baseline="-5999"/>
                <a:t>ref</a:t>
              </a:r>
            </a:p>
          </p:txBody>
        </p:sp>
        <p:sp>
          <p:nvSpPr>
            <p:cNvPr id="150" name="VDAC"/>
            <p:cNvSpPr txBox="1"/>
            <p:nvPr/>
          </p:nvSpPr>
          <p:spPr>
            <a:xfrm>
              <a:off x="4512989" y="1900588"/>
              <a:ext cx="746622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sz="2400"/>
              </a:pPr>
              <a:r>
                <a:t>V</a:t>
              </a:r>
              <a:r>
                <a:rPr baseline="-5999"/>
                <a:t>DAC</a:t>
              </a:r>
            </a:p>
          </p:txBody>
        </p:sp>
        <p:sp>
          <p:nvSpPr>
            <p:cNvPr id="151" name="output…"/>
            <p:cNvSpPr txBox="1"/>
            <p:nvPr/>
          </p:nvSpPr>
          <p:spPr>
            <a:xfrm>
              <a:off x="3254934" y="2385642"/>
              <a:ext cx="961728" cy="838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sz="2400"/>
              </a:pPr>
              <a:r>
                <a:t>output</a:t>
              </a:r>
            </a:p>
            <a:p>
              <a:pPr>
                <a:defRPr sz="2400"/>
              </a:pPr>
              <a:r>
                <a:t>buffer</a:t>
              </a:r>
            </a:p>
          </p:txBody>
        </p:sp>
      </p:grpSp>
      <p:sp>
        <p:nvSpPr>
          <p:cNvPr id="153" name="Here is a 3-bit DAC. It uses 23 = 8 resistors.…"/>
          <p:cNvSpPr txBox="1"/>
          <p:nvPr/>
        </p:nvSpPr>
        <p:spPr>
          <a:xfrm>
            <a:off x="6036518" y="3645388"/>
            <a:ext cx="6552010" cy="4998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t>Here is a 3-bit DAC. It uses 2</a:t>
            </a:r>
            <a:r>
              <a:rPr baseline="31999"/>
              <a:t>3</a:t>
            </a:r>
            <a:r>
              <a:t> = 8 resistors.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t>When the digital input is 5, we close (only) switch 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sw5</a:t>
            </a:r>
            <a:r>
              <a:t>, which means V</a:t>
            </a:r>
            <a:r>
              <a:rPr baseline="-5999"/>
              <a:t>DAC</a:t>
            </a:r>
            <a:r>
              <a:t> is ⅝V</a:t>
            </a:r>
            <a:r>
              <a:rPr baseline="-5999"/>
              <a:t>ref</a:t>
            </a:r>
            <a:r>
              <a:t>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1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1" animBg="1" advAuto="0"/>
      <p:bldP spid="152" grpId="2" animBg="1" advAuto="0"/>
      <p:bldP spid="153" grpId="3" build="p" bldLvl="5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DAC</a:t>
            </a:r>
          </a:p>
        </p:txBody>
      </p:sp>
      <p:sp>
        <p:nvSpPr>
          <p:cNvPr id="1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</a:t>
            </a:fld>
            <a:endParaRPr/>
          </a:p>
        </p:txBody>
      </p:sp>
      <p:sp>
        <p:nvSpPr>
          <p:cNvPr id="157" name="Line"/>
          <p:cNvSpPr/>
          <p:nvPr/>
        </p:nvSpPr>
        <p:spPr>
          <a:xfrm>
            <a:off x="1007533" y="4762500"/>
            <a:ext cx="5488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" name="Line"/>
          <p:cNvSpPr/>
          <p:nvPr/>
        </p:nvSpPr>
        <p:spPr>
          <a:xfrm flipH="1">
            <a:off x="1557866" y="4753879"/>
            <a:ext cx="1" cy="44739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" name="Line"/>
          <p:cNvSpPr/>
          <p:nvPr/>
        </p:nvSpPr>
        <p:spPr>
          <a:xfrm>
            <a:off x="1382606" y="9228666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" name="Line"/>
          <p:cNvSpPr/>
          <p:nvPr/>
        </p:nvSpPr>
        <p:spPr>
          <a:xfrm>
            <a:off x="1431489" y="9330266"/>
            <a:ext cx="25275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" name="Line"/>
          <p:cNvSpPr/>
          <p:nvPr/>
        </p:nvSpPr>
        <p:spPr>
          <a:xfrm>
            <a:off x="1493836" y="9431866"/>
            <a:ext cx="128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" name="Line"/>
          <p:cNvSpPr/>
          <p:nvPr/>
        </p:nvSpPr>
        <p:spPr>
          <a:xfrm>
            <a:off x="10054166" y="5398435"/>
            <a:ext cx="1" cy="352454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" name="Line"/>
          <p:cNvSpPr/>
          <p:nvPr/>
        </p:nvSpPr>
        <p:spPr>
          <a:xfrm>
            <a:off x="10062633" y="6663088"/>
            <a:ext cx="177647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68" name="Group"/>
          <p:cNvGrpSpPr/>
          <p:nvPr/>
        </p:nvGrpSpPr>
        <p:grpSpPr>
          <a:xfrm>
            <a:off x="7014633" y="8813800"/>
            <a:ext cx="1776477" cy="203200"/>
            <a:chOff x="0" y="0"/>
            <a:chExt cx="1776476" cy="203200"/>
          </a:xfrm>
        </p:grpSpPr>
        <p:sp>
          <p:nvSpPr>
            <p:cNvPr id="164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67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65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66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73" name="Group"/>
          <p:cNvGrpSpPr/>
          <p:nvPr/>
        </p:nvGrpSpPr>
        <p:grpSpPr>
          <a:xfrm>
            <a:off x="6252633" y="8310033"/>
            <a:ext cx="1776477" cy="203201"/>
            <a:chOff x="0" y="0"/>
            <a:chExt cx="1776476" cy="203200"/>
          </a:xfrm>
        </p:grpSpPr>
        <p:sp>
          <p:nvSpPr>
            <p:cNvPr id="169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72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70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71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78" name="Group"/>
          <p:cNvGrpSpPr/>
          <p:nvPr/>
        </p:nvGrpSpPr>
        <p:grpSpPr>
          <a:xfrm>
            <a:off x="5490633" y="7806266"/>
            <a:ext cx="1776477" cy="203201"/>
            <a:chOff x="0" y="0"/>
            <a:chExt cx="1776476" cy="203200"/>
          </a:xfrm>
        </p:grpSpPr>
        <p:sp>
          <p:nvSpPr>
            <p:cNvPr id="174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77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75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76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83" name="Group"/>
          <p:cNvGrpSpPr/>
          <p:nvPr/>
        </p:nvGrpSpPr>
        <p:grpSpPr>
          <a:xfrm>
            <a:off x="4728633" y="7302499"/>
            <a:ext cx="1776477" cy="203201"/>
            <a:chOff x="0" y="0"/>
            <a:chExt cx="1776476" cy="203200"/>
          </a:xfrm>
        </p:grpSpPr>
        <p:sp>
          <p:nvSpPr>
            <p:cNvPr id="179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82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80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81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88" name="Group"/>
          <p:cNvGrpSpPr/>
          <p:nvPr/>
        </p:nvGrpSpPr>
        <p:grpSpPr>
          <a:xfrm>
            <a:off x="3839633" y="6798732"/>
            <a:ext cx="1776477" cy="203201"/>
            <a:chOff x="0" y="0"/>
            <a:chExt cx="1776476" cy="203200"/>
          </a:xfrm>
        </p:grpSpPr>
        <p:sp>
          <p:nvSpPr>
            <p:cNvPr id="184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87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85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86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93" name="Group"/>
          <p:cNvGrpSpPr/>
          <p:nvPr/>
        </p:nvGrpSpPr>
        <p:grpSpPr>
          <a:xfrm>
            <a:off x="3077633" y="6303433"/>
            <a:ext cx="1776477" cy="203201"/>
            <a:chOff x="0" y="0"/>
            <a:chExt cx="1776476" cy="203200"/>
          </a:xfrm>
        </p:grpSpPr>
        <p:sp>
          <p:nvSpPr>
            <p:cNvPr id="189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92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90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91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98" name="Group"/>
          <p:cNvGrpSpPr/>
          <p:nvPr/>
        </p:nvGrpSpPr>
        <p:grpSpPr>
          <a:xfrm>
            <a:off x="2315633" y="5808133"/>
            <a:ext cx="1776477" cy="203201"/>
            <a:chOff x="0" y="0"/>
            <a:chExt cx="1776476" cy="203200"/>
          </a:xfrm>
        </p:grpSpPr>
        <p:sp>
          <p:nvSpPr>
            <p:cNvPr id="194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97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95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96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203" name="Group"/>
          <p:cNvGrpSpPr/>
          <p:nvPr/>
        </p:nvGrpSpPr>
        <p:grpSpPr>
          <a:xfrm>
            <a:off x="1553633" y="5304366"/>
            <a:ext cx="1776477" cy="203201"/>
            <a:chOff x="0" y="0"/>
            <a:chExt cx="1776476" cy="203200"/>
          </a:xfrm>
        </p:grpSpPr>
        <p:sp>
          <p:nvSpPr>
            <p:cNvPr id="199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202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200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201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sp>
        <p:nvSpPr>
          <p:cNvPr id="204" name="Rectangle"/>
          <p:cNvSpPr/>
          <p:nvPr/>
        </p:nvSpPr>
        <p:spPr>
          <a:xfrm>
            <a:off x="1462917" y="5014614"/>
            <a:ext cx="189900" cy="2831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" name="Rectangle"/>
          <p:cNvSpPr/>
          <p:nvPr/>
        </p:nvSpPr>
        <p:spPr>
          <a:xfrm>
            <a:off x="1462917" y="5520266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" name="Rectangle"/>
          <p:cNvSpPr/>
          <p:nvPr/>
        </p:nvSpPr>
        <p:spPr>
          <a:xfrm>
            <a:off x="1462917" y="6013681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" name="Rectangle"/>
          <p:cNvSpPr/>
          <p:nvPr/>
        </p:nvSpPr>
        <p:spPr>
          <a:xfrm>
            <a:off x="1462917" y="6508803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" name="Rectangle"/>
          <p:cNvSpPr/>
          <p:nvPr/>
        </p:nvSpPr>
        <p:spPr>
          <a:xfrm>
            <a:off x="1462917" y="7002217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" name="Rectangle"/>
          <p:cNvSpPr/>
          <p:nvPr/>
        </p:nvSpPr>
        <p:spPr>
          <a:xfrm>
            <a:off x="1462917" y="7522864"/>
            <a:ext cx="189900" cy="2831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" name="Rectangle"/>
          <p:cNvSpPr/>
          <p:nvPr/>
        </p:nvSpPr>
        <p:spPr>
          <a:xfrm>
            <a:off x="1462917" y="8018164"/>
            <a:ext cx="189900" cy="2831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" name="Rectangle"/>
          <p:cNvSpPr/>
          <p:nvPr/>
        </p:nvSpPr>
        <p:spPr>
          <a:xfrm>
            <a:off x="1462917" y="8530050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" name="Triangle"/>
          <p:cNvSpPr/>
          <p:nvPr/>
        </p:nvSpPr>
        <p:spPr>
          <a:xfrm rot="5400000">
            <a:off x="10587909" y="6310092"/>
            <a:ext cx="711201" cy="6805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" name="R"/>
          <p:cNvSpPr txBox="1"/>
          <p:nvPr/>
        </p:nvSpPr>
        <p:spPr>
          <a:xfrm>
            <a:off x="1114758" y="4919302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4" name="R"/>
          <p:cNvSpPr txBox="1"/>
          <p:nvPr/>
        </p:nvSpPr>
        <p:spPr>
          <a:xfrm>
            <a:off x="1114758" y="5422731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5" name="R"/>
          <p:cNvSpPr txBox="1"/>
          <p:nvPr/>
        </p:nvSpPr>
        <p:spPr>
          <a:xfrm>
            <a:off x="1114758" y="5909763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6" name="R"/>
          <p:cNvSpPr txBox="1"/>
          <p:nvPr/>
        </p:nvSpPr>
        <p:spPr>
          <a:xfrm>
            <a:off x="1114758" y="6413192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7" name="R"/>
          <p:cNvSpPr txBox="1"/>
          <p:nvPr/>
        </p:nvSpPr>
        <p:spPr>
          <a:xfrm>
            <a:off x="1114758" y="6917571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8" name="R"/>
          <p:cNvSpPr txBox="1"/>
          <p:nvPr/>
        </p:nvSpPr>
        <p:spPr>
          <a:xfrm>
            <a:off x="1114758" y="7421001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9" name="R"/>
          <p:cNvSpPr txBox="1"/>
          <p:nvPr/>
        </p:nvSpPr>
        <p:spPr>
          <a:xfrm>
            <a:off x="1114758" y="7925380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20" name="R"/>
          <p:cNvSpPr txBox="1"/>
          <p:nvPr/>
        </p:nvSpPr>
        <p:spPr>
          <a:xfrm>
            <a:off x="1114758" y="8429760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21" name="sw7"/>
          <p:cNvSpPr txBox="1"/>
          <p:nvPr/>
        </p:nvSpPr>
        <p:spPr>
          <a:xfrm>
            <a:off x="2156084" y="5012907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sw7</a:t>
            </a:r>
          </a:p>
        </p:txBody>
      </p:sp>
      <p:sp>
        <p:nvSpPr>
          <p:cNvPr id="222" name="sw6"/>
          <p:cNvSpPr txBox="1"/>
          <p:nvPr/>
        </p:nvSpPr>
        <p:spPr>
          <a:xfrm>
            <a:off x="2918084" y="5519938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sw6</a:t>
            </a:r>
          </a:p>
        </p:txBody>
      </p:sp>
      <p:sp>
        <p:nvSpPr>
          <p:cNvPr id="223" name="sw5"/>
          <p:cNvSpPr txBox="1"/>
          <p:nvPr/>
        </p:nvSpPr>
        <p:spPr>
          <a:xfrm>
            <a:off x="3680084" y="6025717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sw5</a:t>
            </a:r>
          </a:p>
        </p:txBody>
      </p:sp>
      <p:sp>
        <p:nvSpPr>
          <p:cNvPr id="224" name="sw4"/>
          <p:cNvSpPr txBox="1"/>
          <p:nvPr/>
        </p:nvSpPr>
        <p:spPr>
          <a:xfrm>
            <a:off x="4442084" y="6504713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sw4</a:t>
            </a:r>
          </a:p>
        </p:txBody>
      </p:sp>
      <p:sp>
        <p:nvSpPr>
          <p:cNvPr id="225" name="sw3"/>
          <p:cNvSpPr txBox="1"/>
          <p:nvPr/>
        </p:nvSpPr>
        <p:spPr>
          <a:xfrm>
            <a:off x="5331084" y="7022104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sw3</a:t>
            </a:r>
          </a:p>
        </p:txBody>
      </p:sp>
      <p:sp>
        <p:nvSpPr>
          <p:cNvPr id="226" name="sw2"/>
          <p:cNvSpPr txBox="1"/>
          <p:nvPr/>
        </p:nvSpPr>
        <p:spPr>
          <a:xfrm>
            <a:off x="6093084" y="7527884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sw2</a:t>
            </a:r>
          </a:p>
        </p:txBody>
      </p:sp>
      <p:sp>
        <p:nvSpPr>
          <p:cNvPr id="227" name="sw1"/>
          <p:cNvSpPr txBox="1"/>
          <p:nvPr/>
        </p:nvSpPr>
        <p:spPr>
          <a:xfrm>
            <a:off x="6855083" y="8032279"/>
            <a:ext cx="57157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sw1</a:t>
            </a:r>
          </a:p>
        </p:txBody>
      </p:sp>
      <p:sp>
        <p:nvSpPr>
          <p:cNvPr id="228" name="sw0"/>
          <p:cNvSpPr txBox="1"/>
          <p:nvPr/>
        </p:nvSpPr>
        <p:spPr>
          <a:xfrm>
            <a:off x="7617083" y="8515669"/>
            <a:ext cx="57157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sw0</a:t>
            </a:r>
          </a:p>
        </p:txBody>
      </p:sp>
      <p:sp>
        <p:nvSpPr>
          <p:cNvPr id="229" name="Vref"/>
          <p:cNvSpPr txBox="1"/>
          <p:nvPr/>
        </p:nvSpPr>
        <p:spPr>
          <a:xfrm>
            <a:off x="473203" y="4514849"/>
            <a:ext cx="55473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400"/>
            </a:pPr>
            <a:r>
              <a:t>V</a:t>
            </a:r>
            <a:r>
              <a:rPr baseline="-5999"/>
              <a:t>ref</a:t>
            </a:r>
          </a:p>
        </p:txBody>
      </p:sp>
      <p:sp>
        <p:nvSpPr>
          <p:cNvPr id="230" name="VDAC"/>
          <p:cNvSpPr txBox="1"/>
          <p:nvPr/>
        </p:nvSpPr>
        <p:spPr>
          <a:xfrm>
            <a:off x="11728062" y="6428138"/>
            <a:ext cx="746622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400"/>
            </a:pPr>
            <a:r>
              <a:t>V</a:t>
            </a:r>
            <a:r>
              <a:rPr baseline="-5999"/>
              <a:t>DAC</a:t>
            </a:r>
          </a:p>
        </p:txBody>
      </p:sp>
      <p:sp>
        <p:nvSpPr>
          <p:cNvPr id="231" name="output…"/>
          <p:cNvSpPr txBox="1"/>
          <p:nvPr/>
        </p:nvSpPr>
        <p:spPr>
          <a:xfrm>
            <a:off x="10470008" y="6913192"/>
            <a:ext cx="961728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400"/>
            </a:pPr>
            <a:r>
              <a:t>output</a:t>
            </a:r>
          </a:p>
          <a:p>
            <a:pPr>
              <a:defRPr sz="2400"/>
            </a:pPr>
            <a:r>
              <a:t>buffer</a:t>
            </a:r>
          </a:p>
        </p:txBody>
      </p:sp>
      <p:sp>
        <p:nvSpPr>
          <p:cNvPr id="232" name="Line"/>
          <p:cNvSpPr/>
          <p:nvPr/>
        </p:nvSpPr>
        <p:spPr>
          <a:xfrm>
            <a:off x="1685714" y="1859117"/>
            <a:ext cx="334759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" name="Line"/>
          <p:cNvSpPr/>
          <p:nvPr/>
        </p:nvSpPr>
        <p:spPr>
          <a:xfrm>
            <a:off x="1688317" y="2968587"/>
            <a:ext cx="490448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" name="Line"/>
          <p:cNvSpPr/>
          <p:nvPr/>
        </p:nvSpPr>
        <p:spPr>
          <a:xfrm>
            <a:off x="1685236" y="3999499"/>
            <a:ext cx="605136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" name="MUX"/>
          <p:cNvSpPr/>
          <p:nvPr/>
        </p:nvSpPr>
        <p:spPr>
          <a:xfrm rot="16200000">
            <a:off x="2519513" y="3728944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36" name="MUX"/>
          <p:cNvSpPr/>
          <p:nvPr/>
        </p:nvSpPr>
        <p:spPr>
          <a:xfrm rot="16200000">
            <a:off x="4107013" y="3728944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37" name="MUX"/>
          <p:cNvSpPr/>
          <p:nvPr/>
        </p:nvSpPr>
        <p:spPr>
          <a:xfrm rot="16200000">
            <a:off x="5605613" y="3728944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38" name="MUX"/>
          <p:cNvSpPr/>
          <p:nvPr/>
        </p:nvSpPr>
        <p:spPr>
          <a:xfrm rot="16200000">
            <a:off x="7282013" y="3728944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39" name="MUX"/>
          <p:cNvSpPr/>
          <p:nvPr/>
        </p:nvSpPr>
        <p:spPr>
          <a:xfrm rot="16200000">
            <a:off x="3345013" y="2624043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40" name="MUX"/>
          <p:cNvSpPr/>
          <p:nvPr/>
        </p:nvSpPr>
        <p:spPr>
          <a:xfrm rot="16200000">
            <a:off x="6469213" y="2636743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41" name="MUX"/>
          <p:cNvSpPr/>
          <p:nvPr/>
        </p:nvSpPr>
        <p:spPr>
          <a:xfrm rot="16200000">
            <a:off x="4881713" y="1531843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42" name="Line"/>
          <p:cNvSpPr/>
          <p:nvPr/>
        </p:nvSpPr>
        <p:spPr>
          <a:xfrm rot="16200000">
            <a:off x="2291567" y="4460238"/>
            <a:ext cx="518419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3" name="Line"/>
          <p:cNvSpPr/>
          <p:nvPr/>
        </p:nvSpPr>
        <p:spPr>
          <a:xfrm rot="16200000">
            <a:off x="2796041" y="4461649"/>
            <a:ext cx="518419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4" name="Line"/>
          <p:cNvSpPr/>
          <p:nvPr/>
        </p:nvSpPr>
        <p:spPr>
          <a:xfrm rot="16200000">
            <a:off x="3839369" y="4460238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5" name="Line"/>
          <p:cNvSpPr/>
          <p:nvPr/>
        </p:nvSpPr>
        <p:spPr>
          <a:xfrm rot="16200000">
            <a:off x="4343844" y="4461649"/>
            <a:ext cx="518419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6" name="Line"/>
          <p:cNvSpPr/>
          <p:nvPr/>
        </p:nvSpPr>
        <p:spPr>
          <a:xfrm rot="16200000">
            <a:off x="5452215" y="4460238"/>
            <a:ext cx="518419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7" name="Line"/>
          <p:cNvSpPr/>
          <p:nvPr/>
        </p:nvSpPr>
        <p:spPr>
          <a:xfrm rot="16200000">
            <a:off x="5956689" y="4461649"/>
            <a:ext cx="518419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8" name="Line"/>
          <p:cNvSpPr/>
          <p:nvPr/>
        </p:nvSpPr>
        <p:spPr>
          <a:xfrm rot="16200000">
            <a:off x="7026683" y="4460238"/>
            <a:ext cx="518419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9" name="Line"/>
          <p:cNvSpPr/>
          <p:nvPr/>
        </p:nvSpPr>
        <p:spPr>
          <a:xfrm rot="16200000">
            <a:off x="7531158" y="4461649"/>
            <a:ext cx="518419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0" name="Line"/>
          <p:cNvSpPr/>
          <p:nvPr/>
        </p:nvSpPr>
        <p:spPr>
          <a:xfrm rot="16200000">
            <a:off x="2868249" y="3174792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1" name="Line"/>
          <p:cNvSpPr/>
          <p:nvPr/>
        </p:nvSpPr>
        <p:spPr>
          <a:xfrm rot="16200000">
            <a:off x="3839369" y="3196078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2" name="Line"/>
          <p:cNvSpPr/>
          <p:nvPr/>
        </p:nvSpPr>
        <p:spPr>
          <a:xfrm rot="16200000">
            <a:off x="6016283" y="3182968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3" name="Line"/>
          <p:cNvSpPr/>
          <p:nvPr/>
        </p:nvSpPr>
        <p:spPr>
          <a:xfrm rot="16200000">
            <a:off x="6987404" y="3204254"/>
            <a:ext cx="518419" cy="6196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4" name="Line"/>
          <p:cNvSpPr/>
          <p:nvPr/>
        </p:nvSpPr>
        <p:spPr>
          <a:xfrm rot="16200000">
            <a:off x="4071125" y="1720677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5" name="Line"/>
          <p:cNvSpPr/>
          <p:nvPr/>
        </p:nvSpPr>
        <p:spPr>
          <a:xfrm rot="16200000">
            <a:off x="5795915" y="1703612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6" name="Line"/>
          <p:cNvSpPr/>
          <p:nvPr/>
        </p:nvSpPr>
        <p:spPr>
          <a:xfrm flipV="1">
            <a:off x="5182626" y="859811"/>
            <a:ext cx="1" cy="7060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7" name="Line"/>
          <p:cNvSpPr/>
          <p:nvPr/>
        </p:nvSpPr>
        <p:spPr>
          <a:xfrm flipV="1">
            <a:off x="2398269" y="4825470"/>
            <a:ext cx="1" cy="3085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8" name="Line"/>
          <p:cNvSpPr/>
          <p:nvPr/>
        </p:nvSpPr>
        <p:spPr>
          <a:xfrm flipV="1">
            <a:off x="3198369" y="4863570"/>
            <a:ext cx="1" cy="75313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9" name="Line"/>
          <p:cNvSpPr/>
          <p:nvPr/>
        </p:nvSpPr>
        <p:spPr>
          <a:xfrm flipV="1">
            <a:off x="3948021" y="4820708"/>
            <a:ext cx="1" cy="13105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0" name="Line"/>
          <p:cNvSpPr/>
          <p:nvPr/>
        </p:nvSpPr>
        <p:spPr>
          <a:xfrm flipV="1">
            <a:off x="4743922" y="4863602"/>
            <a:ext cx="1" cy="175359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1" name="Line"/>
          <p:cNvSpPr/>
          <p:nvPr/>
        </p:nvSpPr>
        <p:spPr>
          <a:xfrm flipV="1">
            <a:off x="5569144" y="4824893"/>
            <a:ext cx="1" cy="2278439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2" name="Line"/>
          <p:cNvSpPr/>
          <p:nvPr/>
        </p:nvSpPr>
        <p:spPr>
          <a:xfrm flipV="1">
            <a:off x="6365045" y="4867787"/>
            <a:ext cx="1" cy="272226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3" name="Line"/>
          <p:cNvSpPr/>
          <p:nvPr/>
        </p:nvSpPr>
        <p:spPr>
          <a:xfrm flipV="1">
            <a:off x="7136048" y="4820708"/>
            <a:ext cx="1" cy="329570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4" name="Line"/>
          <p:cNvSpPr/>
          <p:nvPr/>
        </p:nvSpPr>
        <p:spPr>
          <a:xfrm flipV="1">
            <a:off x="7931948" y="4863602"/>
            <a:ext cx="1" cy="374065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5" name="Line"/>
          <p:cNvSpPr/>
          <p:nvPr/>
        </p:nvSpPr>
        <p:spPr>
          <a:xfrm flipH="1">
            <a:off x="1565695" y="5909733"/>
            <a:ext cx="110710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6" name="Line"/>
          <p:cNvSpPr/>
          <p:nvPr/>
        </p:nvSpPr>
        <p:spPr>
          <a:xfrm flipH="1">
            <a:off x="1557454" y="6405033"/>
            <a:ext cx="194663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7" name="Line"/>
          <p:cNvSpPr/>
          <p:nvPr/>
        </p:nvSpPr>
        <p:spPr>
          <a:xfrm flipH="1">
            <a:off x="1557454" y="6900332"/>
            <a:ext cx="243074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8" name="Line"/>
          <p:cNvSpPr/>
          <p:nvPr/>
        </p:nvSpPr>
        <p:spPr>
          <a:xfrm flipH="1">
            <a:off x="1570787" y="7413476"/>
            <a:ext cx="321536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9" name="Line"/>
          <p:cNvSpPr/>
          <p:nvPr/>
        </p:nvSpPr>
        <p:spPr>
          <a:xfrm flipH="1">
            <a:off x="1565985" y="7907866"/>
            <a:ext cx="39897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0" name="Line"/>
          <p:cNvSpPr/>
          <p:nvPr/>
        </p:nvSpPr>
        <p:spPr>
          <a:xfrm flipH="1">
            <a:off x="1560276" y="8411633"/>
            <a:ext cx="479207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1" name="Line"/>
          <p:cNvSpPr/>
          <p:nvPr/>
        </p:nvSpPr>
        <p:spPr>
          <a:xfrm flipH="1">
            <a:off x="1546112" y="8915400"/>
            <a:ext cx="5619245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2" name="Line"/>
          <p:cNvSpPr/>
          <p:nvPr/>
        </p:nvSpPr>
        <p:spPr>
          <a:xfrm flipH="1" flipV="1">
            <a:off x="3245502" y="5406476"/>
            <a:ext cx="681775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3" name="Line"/>
          <p:cNvSpPr/>
          <p:nvPr/>
        </p:nvSpPr>
        <p:spPr>
          <a:xfrm flipH="1" flipV="1">
            <a:off x="3588402" y="5913638"/>
            <a:ext cx="64513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4" name="Line"/>
          <p:cNvSpPr/>
          <p:nvPr/>
        </p:nvSpPr>
        <p:spPr>
          <a:xfrm flipH="1" flipV="1">
            <a:off x="4438384" y="6405033"/>
            <a:ext cx="561645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5" name="Line"/>
          <p:cNvSpPr/>
          <p:nvPr/>
        </p:nvSpPr>
        <p:spPr>
          <a:xfrm flipH="1">
            <a:off x="5274797" y="6900332"/>
            <a:ext cx="479207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6" name="Line"/>
          <p:cNvSpPr/>
          <p:nvPr/>
        </p:nvSpPr>
        <p:spPr>
          <a:xfrm flipH="1">
            <a:off x="5998697" y="7407353"/>
            <a:ext cx="404430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7" name="Line"/>
          <p:cNvSpPr/>
          <p:nvPr/>
        </p:nvSpPr>
        <p:spPr>
          <a:xfrm flipH="1">
            <a:off x="6917190" y="7904602"/>
            <a:ext cx="312581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8" name="Line"/>
          <p:cNvSpPr/>
          <p:nvPr/>
        </p:nvSpPr>
        <p:spPr>
          <a:xfrm flipH="1">
            <a:off x="7628390" y="8411633"/>
            <a:ext cx="241454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9" name="Line"/>
          <p:cNvSpPr/>
          <p:nvPr/>
        </p:nvSpPr>
        <p:spPr>
          <a:xfrm flipH="1">
            <a:off x="8288790" y="8915400"/>
            <a:ext cx="177647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80" name="in[1]"/>
          <p:cNvSpPr txBox="1"/>
          <p:nvPr/>
        </p:nvSpPr>
        <p:spPr>
          <a:xfrm>
            <a:off x="936759" y="2692867"/>
            <a:ext cx="69041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in[1]</a:t>
            </a:r>
          </a:p>
        </p:txBody>
      </p:sp>
      <p:sp>
        <p:nvSpPr>
          <p:cNvPr id="281" name="in[2]"/>
          <p:cNvSpPr txBox="1"/>
          <p:nvPr/>
        </p:nvSpPr>
        <p:spPr>
          <a:xfrm>
            <a:off x="936759" y="1624167"/>
            <a:ext cx="69041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in[2]</a:t>
            </a:r>
          </a:p>
        </p:txBody>
      </p:sp>
      <p:sp>
        <p:nvSpPr>
          <p:cNvPr id="282" name="in[0]"/>
          <p:cNvSpPr txBox="1"/>
          <p:nvPr/>
        </p:nvSpPr>
        <p:spPr>
          <a:xfrm>
            <a:off x="936759" y="3732857"/>
            <a:ext cx="69041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in[0]</a:t>
            </a:r>
          </a:p>
        </p:txBody>
      </p:sp>
      <p:sp>
        <p:nvSpPr>
          <p:cNvPr id="283" name="1"/>
          <p:cNvSpPr txBox="1"/>
          <p:nvPr/>
        </p:nvSpPr>
        <p:spPr>
          <a:xfrm>
            <a:off x="5040718" y="467067"/>
            <a:ext cx="283816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1</a:t>
            </a:r>
          </a:p>
        </p:txBody>
      </p:sp>
      <p:sp>
        <p:nvSpPr>
          <p:cNvPr id="284" name="1"/>
          <p:cNvSpPr txBox="1"/>
          <p:nvPr/>
        </p:nvSpPr>
        <p:spPr>
          <a:xfrm>
            <a:off x="4914465" y="1910006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85" name="0"/>
          <p:cNvSpPr txBox="1"/>
          <p:nvPr/>
        </p:nvSpPr>
        <p:spPr>
          <a:xfrm>
            <a:off x="5231965" y="1898559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86" name="1"/>
          <p:cNvSpPr txBox="1"/>
          <p:nvPr/>
        </p:nvSpPr>
        <p:spPr>
          <a:xfrm>
            <a:off x="3364400" y="2993412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87" name="0"/>
          <p:cNvSpPr txBox="1"/>
          <p:nvPr/>
        </p:nvSpPr>
        <p:spPr>
          <a:xfrm>
            <a:off x="3681900" y="2981965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88" name="1"/>
          <p:cNvSpPr txBox="1"/>
          <p:nvPr/>
        </p:nvSpPr>
        <p:spPr>
          <a:xfrm>
            <a:off x="6501300" y="2990199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89" name="0"/>
          <p:cNvSpPr txBox="1"/>
          <p:nvPr/>
        </p:nvSpPr>
        <p:spPr>
          <a:xfrm>
            <a:off x="6818800" y="2978752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90" name="1"/>
          <p:cNvSpPr txBox="1"/>
          <p:nvPr/>
        </p:nvSpPr>
        <p:spPr>
          <a:xfrm>
            <a:off x="2554198" y="4096260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91" name="0"/>
          <p:cNvSpPr txBox="1"/>
          <p:nvPr/>
        </p:nvSpPr>
        <p:spPr>
          <a:xfrm>
            <a:off x="2871698" y="4084813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92" name="1"/>
          <p:cNvSpPr txBox="1"/>
          <p:nvPr/>
        </p:nvSpPr>
        <p:spPr>
          <a:xfrm>
            <a:off x="4109971" y="4096260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93" name="0"/>
          <p:cNvSpPr txBox="1"/>
          <p:nvPr/>
        </p:nvSpPr>
        <p:spPr>
          <a:xfrm>
            <a:off x="4427471" y="4084813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94" name="1"/>
          <p:cNvSpPr txBox="1"/>
          <p:nvPr/>
        </p:nvSpPr>
        <p:spPr>
          <a:xfrm>
            <a:off x="5660921" y="4096260"/>
            <a:ext cx="20612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95" name="0"/>
          <p:cNvSpPr txBox="1"/>
          <p:nvPr/>
        </p:nvSpPr>
        <p:spPr>
          <a:xfrm>
            <a:off x="5978421" y="4084813"/>
            <a:ext cx="20612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96" name="1"/>
          <p:cNvSpPr txBox="1"/>
          <p:nvPr/>
        </p:nvSpPr>
        <p:spPr>
          <a:xfrm>
            <a:off x="7283988" y="4096260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97" name="0"/>
          <p:cNvSpPr txBox="1"/>
          <p:nvPr/>
        </p:nvSpPr>
        <p:spPr>
          <a:xfrm>
            <a:off x="7601488" y="4084813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DAC via PW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DAC via PWM</a:t>
            </a:r>
          </a:p>
        </p:txBody>
      </p:sp>
      <p:sp>
        <p:nvSpPr>
          <p:cNvPr id="300" name="DAC can also be done using digital components, via pulse-width modulation (PWM).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11099800" cy="2845098"/>
          </a:xfrm>
          <a:prstGeom prst="rect">
            <a:avLst/>
          </a:prstGeom>
        </p:spPr>
        <p:txBody>
          <a:bodyPr/>
          <a:lstStyle/>
          <a:p>
            <a:r>
              <a:t>DAC can also be done using digital components, via </a:t>
            </a:r>
            <a:r>
              <a:rPr b="1"/>
              <a:t>pulse-width modulation</a:t>
            </a:r>
            <a:r>
              <a:t> (PWM).</a:t>
            </a:r>
          </a:p>
        </p:txBody>
      </p:sp>
      <p:sp>
        <p:nvSpPr>
          <p:cNvPr id="3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  <p:grpSp>
        <p:nvGrpSpPr>
          <p:cNvPr id="314" name="Group"/>
          <p:cNvGrpSpPr/>
          <p:nvPr/>
        </p:nvGrpSpPr>
        <p:grpSpPr>
          <a:xfrm>
            <a:off x="1845030" y="5689600"/>
            <a:ext cx="9023867" cy="1270001"/>
            <a:chOff x="-71747" y="0"/>
            <a:chExt cx="9023866" cy="1270000"/>
          </a:xfrm>
        </p:grpSpPr>
        <p:sp>
          <p:nvSpPr>
            <p:cNvPr id="302" name="Line"/>
            <p:cNvSpPr/>
            <p:nvPr/>
          </p:nvSpPr>
          <p:spPr>
            <a:xfrm flipV="1">
              <a:off x="2623285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3" name="Line"/>
            <p:cNvSpPr/>
            <p:nvPr/>
          </p:nvSpPr>
          <p:spPr>
            <a:xfrm flipV="1">
              <a:off x="3889051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4" name="Line"/>
            <p:cNvSpPr/>
            <p:nvPr/>
          </p:nvSpPr>
          <p:spPr>
            <a:xfrm flipV="1">
              <a:off x="3889051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5" name="Line"/>
            <p:cNvSpPr/>
            <p:nvPr/>
          </p:nvSpPr>
          <p:spPr>
            <a:xfrm flipV="1">
              <a:off x="5150584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6" name="Line"/>
            <p:cNvSpPr/>
            <p:nvPr/>
          </p:nvSpPr>
          <p:spPr>
            <a:xfrm flipV="1">
              <a:off x="5150584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7" name="Line"/>
            <p:cNvSpPr/>
            <p:nvPr/>
          </p:nvSpPr>
          <p:spPr>
            <a:xfrm flipV="1">
              <a:off x="6412117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8" name="Line"/>
            <p:cNvSpPr/>
            <p:nvPr/>
          </p:nvSpPr>
          <p:spPr>
            <a:xfrm flipV="1">
              <a:off x="6412118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9" name="Line"/>
            <p:cNvSpPr/>
            <p:nvPr/>
          </p:nvSpPr>
          <p:spPr>
            <a:xfrm flipV="1">
              <a:off x="7682117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0" name="Line"/>
            <p:cNvSpPr/>
            <p:nvPr/>
          </p:nvSpPr>
          <p:spPr>
            <a:xfrm flipV="1">
              <a:off x="7682118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1" name="Line"/>
            <p:cNvSpPr/>
            <p:nvPr/>
          </p:nvSpPr>
          <p:spPr>
            <a:xfrm flipV="1">
              <a:off x="8947884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2" name="Line"/>
            <p:cNvSpPr/>
            <p:nvPr/>
          </p:nvSpPr>
          <p:spPr>
            <a:xfrm flipV="1">
              <a:off x="2619565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3" name="triangle wave"/>
            <p:cNvSpPr txBox="1"/>
            <p:nvPr/>
          </p:nvSpPr>
          <p:spPr>
            <a:xfrm>
              <a:off x="-71748" y="139699"/>
              <a:ext cx="2508846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3">
                      <a:hueOff val="362282"/>
                      <a:satOff val="31803"/>
                      <a:lumOff val="-18242"/>
                    </a:schemeClr>
                  </a:solidFill>
                </a:defRPr>
              </a:lvl1pPr>
            </a:lstStyle>
            <a:p>
              <a:r>
                <a:t>triangle wave</a:t>
              </a:r>
            </a:p>
          </p:txBody>
        </p:sp>
      </p:grpSp>
      <p:grpSp>
        <p:nvGrpSpPr>
          <p:cNvPr id="317" name="Group"/>
          <p:cNvGrpSpPr/>
          <p:nvPr/>
        </p:nvGrpSpPr>
        <p:grpSpPr>
          <a:xfrm>
            <a:off x="2985012" y="5865207"/>
            <a:ext cx="8103010" cy="1026181"/>
            <a:chOff x="-24676" y="0"/>
            <a:chExt cx="8103008" cy="1026179"/>
          </a:xfrm>
        </p:grpSpPr>
        <p:sp>
          <p:nvSpPr>
            <p:cNvPr id="315" name="Line"/>
            <p:cNvSpPr/>
            <p:nvPr/>
          </p:nvSpPr>
          <p:spPr>
            <a:xfrm>
              <a:off x="1446500" y="0"/>
              <a:ext cx="6631832" cy="7573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3750" y="21600"/>
                  </a:lnTo>
                  <a:lnTo>
                    <a:pt x="3750" y="16658"/>
                  </a:lnTo>
                  <a:lnTo>
                    <a:pt x="8712" y="16658"/>
                  </a:lnTo>
                  <a:lnTo>
                    <a:pt x="8712" y="11688"/>
                  </a:lnTo>
                  <a:lnTo>
                    <a:pt x="11955" y="11688"/>
                  </a:lnTo>
                  <a:lnTo>
                    <a:pt x="11955" y="5582"/>
                  </a:lnTo>
                  <a:lnTo>
                    <a:pt x="16909" y="5582"/>
                  </a:lnTo>
                  <a:lnTo>
                    <a:pt x="16909" y="0"/>
                  </a:lnTo>
                  <a:lnTo>
                    <a:pt x="21600" y="0"/>
                  </a:lnTo>
                </a:path>
              </a:pathLst>
            </a:cu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6" name="data in"/>
            <p:cNvSpPr txBox="1"/>
            <p:nvPr/>
          </p:nvSpPr>
          <p:spPr>
            <a:xfrm>
              <a:off x="-24677" y="441979"/>
              <a:ext cx="1334493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t>data in</a:t>
              </a:r>
            </a:p>
          </p:txBody>
        </p:sp>
      </p:grpSp>
      <p:grpSp>
        <p:nvGrpSpPr>
          <p:cNvPr id="345" name="Group"/>
          <p:cNvGrpSpPr/>
          <p:nvPr/>
        </p:nvGrpSpPr>
        <p:grpSpPr>
          <a:xfrm>
            <a:off x="1958338" y="5685994"/>
            <a:ext cx="8926979" cy="2285374"/>
            <a:chOff x="-48254" y="0"/>
            <a:chExt cx="8926977" cy="2285372"/>
          </a:xfrm>
        </p:grpSpPr>
        <p:sp>
          <p:nvSpPr>
            <p:cNvPr id="318" name="Line"/>
            <p:cNvSpPr/>
            <p:nvPr/>
          </p:nvSpPr>
          <p:spPr>
            <a:xfrm flipV="1">
              <a:off x="2863562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9" name="Line"/>
            <p:cNvSpPr/>
            <p:nvPr/>
          </p:nvSpPr>
          <p:spPr>
            <a:xfrm flipV="1">
              <a:off x="4294429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0" name="Line"/>
            <p:cNvSpPr/>
            <p:nvPr/>
          </p:nvSpPr>
          <p:spPr>
            <a:xfrm flipV="1">
              <a:off x="5729529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1" name="Line"/>
            <p:cNvSpPr/>
            <p:nvPr/>
          </p:nvSpPr>
          <p:spPr>
            <a:xfrm flipV="1">
              <a:off x="7211196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2" name="Line"/>
            <p:cNvSpPr/>
            <p:nvPr/>
          </p:nvSpPr>
          <p:spPr>
            <a:xfrm flipV="1">
              <a:off x="8692863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3" name="Line"/>
            <p:cNvSpPr/>
            <p:nvPr/>
          </p:nvSpPr>
          <p:spPr>
            <a:xfrm flipV="1">
              <a:off x="2533470" y="1612272"/>
              <a:ext cx="34713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4" name="Line"/>
            <p:cNvSpPr/>
            <p:nvPr/>
          </p:nvSpPr>
          <p:spPr>
            <a:xfrm flipV="1">
              <a:off x="3803470" y="1612272"/>
              <a:ext cx="51223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5" name="Line"/>
            <p:cNvSpPr/>
            <p:nvPr/>
          </p:nvSpPr>
          <p:spPr>
            <a:xfrm flipV="1">
              <a:off x="5052046" y="1612272"/>
              <a:ext cx="694525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6" name="Line"/>
            <p:cNvSpPr/>
            <p:nvPr/>
          </p:nvSpPr>
          <p:spPr>
            <a:xfrm flipV="1">
              <a:off x="6309346" y="1612272"/>
              <a:ext cx="91889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7" name="Line"/>
            <p:cNvSpPr/>
            <p:nvPr/>
          </p:nvSpPr>
          <p:spPr>
            <a:xfrm>
              <a:off x="7590187" y="1612272"/>
              <a:ext cx="110939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8" name="Line"/>
            <p:cNvSpPr/>
            <p:nvPr/>
          </p:nvSpPr>
          <p:spPr>
            <a:xfrm>
              <a:off x="2872137" y="2272672"/>
              <a:ext cx="9398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9" name="Line"/>
            <p:cNvSpPr/>
            <p:nvPr/>
          </p:nvSpPr>
          <p:spPr>
            <a:xfrm>
              <a:off x="4296653" y="2272672"/>
              <a:ext cx="76623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0" name="Line"/>
            <p:cNvSpPr/>
            <p:nvPr/>
          </p:nvSpPr>
          <p:spPr>
            <a:xfrm>
              <a:off x="5721170" y="2272672"/>
              <a:ext cx="593535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1" name="Line"/>
            <p:cNvSpPr/>
            <p:nvPr/>
          </p:nvSpPr>
          <p:spPr>
            <a:xfrm>
              <a:off x="7202837" y="2272672"/>
              <a:ext cx="413840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2" name="Line"/>
            <p:cNvSpPr/>
            <p:nvPr/>
          </p:nvSpPr>
          <p:spPr>
            <a:xfrm>
              <a:off x="8692443" y="2285372"/>
              <a:ext cx="18628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3" name="Line"/>
            <p:cNvSpPr/>
            <p:nvPr/>
          </p:nvSpPr>
          <p:spPr>
            <a:xfrm flipV="1">
              <a:off x="2867903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4" name="Line"/>
            <p:cNvSpPr/>
            <p:nvPr/>
          </p:nvSpPr>
          <p:spPr>
            <a:xfrm flipV="1">
              <a:off x="2542450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5" name="Line"/>
            <p:cNvSpPr/>
            <p:nvPr/>
          </p:nvSpPr>
          <p:spPr>
            <a:xfrm flipV="1">
              <a:off x="3811936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6" name="Line"/>
            <p:cNvSpPr/>
            <p:nvPr/>
          </p:nvSpPr>
          <p:spPr>
            <a:xfrm flipV="1">
              <a:off x="5060770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7" name="Line"/>
            <p:cNvSpPr/>
            <p:nvPr/>
          </p:nvSpPr>
          <p:spPr>
            <a:xfrm flipV="1">
              <a:off x="6317556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8" name="Line"/>
            <p:cNvSpPr/>
            <p:nvPr/>
          </p:nvSpPr>
          <p:spPr>
            <a:xfrm flipV="1">
              <a:off x="7599742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9" name="Line"/>
            <p:cNvSpPr/>
            <p:nvPr/>
          </p:nvSpPr>
          <p:spPr>
            <a:xfrm flipV="1">
              <a:off x="8869228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0" name="Line"/>
            <p:cNvSpPr/>
            <p:nvPr/>
          </p:nvSpPr>
          <p:spPr>
            <a:xfrm flipV="1">
              <a:off x="4298770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1" name="Line"/>
            <p:cNvSpPr/>
            <p:nvPr/>
          </p:nvSpPr>
          <p:spPr>
            <a:xfrm flipV="1">
              <a:off x="5733870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2" name="Line"/>
            <p:cNvSpPr/>
            <p:nvPr/>
          </p:nvSpPr>
          <p:spPr>
            <a:xfrm flipV="1">
              <a:off x="7215536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3" name="Line"/>
            <p:cNvSpPr/>
            <p:nvPr/>
          </p:nvSpPr>
          <p:spPr>
            <a:xfrm flipV="1">
              <a:off x="8697203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4" name="PWM signal"/>
            <p:cNvSpPr txBox="1"/>
            <p:nvPr/>
          </p:nvSpPr>
          <p:spPr>
            <a:xfrm>
              <a:off x="-48255" y="1653679"/>
              <a:ext cx="228223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PWM signal</a:t>
              </a:r>
            </a:p>
          </p:txBody>
        </p:sp>
      </p:grpSp>
      <p:grpSp>
        <p:nvGrpSpPr>
          <p:cNvPr id="348" name="Group"/>
          <p:cNvGrpSpPr/>
          <p:nvPr/>
        </p:nvGrpSpPr>
        <p:grpSpPr>
          <a:xfrm>
            <a:off x="1386507" y="8529621"/>
            <a:ext cx="9539661" cy="672720"/>
            <a:chOff x="-82384" y="18"/>
            <a:chExt cx="9539659" cy="672718"/>
          </a:xfrm>
        </p:grpSpPr>
        <p:sp>
          <p:nvSpPr>
            <p:cNvPr id="346" name="+ low pass filter"/>
            <p:cNvSpPr txBox="1"/>
            <p:nvPr/>
          </p:nvSpPr>
          <p:spPr>
            <a:xfrm>
              <a:off x="-82385" y="88537"/>
              <a:ext cx="292635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+ low pass filter</a:t>
              </a:r>
            </a:p>
          </p:txBody>
        </p:sp>
        <p:sp>
          <p:nvSpPr>
            <p:cNvPr id="347" name="Line"/>
            <p:cNvSpPr/>
            <p:nvPr/>
          </p:nvSpPr>
          <p:spPr>
            <a:xfrm>
              <a:off x="3039343" y="18"/>
              <a:ext cx="6417933" cy="5079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0374" extrusionOk="0">
                  <a:moveTo>
                    <a:pt x="0" y="19681"/>
                  </a:moveTo>
                  <a:cubicBezTo>
                    <a:pt x="3632" y="21600"/>
                    <a:pt x="7271" y="19529"/>
                    <a:pt x="10871" y="13494"/>
                  </a:cubicBezTo>
                  <a:cubicBezTo>
                    <a:pt x="11888" y="11790"/>
                    <a:pt x="12901" y="9770"/>
                    <a:pt x="13917" y="8022"/>
                  </a:cubicBezTo>
                  <a:cubicBezTo>
                    <a:pt x="16463" y="3640"/>
                    <a:pt x="19028" y="962"/>
                    <a:pt x="21600" y="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" grpId="1" build="p" bldLvl="5" animBg="1" advAuto="0"/>
      <p:bldP spid="314" grpId="3" animBg="1" advAuto="0"/>
      <p:bldP spid="317" grpId="2" animBg="1" advAuto="0"/>
      <p:bldP spid="345" grpId="4" animBg="1" advAuto="0"/>
      <p:bldP spid="348" grpId="5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DAC via PW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DAC via PWM</a:t>
            </a:r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grpSp>
        <p:nvGrpSpPr>
          <p:cNvPr id="354" name="Group"/>
          <p:cNvGrpSpPr/>
          <p:nvPr/>
        </p:nvGrpSpPr>
        <p:grpSpPr>
          <a:xfrm>
            <a:off x="301034" y="5683234"/>
            <a:ext cx="12402732" cy="3831117"/>
            <a:chOff x="0" y="0"/>
            <a:chExt cx="12402730" cy="3831115"/>
          </a:xfrm>
        </p:grpSpPr>
        <p:sp>
          <p:nvSpPr>
            <p:cNvPr id="352" name="Rectangle"/>
            <p:cNvSpPr/>
            <p:nvPr/>
          </p:nvSpPr>
          <p:spPr>
            <a:xfrm>
              <a:off x="138368" y="0"/>
              <a:ext cx="12264363" cy="383111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53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49568"/>
              <a:ext cx="12256927" cy="33319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355" name="DAC can also be done using digital components, via pulse-width modulation (PWM).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11099800" cy="2845098"/>
          </a:xfrm>
          <a:prstGeom prst="rect">
            <a:avLst/>
          </a:prstGeom>
        </p:spPr>
        <p:txBody>
          <a:bodyPr/>
          <a:lstStyle/>
          <a:p>
            <a:r>
              <a:t>DAC can also be done using digital components, via </a:t>
            </a:r>
            <a:r>
              <a:rPr b="1"/>
              <a:t>pulse-width modulation</a:t>
            </a:r>
            <a:r>
              <a:t> (PWM).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  <p:grpSp>
        <p:nvGrpSpPr>
          <p:cNvPr id="360" name="Group"/>
          <p:cNvGrpSpPr/>
          <p:nvPr/>
        </p:nvGrpSpPr>
        <p:grpSpPr>
          <a:xfrm>
            <a:off x="301034" y="5683234"/>
            <a:ext cx="12402732" cy="3831117"/>
            <a:chOff x="0" y="0"/>
            <a:chExt cx="12402730" cy="3831115"/>
          </a:xfrm>
        </p:grpSpPr>
        <p:sp>
          <p:nvSpPr>
            <p:cNvPr id="358" name="Rectangle"/>
            <p:cNvSpPr/>
            <p:nvPr/>
          </p:nvSpPr>
          <p:spPr>
            <a:xfrm>
              <a:off x="138368" y="0"/>
              <a:ext cx="12264363" cy="383111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59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49568"/>
              <a:ext cx="12256927" cy="33319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6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351" y="7156112"/>
            <a:ext cx="1280584" cy="1280584"/>
          </a:xfrm>
          <a:prstGeom prst="rect">
            <a:avLst/>
          </a:prstGeom>
          <a:ln w="12700">
            <a:miter lim="400000"/>
          </a:ln>
        </p:spPr>
      </p:pic>
      <p:pic>
        <p:nvPicPr>
          <p:cNvPr id="362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5934" y="5899150"/>
            <a:ext cx="1259418" cy="1259417"/>
          </a:xfrm>
          <a:prstGeom prst="rect">
            <a:avLst/>
          </a:prstGeom>
          <a:ln w="12700">
            <a:miter lim="400000"/>
          </a:ln>
        </p:spPr>
      </p:pic>
      <p:pic>
        <p:nvPicPr>
          <p:cNvPr id="36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817" y="5961591"/>
            <a:ext cx="4038601" cy="2396533"/>
          </a:xfrm>
          <a:prstGeom prst="rect">
            <a:avLst/>
          </a:prstGeom>
          <a:ln w="12700">
            <a:miter lim="400000"/>
          </a:ln>
        </p:spPr>
      </p:pic>
      <p:sp>
        <p:nvSpPr>
          <p:cNvPr id="364" name="module pwm (clk, data_in, load, pwm_out);…"/>
          <p:cNvSpPr txBox="1"/>
          <p:nvPr/>
        </p:nvSpPr>
        <p:spPr>
          <a:xfrm>
            <a:off x="814818" y="2165838"/>
            <a:ext cx="6051247" cy="33147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9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pwm (clk, data_in, load, pwm_out);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clk;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[9:0] data_in;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load;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pwm_out;</a:t>
            </a:r>
          </a:p>
          <a:p>
            <a:pPr algn="l">
              <a:defRPr sz="1900"/>
            </a:pP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[9:0]   d;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[9:0]   count;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pwm_out;</a:t>
            </a:r>
          </a:p>
          <a:p>
            <a:pPr algn="l">
              <a:defRPr sz="1900"/>
            </a:pP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count = 10'b0;</a:t>
            </a:r>
          </a:p>
        </p:txBody>
      </p:sp>
      <p:sp>
        <p:nvSpPr>
          <p:cNvPr id="365" name="always @(posedge clk)…"/>
          <p:cNvSpPr txBox="1"/>
          <p:nvPr/>
        </p:nvSpPr>
        <p:spPr>
          <a:xfrm>
            <a:off x="7305885" y="2279650"/>
            <a:ext cx="5182426" cy="33147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(load == 1'b1) d &lt;= data_in;</a:t>
            </a:r>
          </a:p>
          <a:p>
            <a:pPr algn="l">
              <a:defRPr sz="1900"/>
            </a:pP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count &lt;= count + 1'b1;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(count &gt; d)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pwm_out &lt;= 1'b0;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pwm_out &lt;= 1'b1;</a:t>
            </a:r>
          </a:p>
          <a:p>
            <a:pPr algn="l">
              <a:defRPr sz="19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pic>
        <p:nvPicPr>
          <p:cNvPr id="366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1489" y="3035697"/>
            <a:ext cx="4145346" cy="7645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7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513" y="3817989"/>
            <a:ext cx="3190192" cy="1194566"/>
          </a:xfrm>
          <a:prstGeom prst="rect">
            <a:avLst/>
          </a:prstGeom>
          <a:ln w="12700">
            <a:miter lim="400000"/>
          </a:ln>
        </p:spPr>
      </p:pic>
      <p:pic>
        <p:nvPicPr>
          <p:cNvPr id="368" name="Image" descr="Imag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1381" y="2345295"/>
            <a:ext cx="4943764" cy="672622"/>
          </a:xfrm>
          <a:prstGeom prst="rect">
            <a:avLst/>
          </a:prstGeom>
          <a:ln w="12700">
            <a:miter lim="400000"/>
          </a:ln>
        </p:spPr>
      </p:pic>
      <p:sp>
        <p:nvSpPr>
          <p:cNvPr id="369" name="DAC via PW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DAC via PWM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1" grpId="2" animBg="1" advAuto="0"/>
      <p:bldP spid="362" grpId="4" animBg="1" advAuto="0"/>
      <p:bldP spid="363" grpId="6" animBg="1" advAuto="0"/>
      <p:bldP spid="366" grpId="3" animBg="1" advAuto="0"/>
      <p:bldP spid="367" grpId="5" animBg="1" advAuto="0"/>
      <p:bldP spid="368" grpId="1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372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3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376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pPr>
              <a:defRPr b="1"/>
            </a:pPr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3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Example 1: denois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1: denoiser</a:t>
            </a:r>
          </a:p>
        </p:txBody>
      </p:sp>
      <p:sp>
        <p:nvSpPr>
          <p:cNvPr id="380" name="Task: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642402"/>
          </a:xfrm>
          <a:prstGeom prst="rect">
            <a:avLst/>
          </a:prstGeom>
        </p:spPr>
        <p:txBody>
          <a:bodyPr/>
          <a:lstStyle/>
          <a:p>
            <a:r>
              <a:t>Task: </a:t>
            </a:r>
          </a:p>
        </p:txBody>
      </p:sp>
      <p:sp>
        <p:nvSpPr>
          <p:cNvPr id="38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16878" y="31750"/>
            <a:ext cx="382936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11</a:t>
            </a:fld>
            <a:endParaRPr/>
          </a:p>
        </p:txBody>
      </p:sp>
      <p:pic>
        <p:nvPicPr>
          <p:cNvPr id="38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83" y="2633133"/>
            <a:ext cx="7179692" cy="1023235"/>
          </a:xfrm>
          <a:prstGeom prst="rect">
            <a:avLst/>
          </a:prstGeom>
          <a:ln w="12700">
            <a:miter lim="400000"/>
          </a:ln>
        </p:spPr>
      </p:pic>
      <p:sp>
        <p:nvSpPr>
          <p:cNvPr id="383" name="b/0"/>
          <p:cNvSpPr/>
          <p:nvPr/>
        </p:nvSpPr>
        <p:spPr>
          <a:xfrm>
            <a:off x="872066" y="50038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b/0</a:t>
            </a:r>
          </a:p>
        </p:txBody>
      </p:sp>
      <p:sp>
        <p:nvSpPr>
          <p:cNvPr id="384" name="a/0"/>
          <p:cNvSpPr/>
          <p:nvPr/>
        </p:nvSpPr>
        <p:spPr>
          <a:xfrm>
            <a:off x="872066" y="72644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a/0</a:t>
            </a:r>
          </a:p>
        </p:txBody>
      </p:sp>
      <p:cxnSp>
        <p:nvCxnSpPr>
          <p:cNvPr id="385" name="Connection Line"/>
          <p:cNvCxnSpPr>
            <a:stCxn id="384" idx="0"/>
            <a:endCxn id="383" idx="0"/>
          </p:cNvCxnSpPr>
          <p:nvPr/>
        </p:nvCxnSpPr>
        <p:spPr>
          <a:xfrm flipV="1">
            <a:off x="1507066" y="56388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386" name="Connection Line"/>
          <p:cNvCxnSpPr>
            <a:stCxn id="383" idx="0"/>
            <a:endCxn id="384" idx="0"/>
          </p:cNvCxnSpPr>
          <p:nvPr/>
        </p:nvCxnSpPr>
        <p:spPr>
          <a:xfrm>
            <a:off x="1507066" y="56388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387" name="c/1"/>
          <p:cNvSpPr/>
          <p:nvPr/>
        </p:nvSpPr>
        <p:spPr>
          <a:xfrm>
            <a:off x="4023762" y="50292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c/1</a:t>
            </a:r>
          </a:p>
        </p:txBody>
      </p:sp>
      <p:sp>
        <p:nvSpPr>
          <p:cNvPr id="388" name="d/1"/>
          <p:cNvSpPr/>
          <p:nvPr/>
        </p:nvSpPr>
        <p:spPr>
          <a:xfrm>
            <a:off x="4023762" y="72898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d/1</a:t>
            </a:r>
          </a:p>
        </p:txBody>
      </p:sp>
      <p:cxnSp>
        <p:nvCxnSpPr>
          <p:cNvPr id="389" name="Connection Line"/>
          <p:cNvCxnSpPr>
            <a:stCxn id="388" idx="0"/>
            <a:endCxn id="387" idx="0"/>
          </p:cNvCxnSpPr>
          <p:nvPr/>
        </p:nvCxnSpPr>
        <p:spPr>
          <a:xfrm flipV="1">
            <a:off x="4658762" y="56642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390" name="Connection Line"/>
          <p:cNvCxnSpPr>
            <a:stCxn id="387" idx="0"/>
            <a:endCxn id="388" idx="0"/>
          </p:cNvCxnSpPr>
          <p:nvPr/>
        </p:nvCxnSpPr>
        <p:spPr>
          <a:xfrm>
            <a:off x="4658762" y="56642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391" name="Connection Line"/>
          <p:cNvCxnSpPr>
            <a:stCxn id="383" idx="0"/>
            <a:endCxn id="387" idx="0"/>
          </p:cNvCxnSpPr>
          <p:nvPr/>
        </p:nvCxnSpPr>
        <p:spPr>
          <a:xfrm>
            <a:off x="1507066" y="5638800"/>
            <a:ext cx="3151697" cy="254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392" name="Connection Line"/>
          <p:cNvCxnSpPr>
            <a:stCxn id="388" idx="0"/>
            <a:endCxn id="384" idx="0"/>
          </p:cNvCxnSpPr>
          <p:nvPr/>
        </p:nvCxnSpPr>
        <p:spPr>
          <a:xfrm flipH="1" flipV="1">
            <a:off x="1507066" y="7899400"/>
            <a:ext cx="3151697" cy="254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393" name="1"/>
          <p:cNvSpPr txBox="1"/>
          <p:nvPr/>
        </p:nvSpPr>
        <p:spPr>
          <a:xfrm>
            <a:off x="2940805" y="4601633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394" name="0"/>
          <p:cNvSpPr txBox="1"/>
          <p:nvPr/>
        </p:nvSpPr>
        <p:spPr>
          <a:xfrm>
            <a:off x="2940806" y="8352366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395" name="1"/>
          <p:cNvSpPr txBox="1"/>
          <p:nvPr/>
        </p:nvSpPr>
        <p:spPr>
          <a:xfrm>
            <a:off x="3795939" y="6599634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grpSp>
        <p:nvGrpSpPr>
          <p:cNvPr id="398" name="Group"/>
          <p:cNvGrpSpPr/>
          <p:nvPr/>
        </p:nvGrpSpPr>
        <p:grpSpPr>
          <a:xfrm>
            <a:off x="299206" y="8043467"/>
            <a:ext cx="778274" cy="893100"/>
            <a:chOff x="-18522" y="0"/>
            <a:chExt cx="778273" cy="893099"/>
          </a:xfrm>
        </p:grpSpPr>
        <p:sp>
          <p:nvSpPr>
            <p:cNvPr id="406" name="Connection Line"/>
            <p:cNvSpPr/>
            <p:nvPr/>
          </p:nvSpPr>
          <p:spPr>
            <a:xfrm>
              <a:off x="266932" y="0"/>
              <a:ext cx="492820" cy="5019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388" h="17010" extrusionOk="0">
                  <a:moveTo>
                    <a:pt x="16388" y="11605"/>
                  </a:moveTo>
                  <a:cubicBezTo>
                    <a:pt x="-3124" y="21600"/>
                    <a:pt x="-5212" y="17732"/>
                    <a:pt x="10124" y="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endParaRPr/>
            </a:p>
          </p:txBody>
        </p:sp>
        <p:sp>
          <p:nvSpPr>
            <p:cNvPr id="397" name="0"/>
            <p:cNvSpPr txBox="1"/>
            <p:nvPr/>
          </p:nvSpPr>
          <p:spPr>
            <a:xfrm>
              <a:off x="-18523" y="308899"/>
              <a:ext cx="34032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0</a:t>
              </a:r>
            </a:p>
          </p:txBody>
        </p:sp>
      </p:grpSp>
      <p:grpSp>
        <p:nvGrpSpPr>
          <p:cNvPr id="401" name="Group"/>
          <p:cNvGrpSpPr/>
          <p:nvPr/>
        </p:nvGrpSpPr>
        <p:grpSpPr>
          <a:xfrm>
            <a:off x="5096428" y="4601633"/>
            <a:ext cx="783966" cy="921148"/>
            <a:chOff x="0" y="-6350"/>
            <a:chExt cx="783965" cy="921146"/>
          </a:xfrm>
        </p:grpSpPr>
        <p:sp>
          <p:nvSpPr>
            <p:cNvPr id="407" name="Connection Line"/>
            <p:cNvSpPr/>
            <p:nvPr/>
          </p:nvSpPr>
          <p:spPr>
            <a:xfrm>
              <a:off x="0" y="412883"/>
              <a:ext cx="492819" cy="501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388" h="17010" extrusionOk="0">
                  <a:moveTo>
                    <a:pt x="0" y="5405"/>
                  </a:moveTo>
                  <a:cubicBezTo>
                    <a:pt x="19512" y="-4590"/>
                    <a:pt x="21600" y="-722"/>
                    <a:pt x="6264" y="1701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endParaRPr/>
            </a:p>
          </p:txBody>
        </p:sp>
        <p:sp>
          <p:nvSpPr>
            <p:cNvPr id="400" name="1"/>
            <p:cNvSpPr txBox="1"/>
            <p:nvPr/>
          </p:nvSpPr>
          <p:spPr>
            <a:xfrm>
              <a:off x="443645" y="-6351"/>
              <a:ext cx="34032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1</a:t>
              </a:r>
            </a:p>
          </p:txBody>
        </p:sp>
      </p:grpSp>
      <p:sp>
        <p:nvSpPr>
          <p:cNvPr id="402" name="0"/>
          <p:cNvSpPr txBox="1"/>
          <p:nvPr/>
        </p:nvSpPr>
        <p:spPr>
          <a:xfrm>
            <a:off x="5176175" y="6502399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403" name="1"/>
          <p:cNvSpPr txBox="1"/>
          <p:nvPr/>
        </p:nvSpPr>
        <p:spPr>
          <a:xfrm>
            <a:off x="657411" y="6502399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404" name="0"/>
          <p:cNvSpPr txBox="1"/>
          <p:nvPr/>
        </p:nvSpPr>
        <p:spPr>
          <a:xfrm>
            <a:off x="2030809" y="6502399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graphicFrame>
        <p:nvGraphicFramePr>
          <p:cNvPr id="405" name="Table 1"/>
          <p:cNvGraphicFramePr/>
          <p:nvPr/>
        </p:nvGraphicFramePr>
        <p:xfrm>
          <a:off x="6346837" y="4080933"/>
          <a:ext cx="5835242" cy="4681406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11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8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2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state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meaning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output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a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low"</a:t>
                      </a:r>
                    </a:p>
                  </a:txBody>
                  <a:tcPr marL="50800" marR="50800" marT="50800" marB="50800" anchor="ctr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b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rising"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high"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d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falling"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1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5" fill="hold"/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1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0" grpId="2" animBg="1" advAuto="0"/>
      <p:bldP spid="382" grpId="1" animBg="1" advAuto="0"/>
      <p:bldP spid="383" grpId="5" animBg="1" advAuto="0"/>
      <p:bldP spid="384" grpId="3" animBg="1" advAuto="0"/>
      <p:bldP spid="385" grpId="6" animBg="1" advAuto="0"/>
      <p:bldP spid="386" grpId="8" animBg="1" advAuto="0"/>
      <p:bldP spid="387" grpId="11" animBg="1" advAuto="0"/>
      <p:bldP spid="388" grpId="16" animBg="1" advAuto="0"/>
      <p:bldP spid="389" grpId="17" animBg="1" advAuto="0"/>
      <p:bldP spid="390" grpId="14" animBg="1" advAuto="0"/>
      <p:bldP spid="391" grpId="12" animBg="1" advAuto="0"/>
      <p:bldP spid="392" grpId="19" animBg="1" advAuto="0"/>
      <p:bldP spid="393" grpId="10" animBg="1" advAuto="0"/>
      <p:bldP spid="394" grpId="20" animBg="1" advAuto="0"/>
      <p:bldP spid="395" grpId="18" animBg="1" advAuto="0"/>
      <p:bldP spid="398" grpId="4" animBg="1" advAuto="0"/>
      <p:bldP spid="401" grpId="13" animBg="1" advAuto="0"/>
      <p:bldP spid="402" grpId="15" animBg="1" advAuto="0"/>
      <p:bldP spid="403" grpId="7" animBg="1" advAuto="0"/>
      <p:bldP spid="404" grpId="9" animBg="1" advAuto="0"/>
      <p:bldP spid="405" grpId="21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next state"/>
          <p:cNvSpPr txBox="1"/>
          <p:nvPr/>
        </p:nvSpPr>
        <p:spPr>
          <a:xfrm>
            <a:off x="6900616" y="8342300"/>
            <a:ext cx="18764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next state</a:t>
            </a:r>
          </a:p>
        </p:txBody>
      </p:sp>
      <p:sp>
        <p:nvSpPr>
          <p:cNvPr id="410" name="current state"/>
          <p:cNvSpPr txBox="1"/>
          <p:nvPr/>
        </p:nvSpPr>
        <p:spPr>
          <a:xfrm>
            <a:off x="6179603" y="6925658"/>
            <a:ext cx="237311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current state</a:t>
            </a:r>
          </a:p>
        </p:txBody>
      </p:sp>
      <p:sp>
        <p:nvSpPr>
          <p:cNvPr id="411" name="Mealy mach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Mealy machines</a:t>
            </a:r>
          </a:p>
        </p:txBody>
      </p:sp>
      <p:sp>
        <p:nvSpPr>
          <p:cNvPr id="4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12</a:t>
            </a:fld>
            <a:endParaRPr/>
          </a:p>
        </p:txBody>
      </p:sp>
      <p:sp>
        <p:nvSpPr>
          <p:cNvPr id="413" name="input"/>
          <p:cNvSpPr txBox="1"/>
          <p:nvPr/>
        </p:nvSpPr>
        <p:spPr>
          <a:xfrm>
            <a:off x="1386557" y="3662667"/>
            <a:ext cx="99556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input</a:t>
            </a:r>
          </a:p>
        </p:txBody>
      </p:sp>
      <p:sp>
        <p:nvSpPr>
          <p:cNvPr id="414" name="output"/>
          <p:cNvSpPr txBox="1"/>
          <p:nvPr/>
        </p:nvSpPr>
        <p:spPr>
          <a:xfrm>
            <a:off x="9783431" y="3357867"/>
            <a:ext cx="124420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output</a:t>
            </a:r>
          </a:p>
        </p:txBody>
      </p:sp>
      <p:grpSp>
        <p:nvGrpSpPr>
          <p:cNvPr id="417" name="Group"/>
          <p:cNvGrpSpPr/>
          <p:nvPr/>
        </p:nvGrpSpPr>
        <p:grpSpPr>
          <a:xfrm>
            <a:off x="436816" y="5688702"/>
            <a:ext cx="4520644" cy="2724395"/>
            <a:chOff x="0" y="0"/>
            <a:chExt cx="4520643" cy="2724393"/>
          </a:xfrm>
        </p:grpSpPr>
        <p:sp>
          <p:nvSpPr>
            <p:cNvPr id="415" name="Cloud"/>
            <p:cNvSpPr/>
            <p:nvPr/>
          </p:nvSpPr>
          <p:spPr>
            <a:xfrm>
              <a:off x="0" y="0"/>
              <a:ext cx="4520644" cy="27243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03" y="0"/>
                  </a:moveTo>
                  <a:cubicBezTo>
                    <a:pt x="7967" y="0"/>
                    <a:pt x="5720" y="2939"/>
                    <a:pt x="4858" y="7062"/>
                  </a:cubicBezTo>
                  <a:cubicBezTo>
                    <a:pt x="4628" y="6992"/>
                    <a:pt x="4391" y="6953"/>
                    <a:pt x="4150" y="6953"/>
                  </a:cubicBezTo>
                  <a:cubicBezTo>
                    <a:pt x="1857" y="6953"/>
                    <a:pt x="0" y="10233"/>
                    <a:pt x="0" y="14278"/>
                  </a:cubicBezTo>
                  <a:cubicBezTo>
                    <a:pt x="0" y="18323"/>
                    <a:pt x="1857" y="21600"/>
                    <a:pt x="4150" y="21600"/>
                  </a:cubicBezTo>
                  <a:cubicBezTo>
                    <a:pt x="4193" y="21600"/>
                    <a:pt x="4237" y="21597"/>
                    <a:pt x="4279" y="21594"/>
                  </a:cubicBezTo>
                  <a:lnTo>
                    <a:pt x="10532" y="21597"/>
                  </a:lnTo>
                  <a:cubicBezTo>
                    <a:pt x="10555" y="21598"/>
                    <a:pt x="10579" y="21600"/>
                    <a:pt x="10603" y="21600"/>
                  </a:cubicBezTo>
                  <a:cubicBezTo>
                    <a:pt x="10626" y="21600"/>
                    <a:pt x="10648" y="21598"/>
                    <a:pt x="10672" y="21597"/>
                  </a:cubicBezTo>
                  <a:lnTo>
                    <a:pt x="18141" y="21600"/>
                  </a:lnTo>
                  <a:cubicBezTo>
                    <a:pt x="20051" y="21600"/>
                    <a:pt x="21600" y="18868"/>
                    <a:pt x="21600" y="15496"/>
                  </a:cubicBezTo>
                  <a:cubicBezTo>
                    <a:pt x="21600" y="12124"/>
                    <a:pt x="20051" y="9389"/>
                    <a:pt x="18141" y="9389"/>
                  </a:cubicBezTo>
                  <a:cubicBezTo>
                    <a:pt x="17627" y="9389"/>
                    <a:pt x="17139" y="9589"/>
                    <a:pt x="16701" y="9943"/>
                  </a:cubicBezTo>
                  <a:cubicBezTo>
                    <a:pt x="16453" y="4379"/>
                    <a:pt x="13819" y="0"/>
                    <a:pt x="10603" y="0"/>
                  </a:cubicBez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16" name="combinational logic"/>
            <p:cNvSpPr txBox="1"/>
            <p:nvPr/>
          </p:nvSpPr>
          <p:spPr>
            <a:xfrm>
              <a:off x="295194" y="1488532"/>
              <a:ext cx="3930255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combinational logic</a:t>
              </a:r>
            </a:p>
          </p:txBody>
        </p:sp>
      </p:grpSp>
      <p:grpSp>
        <p:nvGrpSpPr>
          <p:cNvPr id="420" name="Group"/>
          <p:cNvGrpSpPr/>
          <p:nvPr/>
        </p:nvGrpSpPr>
        <p:grpSpPr>
          <a:xfrm>
            <a:off x="8679457" y="6318565"/>
            <a:ext cx="2441047" cy="1464668"/>
            <a:chOff x="0" y="0"/>
            <a:chExt cx="2441045" cy="1464667"/>
          </a:xfrm>
        </p:grpSpPr>
        <p:sp>
          <p:nvSpPr>
            <p:cNvPr id="418" name="Rectangle"/>
            <p:cNvSpPr/>
            <p:nvPr/>
          </p:nvSpPr>
          <p:spPr>
            <a:xfrm>
              <a:off x="0" y="0"/>
              <a:ext cx="2441046" cy="1464668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19" name="state…"/>
            <p:cNvSpPr txBox="1"/>
            <p:nvPr/>
          </p:nvSpPr>
          <p:spPr>
            <a:xfrm>
              <a:off x="405242" y="198933"/>
              <a:ext cx="1605162" cy="1066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b="1">
                  <a:solidFill>
                    <a:srgbClr val="FFFFFF"/>
                  </a:solidFill>
                </a:defRPr>
              </a:pPr>
              <a:r>
                <a:t>state</a:t>
              </a:r>
            </a:p>
            <a:p>
              <a:pPr>
                <a:defRPr b="1">
                  <a:solidFill>
                    <a:srgbClr val="FFFFFF"/>
                  </a:solidFill>
                </a:defRPr>
              </a:pPr>
              <a:r>
                <a:t>register</a:t>
              </a:r>
            </a:p>
          </p:txBody>
        </p:sp>
      </p:grpSp>
      <p:grpSp>
        <p:nvGrpSpPr>
          <p:cNvPr id="423" name="Group"/>
          <p:cNvGrpSpPr/>
          <p:nvPr/>
        </p:nvGrpSpPr>
        <p:grpSpPr>
          <a:xfrm>
            <a:off x="3970260" y="2999453"/>
            <a:ext cx="4520644" cy="2724395"/>
            <a:chOff x="0" y="0"/>
            <a:chExt cx="4520643" cy="2724393"/>
          </a:xfrm>
        </p:grpSpPr>
        <p:sp>
          <p:nvSpPr>
            <p:cNvPr id="421" name="Cloud"/>
            <p:cNvSpPr/>
            <p:nvPr/>
          </p:nvSpPr>
          <p:spPr>
            <a:xfrm>
              <a:off x="0" y="0"/>
              <a:ext cx="4520644" cy="27243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03" y="0"/>
                  </a:moveTo>
                  <a:cubicBezTo>
                    <a:pt x="7967" y="0"/>
                    <a:pt x="5720" y="2939"/>
                    <a:pt x="4858" y="7062"/>
                  </a:cubicBezTo>
                  <a:cubicBezTo>
                    <a:pt x="4628" y="6992"/>
                    <a:pt x="4391" y="6953"/>
                    <a:pt x="4150" y="6953"/>
                  </a:cubicBezTo>
                  <a:cubicBezTo>
                    <a:pt x="1857" y="6953"/>
                    <a:pt x="0" y="10233"/>
                    <a:pt x="0" y="14278"/>
                  </a:cubicBezTo>
                  <a:cubicBezTo>
                    <a:pt x="0" y="18323"/>
                    <a:pt x="1857" y="21600"/>
                    <a:pt x="4150" y="21600"/>
                  </a:cubicBezTo>
                  <a:cubicBezTo>
                    <a:pt x="4193" y="21600"/>
                    <a:pt x="4237" y="21597"/>
                    <a:pt x="4279" y="21594"/>
                  </a:cubicBezTo>
                  <a:lnTo>
                    <a:pt x="10532" y="21597"/>
                  </a:lnTo>
                  <a:cubicBezTo>
                    <a:pt x="10555" y="21598"/>
                    <a:pt x="10579" y="21600"/>
                    <a:pt x="10603" y="21600"/>
                  </a:cubicBezTo>
                  <a:cubicBezTo>
                    <a:pt x="10626" y="21600"/>
                    <a:pt x="10648" y="21598"/>
                    <a:pt x="10672" y="21597"/>
                  </a:cubicBezTo>
                  <a:lnTo>
                    <a:pt x="18141" y="21600"/>
                  </a:lnTo>
                  <a:cubicBezTo>
                    <a:pt x="20051" y="21600"/>
                    <a:pt x="21600" y="18868"/>
                    <a:pt x="21600" y="15496"/>
                  </a:cubicBezTo>
                  <a:cubicBezTo>
                    <a:pt x="21600" y="12124"/>
                    <a:pt x="20051" y="9389"/>
                    <a:pt x="18141" y="9389"/>
                  </a:cubicBezTo>
                  <a:cubicBezTo>
                    <a:pt x="17627" y="9389"/>
                    <a:pt x="17139" y="9589"/>
                    <a:pt x="16701" y="9943"/>
                  </a:cubicBezTo>
                  <a:cubicBezTo>
                    <a:pt x="16453" y="4379"/>
                    <a:pt x="13819" y="0"/>
                    <a:pt x="10603" y="0"/>
                  </a:cubicBez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22" name="combinational logic"/>
            <p:cNvSpPr txBox="1"/>
            <p:nvPr/>
          </p:nvSpPr>
          <p:spPr>
            <a:xfrm>
              <a:off x="295194" y="1488532"/>
              <a:ext cx="3930254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combinational logic</a:t>
              </a:r>
            </a:p>
          </p:txBody>
        </p:sp>
      </p:grpSp>
      <p:sp>
        <p:nvSpPr>
          <p:cNvPr id="430" name="Connection Line"/>
          <p:cNvSpPr/>
          <p:nvPr/>
        </p:nvSpPr>
        <p:spPr>
          <a:xfrm>
            <a:off x="4696248" y="7050899"/>
            <a:ext cx="39832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1" name="Connection Line"/>
          <p:cNvSpPr/>
          <p:nvPr/>
        </p:nvSpPr>
        <p:spPr>
          <a:xfrm>
            <a:off x="5231875" y="5723333"/>
            <a:ext cx="3447583" cy="13271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5" h="21600" extrusionOk="0">
                <a:moveTo>
                  <a:pt x="20825" y="21600"/>
                </a:moveTo>
                <a:cubicBezTo>
                  <a:pt x="6144" y="20623"/>
                  <a:pt x="-775" y="13423"/>
                  <a:pt x="69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2" name="Connection Line"/>
          <p:cNvSpPr/>
          <p:nvPr/>
        </p:nvSpPr>
        <p:spPr>
          <a:xfrm>
            <a:off x="4927237" y="7783431"/>
            <a:ext cx="4711625" cy="6627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6" extrusionOk="0">
                <a:moveTo>
                  <a:pt x="0" y="1990"/>
                </a:moveTo>
                <a:cubicBezTo>
                  <a:pt x="11650" y="21600"/>
                  <a:pt x="18850" y="20937"/>
                  <a:pt x="21600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3" name="Connection Line"/>
          <p:cNvSpPr/>
          <p:nvPr/>
        </p:nvSpPr>
        <p:spPr>
          <a:xfrm>
            <a:off x="2112257" y="4267901"/>
            <a:ext cx="1859019" cy="5868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215" extrusionOk="0">
                <a:moveTo>
                  <a:pt x="0" y="0"/>
                </a:moveTo>
                <a:cubicBezTo>
                  <a:pt x="4420" y="14941"/>
                  <a:pt x="11620" y="21600"/>
                  <a:pt x="21600" y="19977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4" name="Connection Line"/>
          <p:cNvSpPr/>
          <p:nvPr/>
        </p:nvSpPr>
        <p:spPr>
          <a:xfrm>
            <a:off x="1640917" y="3954779"/>
            <a:ext cx="1109795" cy="1737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0803" y="8168"/>
                  <a:pt x="18003" y="15368"/>
                  <a:pt x="21600" y="2160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5" name="Connection Line"/>
          <p:cNvSpPr/>
          <p:nvPr/>
        </p:nvSpPr>
        <p:spPr>
          <a:xfrm>
            <a:off x="7365587" y="3416870"/>
            <a:ext cx="2417845" cy="4063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8206" extrusionOk="0">
                <a:moveTo>
                  <a:pt x="0" y="18206"/>
                </a:moveTo>
                <a:cubicBezTo>
                  <a:pt x="8208" y="1989"/>
                  <a:pt x="15408" y="-3394"/>
                  <a:pt x="21600" y="2056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" grpId="13" animBg="1" advAuto="0"/>
      <p:bldP spid="410" grpId="8" animBg="1" advAuto="0"/>
      <p:bldP spid="411" grpId="14" animBg="1" advAuto="0"/>
      <p:bldP spid="413" grpId="4" animBg="1" advAuto="0"/>
      <p:bldP spid="414" grpId="3" animBg="1" advAuto="0"/>
      <p:bldP spid="417" grpId="11" animBg="1" advAuto="0"/>
      <p:bldP spid="420" grpId="7" animBg="1" advAuto="0"/>
      <p:bldP spid="423" grpId="1" animBg="1" advAuto="0"/>
      <p:bldP spid="430" grpId="9" animBg="1" advAuto="0"/>
      <p:bldP spid="431" grpId="6" animBg="1" advAuto="0"/>
      <p:bldP spid="432" grpId="12" animBg="1" advAuto="0"/>
      <p:bldP spid="433" grpId="5" animBg="1" advAuto="0"/>
      <p:bldP spid="434" grpId="10" animBg="1" advAuto="0"/>
      <p:bldP spid="435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next state"/>
          <p:cNvSpPr txBox="1"/>
          <p:nvPr/>
        </p:nvSpPr>
        <p:spPr>
          <a:xfrm>
            <a:off x="6900616" y="8342300"/>
            <a:ext cx="18764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next state</a:t>
            </a:r>
          </a:p>
        </p:txBody>
      </p:sp>
      <p:sp>
        <p:nvSpPr>
          <p:cNvPr id="438" name="current state"/>
          <p:cNvSpPr txBox="1"/>
          <p:nvPr/>
        </p:nvSpPr>
        <p:spPr>
          <a:xfrm>
            <a:off x="6179603" y="6925658"/>
            <a:ext cx="237311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current state</a:t>
            </a:r>
          </a:p>
        </p:txBody>
      </p:sp>
      <p:sp>
        <p:nvSpPr>
          <p:cNvPr id="439" name="Moore mach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Moore machines</a:t>
            </a:r>
          </a:p>
        </p:txBody>
      </p:sp>
      <p:sp>
        <p:nvSpPr>
          <p:cNvPr id="4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13</a:t>
            </a:fld>
            <a:endParaRPr/>
          </a:p>
        </p:txBody>
      </p:sp>
      <p:sp>
        <p:nvSpPr>
          <p:cNvPr id="441" name="input"/>
          <p:cNvSpPr txBox="1"/>
          <p:nvPr/>
        </p:nvSpPr>
        <p:spPr>
          <a:xfrm>
            <a:off x="1386557" y="3662667"/>
            <a:ext cx="99556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input</a:t>
            </a:r>
          </a:p>
        </p:txBody>
      </p:sp>
      <p:sp>
        <p:nvSpPr>
          <p:cNvPr id="442" name="output"/>
          <p:cNvSpPr txBox="1"/>
          <p:nvPr/>
        </p:nvSpPr>
        <p:spPr>
          <a:xfrm>
            <a:off x="9783431" y="3357867"/>
            <a:ext cx="124420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output</a:t>
            </a:r>
          </a:p>
        </p:txBody>
      </p:sp>
      <p:grpSp>
        <p:nvGrpSpPr>
          <p:cNvPr id="445" name="Group"/>
          <p:cNvGrpSpPr/>
          <p:nvPr/>
        </p:nvGrpSpPr>
        <p:grpSpPr>
          <a:xfrm>
            <a:off x="436816" y="5688702"/>
            <a:ext cx="4520644" cy="2724395"/>
            <a:chOff x="0" y="0"/>
            <a:chExt cx="4520643" cy="2724393"/>
          </a:xfrm>
        </p:grpSpPr>
        <p:sp>
          <p:nvSpPr>
            <p:cNvPr id="443" name="Cloud"/>
            <p:cNvSpPr/>
            <p:nvPr/>
          </p:nvSpPr>
          <p:spPr>
            <a:xfrm>
              <a:off x="0" y="0"/>
              <a:ext cx="4520644" cy="27243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03" y="0"/>
                  </a:moveTo>
                  <a:cubicBezTo>
                    <a:pt x="7967" y="0"/>
                    <a:pt x="5720" y="2939"/>
                    <a:pt x="4858" y="7062"/>
                  </a:cubicBezTo>
                  <a:cubicBezTo>
                    <a:pt x="4628" y="6992"/>
                    <a:pt x="4391" y="6953"/>
                    <a:pt x="4150" y="6953"/>
                  </a:cubicBezTo>
                  <a:cubicBezTo>
                    <a:pt x="1857" y="6953"/>
                    <a:pt x="0" y="10233"/>
                    <a:pt x="0" y="14278"/>
                  </a:cubicBezTo>
                  <a:cubicBezTo>
                    <a:pt x="0" y="18323"/>
                    <a:pt x="1857" y="21600"/>
                    <a:pt x="4150" y="21600"/>
                  </a:cubicBezTo>
                  <a:cubicBezTo>
                    <a:pt x="4193" y="21600"/>
                    <a:pt x="4237" y="21597"/>
                    <a:pt x="4279" y="21594"/>
                  </a:cubicBezTo>
                  <a:lnTo>
                    <a:pt x="10532" y="21597"/>
                  </a:lnTo>
                  <a:cubicBezTo>
                    <a:pt x="10555" y="21598"/>
                    <a:pt x="10579" y="21600"/>
                    <a:pt x="10603" y="21600"/>
                  </a:cubicBezTo>
                  <a:cubicBezTo>
                    <a:pt x="10626" y="21600"/>
                    <a:pt x="10648" y="21598"/>
                    <a:pt x="10672" y="21597"/>
                  </a:cubicBezTo>
                  <a:lnTo>
                    <a:pt x="18141" y="21600"/>
                  </a:lnTo>
                  <a:cubicBezTo>
                    <a:pt x="20051" y="21600"/>
                    <a:pt x="21600" y="18868"/>
                    <a:pt x="21600" y="15496"/>
                  </a:cubicBezTo>
                  <a:cubicBezTo>
                    <a:pt x="21600" y="12124"/>
                    <a:pt x="20051" y="9389"/>
                    <a:pt x="18141" y="9389"/>
                  </a:cubicBezTo>
                  <a:cubicBezTo>
                    <a:pt x="17627" y="9389"/>
                    <a:pt x="17139" y="9589"/>
                    <a:pt x="16701" y="9943"/>
                  </a:cubicBezTo>
                  <a:cubicBezTo>
                    <a:pt x="16453" y="4379"/>
                    <a:pt x="13819" y="0"/>
                    <a:pt x="10603" y="0"/>
                  </a:cubicBez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44" name="combinational logic"/>
            <p:cNvSpPr txBox="1"/>
            <p:nvPr/>
          </p:nvSpPr>
          <p:spPr>
            <a:xfrm>
              <a:off x="295194" y="1488532"/>
              <a:ext cx="3930255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combinational logic</a:t>
              </a:r>
            </a:p>
          </p:txBody>
        </p:sp>
      </p:grpSp>
      <p:grpSp>
        <p:nvGrpSpPr>
          <p:cNvPr id="448" name="Group"/>
          <p:cNvGrpSpPr/>
          <p:nvPr/>
        </p:nvGrpSpPr>
        <p:grpSpPr>
          <a:xfrm>
            <a:off x="8679457" y="6318565"/>
            <a:ext cx="2441047" cy="1464668"/>
            <a:chOff x="0" y="0"/>
            <a:chExt cx="2441045" cy="1464667"/>
          </a:xfrm>
        </p:grpSpPr>
        <p:sp>
          <p:nvSpPr>
            <p:cNvPr id="446" name="Rectangle"/>
            <p:cNvSpPr/>
            <p:nvPr/>
          </p:nvSpPr>
          <p:spPr>
            <a:xfrm>
              <a:off x="0" y="0"/>
              <a:ext cx="2441046" cy="1464668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47" name="state…"/>
            <p:cNvSpPr txBox="1"/>
            <p:nvPr/>
          </p:nvSpPr>
          <p:spPr>
            <a:xfrm>
              <a:off x="405242" y="198933"/>
              <a:ext cx="1605162" cy="1066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b="1">
                  <a:solidFill>
                    <a:srgbClr val="FFFFFF"/>
                  </a:solidFill>
                </a:defRPr>
              </a:pPr>
              <a:r>
                <a:t>state</a:t>
              </a:r>
            </a:p>
            <a:p>
              <a:pPr>
                <a:defRPr b="1">
                  <a:solidFill>
                    <a:srgbClr val="FFFFFF"/>
                  </a:solidFill>
                </a:defRPr>
              </a:pPr>
              <a:r>
                <a:t>register</a:t>
              </a:r>
            </a:p>
          </p:txBody>
        </p:sp>
      </p:grpSp>
      <p:grpSp>
        <p:nvGrpSpPr>
          <p:cNvPr id="451" name="Group"/>
          <p:cNvGrpSpPr/>
          <p:nvPr/>
        </p:nvGrpSpPr>
        <p:grpSpPr>
          <a:xfrm>
            <a:off x="3970260" y="2999453"/>
            <a:ext cx="4520644" cy="2724395"/>
            <a:chOff x="0" y="0"/>
            <a:chExt cx="4520643" cy="2724393"/>
          </a:xfrm>
        </p:grpSpPr>
        <p:sp>
          <p:nvSpPr>
            <p:cNvPr id="449" name="Cloud"/>
            <p:cNvSpPr/>
            <p:nvPr/>
          </p:nvSpPr>
          <p:spPr>
            <a:xfrm>
              <a:off x="0" y="0"/>
              <a:ext cx="4520644" cy="27243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03" y="0"/>
                  </a:moveTo>
                  <a:cubicBezTo>
                    <a:pt x="7967" y="0"/>
                    <a:pt x="5720" y="2939"/>
                    <a:pt x="4858" y="7062"/>
                  </a:cubicBezTo>
                  <a:cubicBezTo>
                    <a:pt x="4628" y="6992"/>
                    <a:pt x="4391" y="6953"/>
                    <a:pt x="4150" y="6953"/>
                  </a:cubicBezTo>
                  <a:cubicBezTo>
                    <a:pt x="1857" y="6953"/>
                    <a:pt x="0" y="10233"/>
                    <a:pt x="0" y="14278"/>
                  </a:cubicBezTo>
                  <a:cubicBezTo>
                    <a:pt x="0" y="18323"/>
                    <a:pt x="1857" y="21600"/>
                    <a:pt x="4150" y="21600"/>
                  </a:cubicBezTo>
                  <a:cubicBezTo>
                    <a:pt x="4193" y="21600"/>
                    <a:pt x="4237" y="21597"/>
                    <a:pt x="4279" y="21594"/>
                  </a:cubicBezTo>
                  <a:lnTo>
                    <a:pt x="10532" y="21597"/>
                  </a:lnTo>
                  <a:cubicBezTo>
                    <a:pt x="10555" y="21598"/>
                    <a:pt x="10579" y="21600"/>
                    <a:pt x="10603" y="21600"/>
                  </a:cubicBezTo>
                  <a:cubicBezTo>
                    <a:pt x="10626" y="21600"/>
                    <a:pt x="10648" y="21598"/>
                    <a:pt x="10672" y="21597"/>
                  </a:cubicBezTo>
                  <a:lnTo>
                    <a:pt x="18141" y="21600"/>
                  </a:lnTo>
                  <a:cubicBezTo>
                    <a:pt x="20051" y="21600"/>
                    <a:pt x="21600" y="18868"/>
                    <a:pt x="21600" y="15496"/>
                  </a:cubicBezTo>
                  <a:cubicBezTo>
                    <a:pt x="21600" y="12124"/>
                    <a:pt x="20051" y="9389"/>
                    <a:pt x="18141" y="9389"/>
                  </a:cubicBezTo>
                  <a:cubicBezTo>
                    <a:pt x="17627" y="9389"/>
                    <a:pt x="17139" y="9589"/>
                    <a:pt x="16701" y="9943"/>
                  </a:cubicBezTo>
                  <a:cubicBezTo>
                    <a:pt x="16453" y="4379"/>
                    <a:pt x="13819" y="0"/>
                    <a:pt x="10603" y="0"/>
                  </a:cubicBez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50" name="combinational logic"/>
            <p:cNvSpPr txBox="1"/>
            <p:nvPr/>
          </p:nvSpPr>
          <p:spPr>
            <a:xfrm>
              <a:off x="295194" y="1488532"/>
              <a:ext cx="3930254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combinational logic</a:t>
              </a:r>
            </a:p>
          </p:txBody>
        </p:sp>
      </p:grpSp>
      <p:sp>
        <p:nvSpPr>
          <p:cNvPr id="457" name="Connection Line"/>
          <p:cNvSpPr/>
          <p:nvPr/>
        </p:nvSpPr>
        <p:spPr>
          <a:xfrm>
            <a:off x="4696248" y="7050899"/>
            <a:ext cx="39832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58" name="Connection Line"/>
          <p:cNvSpPr/>
          <p:nvPr/>
        </p:nvSpPr>
        <p:spPr>
          <a:xfrm>
            <a:off x="5231875" y="5723333"/>
            <a:ext cx="3447583" cy="13271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5" h="21600" extrusionOk="0">
                <a:moveTo>
                  <a:pt x="20825" y="21600"/>
                </a:moveTo>
                <a:cubicBezTo>
                  <a:pt x="6144" y="20623"/>
                  <a:pt x="-775" y="13423"/>
                  <a:pt x="69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59" name="Connection Line"/>
          <p:cNvSpPr/>
          <p:nvPr/>
        </p:nvSpPr>
        <p:spPr>
          <a:xfrm>
            <a:off x="4927237" y="7783431"/>
            <a:ext cx="4711625" cy="6627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6" extrusionOk="0">
                <a:moveTo>
                  <a:pt x="0" y="1990"/>
                </a:moveTo>
                <a:cubicBezTo>
                  <a:pt x="11650" y="21600"/>
                  <a:pt x="18850" y="20937"/>
                  <a:pt x="21600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60" name="Connection Line"/>
          <p:cNvSpPr/>
          <p:nvPr/>
        </p:nvSpPr>
        <p:spPr>
          <a:xfrm>
            <a:off x="1640917" y="3954779"/>
            <a:ext cx="1109795" cy="1737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0803" y="8168"/>
                  <a:pt x="18003" y="15368"/>
                  <a:pt x="21600" y="2160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61" name="Connection Line"/>
          <p:cNvSpPr/>
          <p:nvPr/>
        </p:nvSpPr>
        <p:spPr>
          <a:xfrm>
            <a:off x="7365587" y="3416870"/>
            <a:ext cx="2417845" cy="4063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8206" extrusionOk="0">
                <a:moveTo>
                  <a:pt x="0" y="18206"/>
                </a:moveTo>
                <a:cubicBezTo>
                  <a:pt x="8208" y="1989"/>
                  <a:pt x="15408" y="-3394"/>
                  <a:pt x="21600" y="2056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Mealy vs Moo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Mealy vs Moore</a:t>
            </a:r>
          </a:p>
        </p:txBody>
      </p:sp>
      <p:sp>
        <p:nvSpPr>
          <p:cNvPr id="464" name="Mealy machines are a bit more complicated to design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Mealy machines are a bit more complicated to design.</a:t>
            </a:r>
          </a:p>
          <a:p>
            <a:r>
              <a:t>Moore machines tend to require more states.</a:t>
            </a:r>
          </a:p>
          <a:p>
            <a:r>
              <a:t>Outputs of Moore machines are delayed.</a:t>
            </a:r>
          </a:p>
          <a:p>
            <a:r>
              <a:t>Named after George Mealy (1927–2010) and Edward Moore (1925–2003).</a:t>
            </a:r>
          </a:p>
        </p:txBody>
      </p:sp>
      <p:sp>
        <p:nvSpPr>
          <p:cNvPr id="4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  <p:pic>
        <p:nvPicPr>
          <p:cNvPr id="466" name="Screenshot 2019-10-25 at 08.03.00.png" descr="Screenshot 2019-10-25 at 08.03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097" y="6412160"/>
            <a:ext cx="2298701" cy="2743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67" name="Screenshot 2019-10-25 at 08.03.08.png" descr="Screenshot 2019-10-25 at 08.03.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143" y="6532810"/>
            <a:ext cx="1841501" cy="2501901"/>
          </a:xfrm>
          <a:prstGeom prst="rect">
            <a:avLst/>
          </a:prstGeom>
          <a:ln w="12700">
            <a:miter lim="400000"/>
          </a:ln>
        </p:spPr>
      </p:pic>
      <p:sp>
        <p:nvSpPr>
          <p:cNvPr id="468" name="Dingbat X"/>
          <p:cNvSpPr/>
          <p:nvPr/>
        </p:nvSpPr>
        <p:spPr>
          <a:xfrm>
            <a:off x="5777143" y="7100620"/>
            <a:ext cx="1156231" cy="13662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84" h="21548" extrusionOk="0">
                <a:moveTo>
                  <a:pt x="18655" y="0"/>
                </a:moveTo>
                <a:cubicBezTo>
                  <a:pt x="18494" y="5"/>
                  <a:pt x="18333" y="109"/>
                  <a:pt x="18066" y="314"/>
                </a:cubicBezTo>
                <a:cubicBezTo>
                  <a:pt x="15478" y="2289"/>
                  <a:pt x="13027" y="4381"/>
                  <a:pt x="10727" y="6600"/>
                </a:cubicBezTo>
                <a:cubicBezTo>
                  <a:pt x="10587" y="6735"/>
                  <a:pt x="10434" y="6862"/>
                  <a:pt x="10258" y="7020"/>
                </a:cubicBezTo>
                <a:cubicBezTo>
                  <a:pt x="10102" y="6832"/>
                  <a:pt x="9974" y="6685"/>
                  <a:pt x="9856" y="6533"/>
                </a:cubicBezTo>
                <a:cubicBezTo>
                  <a:pt x="8908" y="5315"/>
                  <a:pt x="7971" y="4091"/>
                  <a:pt x="7009" y="2882"/>
                </a:cubicBezTo>
                <a:cubicBezTo>
                  <a:pt x="6625" y="2399"/>
                  <a:pt x="6178" y="1951"/>
                  <a:pt x="5769" y="1483"/>
                </a:cubicBezTo>
                <a:cubicBezTo>
                  <a:pt x="5573" y="1260"/>
                  <a:pt x="5327" y="1254"/>
                  <a:pt x="5044" y="1314"/>
                </a:cubicBezTo>
                <a:cubicBezTo>
                  <a:pt x="4759" y="1375"/>
                  <a:pt x="4593" y="1540"/>
                  <a:pt x="4590" y="1770"/>
                </a:cubicBezTo>
                <a:cubicBezTo>
                  <a:pt x="4583" y="2129"/>
                  <a:pt x="4349" y="2291"/>
                  <a:pt x="3989" y="2389"/>
                </a:cubicBezTo>
                <a:cubicBezTo>
                  <a:pt x="3741" y="2232"/>
                  <a:pt x="3498" y="2079"/>
                  <a:pt x="3221" y="1904"/>
                </a:cubicBezTo>
                <a:cubicBezTo>
                  <a:pt x="2922" y="2176"/>
                  <a:pt x="2660" y="2427"/>
                  <a:pt x="2382" y="2665"/>
                </a:cubicBezTo>
                <a:cubicBezTo>
                  <a:pt x="2135" y="2876"/>
                  <a:pt x="2125" y="3090"/>
                  <a:pt x="2231" y="3371"/>
                </a:cubicBezTo>
                <a:cubicBezTo>
                  <a:pt x="3179" y="5877"/>
                  <a:pt x="4394" y="8283"/>
                  <a:pt x="5880" y="10593"/>
                </a:cubicBezTo>
                <a:cubicBezTo>
                  <a:pt x="5956" y="10712"/>
                  <a:pt x="6024" y="10835"/>
                  <a:pt x="6094" y="10951"/>
                </a:cubicBezTo>
                <a:cubicBezTo>
                  <a:pt x="4046" y="12991"/>
                  <a:pt x="2019" y="15012"/>
                  <a:pt x="0" y="17024"/>
                </a:cubicBezTo>
                <a:cubicBezTo>
                  <a:pt x="166" y="17359"/>
                  <a:pt x="297" y="17644"/>
                  <a:pt x="450" y="17921"/>
                </a:cubicBezTo>
                <a:cubicBezTo>
                  <a:pt x="559" y="18117"/>
                  <a:pt x="570" y="18299"/>
                  <a:pt x="443" y="18491"/>
                </a:cubicBezTo>
                <a:cubicBezTo>
                  <a:pt x="355" y="18625"/>
                  <a:pt x="277" y="18763"/>
                  <a:pt x="214" y="18906"/>
                </a:cubicBezTo>
                <a:cubicBezTo>
                  <a:pt x="179" y="18986"/>
                  <a:pt x="139" y="19096"/>
                  <a:pt x="175" y="19164"/>
                </a:cubicBezTo>
                <a:cubicBezTo>
                  <a:pt x="462" y="19717"/>
                  <a:pt x="876" y="20186"/>
                  <a:pt x="1406" y="20550"/>
                </a:cubicBezTo>
                <a:cubicBezTo>
                  <a:pt x="1668" y="20457"/>
                  <a:pt x="1862" y="20370"/>
                  <a:pt x="2068" y="20319"/>
                </a:cubicBezTo>
                <a:cubicBezTo>
                  <a:pt x="2305" y="20259"/>
                  <a:pt x="2506" y="20384"/>
                  <a:pt x="2432" y="20567"/>
                </a:cubicBezTo>
                <a:cubicBezTo>
                  <a:pt x="2271" y="20967"/>
                  <a:pt x="2606" y="21165"/>
                  <a:pt x="2838" y="21403"/>
                </a:cubicBezTo>
                <a:cubicBezTo>
                  <a:pt x="3027" y="21596"/>
                  <a:pt x="3335" y="21593"/>
                  <a:pt x="3548" y="21414"/>
                </a:cubicBezTo>
                <a:cubicBezTo>
                  <a:pt x="3624" y="21350"/>
                  <a:pt x="3679" y="21268"/>
                  <a:pt x="3745" y="21195"/>
                </a:cubicBezTo>
                <a:cubicBezTo>
                  <a:pt x="5406" y="19353"/>
                  <a:pt x="7068" y="17510"/>
                  <a:pt x="8732" y="15669"/>
                </a:cubicBezTo>
                <a:cubicBezTo>
                  <a:pt x="8850" y="15538"/>
                  <a:pt x="8982" y="15417"/>
                  <a:pt x="9151" y="15248"/>
                </a:cubicBezTo>
                <a:cubicBezTo>
                  <a:pt x="9312" y="15457"/>
                  <a:pt x="9442" y="15618"/>
                  <a:pt x="9566" y="15782"/>
                </a:cubicBezTo>
                <a:cubicBezTo>
                  <a:pt x="10552" y="17091"/>
                  <a:pt x="11622" y="18348"/>
                  <a:pt x="12799" y="19538"/>
                </a:cubicBezTo>
                <a:cubicBezTo>
                  <a:pt x="13137" y="19880"/>
                  <a:pt x="13363" y="19913"/>
                  <a:pt x="13764" y="19639"/>
                </a:cubicBezTo>
                <a:cubicBezTo>
                  <a:pt x="14071" y="19429"/>
                  <a:pt x="14340" y="19181"/>
                  <a:pt x="14638" y="18942"/>
                </a:cubicBezTo>
                <a:cubicBezTo>
                  <a:pt x="14977" y="19118"/>
                  <a:pt x="15325" y="19299"/>
                  <a:pt x="15670" y="19479"/>
                </a:cubicBezTo>
                <a:cubicBezTo>
                  <a:pt x="15874" y="19336"/>
                  <a:pt x="16024" y="19228"/>
                  <a:pt x="16179" y="19123"/>
                </a:cubicBezTo>
                <a:cubicBezTo>
                  <a:pt x="16407" y="18969"/>
                  <a:pt x="16586" y="18817"/>
                  <a:pt x="16625" y="18532"/>
                </a:cubicBezTo>
                <a:cubicBezTo>
                  <a:pt x="16663" y="18245"/>
                  <a:pt x="16848" y="17980"/>
                  <a:pt x="17238" y="17893"/>
                </a:cubicBezTo>
                <a:cubicBezTo>
                  <a:pt x="17537" y="17826"/>
                  <a:pt x="17736" y="17646"/>
                  <a:pt x="17893" y="17435"/>
                </a:cubicBezTo>
                <a:cubicBezTo>
                  <a:pt x="18144" y="17098"/>
                  <a:pt x="18337" y="16737"/>
                  <a:pt x="18424" y="16377"/>
                </a:cubicBezTo>
                <a:cubicBezTo>
                  <a:pt x="16705" y="14528"/>
                  <a:pt x="15014" y="12708"/>
                  <a:pt x="13308" y="10873"/>
                </a:cubicBezTo>
                <a:cubicBezTo>
                  <a:pt x="13494" y="10665"/>
                  <a:pt x="13612" y="10530"/>
                  <a:pt x="13734" y="10397"/>
                </a:cubicBezTo>
                <a:cubicBezTo>
                  <a:pt x="15805" y="8137"/>
                  <a:pt x="18039" y="6000"/>
                  <a:pt x="20413" y="3968"/>
                </a:cubicBezTo>
                <a:cubicBezTo>
                  <a:pt x="20703" y="3719"/>
                  <a:pt x="20983" y="3471"/>
                  <a:pt x="21190" y="3153"/>
                </a:cubicBezTo>
                <a:cubicBezTo>
                  <a:pt x="21585" y="2544"/>
                  <a:pt x="21600" y="2565"/>
                  <a:pt x="21129" y="2026"/>
                </a:cubicBezTo>
                <a:cubicBezTo>
                  <a:pt x="20955" y="1827"/>
                  <a:pt x="20762" y="1776"/>
                  <a:pt x="20487" y="1772"/>
                </a:cubicBezTo>
                <a:cubicBezTo>
                  <a:pt x="19961" y="1764"/>
                  <a:pt x="19720" y="1486"/>
                  <a:pt x="19806" y="1064"/>
                </a:cubicBezTo>
                <a:cubicBezTo>
                  <a:pt x="19825" y="971"/>
                  <a:pt x="19804" y="847"/>
                  <a:pt x="19743" y="773"/>
                </a:cubicBezTo>
                <a:cubicBezTo>
                  <a:pt x="19597" y="599"/>
                  <a:pt x="19434" y="429"/>
                  <a:pt x="19245" y="289"/>
                </a:cubicBezTo>
                <a:cubicBezTo>
                  <a:pt x="18978" y="92"/>
                  <a:pt x="18816" y="-4"/>
                  <a:pt x="18655" y="0"/>
                </a:cubicBezTo>
                <a:close/>
              </a:path>
            </a:pathLst>
          </a:custGeom>
          <a:solidFill>
            <a:schemeClr val="accent5">
              <a:hueOff val="-82419"/>
              <a:satOff val="-9513"/>
              <a:lumOff val="-16343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9" name="Dingbat X"/>
          <p:cNvSpPr/>
          <p:nvPr/>
        </p:nvSpPr>
        <p:spPr>
          <a:xfrm>
            <a:off x="9091843" y="7100620"/>
            <a:ext cx="1156230" cy="13662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84" h="21548" extrusionOk="0">
                <a:moveTo>
                  <a:pt x="18655" y="0"/>
                </a:moveTo>
                <a:cubicBezTo>
                  <a:pt x="18494" y="5"/>
                  <a:pt x="18333" y="109"/>
                  <a:pt x="18066" y="314"/>
                </a:cubicBezTo>
                <a:cubicBezTo>
                  <a:pt x="15478" y="2289"/>
                  <a:pt x="13027" y="4381"/>
                  <a:pt x="10727" y="6600"/>
                </a:cubicBezTo>
                <a:cubicBezTo>
                  <a:pt x="10587" y="6735"/>
                  <a:pt x="10434" y="6862"/>
                  <a:pt x="10258" y="7020"/>
                </a:cubicBezTo>
                <a:cubicBezTo>
                  <a:pt x="10102" y="6832"/>
                  <a:pt x="9974" y="6685"/>
                  <a:pt x="9856" y="6533"/>
                </a:cubicBezTo>
                <a:cubicBezTo>
                  <a:pt x="8908" y="5315"/>
                  <a:pt x="7971" y="4091"/>
                  <a:pt x="7009" y="2882"/>
                </a:cubicBezTo>
                <a:cubicBezTo>
                  <a:pt x="6625" y="2399"/>
                  <a:pt x="6178" y="1951"/>
                  <a:pt x="5769" y="1483"/>
                </a:cubicBezTo>
                <a:cubicBezTo>
                  <a:pt x="5573" y="1260"/>
                  <a:pt x="5327" y="1254"/>
                  <a:pt x="5044" y="1314"/>
                </a:cubicBezTo>
                <a:cubicBezTo>
                  <a:pt x="4759" y="1375"/>
                  <a:pt x="4593" y="1540"/>
                  <a:pt x="4590" y="1770"/>
                </a:cubicBezTo>
                <a:cubicBezTo>
                  <a:pt x="4583" y="2129"/>
                  <a:pt x="4349" y="2291"/>
                  <a:pt x="3989" y="2389"/>
                </a:cubicBezTo>
                <a:cubicBezTo>
                  <a:pt x="3741" y="2232"/>
                  <a:pt x="3498" y="2079"/>
                  <a:pt x="3221" y="1904"/>
                </a:cubicBezTo>
                <a:cubicBezTo>
                  <a:pt x="2922" y="2176"/>
                  <a:pt x="2660" y="2427"/>
                  <a:pt x="2382" y="2665"/>
                </a:cubicBezTo>
                <a:cubicBezTo>
                  <a:pt x="2135" y="2876"/>
                  <a:pt x="2125" y="3090"/>
                  <a:pt x="2231" y="3371"/>
                </a:cubicBezTo>
                <a:cubicBezTo>
                  <a:pt x="3179" y="5877"/>
                  <a:pt x="4394" y="8283"/>
                  <a:pt x="5880" y="10593"/>
                </a:cubicBezTo>
                <a:cubicBezTo>
                  <a:pt x="5956" y="10712"/>
                  <a:pt x="6024" y="10835"/>
                  <a:pt x="6094" y="10951"/>
                </a:cubicBezTo>
                <a:cubicBezTo>
                  <a:pt x="4046" y="12991"/>
                  <a:pt x="2019" y="15012"/>
                  <a:pt x="0" y="17024"/>
                </a:cubicBezTo>
                <a:cubicBezTo>
                  <a:pt x="166" y="17359"/>
                  <a:pt x="297" y="17644"/>
                  <a:pt x="450" y="17921"/>
                </a:cubicBezTo>
                <a:cubicBezTo>
                  <a:pt x="559" y="18117"/>
                  <a:pt x="570" y="18299"/>
                  <a:pt x="443" y="18491"/>
                </a:cubicBezTo>
                <a:cubicBezTo>
                  <a:pt x="355" y="18625"/>
                  <a:pt x="277" y="18763"/>
                  <a:pt x="214" y="18906"/>
                </a:cubicBezTo>
                <a:cubicBezTo>
                  <a:pt x="179" y="18986"/>
                  <a:pt x="139" y="19096"/>
                  <a:pt x="175" y="19164"/>
                </a:cubicBezTo>
                <a:cubicBezTo>
                  <a:pt x="462" y="19717"/>
                  <a:pt x="876" y="20186"/>
                  <a:pt x="1406" y="20550"/>
                </a:cubicBezTo>
                <a:cubicBezTo>
                  <a:pt x="1668" y="20457"/>
                  <a:pt x="1862" y="20370"/>
                  <a:pt x="2068" y="20319"/>
                </a:cubicBezTo>
                <a:cubicBezTo>
                  <a:pt x="2305" y="20259"/>
                  <a:pt x="2506" y="20384"/>
                  <a:pt x="2432" y="20567"/>
                </a:cubicBezTo>
                <a:cubicBezTo>
                  <a:pt x="2271" y="20967"/>
                  <a:pt x="2606" y="21165"/>
                  <a:pt x="2838" y="21403"/>
                </a:cubicBezTo>
                <a:cubicBezTo>
                  <a:pt x="3027" y="21596"/>
                  <a:pt x="3335" y="21593"/>
                  <a:pt x="3548" y="21414"/>
                </a:cubicBezTo>
                <a:cubicBezTo>
                  <a:pt x="3624" y="21350"/>
                  <a:pt x="3679" y="21268"/>
                  <a:pt x="3745" y="21195"/>
                </a:cubicBezTo>
                <a:cubicBezTo>
                  <a:pt x="5406" y="19353"/>
                  <a:pt x="7068" y="17510"/>
                  <a:pt x="8732" y="15669"/>
                </a:cubicBezTo>
                <a:cubicBezTo>
                  <a:pt x="8850" y="15538"/>
                  <a:pt x="8982" y="15417"/>
                  <a:pt x="9151" y="15248"/>
                </a:cubicBezTo>
                <a:cubicBezTo>
                  <a:pt x="9312" y="15457"/>
                  <a:pt x="9442" y="15618"/>
                  <a:pt x="9566" y="15782"/>
                </a:cubicBezTo>
                <a:cubicBezTo>
                  <a:pt x="10552" y="17091"/>
                  <a:pt x="11622" y="18348"/>
                  <a:pt x="12799" y="19538"/>
                </a:cubicBezTo>
                <a:cubicBezTo>
                  <a:pt x="13137" y="19880"/>
                  <a:pt x="13363" y="19913"/>
                  <a:pt x="13764" y="19639"/>
                </a:cubicBezTo>
                <a:cubicBezTo>
                  <a:pt x="14071" y="19429"/>
                  <a:pt x="14340" y="19181"/>
                  <a:pt x="14638" y="18942"/>
                </a:cubicBezTo>
                <a:cubicBezTo>
                  <a:pt x="14977" y="19118"/>
                  <a:pt x="15325" y="19299"/>
                  <a:pt x="15670" y="19479"/>
                </a:cubicBezTo>
                <a:cubicBezTo>
                  <a:pt x="15874" y="19336"/>
                  <a:pt x="16024" y="19228"/>
                  <a:pt x="16179" y="19123"/>
                </a:cubicBezTo>
                <a:cubicBezTo>
                  <a:pt x="16407" y="18969"/>
                  <a:pt x="16586" y="18817"/>
                  <a:pt x="16625" y="18532"/>
                </a:cubicBezTo>
                <a:cubicBezTo>
                  <a:pt x="16663" y="18245"/>
                  <a:pt x="16848" y="17980"/>
                  <a:pt x="17238" y="17893"/>
                </a:cubicBezTo>
                <a:cubicBezTo>
                  <a:pt x="17537" y="17826"/>
                  <a:pt x="17736" y="17646"/>
                  <a:pt x="17893" y="17435"/>
                </a:cubicBezTo>
                <a:cubicBezTo>
                  <a:pt x="18144" y="17098"/>
                  <a:pt x="18337" y="16737"/>
                  <a:pt x="18424" y="16377"/>
                </a:cubicBezTo>
                <a:cubicBezTo>
                  <a:pt x="16705" y="14528"/>
                  <a:pt x="15014" y="12708"/>
                  <a:pt x="13308" y="10873"/>
                </a:cubicBezTo>
                <a:cubicBezTo>
                  <a:pt x="13494" y="10665"/>
                  <a:pt x="13612" y="10530"/>
                  <a:pt x="13734" y="10397"/>
                </a:cubicBezTo>
                <a:cubicBezTo>
                  <a:pt x="15805" y="8137"/>
                  <a:pt x="18039" y="6000"/>
                  <a:pt x="20413" y="3968"/>
                </a:cubicBezTo>
                <a:cubicBezTo>
                  <a:pt x="20703" y="3719"/>
                  <a:pt x="20983" y="3471"/>
                  <a:pt x="21190" y="3153"/>
                </a:cubicBezTo>
                <a:cubicBezTo>
                  <a:pt x="21585" y="2544"/>
                  <a:pt x="21600" y="2565"/>
                  <a:pt x="21129" y="2026"/>
                </a:cubicBezTo>
                <a:cubicBezTo>
                  <a:pt x="20955" y="1827"/>
                  <a:pt x="20762" y="1776"/>
                  <a:pt x="20487" y="1772"/>
                </a:cubicBezTo>
                <a:cubicBezTo>
                  <a:pt x="19961" y="1764"/>
                  <a:pt x="19720" y="1486"/>
                  <a:pt x="19806" y="1064"/>
                </a:cubicBezTo>
                <a:cubicBezTo>
                  <a:pt x="19825" y="971"/>
                  <a:pt x="19804" y="847"/>
                  <a:pt x="19743" y="773"/>
                </a:cubicBezTo>
                <a:cubicBezTo>
                  <a:pt x="19597" y="599"/>
                  <a:pt x="19434" y="429"/>
                  <a:pt x="19245" y="289"/>
                </a:cubicBezTo>
                <a:cubicBezTo>
                  <a:pt x="18978" y="92"/>
                  <a:pt x="18816" y="-4"/>
                  <a:pt x="18655" y="0"/>
                </a:cubicBezTo>
                <a:close/>
              </a:path>
            </a:pathLst>
          </a:custGeom>
          <a:solidFill>
            <a:schemeClr val="accent5">
              <a:hueOff val="-82419"/>
              <a:satOff val="-9513"/>
              <a:lumOff val="-16343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6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4" grpId="1" build="p" bldLvl="5" animBg="1" advAuto="0"/>
      <p:bldP spid="466" grpId="2" animBg="1" advAuto="0"/>
      <p:bldP spid="467" grpId="3" animBg="1" advAuto="0"/>
      <p:bldP spid="468" grpId="4" animBg="1" advAuto="0"/>
      <p:bldP spid="469" grpId="5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47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  <p:sp>
        <p:nvSpPr>
          <p:cNvPr id="473" name="b/0"/>
          <p:cNvSpPr/>
          <p:nvPr/>
        </p:nvSpPr>
        <p:spPr>
          <a:xfrm>
            <a:off x="872066" y="50038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b/0</a:t>
            </a:r>
          </a:p>
        </p:txBody>
      </p:sp>
      <p:sp>
        <p:nvSpPr>
          <p:cNvPr id="474" name="a/0"/>
          <p:cNvSpPr/>
          <p:nvPr/>
        </p:nvSpPr>
        <p:spPr>
          <a:xfrm>
            <a:off x="872066" y="72644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a/0</a:t>
            </a:r>
          </a:p>
        </p:txBody>
      </p:sp>
      <p:cxnSp>
        <p:nvCxnSpPr>
          <p:cNvPr id="475" name="Connection Line"/>
          <p:cNvCxnSpPr>
            <a:stCxn id="474" idx="0"/>
            <a:endCxn id="473" idx="0"/>
          </p:cNvCxnSpPr>
          <p:nvPr/>
        </p:nvCxnSpPr>
        <p:spPr>
          <a:xfrm flipV="1">
            <a:off x="1507066" y="56388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476" name="Connection Line"/>
          <p:cNvCxnSpPr>
            <a:stCxn id="473" idx="0"/>
            <a:endCxn id="474" idx="0"/>
          </p:cNvCxnSpPr>
          <p:nvPr/>
        </p:nvCxnSpPr>
        <p:spPr>
          <a:xfrm>
            <a:off x="1507066" y="56388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477" name="c/1"/>
          <p:cNvSpPr/>
          <p:nvPr/>
        </p:nvSpPr>
        <p:spPr>
          <a:xfrm>
            <a:off x="4023762" y="50292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c/1</a:t>
            </a:r>
          </a:p>
        </p:txBody>
      </p:sp>
      <p:sp>
        <p:nvSpPr>
          <p:cNvPr id="478" name="d/1"/>
          <p:cNvSpPr/>
          <p:nvPr/>
        </p:nvSpPr>
        <p:spPr>
          <a:xfrm>
            <a:off x="4023762" y="72898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d/1</a:t>
            </a:r>
          </a:p>
        </p:txBody>
      </p:sp>
      <p:cxnSp>
        <p:nvCxnSpPr>
          <p:cNvPr id="479" name="Connection Line"/>
          <p:cNvCxnSpPr>
            <a:stCxn id="478" idx="0"/>
            <a:endCxn id="477" idx="0"/>
          </p:cNvCxnSpPr>
          <p:nvPr/>
        </p:nvCxnSpPr>
        <p:spPr>
          <a:xfrm flipV="1">
            <a:off x="4658762" y="56642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480" name="Connection Line"/>
          <p:cNvCxnSpPr>
            <a:stCxn id="477" idx="0"/>
            <a:endCxn id="478" idx="0"/>
          </p:cNvCxnSpPr>
          <p:nvPr/>
        </p:nvCxnSpPr>
        <p:spPr>
          <a:xfrm>
            <a:off x="4658762" y="56642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481" name="Connection Line"/>
          <p:cNvCxnSpPr>
            <a:stCxn id="473" idx="0"/>
            <a:endCxn id="477" idx="0"/>
          </p:cNvCxnSpPr>
          <p:nvPr/>
        </p:nvCxnSpPr>
        <p:spPr>
          <a:xfrm>
            <a:off x="1507066" y="5638800"/>
            <a:ext cx="3151697" cy="254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482" name="Connection Line"/>
          <p:cNvCxnSpPr>
            <a:stCxn id="478" idx="0"/>
            <a:endCxn id="474" idx="0"/>
          </p:cNvCxnSpPr>
          <p:nvPr/>
        </p:nvCxnSpPr>
        <p:spPr>
          <a:xfrm flipH="1" flipV="1">
            <a:off x="1507066" y="7899400"/>
            <a:ext cx="3151697" cy="254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494" name="Connection Line"/>
          <p:cNvSpPr/>
          <p:nvPr/>
        </p:nvSpPr>
        <p:spPr>
          <a:xfrm>
            <a:off x="5096428" y="5020867"/>
            <a:ext cx="492819" cy="5019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17010" extrusionOk="0">
                <a:moveTo>
                  <a:pt x="0" y="5405"/>
                </a:moveTo>
                <a:cubicBezTo>
                  <a:pt x="19512" y="-4590"/>
                  <a:pt x="21600" y="-722"/>
                  <a:pt x="6264" y="1701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95" name="Connection Line"/>
          <p:cNvSpPr/>
          <p:nvPr/>
        </p:nvSpPr>
        <p:spPr>
          <a:xfrm>
            <a:off x="584661" y="8043467"/>
            <a:ext cx="492819" cy="5019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17010" extrusionOk="0">
                <a:moveTo>
                  <a:pt x="16388" y="11605"/>
                </a:moveTo>
                <a:cubicBezTo>
                  <a:pt x="-3124" y="21600"/>
                  <a:pt x="-5212" y="17732"/>
                  <a:pt x="10124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85" name="1"/>
          <p:cNvSpPr txBox="1"/>
          <p:nvPr/>
        </p:nvSpPr>
        <p:spPr>
          <a:xfrm>
            <a:off x="2940805" y="4601633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486" name="0"/>
          <p:cNvSpPr txBox="1"/>
          <p:nvPr/>
        </p:nvSpPr>
        <p:spPr>
          <a:xfrm>
            <a:off x="2940806" y="8352366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487" name="1"/>
          <p:cNvSpPr txBox="1"/>
          <p:nvPr/>
        </p:nvSpPr>
        <p:spPr>
          <a:xfrm>
            <a:off x="3795939" y="6599634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488" name="0"/>
          <p:cNvSpPr txBox="1"/>
          <p:nvPr/>
        </p:nvSpPr>
        <p:spPr>
          <a:xfrm>
            <a:off x="299206" y="8352366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489" name="1"/>
          <p:cNvSpPr txBox="1"/>
          <p:nvPr/>
        </p:nvSpPr>
        <p:spPr>
          <a:xfrm>
            <a:off x="5540073" y="4601633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490" name="0"/>
          <p:cNvSpPr txBox="1"/>
          <p:nvPr/>
        </p:nvSpPr>
        <p:spPr>
          <a:xfrm>
            <a:off x="5176175" y="6502399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491" name="1"/>
          <p:cNvSpPr txBox="1"/>
          <p:nvPr/>
        </p:nvSpPr>
        <p:spPr>
          <a:xfrm>
            <a:off x="657411" y="6502399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492" name="0"/>
          <p:cNvSpPr txBox="1"/>
          <p:nvPr/>
        </p:nvSpPr>
        <p:spPr>
          <a:xfrm>
            <a:off x="2030809" y="6502399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graphicFrame>
        <p:nvGraphicFramePr>
          <p:cNvPr id="493" name="Table 1"/>
          <p:cNvGraphicFramePr/>
          <p:nvPr/>
        </p:nvGraphicFramePr>
        <p:xfrm>
          <a:off x="6346837" y="4715933"/>
          <a:ext cx="5835242" cy="4681406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11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8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2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state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meaning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output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a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low"</a:t>
                      </a:r>
                    </a:p>
                  </a:txBody>
                  <a:tcPr marL="50800" marR="50800" marT="50800" marB="50800" anchor="ctr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b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rising"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high"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d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falling"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49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16</a:t>
            </a:fld>
            <a:endParaRPr/>
          </a:p>
        </p:txBody>
      </p:sp>
      <p:sp>
        <p:nvSpPr>
          <p:cNvPr id="499" name="01/0"/>
          <p:cNvSpPr/>
          <p:nvPr/>
        </p:nvSpPr>
        <p:spPr>
          <a:xfrm>
            <a:off x="872066" y="50038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01/0</a:t>
            </a:r>
          </a:p>
        </p:txBody>
      </p:sp>
      <p:sp>
        <p:nvSpPr>
          <p:cNvPr id="500" name="00/0"/>
          <p:cNvSpPr/>
          <p:nvPr/>
        </p:nvSpPr>
        <p:spPr>
          <a:xfrm>
            <a:off x="872066" y="72644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00/0</a:t>
            </a:r>
          </a:p>
        </p:txBody>
      </p:sp>
      <p:cxnSp>
        <p:nvCxnSpPr>
          <p:cNvPr id="501" name="Connection Line"/>
          <p:cNvCxnSpPr>
            <a:stCxn id="500" idx="0"/>
            <a:endCxn id="499" idx="0"/>
          </p:cNvCxnSpPr>
          <p:nvPr/>
        </p:nvCxnSpPr>
        <p:spPr>
          <a:xfrm flipV="1">
            <a:off x="1507066" y="56388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502" name="Connection Line"/>
          <p:cNvCxnSpPr>
            <a:stCxn id="499" idx="0"/>
            <a:endCxn id="500" idx="0"/>
          </p:cNvCxnSpPr>
          <p:nvPr/>
        </p:nvCxnSpPr>
        <p:spPr>
          <a:xfrm>
            <a:off x="1507066" y="56388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03" name="11/1"/>
          <p:cNvSpPr/>
          <p:nvPr/>
        </p:nvSpPr>
        <p:spPr>
          <a:xfrm>
            <a:off x="4023762" y="50292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11/1</a:t>
            </a:r>
          </a:p>
        </p:txBody>
      </p:sp>
      <p:sp>
        <p:nvSpPr>
          <p:cNvPr id="504" name="10/1"/>
          <p:cNvSpPr/>
          <p:nvPr/>
        </p:nvSpPr>
        <p:spPr>
          <a:xfrm>
            <a:off x="4023762" y="72898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10/1</a:t>
            </a:r>
          </a:p>
        </p:txBody>
      </p:sp>
      <p:cxnSp>
        <p:nvCxnSpPr>
          <p:cNvPr id="505" name="Connection Line"/>
          <p:cNvCxnSpPr>
            <a:stCxn id="504" idx="0"/>
            <a:endCxn id="503" idx="0"/>
          </p:cNvCxnSpPr>
          <p:nvPr/>
        </p:nvCxnSpPr>
        <p:spPr>
          <a:xfrm flipV="1">
            <a:off x="4658762" y="56642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506" name="Connection Line"/>
          <p:cNvCxnSpPr>
            <a:stCxn id="503" idx="0"/>
            <a:endCxn id="504" idx="0"/>
          </p:cNvCxnSpPr>
          <p:nvPr/>
        </p:nvCxnSpPr>
        <p:spPr>
          <a:xfrm>
            <a:off x="4658762" y="56642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507" name="Connection Line"/>
          <p:cNvCxnSpPr>
            <a:stCxn id="499" idx="0"/>
            <a:endCxn id="503" idx="0"/>
          </p:cNvCxnSpPr>
          <p:nvPr/>
        </p:nvCxnSpPr>
        <p:spPr>
          <a:xfrm>
            <a:off x="1507066" y="5638800"/>
            <a:ext cx="3151697" cy="254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508" name="Connection Line"/>
          <p:cNvCxnSpPr>
            <a:stCxn id="504" idx="0"/>
            <a:endCxn id="500" idx="0"/>
          </p:cNvCxnSpPr>
          <p:nvPr/>
        </p:nvCxnSpPr>
        <p:spPr>
          <a:xfrm flipH="1" flipV="1">
            <a:off x="1507066" y="7899400"/>
            <a:ext cx="3151697" cy="254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21" name="Connection Line"/>
          <p:cNvSpPr/>
          <p:nvPr/>
        </p:nvSpPr>
        <p:spPr>
          <a:xfrm>
            <a:off x="5096428" y="5020867"/>
            <a:ext cx="492819" cy="5019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17010" extrusionOk="0">
                <a:moveTo>
                  <a:pt x="0" y="5405"/>
                </a:moveTo>
                <a:cubicBezTo>
                  <a:pt x="19512" y="-4590"/>
                  <a:pt x="21600" y="-722"/>
                  <a:pt x="6264" y="1701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22" name="Connection Line"/>
          <p:cNvSpPr/>
          <p:nvPr/>
        </p:nvSpPr>
        <p:spPr>
          <a:xfrm>
            <a:off x="584661" y="8043467"/>
            <a:ext cx="492819" cy="5019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17010" extrusionOk="0">
                <a:moveTo>
                  <a:pt x="16388" y="11605"/>
                </a:moveTo>
                <a:cubicBezTo>
                  <a:pt x="-3124" y="21600"/>
                  <a:pt x="-5212" y="17732"/>
                  <a:pt x="10124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11" name="1"/>
          <p:cNvSpPr txBox="1"/>
          <p:nvPr/>
        </p:nvSpPr>
        <p:spPr>
          <a:xfrm>
            <a:off x="2940805" y="4601633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512" name="0"/>
          <p:cNvSpPr txBox="1"/>
          <p:nvPr/>
        </p:nvSpPr>
        <p:spPr>
          <a:xfrm>
            <a:off x="2940806" y="8352366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513" name="1"/>
          <p:cNvSpPr txBox="1"/>
          <p:nvPr/>
        </p:nvSpPr>
        <p:spPr>
          <a:xfrm>
            <a:off x="3795939" y="6599634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514" name="0"/>
          <p:cNvSpPr txBox="1"/>
          <p:nvPr/>
        </p:nvSpPr>
        <p:spPr>
          <a:xfrm>
            <a:off x="299206" y="8352366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515" name="1"/>
          <p:cNvSpPr txBox="1"/>
          <p:nvPr/>
        </p:nvSpPr>
        <p:spPr>
          <a:xfrm>
            <a:off x="5540073" y="4601633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516" name="0"/>
          <p:cNvSpPr txBox="1"/>
          <p:nvPr/>
        </p:nvSpPr>
        <p:spPr>
          <a:xfrm>
            <a:off x="5176175" y="6502399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517" name="1"/>
          <p:cNvSpPr txBox="1"/>
          <p:nvPr/>
        </p:nvSpPr>
        <p:spPr>
          <a:xfrm>
            <a:off x="657411" y="6502399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518" name="0"/>
          <p:cNvSpPr txBox="1"/>
          <p:nvPr/>
        </p:nvSpPr>
        <p:spPr>
          <a:xfrm>
            <a:off x="2030809" y="6502399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graphicFrame>
        <p:nvGraphicFramePr>
          <p:cNvPr id="519" name="Table 1"/>
          <p:cNvGraphicFramePr/>
          <p:nvPr/>
        </p:nvGraphicFramePr>
        <p:xfrm>
          <a:off x="6346837" y="4715933"/>
          <a:ext cx="5835242" cy="4681406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11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8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2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state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meaning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output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00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low"</a:t>
                      </a:r>
                    </a:p>
                  </a:txBody>
                  <a:tcPr marL="50800" marR="50800" marT="50800" marB="50800" anchor="ctr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01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rising"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11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high"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10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falling"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20" name="Try to make the output value and the state number similar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169451"/>
            <a:ext cx="11099800" cy="2159001"/>
          </a:xfrm>
          <a:prstGeom prst="rect">
            <a:avLst/>
          </a:prstGeom>
        </p:spPr>
        <p:txBody>
          <a:bodyPr/>
          <a:lstStyle/>
          <a:p>
            <a:pPr marL="386715" indent="-386715" defTabSz="508254">
              <a:spcBef>
                <a:spcPts val="1400"/>
              </a:spcBef>
              <a:defRPr sz="2784"/>
            </a:pPr>
            <a:r>
              <a:t>Try to make the output value and the state number similar.</a:t>
            </a:r>
          </a:p>
          <a:p>
            <a:pPr marL="386715" indent="-386715" defTabSz="508254">
              <a:spcBef>
                <a:spcPts val="1400"/>
              </a:spcBef>
              <a:defRPr sz="2784"/>
            </a:pPr>
            <a:r>
              <a:t>Try to change one bit of the state number per transition.</a:t>
            </a:r>
          </a:p>
          <a:p>
            <a:pPr marL="386715" indent="-386715" defTabSz="508254">
              <a:spcBef>
                <a:spcPts val="1400"/>
              </a:spcBef>
              <a:defRPr sz="2784"/>
            </a:pPr>
            <a:r>
              <a:t>If two parts of the FSM have identical transitions, try to give the corresponding states similar numbers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0" grpId="1" build="p" bldLvl="5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5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17</a:t>
            </a:fld>
            <a:endParaRPr/>
          </a:p>
        </p:txBody>
      </p:sp>
      <p:sp>
        <p:nvSpPr>
          <p:cNvPr id="526" name="01/0"/>
          <p:cNvSpPr/>
          <p:nvPr/>
        </p:nvSpPr>
        <p:spPr>
          <a:xfrm>
            <a:off x="872066" y="50038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01/0</a:t>
            </a:r>
          </a:p>
        </p:txBody>
      </p:sp>
      <p:sp>
        <p:nvSpPr>
          <p:cNvPr id="527" name="00/0"/>
          <p:cNvSpPr/>
          <p:nvPr/>
        </p:nvSpPr>
        <p:spPr>
          <a:xfrm>
            <a:off x="872066" y="72644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00/0</a:t>
            </a:r>
          </a:p>
        </p:txBody>
      </p:sp>
      <p:cxnSp>
        <p:nvCxnSpPr>
          <p:cNvPr id="528" name="Connection Line"/>
          <p:cNvCxnSpPr>
            <a:stCxn id="527" idx="0"/>
            <a:endCxn id="526" idx="0"/>
          </p:cNvCxnSpPr>
          <p:nvPr/>
        </p:nvCxnSpPr>
        <p:spPr>
          <a:xfrm flipV="1">
            <a:off x="1507066" y="56388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529" name="Connection Line"/>
          <p:cNvCxnSpPr>
            <a:stCxn id="526" idx="0"/>
            <a:endCxn id="527" idx="0"/>
          </p:cNvCxnSpPr>
          <p:nvPr/>
        </p:nvCxnSpPr>
        <p:spPr>
          <a:xfrm>
            <a:off x="1507066" y="56388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30" name="11/1"/>
          <p:cNvSpPr/>
          <p:nvPr/>
        </p:nvSpPr>
        <p:spPr>
          <a:xfrm>
            <a:off x="4023762" y="50292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11/1</a:t>
            </a:r>
          </a:p>
        </p:txBody>
      </p:sp>
      <p:sp>
        <p:nvSpPr>
          <p:cNvPr id="531" name="10/1"/>
          <p:cNvSpPr/>
          <p:nvPr/>
        </p:nvSpPr>
        <p:spPr>
          <a:xfrm>
            <a:off x="4023762" y="7289800"/>
            <a:ext cx="1270001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10/1</a:t>
            </a:r>
          </a:p>
        </p:txBody>
      </p:sp>
      <p:cxnSp>
        <p:nvCxnSpPr>
          <p:cNvPr id="532" name="Connection Line"/>
          <p:cNvCxnSpPr>
            <a:stCxn id="531" idx="0"/>
            <a:endCxn id="530" idx="0"/>
          </p:cNvCxnSpPr>
          <p:nvPr/>
        </p:nvCxnSpPr>
        <p:spPr>
          <a:xfrm flipV="1">
            <a:off x="4658762" y="56642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533" name="Connection Line"/>
          <p:cNvCxnSpPr>
            <a:stCxn id="530" idx="0"/>
            <a:endCxn id="531" idx="0"/>
          </p:cNvCxnSpPr>
          <p:nvPr/>
        </p:nvCxnSpPr>
        <p:spPr>
          <a:xfrm>
            <a:off x="4658762" y="5664200"/>
            <a:ext cx="1" cy="22606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534" name="Connection Line"/>
          <p:cNvCxnSpPr>
            <a:stCxn id="526" idx="0"/>
            <a:endCxn id="530" idx="0"/>
          </p:cNvCxnSpPr>
          <p:nvPr/>
        </p:nvCxnSpPr>
        <p:spPr>
          <a:xfrm>
            <a:off x="1507066" y="5638800"/>
            <a:ext cx="3151697" cy="254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535" name="Connection Line"/>
          <p:cNvCxnSpPr>
            <a:stCxn id="531" idx="0"/>
            <a:endCxn id="527" idx="0"/>
          </p:cNvCxnSpPr>
          <p:nvPr/>
        </p:nvCxnSpPr>
        <p:spPr>
          <a:xfrm flipH="1" flipV="1">
            <a:off x="1507066" y="7899400"/>
            <a:ext cx="3151697" cy="2540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47" name="Connection Line"/>
          <p:cNvSpPr/>
          <p:nvPr/>
        </p:nvSpPr>
        <p:spPr>
          <a:xfrm>
            <a:off x="5096428" y="5020867"/>
            <a:ext cx="492819" cy="5019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17010" extrusionOk="0">
                <a:moveTo>
                  <a:pt x="0" y="5405"/>
                </a:moveTo>
                <a:cubicBezTo>
                  <a:pt x="19512" y="-4590"/>
                  <a:pt x="21600" y="-722"/>
                  <a:pt x="6264" y="1701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48" name="Connection Line"/>
          <p:cNvSpPr/>
          <p:nvPr/>
        </p:nvSpPr>
        <p:spPr>
          <a:xfrm>
            <a:off x="584661" y="8043467"/>
            <a:ext cx="492819" cy="5019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17010" extrusionOk="0">
                <a:moveTo>
                  <a:pt x="16388" y="11605"/>
                </a:moveTo>
                <a:cubicBezTo>
                  <a:pt x="-3124" y="21600"/>
                  <a:pt x="-5212" y="17732"/>
                  <a:pt x="10124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38" name="1"/>
          <p:cNvSpPr txBox="1"/>
          <p:nvPr/>
        </p:nvSpPr>
        <p:spPr>
          <a:xfrm>
            <a:off x="2940805" y="4601633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539" name="0"/>
          <p:cNvSpPr txBox="1"/>
          <p:nvPr/>
        </p:nvSpPr>
        <p:spPr>
          <a:xfrm>
            <a:off x="2940806" y="8352366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540" name="1"/>
          <p:cNvSpPr txBox="1"/>
          <p:nvPr/>
        </p:nvSpPr>
        <p:spPr>
          <a:xfrm>
            <a:off x="3795939" y="6599634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541" name="0"/>
          <p:cNvSpPr txBox="1"/>
          <p:nvPr/>
        </p:nvSpPr>
        <p:spPr>
          <a:xfrm>
            <a:off x="299206" y="8352366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542" name="1"/>
          <p:cNvSpPr txBox="1"/>
          <p:nvPr/>
        </p:nvSpPr>
        <p:spPr>
          <a:xfrm>
            <a:off x="5540073" y="4601633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543" name="0"/>
          <p:cNvSpPr txBox="1"/>
          <p:nvPr/>
        </p:nvSpPr>
        <p:spPr>
          <a:xfrm>
            <a:off x="5176175" y="6502399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544" name="1"/>
          <p:cNvSpPr txBox="1"/>
          <p:nvPr/>
        </p:nvSpPr>
        <p:spPr>
          <a:xfrm>
            <a:off x="657411" y="6502399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545" name="0"/>
          <p:cNvSpPr txBox="1"/>
          <p:nvPr/>
        </p:nvSpPr>
        <p:spPr>
          <a:xfrm>
            <a:off x="2030809" y="6502399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graphicFrame>
        <p:nvGraphicFramePr>
          <p:cNvPr id="546" name="Table 1"/>
          <p:cNvGraphicFramePr/>
          <p:nvPr/>
        </p:nvGraphicFramePr>
        <p:xfrm>
          <a:off x="6275053" y="4568097"/>
          <a:ext cx="6657832" cy="6819901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06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9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4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s[1:0]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meaning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output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out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input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next 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ns[1:0]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95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low"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rising"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high"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falling"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6" grpId="1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5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18</a:t>
            </a:fld>
            <a:endParaRPr/>
          </a:p>
        </p:txBody>
      </p:sp>
      <p:graphicFrame>
        <p:nvGraphicFramePr>
          <p:cNvPr id="552" name="Table 1"/>
          <p:cNvGraphicFramePr/>
          <p:nvPr/>
        </p:nvGraphicFramePr>
        <p:xfrm>
          <a:off x="6275053" y="4568097"/>
          <a:ext cx="6657832" cy="6819901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06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9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4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s[1:0]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meaning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output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out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input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next 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ns[1:0]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95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low"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rising"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high"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falling"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53" name="assign out = s[1];"/>
          <p:cNvSpPr txBox="1"/>
          <p:nvPr/>
        </p:nvSpPr>
        <p:spPr>
          <a:xfrm>
            <a:off x="728199" y="2654299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s[1];</a:t>
            </a:r>
          </a:p>
        </p:txBody>
      </p:sp>
      <p:graphicFrame>
        <p:nvGraphicFramePr>
          <p:cNvPr id="554" name="Table 2"/>
          <p:cNvGraphicFramePr/>
          <p:nvPr/>
        </p:nvGraphicFramePr>
        <p:xfrm>
          <a:off x="567266" y="5130800"/>
          <a:ext cx="2951957" cy="4389306"/>
        </p:xfrm>
        <a:graphic>
          <a:graphicData uri="http://schemas.openxmlformats.org/drawingml/2006/table">
            <a:tbl>
              <a:tblPr firstRow="1" firstCol="1">
                <a:tableStyleId>{4A9BC294-FFE2-49D5-8D69-9E1BD2C41BD5}</a:tableStyleId>
              </a:tblPr>
              <a:tblGrid>
                <a:gridCol w="983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ns[1]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55" name="Rounded Rectangle"/>
          <p:cNvSpPr/>
          <p:nvPr/>
        </p:nvSpPr>
        <p:spPr>
          <a:xfrm>
            <a:off x="2650066" y="7001933"/>
            <a:ext cx="950914" cy="2370666"/>
          </a:xfrm>
          <a:prstGeom prst="roundRect">
            <a:avLst>
              <a:gd name="adj" fmla="val 20033"/>
            </a:avLst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defRPr>
            </a:pPr>
            <a:endParaRPr/>
          </a:p>
        </p:txBody>
      </p:sp>
      <p:sp>
        <p:nvSpPr>
          <p:cNvPr id="556" name="Rounded Rectangle"/>
          <p:cNvSpPr/>
          <p:nvPr/>
        </p:nvSpPr>
        <p:spPr>
          <a:xfrm>
            <a:off x="1618720" y="7907866"/>
            <a:ext cx="2007064" cy="55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544" y="0"/>
                </a:moveTo>
                <a:lnTo>
                  <a:pt x="4056" y="0"/>
                </a:lnTo>
                <a:cubicBezTo>
                  <a:pt x="2892" y="0"/>
                  <a:pt x="2194" y="0"/>
                  <a:pt x="1728" y="610"/>
                </a:cubicBezTo>
                <a:cubicBezTo>
                  <a:pt x="1004" y="1556"/>
                  <a:pt x="433" y="3605"/>
                  <a:pt x="170" y="6207"/>
                </a:cubicBezTo>
                <a:cubicBezTo>
                  <a:pt x="48" y="7219"/>
                  <a:pt x="0" y="9389"/>
                  <a:pt x="0" y="10800"/>
                </a:cubicBezTo>
                <a:cubicBezTo>
                  <a:pt x="0" y="12211"/>
                  <a:pt x="48" y="14381"/>
                  <a:pt x="170" y="15393"/>
                </a:cubicBezTo>
                <a:cubicBezTo>
                  <a:pt x="433" y="17995"/>
                  <a:pt x="1004" y="20044"/>
                  <a:pt x="1728" y="20990"/>
                </a:cubicBezTo>
                <a:cubicBezTo>
                  <a:pt x="2194" y="21600"/>
                  <a:pt x="2892" y="21600"/>
                  <a:pt x="4056" y="21600"/>
                </a:cubicBezTo>
                <a:lnTo>
                  <a:pt x="17544" y="21600"/>
                </a:lnTo>
                <a:cubicBezTo>
                  <a:pt x="18708" y="21600"/>
                  <a:pt x="19406" y="21600"/>
                  <a:pt x="19872" y="20990"/>
                </a:cubicBezTo>
                <a:cubicBezTo>
                  <a:pt x="20596" y="20044"/>
                  <a:pt x="21167" y="17995"/>
                  <a:pt x="21430" y="15393"/>
                </a:cubicBezTo>
                <a:cubicBezTo>
                  <a:pt x="21552" y="14381"/>
                  <a:pt x="21600" y="12211"/>
                  <a:pt x="21600" y="10800"/>
                </a:cubicBezTo>
                <a:cubicBezTo>
                  <a:pt x="21600" y="9389"/>
                  <a:pt x="21552" y="7219"/>
                  <a:pt x="21430" y="6207"/>
                </a:cubicBezTo>
                <a:cubicBezTo>
                  <a:pt x="21167" y="3605"/>
                  <a:pt x="20596" y="1556"/>
                  <a:pt x="19872" y="610"/>
                </a:cubicBezTo>
                <a:cubicBezTo>
                  <a:pt x="19406" y="0"/>
                  <a:pt x="18708" y="0"/>
                  <a:pt x="17544" y="0"/>
                </a:cubicBezTo>
                <a:close/>
              </a:path>
            </a:pathLst>
          </a:cu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defRPr>
            </a:pPr>
            <a:endParaRPr/>
          </a:p>
        </p:txBody>
      </p:sp>
      <p:sp>
        <p:nvSpPr>
          <p:cNvPr id="557" name="assign ns[1] = s[1] &amp; s[0] | in &amp; (s[0] | s[1]);"/>
          <p:cNvSpPr txBox="1"/>
          <p:nvPr/>
        </p:nvSpPr>
        <p:spPr>
          <a:xfrm>
            <a:off x="728199" y="3291416"/>
            <a:ext cx="118205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ns[1] = s[1] &amp; s[0] | in &amp; (s[0] | s[1]);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" grpId="1" animBg="1" advAuto="0"/>
      <p:bldP spid="554" grpId="2" animBg="1" advAuto="0"/>
      <p:bldP spid="555" grpId="4" animBg="1" advAuto="0"/>
      <p:bldP spid="556" grpId="3" animBg="1" advAuto="0"/>
      <p:bldP spid="557" grpId="5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5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19</a:t>
            </a:fld>
            <a:endParaRPr/>
          </a:p>
        </p:txBody>
      </p:sp>
      <p:graphicFrame>
        <p:nvGraphicFramePr>
          <p:cNvPr id="561" name="Table 1"/>
          <p:cNvGraphicFramePr/>
          <p:nvPr/>
        </p:nvGraphicFramePr>
        <p:xfrm>
          <a:off x="6275053" y="4568097"/>
          <a:ext cx="6657832" cy="6819901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06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9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4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s[1:0]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meaning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output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out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input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next 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ns[1:0]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95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low"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rising"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high"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falling"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62" name="assign out = s[1];"/>
          <p:cNvSpPr txBox="1"/>
          <p:nvPr/>
        </p:nvSpPr>
        <p:spPr>
          <a:xfrm>
            <a:off x="728199" y="2654299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s[1];</a:t>
            </a:r>
          </a:p>
        </p:txBody>
      </p:sp>
      <p:graphicFrame>
        <p:nvGraphicFramePr>
          <p:cNvPr id="563" name="Table 2"/>
          <p:cNvGraphicFramePr/>
          <p:nvPr/>
        </p:nvGraphicFramePr>
        <p:xfrm>
          <a:off x="567266" y="5130800"/>
          <a:ext cx="2951957" cy="4389306"/>
        </p:xfrm>
        <a:graphic>
          <a:graphicData uri="http://schemas.openxmlformats.org/drawingml/2006/table">
            <a:tbl>
              <a:tblPr firstRow="1" firstCol="1">
                <a:tableStyleId>{4A9BC294-FFE2-49D5-8D69-9E1BD2C41BD5}</a:tableStyleId>
              </a:tblPr>
              <a:tblGrid>
                <a:gridCol w="983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ns[0]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64" name="Rounded Rectangle"/>
          <p:cNvSpPr/>
          <p:nvPr/>
        </p:nvSpPr>
        <p:spPr>
          <a:xfrm>
            <a:off x="2650066" y="6104995"/>
            <a:ext cx="950914" cy="3267604"/>
          </a:xfrm>
          <a:prstGeom prst="roundRect">
            <a:avLst>
              <a:gd name="adj" fmla="val 20033"/>
            </a:avLst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defRPr>
            </a:pPr>
            <a:endParaRPr/>
          </a:p>
        </p:txBody>
      </p:sp>
      <p:sp>
        <p:nvSpPr>
          <p:cNvPr id="565" name="assign ns[1] = s[1] &amp; s[0] | in &amp; (s[0] | s[1]);"/>
          <p:cNvSpPr txBox="1"/>
          <p:nvPr/>
        </p:nvSpPr>
        <p:spPr>
          <a:xfrm>
            <a:off x="728199" y="3291416"/>
            <a:ext cx="118205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ns[1] = s[1] &amp; s[0] | in &amp; (s[0] | s[1]);</a:t>
            </a:r>
          </a:p>
        </p:txBody>
      </p:sp>
      <p:sp>
        <p:nvSpPr>
          <p:cNvPr id="566" name="assign ns[0] = in;"/>
          <p:cNvSpPr txBox="1"/>
          <p:nvPr/>
        </p:nvSpPr>
        <p:spPr>
          <a:xfrm>
            <a:off x="728199" y="3928533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ns[0] = in;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" grpId="1" animBg="1" advAuto="0"/>
      <p:bldP spid="564" grpId="2" animBg="1" advAuto="0"/>
      <p:bldP spid="566" grpId="3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20</a:t>
            </a:fld>
            <a:endParaRPr/>
          </a:p>
        </p:txBody>
      </p:sp>
      <p:graphicFrame>
        <p:nvGraphicFramePr>
          <p:cNvPr id="569" name="Table 1"/>
          <p:cNvGraphicFramePr/>
          <p:nvPr/>
        </p:nvGraphicFramePr>
        <p:xfrm>
          <a:off x="6275053" y="4568097"/>
          <a:ext cx="6657832" cy="6819901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06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9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4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s[1:0]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meaning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output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out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input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next 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ns[1:0]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95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low"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rising"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high"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falling"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70" name="assign out = s[1];"/>
          <p:cNvSpPr txBox="1"/>
          <p:nvPr/>
        </p:nvSpPr>
        <p:spPr>
          <a:xfrm>
            <a:off x="728199" y="2654299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s[1];</a:t>
            </a:r>
          </a:p>
        </p:txBody>
      </p:sp>
      <p:graphicFrame>
        <p:nvGraphicFramePr>
          <p:cNvPr id="571" name="Table 2"/>
          <p:cNvGraphicFramePr/>
          <p:nvPr/>
        </p:nvGraphicFramePr>
        <p:xfrm>
          <a:off x="567266" y="5130800"/>
          <a:ext cx="2951957" cy="4389306"/>
        </p:xfrm>
        <a:graphic>
          <a:graphicData uri="http://schemas.openxmlformats.org/drawingml/2006/table">
            <a:tbl>
              <a:tblPr firstRow="1" firstCol="1">
                <a:tableStyleId>{4A9BC294-FFE2-49D5-8D69-9E1BD2C41BD5}</a:tableStyleId>
              </a:tblPr>
              <a:tblGrid>
                <a:gridCol w="983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ns[0]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72" name="Rounded Rectangle"/>
          <p:cNvSpPr/>
          <p:nvPr/>
        </p:nvSpPr>
        <p:spPr>
          <a:xfrm>
            <a:off x="2650066" y="6104995"/>
            <a:ext cx="950914" cy="3267604"/>
          </a:xfrm>
          <a:prstGeom prst="roundRect">
            <a:avLst>
              <a:gd name="adj" fmla="val 20033"/>
            </a:avLst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defRPr>
            </a:pPr>
            <a:endParaRPr/>
          </a:p>
        </p:txBody>
      </p:sp>
      <p:sp>
        <p:nvSpPr>
          <p:cNvPr id="573" name="assign ns[1] = s[1] &amp; s[0] | in &amp; (s[0] | s[1]);"/>
          <p:cNvSpPr txBox="1"/>
          <p:nvPr/>
        </p:nvSpPr>
        <p:spPr>
          <a:xfrm>
            <a:off x="728199" y="3291416"/>
            <a:ext cx="118205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ns[1] = s[1] &amp; s[0] | in &amp; (s[0] | s[1]);</a:t>
            </a:r>
          </a:p>
        </p:txBody>
      </p:sp>
      <p:sp>
        <p:nvSpPr>
          <p:cNvPr id="574" name="assign ns[0] = in;"/>
          <p:cNvSpPr txBox="1"/>
          <p:nvPr/>
        </p:nvSpPr>
        <p:spPr>
          <a:xfrm>
            <a:off x="728199" y="3928533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ns[0] = in;</a:t>
            </a:r>
          </a:p>
        </p:txBody>
      </p:sp>
      <p:grpSp>
        <p:nvGrpSpPr>
          <p:cNvPr id="577" name="Group"/>
          <p:cNvGrpSpPr/>
          <p:nvPr/>
        </p:nvGrpSpPr>
        <p:grpSpPr>
          <a:xfrm>
            <a:off x="2777662" y="868197"/>
            <a:ext cx="7721601" cy="1480775"/>
            <a:chOff x="0" y="0"/>
            <a:chExt cx="7721600" cy="1480773"/>
          </a:xfrm>
        </p:grpSpPr>
        <p:pic>
          <p:nvPicPr>
            <p:cNvPr id="575" name="Image" descr="Image"/>
            <p:cNvPicPr>
              <a:picLocks noChangeAspect="1"/>
            </p:cNvPicPr>
            <p:nvPr/>
          </p:nvPicPr>
          <p:blipFill>
            <a:blip r:embed="rId2"/>
            <a:srcRect b="71463"/>
            <a:stretch>
              <a:fillRect/>
            </a:stretch>
          </p:blipFill>
          <p:spPr>
            <a:xfrm>
              <a:off x="0" y="0"/>
              <a:ext cx="7721601" cy="60159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76" name="Image" descr="Image"/>
            <p:cNvPicPr>
              <a:picLocks noChangeAspect="1"/>
            </p:cNvPicPr>
            <p:nvPr/>
          </p:nvPicPr>
          <p:blipFill>
            <a:blip r:embed="rId2"/>
            <a:srcRect t="57084"/>
            <a:stretch>
              <a:fillRect/>
            </a:stretch>
          </p:blipFill>
          <p:spPr>
            <a:xfrm>
              <a:off x="0" y="576031"/>
              <a:ext cx="7721601" cy="9047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7" grpId="1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One-hot enco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One-hot encoding</a:t>
            </a:r>
          </a:p>
        </p:txBody>
      </p:sp>
      <p:sp>
        <p:nvSpPr>
          <p:cNvPr id="580" name="&quot;One-hot&quot; means &quot;exactly one bit of a binary number is 1&quot;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t>"One-hot" means "exactly one bit of a binary number is 1".</a:t>
            </a:r>
            <a:br/>
            <a:br/>
            <a:br/>
            <a:br/>
            <a:br/>
            <a:br/>
            <a:br/>
            <a:endParaRPr/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t>One-hot encoding uses more bits, but can lead to simpler logic.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b="1"/>
              <a:t>Exercise.</a:t>
            </a:r>
            <a:r>
              <a:t> Re-implement the FSM using one-hot encoding. Is the logic simpler?</a:t>
            </a:r>
          </a:p>
        </p:txBody>
      </p:sp>
      <p:sp>
        <p:nvSpPr>
          <p:cNvPr id="5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21</a:t>
            </a:fld>
            <a:endParaRPr/>
          </a:p>
        </p:txBody>
      </p:sp>
      <p:graphicFrame>
        <p:nvGraphicFramePr>
          <p:cNvPr id="582" name="Table 1"/>
          <p:cNvGraphicFramePr/>
          <p:nvPr/>
        </p:nvGraphicFramePr>
        <p:xfrm>
          <a:off x="1887006" y="3721430"/>
          <a:ext cx="9643009" cy="4622801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878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90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24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89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state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encoding as a binary number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one-hot encoding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a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0001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b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01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0010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0100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d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10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1000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8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5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0" grpId="1" build="p" bldLvl="5" animBg="1" advAuto="0"/>
      <p:bldP spid="582" grpId="2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Automated FSM desig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t>Automated FSM design</a:t>
            </a:r>
          </a:p>
        </p:txBody>
      </p:sp>
      <p:sp>
        <p:nvSpPr>
          <p:cNvPr id="585" name="We usually design FSMs at a higher level of abstraction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043451"/>
          </a:xfrm>
          <a:prstGeom prst="rect">
            <a:avLst/>
          </a:prstGeom>
        </p:spPr>
        <p:txBody>
          <a:bodyPr/>
          <a:lstStyle/>
          <a:p>
            <a:r>
              <a:t>We usually design FSMs at a higher level of abstraction.</a:t>
            </a:r>
          </a:p>
        </p:txBody>
      </p:sp>
      <p:sp>
        <p:nvSpPr>
          <p:cNvPr id="5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22</a:t>
            </a:fld>
            <a:endParaRPr/>
          </a:p>
        </p:txBody>
      </p:sp>
      <p:grpSp>
        <p:nvGrpSpPr>
          <p:cNvPr id="607" name="Group"/>
          <p:cNvGrpSpPr/>
          <p:nvPr/>
        </p:nvGrpSpPr>
        <p:grpSpPr>
          <a:xfrm>
            <a:off x="9038394" y="3606043"/>
            <a:ext cx="2881444" cy="2334553"/>
            <a:chOff x="0" y="0"/>
            <a:chExt cx="2881442" cy="2334551"/>
          </a:xfrm>
        </p:grpSpPr>
        <p:sp>
          <p:nvSpPr>
            <p:cNvPr id="587" name="b/0"/>
            <p:cNvSpPr/>
            <p:nvPr/>
          </p:nvSpPr>
          <p:spPr>
            <a:xfrm>
              <a:off x="288104" y="213790"/>
              <a:ext cx="660055" cy="685961"/>
            </a:xfrm>
            <a:prstGeom prst="ellipse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>
                  <a:solidFill>
                    <a:srgbClr val="FFFFFF"/>
                  </a:solidFill>
                </a:defRPr>
              </a:lvl1pPr>
            </a:lstStyle>
            <a:p>
              <a:r>
                <a:t>b/0</a:t>
              </a:r>
            </a:p>
          </p:txBody>
        </p:sp>
        <p:sp>
          <p:nvSpPr>
            <p:cNvPr id="588" name="a/0"/>
            <p:cNvSpPr/>
            <p:nvPr/>
          </p:nvSpPr>
          <p:spPr>
            <a:xfrm>
              <a:off x="288104" y="1434800"/>
              <a:ext cx="660055" cy="685961"/>
            </a:xfrm>
            <a:prstGeom prst="ellipse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>
                  <a:solidFill>
                    <a:srgbClr val="FFFFFF"/>
                  </a:solidFill>
                </a:defRPr>
              </a:lvl1pPr>
            </a:lstStyle>
            <a:p>
              <a:r>
                <a:t>a/0</a:t>
              </a:r>
            </a:p>
          </p:txBody>
        </p:sp>
        <p:cxnSp>
          <p:nvCxnSpPr>
            <p:cNvPr id="589" name="Connection Line"/>
            <p:cNvCxnSpPr>
              <a:stCxn id="588" idx="0"/>
              <a:endCxn id="587" idx="0"/>
            </p:cNvCxnSpPr>
            <p:nvPr/>
          </p:nvCxnSpPr>
          <p:spPr>
            <a:xfrm flipV="1">
              <a:off x="618131" y="556770"/>
              <a:ext cx="1" cy="122101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590" name="Connection Line"/>
            <p:cNvCxnSpPr>
              <a:stCxn id="587" idx="0"/>
              <a:endCxn id="588" idx="0"/>
            </p:cNvCxnSpPr>
            <p:nvPr/>
          </p:nvCxnSpPr>
          <p:spPr>
            <a:xfrm>
              <a:off x="618131" y="556770"/>
              <a:ext cx="1" cy="122101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sp>
          <p:nvSpPr>
            <p:cNvPr id="591" name="c/1"/>
            <p:cNvSpPr/>
            <p:nvPr/>
          </p:nvSpPr>
          <p:spPr>
            <a:xfrm>
              <a:off x="1926126" y="227510"/>
              <a:ext cx="660055" cy="685961"/>
            </a:xfrm>
            <a:prstGeom prst="ellipse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>
                  <a:solidFill>
                    <a:srgbClr val="FFFFFF"/>
                  </a:solidFill>
                </a:defRPr>
              </a:lvl1pPr>
            </a:lstStyle>
            <a:p>
              <a:r>
                <a:t>c/1</a:t>
              </a:r>
            </a:p>
          </p:txBody>
        </p:sp>
        <p:sp>
          <p:nvSpPr>
            <p:cNvPr id="592" name="d/1"/>
            <p:cNvSpPr/>
            <p:nvPr/>
          </p:nvSpPr>
          <p:spPr>
            <a:xfrm>
              <a:off x="1926126" y="1448519"/>
              <a:ext cx="660055" cy="685961"/>
            </a:xfrm>
            <a:prstGeom prst="ellipse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>
                  <a:solidFill>
                    <a:srgbClr val="FFFFFF"/>
                  </a:solidFill>
                </a:defRPr>
              </a:lvl1pPr>
            </a:lstStyle>
            <a:p>
              <a:r>
                <a:t>d/1</a:t>
              </a:r>
            </a:p>
          </p:txBody>
        </p:sp>
        <p:cxnSp>
          <p:nvCxnSpPr>
            <p:cNvPr id="593" name="Connection Line"/>
            <p:cNvCxnSpPr>
              <a:stCxn id="592" idx="0"/>
              <a:endCxn id="591" idx="0"/>
            </p:cNvCxnSpPr>
            <p:nvPr/>
          </p:nvCxnSpPr>
          <p:spPr>
            <a:xfrm flipV="1">
              <a:off x="2256153" y="570490"/>
              <a:ext cx="1" cy="122101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594" name="Connection Line"/>
            <p:cNvCxnSpPr>
              <a:stCxn id="591" idx="0"/>
              <a:endCxn id="592" idx="0"/>
            </p:cNvCxnSpPr>
            <p:nvPr/>
          </p:nvCxnSpPr>
          <p:spPr>
            <a:xfrm>
              <a:off x="2256153" y="570490"/>
              <a:ext cx="1" cy="122101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595" name="Connection Line"/>
            <p:cNvCxnSpPr>
              <a:stCxn id="587" idx="0"/>
              <a:endCxn id="591" idx="0"/>
            </p:cNvCxnSpPr>
            <p:nvPr/>
          </p:nvCxnSpPr>
          <p:spPr>
            <a:xfrm>
              <a:off x="618131" y="556770"/>
              <a:ext cx="1638023" cy="1372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596" name="Connection Line"/>
            <p:cNvCxnSpPr>
              <a:stCxn id="592" idx="0"/>
              <a:endCxn id="588" idx="0"/>
            </p:cNvCxnSpPr>
            <p:nvPr/>
          </p:nvCxnSpPr>
          <p:spPr>
            <a:xfrm flipH="1" flipV="1">
              <a:off x="618131" y="1777780"/>
              <a:ext cx="1638023" cy="1372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sp>
          <p:nvSpPr>
            <p:cNvPr id="619" name="Connection Line"/>
            <p:cNvSpPr/>
            <p:nvPr/>
          </p:nvSpPr>
          <p:spPr>
            <a:xfrm>
              <a:off x="2483620" y="223009"/>
              <a:ext cx="256133" cy="2710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388" h="17010" extrusionOk="0">
                  <a:moveTo>
                    <a:pt x="0" y="5405"/>
                  </a:moveTo>
                  <a:cubicBezTo>
                    <a:pt x="19512" y="-4590"/>
                    <a:pt x="21600" y="-722"/>
                    <a:pt x="6264" y="1701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endParaRPr/>
            </a:p>
          </p:txBody>
        </p:sp>
        <p:sp>
          <p:nvSpPr>
            <p:cNvPr id="620" name="Connection Line"/>
            <p:cNvSpPr/>
            <p:nvPr/>
          </p:nvSpPr>
          <p:spPr>
            <a:xfrm>
              <a:off x="138732" y="1855594"/>
              <a:ext cx="256132" cy="2710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388" h="17010" extrusionOk="0">
                  <a:moveTo>
                    <a:pt x="16388" y="11605"/>
                  </a:moveTo>
                  <a:cubicBezTo>
                    <a:pt x="-3124" y="21600"/>
                    <a:pt x="-5212" y="17732"/>
                    <a:pt x="10124" y="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endParaRPr/>
            </a:p>
          </p:txBody>
        </p:sp>
        <p:sp>
          <p:nvSpPr>
            <p:cNvPr id="599" name="1"/>
            <p:cNvSpPr txBox="1"/>
            <p:nvPr/>
          </p:nvSpPr>
          <p:spPr>
            <a:xfrm>
              <a:off x="1372911" y="0"/>
              <a:ext cx="157622" cy="3086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/>
              </a:lvl1pPr>
            </a:lstStyle>
            <a:p>
              <a:r>
                <a:t>1</a:t>
              </a:r>
            </a:p>
          </p:txBody>
        </p:sp>
        <p:sp>
          <p:nvSpPr>
            <p:cNvPr id="600" name="0"/>
            <p:cNvSpPr txBox="1"/>
            <p:nvPr/>
          </p:nvSpPr>
          <p:spPr>
            <a:xfrm>
              <a:off x="1372911" y="2025869"/>
              <a:ext cx="157622" cy="3086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/>
              </a:lvl1pPr>
            </a:lstStyle>
            <a:p>
              <a:r>
                <a:t>0</a:t>
              </a:r>
            </a:p>
          </p:txBody>
        </p:sp>
        <p:sp>
          <p:nvSpPr>
            <p:cNvPr id="601" name="1"/>
            <p:cNvSpPr txBox="1"/>
            <p:nvPr/>
          </p:nvSpPr>
          <p:spPr>
            <a:xfrm>
              <a:off x="1791947" y="1079172"/>
              <a:ext cx="157622" cy="3086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/>
              </a:lvl1pPr>
            </a:lstStyle>
            <a:p>
              <a:r>
                <a:t>1</a:t>
              </a:r>
            </a:p>
          </p:txBody>
        </p:sp>
        <p:sp>
          <p:nvSpPr>
            <p:cNvPr id="602" name="0"/>
            <p:cNvSpPr txBox="1"/>
            <p:nvPr/>
          </p:nvSpPr>
          <p:spPr>
            <a:xfrm>
              <a:off x="0" y="2025869"/>
              <a:ext cx="157621" cy="3086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/>
              </a:lvl1pPr>
            </a:lstStyle>
            <a:p>
              <a:r>
                <a:t>0</a:t>
              </a:r>
            </a:p>
          </p:txBody>
        </p:sp>
        <p:sp>
          <p:nvSpPr>
            <p:cNvPr id="603" name="1"/>
            <p:cNvSpPr txBox="1"/>
            <p:nvPr/>
          </p:nvSpPr>
          <p:spPr>
            <a:xfrm>
              <a:off x="2723821" y="0"/>
              <a:ext cx="157622" cy="3086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/>
              </a:lvl1pPr>
            </a:lstStyle>
            <a:p>
              <a:r>
                <a:t>1</a:t>
              </a:r>
            </a:p>
          </p:txBody>
        </p:sp>
        <p:sp>
          <p:nvSpPr>
            <p:cNvPr id="604" name="0"/>
            <p:cNvSpPr txBox="1"/>
            <p:nvPr/>
          </p:nvSpPr>
          <p:spPr>
            <a:xfrm>
              <a:off x="2534694" y="1026653"/>
              <a:ext cx="157621" cy="3086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/>
              </a:lvl1pPr>
            </a:lstStyle>
            <a:p>
              <a:r>
                <a:t>0</a:t>
              </a:r>
            </a:p>
          </p:txBody>
        </p:sp>
        <p:sp>
          <p:nvSpPr>
            <p:cNvPr id="605" name="1"/>
            <p:cNvSpPr txBox="1"/>
            <p:nvPr/>
          </p:nvSpPr>
          <p:spPr>
            <a:xfrm>
              <a:off x="148069" y="1026653"/>
              <a:ext cx="157622" cy="3086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/>
              </a:lvl1pPr>
            </a:lstStyle>
            <a:p>
              <a:r>
                <a:t>1</a:t>
              </a:r>
            </a:p>
          </p:txBody>
        </p:sp>
        <p:sp>
          <p:nvSpPr>
            <p:cNvPr id="606" name="0"/>
            <p:cNvSpPr txBox="1"/>
            <p:nvPr/>
          </p:nvSpPr>
          <p:spPr>
            <a:xfrm>
              <a:off x="899961" y="1026653"/>
              <a:ext cx="157622" cy="3086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1800"/>
              </a:lvl1pPr>
            </a:lstStyle>
            <a:p>
              <a:r>
                <a:t>0</a:t>
              </a:r>
            </a:p>
          </p:txBody>
        </p:sp>
      </p:grpSp>
      <p:sp>
        <p:nvSpPr>
          <p:cNvPr id="608" name="module denoiser (out, in, clk, rst);…"/>
          <p:cNvSpPr txBox="1"/>
          <p:nvPr/>
        </p:nvSpPr>
        <p:spPr>
          <a:xfrm>
            <a:off x="1715228" y="3454400"/>
            <a:ext cx="5601594" cy="58928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denoiser (out, in, clk, rst);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in, clk, rst;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sA = 4'b0001;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sB = 4'b0010;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sC = 4'b0100;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sD = 4'b1000;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[3:0] s;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 = sA;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1'b0;</a:t>
            </a:r>
          </a:p>
          <a:p>
            <a:pPr algn="l">
              <a:defRPr sz="2000"/>
            </a:pP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(rst==1'b1) s &lt;= sA;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(s)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sA: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(in==1'b1) s &lt;= sB;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sB: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(in==1'b1) s &lt;= sC;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s &lt;= sA;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sC: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(in==1'b0) s &lt;= sD;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sD: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(in==1'b1) s &lt;= sC;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s &lt;= sA;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</a:p>
        </p:txBody>
      </p:sp>
      <p:sp>
        <p:nvSpPr>
          <p:cNvPr id="609" name="always @ *…"/>
          <p:cNvSpPr txBox="1"/>
          <p:nvPr/>
        </p:nvSpPr>
        <p:spPr>
          <a:xfrm>
            <a:off x="7598246" y="6925733"/>
            <a:ext cx="3315222" cy="25400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*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(s)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sA: out = 1'b0;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sB: out = 1'b0;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sC: out = 1'b1;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sD: out = 1'b1;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612" name="Group"/>
          <p:cNvGrpSpPr/>
          <p:nvPr/>
        </p:nvGrpSpPr>
        <p:grpSpPr>
          <a:xfrm>
            <a:off x="-50347" y="4313147"/>
            <a:ext cx="1822842" cy="623945"/>
            <a:chOff x="0" y="533399"/>
            <a:chExt cx="1822840" cy="623944"/>
          </a:xfrm>
        </p:grpSpPr>
        <p:sp>
          <p:nvSpPr>
            <p:cNvPr id="610" name="declare…"/>
            <p:cNvSpPr/>
            <p:nvPr/>
          </p:nvSpPr>
          <p:spPr>
            <a:xfrm>
              <a:off x="0" y="533399"/>
              <a:ext cx="1574368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declare</a:t>
              </a:r>
            </a:p>
            <a:p>
              <a:r>
                <a:t>states</a:t>
              </a:r>
            </a:p>
          </p:txBody>
        </p:sp>
        <p:sp>
          <p:nvSpPr>
            <p:cNvPr id="611" name="Line"/>
            <p:cNvSpPr/>
            <p:nvPr/>
          </p:nvSpPr>
          <p:spPr>
            <a:xfrm>
              <a:off x="1128004" y="1023654"/>
              <a:ext cx="694837" cy="13369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615" name="Group"/>
          <p:cNvGrpSpPr/>
          <p:nvPr/>
        </p:nvGrpSpPr>
        <p:grpSpPr>
          <a:xfrm>
            <a:off x="-80325" y="4983105"/>
            <a:ext cx="2001303" cy="1981201"/>
            <a:chOff x="0" y="0"/>
            <a:chExt cx="2001302" cy="1981200"/>
          </a:xfrm>
        </p:grpSpPr>
        <p:sp>
          <p:nvSpPr>
            <p:cNvPr id="613" name="calculate…"/>
            <p:cNvSpPr txBox="1"/>
            <p:nvPr/>
          </p:nvSpPr>
          <p:spPr>
            <a:xfrm>
              <a:off x="0" y="0"/>
              <a:ext cx="1811204" cy="198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r>
                <a:t>calculate</a:t>
              </a:r>
            </a:p>
            <a:p>
              <a:r>
                <a:t>next state</a:t>
              </a:r>
            </a:p>
          </p:txBody>
        </p:sp>
        <p:sp>
          <p:nvSpPr>
            <p:cNvPr id="614" name="Line"/>
            <p:cNvSpPr/>
            <p:nvPr/>
          </p:nvSpPr>
          <p:spPr>
            <a:xfrm>
              <a:off x="1201939" y="1531655"/>
              <a:ext cx="799364" cy="1336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618" name="Group"/>
          <p:cNvGrpSpPr/>
          <p:nvPr/>
        </p:nvGrpSpPr>
        <p:grpSpPr>
          <a:xfrm>
            <a:off x="10198128" y="6841538"/>
            <a:ext cx="2709000" cy="1041401"/>
            <a:chOff x="0" y="0"/>
            <a:chExt cx="2708998" cy="1041400"/>
          </a:xfrm>
        </p:grpSpPr>
        <p:sp>
          <p:nvSpPr>
            <p:cNvPr id="616" name="calculate output"/>
            <p:cNvSpPr txBox="1"/>
            <p:nvPr/>
          </p:nvSpPr>
          <p:spPr>
            <a:xfrm>
              <a:off x="1000047" y="0"/>
              <a:ext cx="1708952" cy="1041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r>
                <a:t>calculate output</a:t>
              </a:r>
            </a:p>
          </p:txBody>
        </p:sp>
        <p:sp>
          <p:nvSpPr>
            <p:cNvPr id="617" name="Line"/>
            <p:cNvSpPr/>
            <p:nvPr/>
          </p:nvSpPr>
          <p:spPr>
            <a:xfrm flipH="1" flipV="1">
              <a:off x="-1" y="440735"/>
              <a:ext cx="102322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5" grpId="1" animBg="1" advAuto="0"/>
      <p:bldP spid="607" grpId="2" animBg="1" advAuto="0"/>
      <p:bldP spid="608" grpId="3" animBg="1" advAuto="0"/>
      <p:bldP spid="609" grpId="4" animBg="1" advAuto="0"/>
      <p:bldP spid="612" grpId="5" animBg="1" advAuto="0"/>
      <p:bldP spid="615" grpId="6" animBg="1" advAuto="0"/>
      <p:bldP spid="618" grpId="7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The resul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result</a:t>
            </a:r>
          </a:p>
        </p:txBody>
      </p:sp>
      <p:sp>
        <p:nvSpPr>
          <p:cNvPr id="6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23</a:t>
            </a:fld>
            <a:endParaRPr/>
          </a:p>
        </p:txBody>
      </p:sp>
      <p:pic>
        <p:nvPicPr>
          <p:cNvPr id="62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87" y="3600450"/>
            <a:ext cx="12561198" cy="25828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" grpId="1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Example 2: puls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2: pulser</a:t>
            </a:r>
          </a:p>
        </p:txBody>
      </p:sp>
      <p:sp>
        <p:nvSpPr>
          <p:cNvPr id="627" name="Task: Whenever the input rises, output a 1-cycle pulse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004690"/>
          </a:xfrm>
          <a:prstGeom prst="rect">
            <a:avLst/>
          </a:prstGeom>
        </p:spPr>
        <p:txBody>
          <a:bodyPr/>
          <a:lstStyle/>
          <a:p>
            <a:r>
              <a:t>Task: Whenever the input rises, output a 1-cycle pulse.</a:t>
            </a:r>
          </a:p>
        </p:txBody>
      </p:sp>
      <p:sp>
        <p:nvSpPr>
          <p:cNvPr id="6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24</a:t>
            </a:fld>
            <a:endParaRPr/>
          </a:p>
        </p:txBody>
      </p:sp>
      <p:pic>
        <p:nvPicPr>
          <p:cNvPr id="62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39" y="3518444"/>
            <a:ext cx="12267322" cy="3262812"/>
          </a:xfrm>
          <a:prstGeom prst="rect">
            <a:avLst/>
          </a:prstGeom>
          <a:ln w="12700">
            <a:miter lim="400000"/>
          </a:ln>
        </p:spPr>
      </p:pic>
      <p:sp>
        <p:nvSpPr>
          <p:cNvPr id="630" name="high/1"/>
          <p:cNvSpPr/>
          <p:nvPr/>
        </p:nvSpPr>
        <p:spPr>
          <a:xfrm>
            <a:off x="4858647" y="7594600"/>
            <a:ext cx="2645148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high/1</a:t>
            </a:r>
          </a:p>
        </p:txBody>
      </p:sp>
      <p:sp>
        <p:nvSpPr>
          <p:cNvPr id="631" name="idle/0"/>
          <p:cNvSpPr/>
          <p:nvPr/>
        </p:nvSpPr>
        <p:spPr>
          <a:xfrm>
            <a:off x="1937132" y="7594600"/>
            <a:ext cx="2227793" cy="1270000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idle/0</a:t>
            </a:r>
          </a:p>
        </p:txBody>
      </p:sp>
      <p:cxnSp>
        <p:nvCxnSpPr>
          <p:cNvPr id="632" name="Connection Line"/>
          <p:cNvCxnSpPr>
            <a:stCxn id="631" idx="0"/>
            <a:endCxn id="630" idx="0"/>
          </p:cNvCxnSpPr>
          <p:nvPr/>
        </p:nvCxnSpPr>
        <p:spPr>
          <a:xfrm>
            <a:off x="3051028" y="8229600"/>
            <a:ext cx="3130194" cy="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633" name="Connection Line"/>
          <p:cNvCxnSpPr>
            <a:stCxn id="630" idx="0"/>
            <a:endCxn id="631" idx="0"/>
          </p:cNvCxnSpPr>
          <p:nvPr/>
        </p:nvCxnSpPr>
        <p:spPr>
          <a:xfrm flipH="1">
            <a:off x="3051028" y="8229600"/>
            <a:ext cx="3130194" cy="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34" name="wait/0"/>
          <p:cNvSpPr/>
          <p:nvPr/>
        </p:nvSpPr>
        <p:spPr>
          <a:xfrm>
            <a:off x="8197518" y="7684541"/>
            <a:ext cx="2645148" cy="1270001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wait/0</a:t>
            </a:r>
          </a:p>
        </p:txBody>
      </p:sp>
      <p:cxnSp>
        <p:nvCxnSpPr>
          <p:cNvPr id="635" name="Connection Line"/>
          <p:cNvCxnSpPr>
            <a:stCxn id="634" idx="0"/>
            <a:endCxn id="631" idx="0"/>
          </p:cNvCxnSpPr>
          <p:nvPr/>
        </p:nvCxnSpPr>
        <p:spPr>
          <a:xfrm flipH="1" flipV="1">
            <a:off x="3051028" y="8229600"/>
            <a:ext cx="6469065" cy="89942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636" name="Connection Line"/>
          <p:cNvCxnSpPr>
            <a:stCxn id="630" idx="0"/>
            <a:endCxn id="634" idx="0"/>
          </p:cNvCxnSpPr>
          <p:nvPr/>
        </p:nvCxnSpPr>
        <p:spPr>
          <a:xfrm>
            <a:off x="6181221" y="8229600"/>
            <a:ext cx="3338872" cy="89942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45" name="Connection Line"/>
          <p:cNvSpPr/>
          <p:nvPr/>
        </p:nvSpPr>
        <p:spPr>
          <a:xfrm>
            <a:off x="10646017" y="7804001"/>
            <a:ext cx="492820" cy="5019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17010" extrusionOk="0">
                <a:moveTo>
                  <a:pt x="0" y="5405"/>
                </a:moveTo>
                <a:cubicBezTo>
                  <a:pt x="19512" y="-4590"/>
                  <a:pt x="21600" y="-722"/>
                  <a:pt x="6264" y="1701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46" name="Connection Line"/>
          <p:cNvSpPr/>
          <p:nvPr/>
        </p:nvSpPr>
        <p:spPr>
          <a:xfrm>
            <a:off x="1616011" y="8255134"/>
            <a:ext cx="492820" cy="5019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17010" extrusionOk="0">
                <a:moveTo>
                  <a:pt x="16388" y="11605"/>
                </a:moveTo>
                <a:cubicBezTo>
                  <a:pt x="-3124" y="21600"/>
                  <a:pt x="-5212" y="17732"/>
                  <a:pt x="10124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39" name="1"/>
          <p:cNvSpPr txBox="1"/>
          <p:nvPr/>
        </p:nvSpPr>
        <p:spPr>
          <a:xfrm>
            <a:off x="7680496" y="7141633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640" name="0"/>
          <p:cNvSpPr txBox="1"/>
          <p:nvPr/>
        </p:nvSpPr>
        <p:spPr>
          <a:xfrm>
            <a:off x="1330556" y="8564033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641" name="1"/>
          <p:cNvSpPr txBox="1"/>
          <p:nvPr/>
        </p:nvSpPr>
        <p:spPr>
          <a:xfrm>
            <a:off x="11072728" y="7587208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642" name="0"/>
          <p:cNvSpPr txBox="1"/>
          <p:nvPr/>
        </p:nvSpPr>
        <p:spPr>
          <a:xfrm>
            <a:off x="4431179" y="8283840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  <p:sp>
        <p:nvSpPr>
          <p:cNvPr id="643" name="1"/>
          <p:cNvSpPr txBox="1"/>
          <p:nvPr/>
        </p:nvSpPr>
        <p:spPr>
          <a:xfrm>
            <a:off x="4431179" y="7141633"/>
            <a:ext cx="34032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</a:t>
            </a:r>
          </a:p>
        </p:txBody>
      </p:sp>
      <p:sp>
        <p:nvSpPr>
          <p:cNvPr id="644" name="0"/>
          <p:cNvSpPr txBox="1"/>
          <p:nvPr/>
        </p:nvSpPr>
        <p:spPr>
          <a:xfrm>
            <a:off x="7689192" y="8754533"/>
            <a:ext cx="340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1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7" grpId="1" animBg="1" advAuto="0"/>
      <p:bldP spid="629" grpId="2" animBg="1" advAuto="0"/>
      <p:bldP spid="630" grpId="7" animBg="1" advAuto="0"/>
      <p:bldP spid="631" grpId="3" animBg="1" advAuto="0"/>
      <p:bldP spid="632" grpId="8" animBg="1" advAuto="0"/>
      <p:bldP spid="633" grpId="10" animBg="1" advAuto="0"/>
      <p:bldP spid="634" grpId="13" animBg="1" advAuto="0"/>
      <p:bldP spid="635" grpId="16" animBg="1" advAuto="0"/>
      <p:bldP spid="636" grpId="12" animBg="1" advAuto="0"/>
      <p:bldP spid="645" grpId="14" animBg="1" advAuto="0"/>
      <p:bldP spid="646" grpId="4" animBg="1" advAuto="0"/>
      <p:bldP spid="639" grpId="11" animBg="1" advAuto="0"/>
      <p:bldP spid="640" grpId="5" animBg="1" advAuto="0"/>
      <p:bldP spid="641" grpId="15" animBg="1" advAuto="0"/>
      <p:bldP spid="642" grpId="9" animBg="1" advAuto="0"/>
      <p:bldP spid="643" grpId="6" animBg="1" advAuto="0"/>
      <p:bldP spid="644" grpId="17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Example 2: puls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2: pulser</a:t>
            </a:r>
          </a:p>
        </p:txBody>
      </p:sp>
      <p:sp>
        <p:nvSpPr>
          <p:cNvPr id="6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25</a:t>
            </a:fld>
            <a:endParaRPr/>
          </a:p>
        </p:txBody>
      </p:sp>
      <p:sp>
        <p:nvSpPr>
          <p:cNvPr id="650" name="module pulser (out, in, clk);…"/>
          <p:cNvSpPr txBox="1"/>
          <p:nvPr/>
        </p:nvSpPr>
        <p:spPr>
          <a:xfrm>
            <a:off x="3493228" y="2349972"/>
            <a:ext cx="5906443" cy="71120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pulser (out, in, clk);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in, clk;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sIDLE = 2'b00;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sHIGH = 2'b01;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sWAIT = 2'b10;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[1:0] s;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 = sIDLE;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1'b0;</a:t>
            </a:r>
          </a:p>
          <a:p>
            <a:pPr algn="l">
              <a:defRPr sz="2000"/>
            </a:pP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(s)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sIDLE: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(in==1'b1) s &lt;= sHIGH;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sHIGH: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(in==1'b1) s &lt;= sWAIT;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s &lt;= sIDLE;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sWAIT: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(in==1'b0) s &lt;= sIDLE;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</a:p>
          <a:p>
            <a:pPr algn="l">
              <a:defRPr sz="2000"/>
            </a:pPr>
            <a:endParaRPr b="1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*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(s)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sIDLE: out = 1'b0;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sHIGH: out = 1'b1;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sWAIT: out = 1'b0;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653" name="Group"/>
          <p:cNvGrpSpPr/>
          <p:nvPr/>
        </p:nvGrpSpPr>
        <p:grpSpPr>
          <a:xfrm>
            <a:off x="1592187" y="2890747"/>
            <a:ext cx="1822842" cy="623945"/>
            <a:chOff x="0" y="533399"/>
            <a:chExt cx="1822840" cy="623944"/>
          </a:xfrm>
        </p:grpSpPr>
        <p:sp>
          <p:nvSpPr>
            <p:cNvPr id="651" name="declare…"/>
            <p:cNvSpPr/>
            <p:nvPr/>
          </p:nvSpPr>
          <p:spPr>
            <a:xfrm>
              <a:off x="0" y="533399"/>
              <a:ext cx="1574368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declare</a:t>
              </a:r>
            </a:p>
            <a:p>
              <a:r>
                <a:t>states</a:t>
              </a:r>
            </a:p>
          </p:txBody>
        </p:sp>
        <p:sp>
          <p:nvSpPr>
            <p:cNvPr id="652" name="Line"/>
            <p:cNvSpPr/>
            <p:nvPr/>
          </p:nvSpPr>
          <p:spPr>
            <a:xfrm>
              <a:off x="1128004" y="1023654"/>
              <a:ext cx="694837" cy="13369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656" name="Group"/>
          <p:cNvGrpSpPr/>
          <p:nvPr/>
        </p:nvGrpSpPr>
        <p:grpSpPr>
          <a:xfrm>
            <a:off x="1714608" y="4187238"/>
            <a:ext cx="2001304" cy="1981201"/>
            <a:chOff x="0" y="0"/>
            <a:chExt cx="2001302" cy="1981200"/>
          </a:xfrm>
        </p:grpSpPr>
        <p:sp>
          <p:nvSpPr>
            <p:cNvPr id="654" name="calculate…"/>
            <p:cNvSpPr txBox="1"/>
            <p:nvPr/>
          </p:nvSpPr>
          <p:spPr>
            <a:xfrm>
              <a:off x="0" y="0"/>
              <a:ext cx="1811204" cy="198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r>
                <a:t>calculate</a:t>
              </a:r>
            </a:p>
            <a:p>
              <a:r>
                <a:t>next state</a:t>
              </a:r>
            </a:p>
          </p:txBody>
        </p:sp>
        <p:sp>
          <p:nvSpPr>
            <p:cNvPr id="655" name="Line"/>
            <p:cNvSpPr/>
            <p:nvPr/>
          </p:nvSpPr>
          <p:spPr>
            <a:xfrm>
              <a:off x="1201939" y="1531655"/>
              <a:ext cx="799364" cy="1336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659" name="Group"/>
          <p:cNvGrpSpPr/>
          <p:nvPr/>
        </p:nvGrpSpPr>
        <p:grpSpPr>
          <a:xfrm>
            <a:off x="9199062" y="7789805"/>
            <a:ext cx="2708999" cy="1041401"/>
            <a:chOff x="0" y="0"/>
            <a:chExt cx="2708998" cy="1041400"/>
          </a:xfrm>
        </p:grpSpPr>
        <p:sp>
          <p:nvSpPr>
            <p:cNvPr id="657" name="calculate output"/>
            <p:cNvSpPr txBox="1"/>
            <p:nvPr/>
          </p:nvSpPr>
          <p:spPr>
            <a:xfrm>
              <a:off x="1000047" y="0"/>
              <a:ext cx="1708952" cy="1041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r>
                <a:t>calculate output</a:t>
              </a:r>
            </a:p>
          </p:txBody>
        </p:sp>
        <p:sp>
          <p:nvSpPr>
            <p:cNvPr id="658" name="Line"/>
            <p:cNvSpPr/>
            <p:nvPr/>
          </p:nvSpPr>
          <p:spPr>
            <a:xfrm flipH="1" flipV="1">
              <a:off x="-1" y="440735"/>
              <a:ext cx="102322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Example 3: de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3: delayer</a:t>
            </a:r>
          </a:p>
        </p:txBody>
      </p:sp>
      <p:sp>
        <p:nvSpPr>
          <p:cNvPr id="662" name="Task: when the 'trigger' input rises, wait for n cycles, then produce a 1-cycle pulse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163572"/>
          </a:xfrm>
          <a:prstGeom prst="rect">
            <a:avLst/>
          </a:prstGeom>
        </p:spPr>
        <p:txBody>
          <a:bodyPr/>
          <a:lstStyle/>
          <a:p>
            <a:r>
              <a:t>Task: when the 'trigger' input rises, wait for n cycles, then produce a 1-cycle pulse.</a:t>
            </a:r>
          </a:p>
        </p:txBody>
      </p:sp>
      <p:sp>
        <p:nvSpPr>
          <p:cNvPr id="6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26</a:t>
            </a:fld>
            <a:endParaRPr/>
          </a:p>
        </p:txBody>
      </p:sp>
      <p:grpSp>
        <p:nvGrpSpPr>
          <p:cNvPr id="668" name="Group"/>
          <p:cNvGrpSpPr/>
          <p:nvPr/>
        </p:nvGrpSpPr>
        <p:grpSpPr>
          <a:xfrm>
            <a:off x="1441515" y="3926416"/>
            <a:ext cx="5298343" cy="2825484"/>
            <a:chOff x="0" y="0"/>
            <a:chExt cx="5298341" cy="2825483"/>
          </a:xfrm>
        </p:grpSpPr>
        <p:sp>
          <p:nvSpPr>
            <p:cNvPr id="664" name="Rectangle"/>
            <p:cNvSpPr/>
            <p:nvPr/>
          </p:nvSpPr>
          <p:spPr>
            <a:xfrm>
              <a:off x="0" y="0"/>
              <a:ext cx="5298342" cy="282548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665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285" y="212060"/>
              <a:ext cx="5017772" cy="24013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66" name="Rectangle"/>
            <p:cNvSpPr/>
            <p:nvPr/>
          </p:nvSpPr>
          <p:spPr>
            <a:xfrm>
              <a:off x="275762" y="1970285"/>
              <a:ext cx="653389" cy="69982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67" name="Rectangle"/>
            <p:cNvSpPr/>
            <p:nvPr/>
          </p:nvSpPr>
          <p:spPr>
            <a:xfrm>
              <a:off x="3891028" y="556352"/>
              <a:ext cx="757636" cy="69982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669" name="high/1"/>
          <p:cNvSpPr/>
          <p:nvPr/>
        </p:nvSpPr>
        <p:spPr>
          <a:xfrm>
            <a:off x="6533603" y="8017933"/>
            <a:ext cx="2645149" cy="1270001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high/1</a:t>
            </a:r>
          </a:p>
        </p:txBody>
      </p:sp>
      <p:sp>
        <p:nvSpPr>
          <p:cNvPr id="670" name="idle/0"/>
          <p:cNvSpPr/>
          <p:nvPr/>
        </p:nvSpPr>
        <p:spPr>
          <a:xfrm>
            <a:off x="689779" y="8017933"/>
            <a:ext cx="2227793" cy="1270001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idle/0</a:t>
            </a:r>
          </a:p>
        </p:txBody>
      </p:sp>
      <p:cxnSp>
        <p:nvCxnSpPr>
          <p:cNvPr id="671" name="Connection Line"/>
          <p:cNvCxnSpPr>
            <a:stCxn id="670" idx="0"/>
            <a:endCxn id="685" idx="0"/>
          </p:cNvCxnSpPr>
          <p:nvPr/>
        </p:nvCxnSpPr>
        <p:spPr>
          <a:xfrm>
            <a:off x="1803675" y="8652933"/>
            <a:ext cx="2921913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672" name="Connection Line"/>
          <p:cNvCxnSpPr>
            <a:stCxn id="685" idx="0"/>
            <a:endCxn id="669" idx="0"/>
          </p:cNvCxnSpPr>
          <p:nvPr/>
        </p:nvCxnSpPr>
        <p:spPr>
          <a:xfrm>
            <a:off x="4725587" y="8652933"/>
            <a:ext cx="3130591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73" name="wait/0"/>
          <p:cNvSpPr/>
          <p:nvPr/>
        </p:nvSpPr>
        <p:spPr>
          <a:xfrm>
            <a:off x="9693365" y="8017933"/>
            <a:ext cx="2645149" cy="1270001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wait/0</a:t>
            </a:r>
          </a:p>
        </p:txBody>
      </p:sp>
      <p:cxnSp>
        <p:nvCxnSpPr>
          <p:cNvPr id="674" name="Connection Line"/>
          <p:cNvCxnSpPr>
            <a:stCxn id="669" idx="0"/>
            <a:endCxn id="670" idx="0"/>
          </p:cNvCxnSpPr>
          <p:nvPr/>
        </p:nvCxnSpPr>
        <p:spPr>
          <a:xfrm flipH="1">
            <a:off x="1803675" y="8652933"/>
            <a:ext cx="6052503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675" name="Connection Line"/>
          <p:cNvCxnSpPr>
            <a:stCxn id="669" idx="0"/>
            <a:endCxn id="673" idx="0"/>
          </p:cNvCxnSpPr>
          <p:nvPr/>
        </p:nvCxnSpPr>
        <p:spPr>
          <a:xfrm>
            <a:off x="7856177" y="8652933"/>
            <a:ext cx="3159763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76" name="in"/>
          <p:cNvSpPr txBox="1"/>
          <p:nvPr/>
        </p:nvSpPr>
        <p:spPr>
          <a:xfrm>
            <a:off x="9220753" y="7577666"/>
            <a:ext cx="4306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in</a:t>
            </a:r>
          </a:p>
        </p:txBody>
      </p:sp>
      <p:grpSp>
        <p:nvGrpSpPr>
          <p:cNvPr id="679" name="Group"/>
          <p:cNvGrpSpPr/>
          <p:nvPr/>
        </p:nvGrpSpPr>
        <p:grpSpPr>
          <a:xfrm>
            <a:off x="302999" y="8703867"/>
            <a:ext cx="667941" cy="956600"/>
            <a:chOff x="-671" y="0"/>
            <a:chExt cx="667940" cy="956599"/>
          </a:xfrm>
        </p:grpSpPr>
        <p:sp>
          <p:nvSpPr>
            <p:cNvPr id="689" name="Connection Line"/>
            <p:cNvSpPr/>
            <p:nvPr/>
          </p:nvSpPr>
          <p:spPr>
            <a:xfrm>
              <a:off x="90387" y="0"/>
              <a:ext cx="492820" cy="5019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388" h="17010" extrusionOk="0">
                  <a:moveTo>
                    <a:pt x="16388" y="11605"/>
                  </a:moveTo>
                  <a:cubicBezTo>
                    <a:pt x="-3124" y="21600"/>
                    <a:pt x="-5212" y="17732"/>
                    <a:pt x="10124" y="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endParaRPr/>
            </a:p>
          </p:txBody>
        </p:sp>
        <p:sp>
          <p:nvSpPr>
            <p:cNvPr id="678" name="¬in"/>
            <p:cNvSpPr txBox="1"/>
            <p:nvPr/>
          </p:nvSpPr>
          <p:spPr>
            <a:xfrm>
              <a:off x="-672" y="372399"/>
              <a:ext cx="66794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¬in</a:t>
              </a:r>
            </a:p>
          </p:txBody>
        </p:sp>
      </p:grpSp>
      <p:grpSp>
        <p:nvGrpSpPr>
          <p:cNvPr id="682" name="Group"/>
          <p:cNvGrpSpPr/>
          <p:nvPr/>
        </p:nvGrpSpPr>
        <p:grpSpPr>
          <a:xfrm>
            <a:off x="12137631" y="7577666"/>
            <a:ext cx="629736" cy="1011882"/>
            <a:chOff x="0" y="-6350"/>
            <a:chExt cx="629735" cy="1011881"/>
          </a:xfrm>
        </p:grpSpPr>
        <p:sp>
          <p:nvSpPr>
            <p:cNvPr id="690" name="Connection Line"/>
            <p:cNvSpPr/>
            <p:nvPr/>
          </p:nvSpPr>
          <p:spPr>
            <a:xfrm>
              <a:off x="0" y="503618"/>
              <a:ext cx="492819" cy="501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388" h="17010" extrusionOk="0">
                  <a:moveTo>
                    <a:pt x="0" y="5405"/>
                  </a:moveTo>
                  <a:cubicBezTo>
                    <a:pt x="19512" y="-4590"/>
                    <a:pt x="21600" y="-722"/>
                    <a:pt x="6264" y="1701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endParaRPr/>
            </a:p>
          </p:txBody>
        </p:sp>
        <p:sp>
          <p:nvSpPr>
            <p:cNvPr id="681" name="in"/>
            <p:cNvSpPr txBox="1"/>
            <p:nvPr/>
          </p:nvSpPr>
          <p:spPr>
            <a:xfrm>
              <a:off x="199125" y="-6351"/>
              <a:ext cx="43061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in</a:t>
              </a:r>
            </a:p>
          </p:txBody>
        </p:sp>
      </p:grpSp>
      <p:sp>
        <p:nvSpPr>
          <p:cNvPr id="683" name="¬in"/>
          <p:cNvSpPr txBox="1"/>
          <p:nvPr/>
        </p:nvSpPr>
        <p:spPr>
          <a:xfrm>
            <a:off x="5971498" y="9076266"/>
            <a:ext cx="6679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¬in</a:t>
            </a:r>
          </a:p>
        </p:txBody>
      </p:sp>
      <p:sp>
        <p:nvSpPr>
          <p:cNvPr id="684" name="in"/>
          <p:cNvSpPr txBox="1"/>
          <p:nvPr/>
        </p:nvSpPr>
        <p:spPr>
          <a:xfrm>
            <a:off x="2944987" y="7577666"/>
            <a:ext cx="4306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in</a:t>
            </a:r>
          </a:p>
        </p:txBody>
      </p:sp>
      <p:sp>
        <p:nvSpPr>
          <p:cNvPr id="685" name="dela/0"/>
          <p:cNvSpPr/>
          <p:nvPr/>
        </p:nvSpPr>
        <p:spPr>
          <a:xfrm>
            <a:off x="3403013" y="8017933"/>
            <a:ext cx="2645149" cy="1270001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t>dela/0</a:t>
            </a:r>
          </a:p>
        </p:txBody>
      </p:sp>
      <p:cxnSp>
        <p:nvCxnSpPr>
          <p:cNvPr id="686" name="Connection Line"/>
          <p:cNvCxnSpPr>
            <a:stCxn id="673" idx="0"/>
            <a:endCxn id="670" idx="0"/>
          </p:cNvCxnSpPr>
          <p:nvPr/>
        </p:nvCxnSpPr>
        <p:spPr>
          <a:xfrm flipH="1">
            <a:off x="1803675" y="8652933"/>
            <a:ext cx="9212265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87" name="¬in"/>
          <p:cNvSpPr txBox="1"/>
          <p:nvPr/>
        </p:nvSpPr>
        <p:spPr>
          <a:xfrm>
            <a:off x="9102087" y="9076266"/>
            <a:ext cx="66794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¬in</a:t>
            </a:r>
          </a:p>
        </p:txBody>
      </p:sp>
      <p:sp>
        <p:nvSpPr>
          <p:cNvPr id="688" name="¬c"/>
          <p:cNvSpPr txBox="1"/>
          <p:nvPr/>
        </p:nvSpPr>
        <p:spPr>
          <a:xfrm>
            <a:off x="6001052" y="7577666"/>
            <a:ext cx="55483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¬c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1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1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2" grpId="1" animBg="1" advAuto="0"/>
      <p:bldP spid="668" grpId="2" animBg="1" advAuto="0"/>
      <p:bldP spid="669" grpId="9" animBg="1" advAuto="0"/>
      <p:bldP spid="670" grpId="3" animBg="1" advAuto="0"/>
      <p:bldP spid="671" grpId="7" animBg="1" advAuto="0"/>
      <p:bldP spid="672" grpId="10" animBg="1" advAuto="0"/>
      <p:bldP spid="673" grpId="14" animBg="1" advAuto="0"/>
      <p:bldP spid="674" grpId="11" animBg="1" advAuto="0"/>
      <p:bldP spid="675" grpId="15" animBg="1" advAuto="0"/>
      <p:bldP spid="676" grpId="13" animBg="1" advAuto="0"/>
      <p:bldP spid="679" grpId="4" animBg="1" advAuto="0"/>
      <p:bldP spid="682" grpId="16" animBg="1" advAuto="0"/>
      <p:bldP spid="683" grpId="12" animBg="1" advAuto="0"/>
      <p:bldP spid="684" grpId="5" animBg="1" advAuto="0"/>
      <p:bldP spid="685" grpId="6" animBg="1" advAuto="0"/>
      <p:bldP spid="686" grpId="17" animBg="1" advAuto="0"/>
      <p:bldP spid="687" grpId="18" animBg="1" advAuto="0"/>
      <p:bldP spid="688" grpId="8" animBg="1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27</a:t>
            </a:fld>
            <a:endParaRPr/>
          </a:p>
        </p:txBody>
      </p:sp>
      <p:sp>
        <p:nvSpPr>
          <p:cNvPr id="693" name="module delayer (out, in, n, clk);…"/>
          <p:cNvSpPr txBox="1"/>
          <p:nvPr/>
        </p:nvSpPr>
        <p:spPr>
          <a:xfrm>
            <a:off x="1339019" y="475191"/>
            <a:ext cx="10174338" cy="74168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delayer (out, in, n, clk);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in, clk;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[9:0] n;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sIDLE = 2'b00;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sDELA = 2'b01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sHIGH = 2'b11;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sWAIT = 2'b10;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[1:0] s;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 = sIDLE;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1'b0;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[9:0] c;</a:t>
            </a:r>
          </a:p>
          <a:p>
            <a:pPr algn="l">
              <a:defRPr sz="2000"/>
            </a:pP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(s) sIDLE: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(in==1'b1) s &lt;= sDELA;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sDELA: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(c==0)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 &lt;= n - 1'b1; s &lt;= sHIGH;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  <a:p>
            <a:pPr algn="l">
              <a:defRPr sz="20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       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c &lt;= c - 1'b1;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sHIGH: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(in==1'b1) s &lt;= sWAIT;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 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s &lt;= sIDLE;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sWAIT: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(in==1'b0) s &lt;= sIDLE;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</a:p>
          <a:p>
            <a:pPr algn="l">
              <a:defRPr sz="2000"/>
            </a:pPr>
            <a:endParaRPr b="1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*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(s) sIDLE: out = 1'b0;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sDELA: out = 1'b0;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sHIGH: out = 1'b1;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sWAIT: out = 1'b0;</a:t>
            </a:r>
          </a:p>
          <a:p>
            <a:pPr algn="l">
              <a:defRPr sz="20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712" name="Group"/>
          <p:cNvGrpSpPr/>
          <p:nvPr/>
        </p:nvGrpSpPr>
        <p:grpSpPr>
          <a:xfrm>
            <a:off x="302999" y="7577666"/>
            <a:ext cx="12464368" cy="2082801"/>
            <a:chOff x="-671" y="-6350"/>
            <a:chExt cx="12464367" cy="2082800"/>
          </a:xfrm>
        </p:grpSpPr>
        <p:sp>
          <p:nvSpPr>
            <p:cNvPr id="694" name="high/1"/>
            <p:cNvSpPr/>
            <p:nvPr/>
          </p:nvSpPr>
          <p:spPr>
            <a:xfrm>
              <a:off x="6229932" y="433916"/>
              <a:ext cx="2645149" cy="1270001"/>
            </a:xfrm>
            <a:prstGeom prst="ellipse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high/1</a:t>
              </a:r>
            </a:p>
          </p:txBody>
        </p:sp>
        <p:sp>
          <p:nvSpPr>
            <p:cNvPr id="695" name="idle/0"/>
            <p:cNvSpPr/>
            <p:nvPr/>
          </p:nvSpPr>
          <p:spPr>
            <a:xfrm>
              <a:off x="386108" y="433916"/>
              <a:ext cx="2227793" cy="1270001"/>
            </a:xfrm>
            <a:prstGeom prst="ellipse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idle/0</a:t>
              </a:r>
            </a:p>
          </p:txBody>
        </p:sp>
        <p:cxnSp>
          <p:nvCxnSpPr>
            <p:cNvPr id="696" name="Connection Line"/>
            <p:cNvCxnSpPr>
              <a:stCxn id="695" idx="0"/>
              <a:endCxn id="708" idx="0"/>
            </p:cNvCxnSpPr>
            <p:nvPr/>
          </p:nvCxnSpPr>
          <p:spPr>
            <a:xfrm>
              <a:off x="1500004" y="1068916"/>
              <a:ext cx="2921913" cy="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697" name="Connection Line"/>
            <p:cNvCxnSpPr>
              <a:stCxn id="708" idx="0"/>
              <a:endCxn id="694" idx="0"/>
            </p:cNvCxnSpPr>
            <p:nvPr/>
          </p:nvCxnSpPr>
          <p:spPr>
            <a:xfrm>
              <a:off x="4421916" y="1068916"/>
              <a:ext cx="3130591" cy="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sp>
          <p:nvSpPr>
            <p:cNvPr id="698" name="wait/0"/>
            <p:cNvSpPr/>
            <p:nvPr/>
          </p:nvSpPr>
          <p:spPr>
            <a:xfrm>
              <a:off x="9389695" y="433916"/>
              <a:ext cx="2645148" cy="1270001"/>
            </a:xfrm>
            <a:prstGeom prst="ellipse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wait/0</a:t>
              </a:r>
            </a:p>
          </p:txBody>
        </p:sp>
        <p:cxnSp>
          <p:nvCxnSpPr>
            <p:cNvPr id="699" name="Connection Line"/>
            <p:cNvCxnSpPr>
              <a:stCxn id="694" idx="0"/>
              <a:endCxn id="695" idx="0"/>
            </p:cNvCxnSpPr>
            <p:nvPr/>
          </p:nvCxnSpPr>
          <p:spPr>
            <a:xfrm flipH="1">
              <a:off x="1500004" y="1068916"/>
              <a:ext cx="6052503" cy="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700" name="Connection Line"/>
            <p:cNvCxnSpPr>
              <a:stCxn id="694" idx="0"/>
              <a:endCxn id="698" idx="0"/>
            </p:cNvCxnSpPr>
            <p:nvPr/>
          </p:nvCxnSpPr>
          <p:spPr>
            <a:xfrm>
              <a:off x="7552506" y="1068916"/>
              <a:ext cx="3159763" cy="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sp>
          <p:nvSpPr>
            <p:cNvPr id="713" name="Connection Line"/>
            <p:cNvSpPr/>
            <p:nvPr/>
          </p:nvSpPr>
          <p:spPr>
            <a:xfrm>
              <a:off x="11833960" y="503618"/>
              <a:ext cx="492820" cy="501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388" h="17010" extrusionOk="0">
                  <a:moveTo>
                    <a:pt x="0" y="5405"/>
                  </a:moveTo>
                  <a:cubicBezTo>
                    <a:pt x="19512" y="-4590"/>
                    <a:pt x="21600" y="-722"/>
                    <a:pt x="6264" y="1701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endParaRPr/>
            </a:p>
          </p:txBody>
        </p:sp>
        <p:sp>
          <p:nvSpPr>
            <p:cNvPr id="714" name="Connection Line"/>
            <p:cNvSpPr/>
            <p:nvPr/>
          </p:nvSpPr>
          <p:spPr>
            <a:xfrm>
              <a:off x="90387" y="1119851"/>
              <a:ext cx="492820" cy="501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388" h="17010" extrusionOk="0">
                  <a:moveTo>
                    <a:pt x="16388" y="11605"/>
                  </a:moveTo>
                  <a:cubicBezTo>
                    <a:pt x="-3124" y="21600"/>
                    <a:pt x="-5212" y="17732"/>
                    <a:pt x="10124" y="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endParaRPr/>
            </a:p>
          </p:txBody>
        </p:sp>
        <p:sp>
          <p:nvSpPr>
            <p:cNvPr id="703" name="in"/>
            <p:cNvSpPr txBox="1"/>
            <p:nvPr/>
          </p:nvSpPr>
          <p:spPr>
            <a:xfrm>
              <a:off x="8917082" y="-6351"/>
              <a:ext cx="43061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in</a:t>
              </a:r>
            </a:p>
          </p:txBody>
        </p:sp>
        <p:sp>
          <p:nvSpPr>
            <p:cNvPr id="704" name="¬in"/>
            <p:cNvSpPr txBox="1"/>
            <p:nvPr/>
          </p:nvSpPr>
          <p:spPr>
            <a:xfrm>
              <a:off x="-672" y="1492250"/>
              <a:ext cx="66794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¬in</a:t>
              </a:r>
            </a:p>
          </p:txBody>
        </p:sp>
        <p:sp>
          <p:nvSpPr>
            <p:cNvPr id="705" name="in"/>
            <p:cNvSpPr txBox="1"/>
            <p:nvPr/>
          </p:nvSpPr>
          <p:spPr>
            <a:xfrm>
              <a:off x="12033086" y="-6351"/>
              <a:ext cx="43061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in</a:t>
              </a:r>
            </a:p>
          </p:txBody>
        </p:sp>
        <p:sp>
          <p:nvSpPr>
            <p:cNvPr id="706" name="¬in"/>
            <p:cNvSpPr txBox="1"/>
            <p:nvPr/>
          </p:nvSpPr>
          <p:spPr>
            <a:xfrm>
              <a:off x="5667827" y="1492250"/>
              <a:ext cx="66794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¬in</a:t>
              </a:r>
            </a:p>
          </p:txBody>
        </p:sp>
        <p:sp>
          <p:nvSpPr>
            <p:cNvPr id="707" name="in"/>
            <p:cNvSpPr txBox="1"/>
            <p:nvPr/>
          </p:nvSpPr>
          <p:spPr>
            <a:xfrm>
              <a:off x="2641316" y="-6351"/>
              <a:ext cx="43061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in</a:t>
              </a:r>
            </a:p>
          </p:txBody>
        </p:sp>
        <p:sp>
          <p:nvSpPr>
            <p:cNvPr id="708" name="dela/0"/>
            <p:cNvSpPr/>
            <p:nvPr/>
          </p:nvSpPr>
          <p:spPr>
            <a:xfrm>
              <a:off x="3099342" y="433916"/>
              <a:ext cx="2645149" cy="1270001"/>
            </a:xfrm>
            <a:prstGeom prst="ellipse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dela/0</a:t>
              </a:r>
            </a:p>
          </p:txBody>
        </p:sp>
        <p:cxnSp>
          <p:nvCxnSpPr>
            <p:cNvPr id="709" name="Connection Line"/>
            <p:cNvCxnSpPr>
              <a:stCxn id="698" idx="0"/>
              <a:endCxn id="695" idx="0"/>
            </p:cNvCxnSpPr>
            <p:nvPr/>
          </p:nvCxnSpPr>
          <p:spPr>
            <a:xfrm flipH="1">
              <a:off x="1500004" y="1068916"/>
              <a:ext cx="9212265" cy="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sp>
          <p:nvSpPr>
            <p:cNvPr id="710" name="¬in"/>
            <p:cNvSpPr txBox="1"/>
            <p:nvPr/>
          </p:nvSpPr>
          <p:spPr>
            <a:xfrm>
              <a:off x="8798417" y="1492250"/>
              <a:ext cx="66794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¬in</a:t>
              </a:r>
            </a:p>
          </p:txBody>
        </p:sp>
        <p:sp>
          <p:nvSpPr>
            <p:cNvPr id="711" name="¬c"/>
            <p:cNvSpPr txBox="1"/>
            <p:nvPr/>
          </p:nvSpPr>
          <p:spPr>
            <a:xfrm>
              <a:off x="5697381" y="-6351"/>
              <a:ext cx="55483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¬c</a:t>
              </a:r>
            </a:p>
          </p:txBody>
        </p:sp>
      </p:grp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717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7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28</a:t>
            </a:fld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721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r>
              <a:t>Finite state machines (FSMs)</a:t>
            </a:r>
          </a:p>
          <a:p>
            <a:pPr>
              <a:defRPr b="1"/>
            </a:pPr>
            <a:r>
              <a:t>The analogue add-on card</a:t>
            </a:r>
          </a:p>
        </p:txBody>
      </p:sp>
      <p:sp>
        <p:nvSpPr>
          <p:cNvPr id="7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29</a:t>
            </a:fld>
            <a:endParaRPr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The analogue I/O c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analogue I/O card</a:t>
            </a:r>
          </a:p>
        </p:txBody>
      </p:sp>
      <p:sp>
        <p:nvSpPr>
          <p:cNvPr id="725" name="Provides analogue inputs and outpu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818122" cy="6286500"/>
          </a:xfrm>
          <a:prstGeom prst="rect">
            <a:avLst/>
          </a:prstGeom>
        </p:spPr>
        <p:txBody>
          <a:bodyPr/>
          <a:lstStyle/>
          <a:p>
            <a:r>
              <a:t>Provides analogue inputs and outputs.</a:t>
            </a:r>
          </a:p>
          <a:p>
            <a:r>
              <a:t>Contains an ADC, a DAC, a low-pass filter, and an op-amp.</a:t>
            </a:r>
          </a:p>
          <a:p>
            <a:r>
              <a:t>Will be used for parts 3 and 4 of the experiment.</a:t>
            </a:r>
          </a:p>
        </p:txBody>
      </p:sp>
      <p:sp>
        <p:nvSpPr>
          <p:cNvPr id="72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30</a:t>
            </a:fld>
            <a:endParaRPr/>
          </a:p>
        </p:txBody>
      </p:sp>
      <p:pic>
        <p:nvPicPr>
          <p:cNvPr id="72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283" y="4086660"/>
            <a:ext cx="4539983" cy="33074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7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5" grpId="1" build="p" bldLvl="5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Schemat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Schematic</a:t>
            </a:r>
          </a:p>
        </p:txBody>
      </p:sp>
      <p:sp>
        <p:nvSpPr>
          <p:cNvPr id="7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31</a:t>
            </a:fld>
            <a:endParaRPr/>
          </a:p>
        </p:txBody>
      </p:sp>
      <p:pic>
        <p:nvPicPr>
          <p:cNvPr id="7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81" y="2794000"/>
            <a:ext cx="11849638" cy="61375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Series-parallel interface for 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800"/>
            </a:lvl1pPr>
          </a:lstStyle>
          <a:p>
            <a:r>
              <a:t>Series-parallel interface for DAC</a:t>
            </a:r>
          </a:p>
        </p:txBody>
      </p:sp>
      <p:sp>
        <p:nvSpPr>
          <p:cNvPr id="734" name="To send a value to the DAC, 16 bits are transmitted serially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11099800" cy="2957959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t>To send a value to the DAC, 16 bits are transmitted </a:t>
            </a:r>
            <a:r>
              <a:rPr b="1"/>
              <a:t>serially</a:t>
            </a:r>
            <a:r>
              <a:t>. 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b="1"/>
              <a:t>Chip select</a:t>
            </a:r>
            <a:r>
              <a:t> (SC) going low means the start of transmission.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t>Then </a:t>
            </a:r>
            <a:r>
              <a:rPr b="1"/>
              <a:t>serial data in</a:t>
            </a:r>
            <a:r>
              <a:t> (SDI) takes the following sequence of values.</a:t>
            </a:r>
          </a:p>
        </p:txBody>
      </p:sp>
      <p:sp>
        <p:nvSpPr>
          <p:cNvPr id="7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32</a:t>
            </a:fld>
            <a:endParaRPr/>
          </a:p>
        </p:txBody>
      </p:sp>
      <p:graphicFrame>
        <p:nvGraphicFramePr>
          <p:cNvPr id="736" name="Table 1"/>
          <p:cNvGraphicFramePr/>
          <p:nvPr/>
        </p:nvGraphicFramePr>
        <p:xfrm>
          <a:off x="2895054" y="5588000"/>
          <a:ext cx="10826999" cy="4659958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977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5445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sz="2200" b="1">
                          <a:sym typeface="Helvetica Neue"/>
                        </a:rPr>
                        <a:t>bit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sz="2200" b="1">
                          <a:sym typeface="Helvetica Neue"/>
                        </a:rPr>
                        <a:t>name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sz="2200" b="1">
                          <a:sym typeface="Helvetica Neue"/>
                        </a:rPr>
                        <a:t>interpretation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15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/>
                      </a:pPr>
                      <a:endParaRPr/>
                    </a:p>
                  </a:txBody>
                  <a:tcPr marL="50800" marR="50800" marT="50800" marB="50800" anchor="ctr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always 0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14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BUF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2600"/>
                      </a:pPr>
                      <a:r>
                        <a:t>whether V</a:t>
                      </a:r>
                      <a:r>
                        <a:rPr baseline="-5999"/>
                        <a:t>ref</a:t>
                      </a:r>
                      <a:r>
                        <a:t> is buffered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13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¬GA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high = 1x gain, low = 2x gain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12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¬SHDN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high = normal, low = shutdown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11–2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/>
                      </a:pPr>
                      <a:endParaRPr/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the 10 bits of actual data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89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1–0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/>
                      </a:pPr>
                      <a:endParaRPr/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these are ignored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pi2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spi2dac</a:t>
            </a:r>
          </a:p>
        </p:txBody>
      </p:sp>
      <p:sp>
        <p:nvSpPr>
          <p:cNvPr id="7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33</a:t>
            </a:fld>
            <a:endParaRPr/>
          </a:p>
        </p:txBody>
      </p:sp>
      <p:pic>
        <p:nvPicPr>
          <p:cNvPr id="74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288" y="2590800"/>
            <a:ext cx="10314224" cy="5500920"/>
          </a:xfrm>
          <a:prstGeom prst="rect">
            <a:avLst/>
          </a:prstGeom>
          <a:ln w="12700">
            <a:miter lim="400000"/>
          </a:ln>
        </p:spPr>
      </p:pic>
      <p:sp>
        <p:nvSpPr>
          <p:cNvPr id="741" name="More on this circuit next week!"/>
          <p:cNvSpPr txBox="1">
            <a:spLocks noGrp="1"/>
          </p:cNvSpPr>
          <p:nvPr>
            <p:ph type="body" sz="quarter" idx="1"/>
          </p:nvPr>
        </p:nvSpPr>
        <p:spPr>
          <a:xfrm>
            <a:off x="952500" y="8536220"/>
            <a:ext cx="11099800" cy="58873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More on this circuit next week!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1" grpId="1" animBg="1" advAuto="0"/>
    </p:bldLst>
  </p:timing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2064</Words>
  <Application>Microsoft Macintosh PowerPoint</Application>
  <PresentationFormat>Custom</PresentationFormat>
  <Paragraphs>655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Courier</vt:lpstr>
      <vt:lpstr>Helvetica</vt:lpstr>
      <vt:lpstr>Helvetica Neue</vt:lpstr>
      <vt:lpstr>Helvetica Neue Thin</vt:lpstr>
      <vt:lpstr>White</vt:lpstr>
      <vt:lpstr>Mastering  Digital Design</vt:lpstr>
      <vt:lpstr>This lecture</vt:lpstr>
      <vt:lpstr>This lecture</vt:lpstr>
      <vt:lpstr>DAC</vt:lpstr>
      <vt:lpstr>DAC</vt:lpstr>
      <vt:lpstr>DAC via PWM</vt:lpstr>
      <vt:lpstr>DAC via PWM</vt:lpstr>
      <vt:lpstr>DAC via PWM</vt:lpstr>
      <vt:lpstr>This lecture</vt:lpstr>
      <vt:lpstr>This lecture</vt:lpstr>
      <vt:lpstr>Example 1: denoiser</vt:lpstr>
      <vt:lpstr>Mealy machines</vt:lpstr>
      <vt:lpstr>Moore machines</vt:lpstr>
      <vt:lpstr>Mealy vs Moore</vt:lpstr>
      <vt:lpstr>Implementing the FSM</vt:lpstr>
      <vt:lpstr>Implementing the FSM</vt:lpstr>
      <vt:lpstr>Implementing the FSM</vt:lpstr>
      <vt:lpstr>Implementing the FSM</vt:lpstr>
      <vt:lpstr>Implementing the FSM</vt:lpstr>
      <vt:lpstr>PowerPoint Presentation</vt:lpstr>
      <vt:lpstr>One-hot encoding</vt:lpstr>
      <vt:lpstr>Automated FSM design</vt:lpstr>
      <vt:lpstr>The result</vt:lpstr>
      <vt:lpstr>Example 2: pulser</vt:lpstr>
      <vt:lpstr>Example 2: pulser</vt:lpstr>
      <vt:lpstr>Example 3: delayer</vt:lpstr>
      <vt:lpstr>PowerPoint Presentation</vt:lpstr>
      <vt:lpstr>This lecture</vt:lpstr>
      <vt:lpstr>This lecture</vt:lpstr>
      <vt:lpstr>The analogue I/O card</vt:lpstr>
      <vt:lpstr>Schematic</vt:lpstr>
      <vt:lpstr>Series-parallel interface for DAC</vt:lpstr>
      <vt:lpstr>spi2dac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1</cp:revision>
  <dcterms:modified xsi:type="dcterms:W3CDTF">2026-09-11T17:00:07Z</dcterms:modified>
</cp:coreProperties>
</file>