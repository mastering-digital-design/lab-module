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0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1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A9BC294-FFE2-49D5-8D69-9E1BD2C41BD5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38100" cap="flat">
              <a:solidFill>
                <a:srgbClr val="000000"/>
              </a:solidFill>
              <a:prstDash val="solid"/>
              <a:miter lim="400000"/>
            </a:ln>
          </a:insideH>
          <a:insideV>
            <a:ln w="381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381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81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81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6"/>
    <p:restoredTop sz="94760"/>
  </p:normalViewPr>
  <p:slideViewPr>
    <p:cSldViewPr snapToGrid="0">
      <p:cViewPr varScale="1">
        <p:scale>
          <a:sx n="136" d="100"/>
          <a:sy n="136" d="100"/>
        </p:scale>
        <p:origin x="4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0"/>
  <c:style val="2"/>
  <c:chart>
    <c:title>
      <c:tx>
        <c:rich>
          <a:bodyPr rot="0"/>
          <a:lstStyle/>
          <a:p>
            <a:pPr>
              <a:defRPr sz="3400" b="0" i="0" u="none" strike="noStrike">
                <a:solidFill>
                  <a:srgbClr val="000000"/>
                </a:solidFill>
                <a:latin typeface="Helvetica"/>
              </a:defRPr>
            </a:pPr>
            <a:r>
              <a:rPr sz="3400" b="0" i="0" u="none" strike="noStrike">
                <a:solidFill>
                  <a:srgbClr val="000000"/>
                </a:solidFill>
                <a:latin typeface="Helvetica"/>
              </a:rPr>
              <a:t>Title</a:t>
            </a:r>
          </a:p>
        </c:rich>
      </c:tx>
      <c:layout>
        <c:manualLayout>
          <c:xMode val="edge"/>
          <c:yMode val="edge"/>
          <c:x val="0.239345"/>
          <c:y val="0"/>
          <c:w val="0.12750300000000001"/>
          <c:h val="0.32723000000000002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0.23563799999999999"/>
          <c:y val="0.32723000000000002"/>
          <c:w val="0.370556"/>
          <c:h val="0.29641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17</c:v>
                </c:pt>
                <c:pt idx="1">
                  <c:v>26</c:v>
                </c:pt>
                <c:pt idx="2">
                  <c:v>53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49-8740-81C1-A96F496BFBEB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Region 2</c:v>
                </c:pt>
              </c:strCache>
            </c:strRef>
          </c:tx>
          <c:spPr>
            <a:solidFill>
              <a:schemeClr val="accent3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55</c:v>
                </c:pt>
                <c:pt idx="1">
                  <c:v>43</c:v>
                </c:pt>
                <c:pt idx="2">
                  <c:v>70</c:v>
                </c:pt>
                <c:pt idx="3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49-8740-81C1-A96F496BFB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2200" b="0" i="0" u="none" strike="noStrike">
                    <a:solidFill>
                      <a:srgbClr val="000000"/>
                    </a:solidFill>
                    <a:latin typeface="Helvetica"/>
                  </a:defRPr>
                </a:pPr>
                <a:r>
                  <a:rPr sz="2200" b="0" i="0" u="none" strike="noStrike">
                    <a:solidFill>
                      <a:srgbClr val="000000"/>
                    </a:solidFill>
                    <a:latin typeface="Helvetica"/>
                  </a:rPr>
                  <a:t>Category Axis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22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sz="2200" b="0" i="0" u="none" strike="noStrike">
                    <a:solidFill>
                      <a:srgbClr val="000000"/>
                    </a:solidFill>
                    <a:latin typeface="Helvetica"/>
                  </a:defRPr>
                </a:pPr>
                <a:r>
                  <a:rPr sz="2200" b="0" i="0" u="none" strike="noStrike">
                    <a:solidFill>
                      <a:srgbClr val="000000"/>
                    </a:solidFill>
                    <a:latin typeface="Helvetica"/>
                  </a:rPr>
                  <a:t>Value Axis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22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2"/>
        <c:crosses val="autoZero"/>
        <c:crossBetween val="between"/>
        <c:majorUnit val="25"/>
        <c:minorUnit val="12.5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56615400000000005"/>
          <c:y val="0.32270199999999999"/>
          <c:w val="0.43384600000000001"/>
          <c:h val="0.32780999999999999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2600" b="0" i="0" u="none" strike="noStrike">
              <a:solidFill>
                <a:srgbClr val="000000"/>
              </a:solidFill>
              <a:latin typeface="Helvetica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0" name="Shape 6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simplified FSM has 3 states (A/C, B/D, E) and detects if we’ve seen two trailing zeros</a:t>
            </a:r>
          </a:p>
        </p:txBody>
      </p:sp>
    </p:spTree>
    <p:extLst>
      <p:ext uri="{BB962C8B-B14F-4D97-AF65-F5344CB8AC3E}">
        <p14:creationId xmlns:p14="http://schemas.microsoft.com/office/powerpoint/2010/main" val="2598668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267700"/>
            <a:ext cx="10464800" cy="9144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2500"/>
            </a:lvl1pPr>
            <a:lvl2pPr marL="0" indent="0" algn="ctr">
              <a:spcBef>
                <a:spcPts val="0"/>
              </a:spcBef>
              <a:buSzTx/>
              <a:buNone/>
              <a:defRPr sz="2500"/>
            </a:lvl2pPr>
            <a:lvl3pPr marL="0" indent="0" algn="ctr">
              <a:spcBef>
                <a:spcPts val="0"/>
              </a:spcBef>
              <a:buSzTx/>
              <a:buNone/>
              <a:defRPr sz="2500"/>
            </a:lvl3pPr>
            <a:lvl4pPr marL="0" indent="0" algn="ctr">
              <a:spcBef>
                <a:spcPts val="0"/>
              </a:spcBef>
              <a:buSzTx/>
              <a:buNone/>
              <a:defRPr sz="2500"/>
            </a:lvl4pPr>
            <a:lvl5pPr marL="0" indent="0" algn="ctr">
              <a:spcBef>
                <a:spcPts val="0"/>
              </a:spcBef>
              <a:buSzTx/>
              <a:buNone/>
              <a:defRPr sz="25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6" name="Sam Coward"/>
          <p:cNvSpPr txBox="1"/>
          <p:nvPr/>
        </p:nvSpPr>
        <p:spPr>
          <a:xfrm>
            <a:off x="5087289" y="5854700"/>
            <a:ext cx="2830222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r>
              <a:t>Sam Coward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00639" y="9296400"/>
            <a:ext cx="396749" cy="399033"/>
          </a:xfrm>
          <a:prstGeom prst="rect">
            <a:avLst/>
          </a:prstGeom>
        </p:spPr>
        <p:txBody>
          <a:bodyPr/>
          <a:lstStyle>
            <a:lvl1pPr algn="ctr">
              <a:defRPr b="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u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502988" y="31749"/>
            <a:ext cx="396826" cy="406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2" name="Square"/>
          <p:cNvSpPr/>
          <p:nvPr/>
        </p:nvSpPr>
        <p:spPr>
          <a:xfrm>
            <a:off x="1155700" y="1682750"/>
            <a:ext cx="1270000" cy="12700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3" name="Square"/>
          <p:cNvSpPr/>
          <p:nvPr/>
        </p:nvSpPr>
        <p:spPr>
          <a:xfrm>
            <a:off x="3403600" y="1682750"/>
            <a:ext cx="1270000" cy="1270000"/>
          </a:xfrm>
          <a:prstGeom prst="rect">
            <a:avLst/>
          </a:prstGeom>
          <a:solidFill>
            <a:srgbClr val="9D7A2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4" name="Rectangle"/>
          <p:cNvSpPr/>
          <p:nvPr/>
        </p:nvSpPr>
        <p:spPr>
          <a:xfrm>
            <a:off x="876300" y="7512050"/>
            <a:ext cx="5867210" cy="1270000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5" name="Square"/>
          <p:cNvSpPr/>
          <p:nvPr/>
        </p:nvSpPr>
        <p:spPr>
          <a:xfrm>
            <a:off x="546100" y="876300"/>
            <a:ext cx="1270000" cy="1270000"/>
          </a:xfrm>
          <a:prstGeom prst="rect">
            <a:avLst/>
          </a:prstGeom>
          <a:solidFill>
            <a:srgbClr val="50979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6" name="Square"/>
          <p:cNvSpPr/>
          <p:nvPr/>
        </p:nvSpPr>
        <p:spPr>
          <a:xfrm>
            <a:off x="2336800" y="876300"/>
            <a:ext cx="1270000" cy="1270000"/>
          </a:xfrm>
          <a:prstGeom prst="rect">
            <a:avLst/>
          </a:prstGeom>
          <a:solidFill>
            <a:srgbClr val="0023E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7" name="Line"/>
          <p:cNvSpPr/>
          <p:nvPr/>
        </p:nvSpPr>
        <p:spPr>
          <a:xfrm flipV="1">
            <a:off x="4889499" y="742950"/>
            <a:ext cx="1270001" cy="127000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aphicFrame>
        <p:nvGraphicFramePr>
          <p:cNvPr id="48" name="Table 1"/>
          <p:cNvGraphicFramePr/>
          <p:nvPr/>
        </p:nvGraphicFramePr>
        <p:xfrm>
          <a:off x="7124700" y="4616450"/>
          <a:ext cx="4236244" cy="3128268"/>
        </p:xfrm>
        <a:graphic>
          <a:graphicData uri="http://schemas.openxmlformats.org/drawingml/2006/table">
            <a:tbl>
              <a:tblPr firstRow="1" firstCol="1" lastRow="1">
                <a:tableStyleId>{4A9BC294-FFE2-49D5-8D69-9E1BD2C41BD5}</a:tableStyleId>
              </a:tblPr>
              <a:tblGrid>
                <a:gridCol w="2118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2756"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 b="1">
                          <a:latin typeface="+mn-lt"/>
                          <a:ea typeface="+mn-ea"/>
                          <a:cs typeface="+mn-cs"/>
                        </a:rPr>
                        <a:t>Corner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 b="1">
                          <a:latin typeface="+mn-lt"/>
                          <a:ea typeface="+mn-ea"/>
                          <a:cs typeface="+mn-cs"/>
                        </a:rPr>
                        <a:t>Head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756"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>
                          <a:latin typeface="+mn-lt"/>
                          <a:ea typeface="+mn-ea"/>
                          <a:cs typeface="+mn-cs"/>
                        </a:rPr>
                        <a:t>Side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Cell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756"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>
                          <a:latin typeface="+mn-lt"/>
                          <a:ea typeface="+mn-ea"/>
                          <a:cs typeface="+mn-cs"/>
                        </a:rPr>
                        <a:t>Bottom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>
                          <a:latin typeface="+mn-lt"/>
                          <a:ea typeface="+mn-ea"/>
                          <a:cs typeface="+mn-cs"/>
                        </a:rPr>
                        <a:t>Foot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" name="Wickerson et al., &quot;Blah&quot;, in PLDI, 2018."/>
          <p:cNvSpPr txBox="1"/>
          <p:nvPr/>
        </p:nvSpPr>
        <p:spPr>
          <a:xfrm>
            <a:off x="1219200" y="7912099"/>
            <a:ext cx="579487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b">
            <a:spAutoFit/>
          </a:bodyPr>
          <a:lstStyle/>
          <a:p>
            <a:pPr marL="635000" indent="-635000" algn="l">
              <a:buSzPct val="100000"/>
              <a:buAutoNum type="arabicParenBoth"/>
              <a:defRPr sz="2300">
                <a:solidFill>
                  <a:srgbClr val="6E8627"/>
                </a:solidFill>
              </a:defRPr>
            </a:pPr>
            <a:r>
              <a:t>Wickerson et al., "Blah", in </a:t>
            </a:r>
            <a:r>
              <a:rPr i="1"/>
              <a:t>PLDI</a:t>
            </a:r>
            <a:r>
              <a:t>, 2018.</a:t>
            </a:r>
          </a:p>
        </p:txBody>
      </p:sp>
      <p:sp>
        <p:nvSpPr>
          <p:cNvPr id="50" name="Square"/>
          <p:cNvSpPr/>
          <p:nvPr/>
        </p:nvSpPr>
        <p:spPr>
          <a:xfrm>
            <a:off x="5651500" y="1682750"/>
            <a:ext cx="1270000" cy="1270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1" name="Some code."/>
          <p:cNvSpPr txBox="1"/>
          <p:nvPr/>
        </p:nvSpPr>
        <p:spPr>
          <a:xfrm>
            <a:off x="8271123" y="1276349"/>
            <a:ext cx="194339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Some code.</a:t>
            </a:r>
          </a:p>
        </p:txBody>
      </p:sp>
      <p:sp>
        <p:nvSpPr>
          <p:cNvPr id="52" name="Here is a cite.(1)"/>
          <p:cNvSpPr txBox="1"/>
          <p:nvPr/>
        </p:nvSpPr>
        <p:spPr>
          <a:xfrm>
            <a:off x="7777890" y="3111499"/>
            <a:ext cx="292986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Here is a cite.</a:t>
            </a:r>
            <a:r>
              <a:rPr baseline="31999"/>
              <a:t>(1)</a:t>
            </a:r>
          </a:p>
        </p:txBody>
      </p:sp>
      <p:graphicFrame>
        <p:nvGraphicFramePr>
          <p:cNvPr id="53" name="Title"/>
          <p:cNvGraphicFramePr/>
          <p:nvPr/>
        </p:nvGraphicFramePr>
        <p:xfrm>
          <a:off x="278861" y="4584700"/>
          <a:ext cx="6397805" cy="260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5461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8605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Rectangle"/>
          <p:cNvSpPr/>
          <p:nvPr/>
        </p:nvSpPr>
        <p:spPr>
          <a:xfrm>
            <a:off x="0" y="-1"/>
            <a:ext cx="13004800" cy="4572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" name="Sam Coward"/>
          <p:cNvSpPr txBox="1"/>
          <p:nvPr/>
        </p:nvSpPr>
        <p:spPr>
          <a:xfrm>
            <a:off x="87122" y="25400"/>
            <a:ext cx="165281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000" b="1">
                <a:solidFill>
                  <a:srgbClr val="FFFFFF"/>
                </a:solidFill>
              </a:defRPr>
            </a:lvl1pPr>
          </a:lstStyle>
          <a:p>
            <a:r>
              <a:t>Sam Coward</a:t>
            </a:r>
          </a:p>
        </p:txBody>
      </p:sp>
      <p:sp>
        <p:nvSpPr>
          <p:cNvPr id="6" name="Mastering Digital Design"/>
          <p:cNvSpPr txBox="1"/>
          <p:nvPr/>
        </p:nvSpPr>
        <p:spPr>
          <a:xfrm>
            <a:off x="4963355" y="25400"/>
            <a:ext cx="3078089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Mastering Digital Design</a:t>
            </a:r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502988" y="31750"/>
            <a:ext cx="396826" cy="4064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defRPr sz="2000"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228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685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1143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1600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Lecture 3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Lecture 3</a:t>
            </a:r>
          </a:p>
        </p:txBody>
      </p:sp>
      <p:sp>
        <p:nvSpPr>
          <p:cNvPr id="63" name="Mastering  Digital Design"/>
          <p:cNvSpPr txBox="1">
            <a:spLocks noGrp="1"/>
          </p:cNvSpPr>
          <p:nvPr>
            <p:ph type="ctrTitle"/>
          </p:nvPr>
        </p:nvSpPr>
        <p:spPr>
          <a:xfrm>
            <a:off x="1270000" y="11303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Mastering </a:t>
            </a:r>
            <a:br/>
            <a:r>
              <a:t>Digital Design</a:t>
            </a:r>
          </a:p>
        </p:txBody>
      </p:sp>
      <p:sp>
        <p:nvSpPr>
          <p:cNvPr id="64" name="with Verilog on FPGAs"/>
          <p:cNvSpPr txBox="1"/>
          <p:nvPr/>
        </p:nvSpPr>
        <p:spPr>
          <a:xfrm>
            <a:off x="2861180" y="4614322"/>
            <a:ext cx="7282443" cy="702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 b="1">
                <a:solidFill>
                  <a:srgbClr val="9D7A2D"/>
                </a:solidFill>
              </a:defRPr>
            </a:lvl1pPr>
          </a:lstStyle>
          <a:p>
            <a:r>
              <a:rPr dirty="0"/>
              <a:t>with </a:t>
            </a:r>
            <a:r>
              <a:rPr lang="en-GB" dirty="0"/>
              <a:t>System</a:t>
            </a:r>
            <a:r>
              <a:rPr dirty="0"/>
              <a:t>Verilog on FPGAs</a:t>
            </a:r>
          </a:p>
        </p:txBody>
      </p:sp>
      <p:sp>
        <p:nvSpPr>
          <p:cNvPr id="2" name="Slides by John Wickerson">
            <a:extLst>
              <a:ext uri="{FF2B5EF4-FFF2-40B4-BE49-F238E27FC236}">
                <a16:creationId xmlns:a16="http://schemas.microsoft.com/office/drawing/2014/main" id="{26B812DB-C489-FACB-FD20-0014A15BB8E2}"/>
              </a:ext>
            </a:extLst>
          </p:cNvPr>
          <p:cNvSpPr txBox="1"/>
          <p:nvPr/>
        </p:nvSpPr>
        <p:spPr>
          <a:xfrm>
            <a:off x="4355281" y="6537324"/>
            <a:ext cx="4040238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700"/>
            </a:lvl1pPr>
          </a:lstStyle>
          <a:p>
            <a:r>
              <a:t>Slides by John Wickerson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his l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lecture</a:t>
            </a:r>
          </a:p>
        </p:txBody>
      </p:sp>
      <p:sp>
        <p:nvSpPr>
          <p:cNvPr id="67" name="Pulse-width modulation (PWM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Pulse-width modulation (PWM)</a:t>
            </a:r>
          </a:p>
          <a:p>
            <a:r>
              <a:t>Finite state machines (FSMs)</a:t>
            </a:r>
          </a:p>
          <a:p>
            <a:r>
              <a:t>The analogue add-on card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his l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lecture</a:t>
            </a:r>
          </a:p>
        </p:txBody>
      </p:sp>
      <p:sp>
        <p:nvSpPr>
          <p:cNvPr id="71" name="Pulse-width modulation (PWM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Pulse-width modulation (PWM)</a:t>
            </a:r>
          </a:p>
          <a:p>
            <a:r>
              <a:t>Finite state machines (FSMs)</a:t>
            </a:r>
          </a:p>
          <a:p>
            <a:r>
              <a:t>The analogue add-on card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DA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DAC</a:t>
            </a:r>
          </a:p>
        </p:txBody>
      </p:sp>
      <p:sp>
        <p:nvSpPr>
          <p:cNvPr id="75" name="Digital-to-analogue conversion (DAC) can be done using a string of resistors."/>
          <p:cNvSpPr txBox="1">
            <a:spLocks noGrp="1"/>
          </p:cNvSpPr>
          <p:nvPr>
            <p:ph type="body" sz="quarter" idx="1"/>
          </p:nvPr>
        </p:nvSpPr>
        <p:spPr>
          <a:xfrm>
            <a:off x="952500" y="2686050"/>
            <a:ext cx="11099800" cy="1703144"/>
          </a:xfrm>
          <a:prstGeom prst="rect">
            <a:avLst/>
          </a:prstGeom>
        </p:spPr>
        <p:txBody>
          <a:bodyPr/>
          <a:lstStyle/>
          <a:p>
            <a:r>
              <a:rPr b="1"/>
              <a:t>Digital-to-analogue conversion</a:t>
            </a:r>
            <a:r>
              <a:t> (DAC) can be done using a string of resistors. 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grpSp>
        <p:nvGrpSpPr>
          <p:cNvPr id="152" name="Group"/>
          <p:cNvGrpSpPr/>
          <p:nvPr/>
        </p:nvGrpSpPr>
        <p:grpSpPr>
          <a:xfrm>
            <a:off x="473204" y="4514849"/>
            <a:ext cx="5270480" cy="4917018"/>
            <a:chOff x="-10869" y="-12700"/>
            <a:chExt cx="5270479" cy="4917016"/>
          </a:xfrm>
        </p:grpSpPr>
        <p:sp>
          <p:nvSpPr>
            <p:cNvPr id="77" name="Line"/>
            <p:cNvSpPr/>
            <p:nvPr/>
          </p:nvSpPr>
          <p:spPr>
            <a:xfrm>
              <a:off x="523460" y="234950"/>
              <a:ext cx="548868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78" name="Line"/>
            <p:cNvSpPr/>
            <p:nvPr/>
          </p:nvSpPr>
          <p:spPr>
            <a:xfrm flipH="1">
              <a:off x="1073793" y="226329"/>
              <a:ext cx="1" cy="44739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79" name="Line"/>
            <p:cNvSpPr/>
            <p:nvPr/>
          </p:nvSpPr>
          <p:spPr>
            <a:xfrm>
              <a:off x="898533" y="4701116"/>
              <a:ext cx="35052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80" name="Line"/>
            <p:cNvSpPr/>
            <p:nvPr/>
          </p:nvSpPr>
          <p:spPr>
            <a:xfrm>
              <a:off x="947416" y="4802716"/>
              <a:ext cx="252755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81" name="Line"/>
            <p:cNvSpPr/>
            <p:nvPr/>
          </p:nvSpPr>
          <p:spPr>
            <a:xfrm>
              <a:off x="1009763" y="4904316"/>
              <a:ext cx="12806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82" name="Line"/>
            <p:cNvSpPr/>
            <p:nvPr/>
          </p:nvSpPr>
          <p:spPr>
            <a:xfrm flipH="1">
              <a:off x="2839093" y="870885"/>
              <a:ext cx="1" cy="352454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83" name="Line"/>
            <p:cNvSpPr/>
            <p:nvPr/>
          </p:nvSpPr>
          <p:spPr>
            <a:xfrm>
              <a:off x="2847560" y="2135538"/>
              <a:ext cx="1776477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grpSp>
          <p:nvGrpSpPr>
            <p:cNvPr id="88" name="Group"/>
            <p:cNvGrpSpPr/>
            <p:nvPr/>
          </p:nvGrpSpPr>
          <p:grpSpPr>
            <a:xfrm>
              <a:off x="1069559" y="4286250"/>
              <a:ext cx="1776478" cy="203200"/>
              <a:chOff x="0" y="0"/>
              <a:chExt cx="1776476" cy="203200"/>
            </a:xfrm>
          </p:grpSpPr>
          <p:sp>
            <p:nvSpPr>
              <p:cNvPr id="84" name="Line"/>
              <p:cNvSpPr/>
              <p:nvPr/>
            </p:nvSpPr>
            <p:spPr>
              <a:xfrm>
                <a:off x="0" y="101600"/>
                <a:ext cx="1776477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  <p:grpSp>
            <p:nvGrpSpPr>
              <p:cNvPr id="87" name="Group"/>
              <p:cNvGrpSpPr/>
              <p:nvPr/>
            </p:nvGrpSpPr>
            <p:grpSpPr>
              <a:xfrm>
                <a:off x="719666" y="0"/>
                <a:ext cx="329196" cy="203200"/>
                <a:chOff x="0" y="0"/>
                <a:chExt cx="329194" cy="203200"/>
              </a:xfrm>
            </p:grpSpPr>
            <p:sp>
              <p:nvSpPr>
                <p:cNvPr id="85" name="Rectangle"/>
                <p:cNvSpPr/>
                <p:nvPr/>
              </p:nvSpPr>
              <p:spPr>
                <a:xfrm>
                  <a:off x="7948" y="0"/>
                  <a:ext cx="321247" cy="203200"/>
                </a:xfrm>
                <a:prstGeom prst="rect">
                  <a:avLst/>
                </a:prstGeom>
                <a:solidFill>
                  <a:srgbClr val="FFFED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100" b="1"/>
                  </a:pPr>
                  <a:endParaRPr/>
                </a:p>
              </p:txBody>
            </p:sp>
            <p:sp>
              <p:nvSpPr>
                <p:cNvPr id="86" name="Line"/>
                <p:cNvSpPr/>
                <p:nvPr/>
              </p:nvSpPr>
              <p:spPr>
                <a:xfrm flipV="1">
                  <a:off x="-1" y="50799"/>
                  <a:ext cx="311744" cy="50802"/>
                </a:xfrm>
                <a:prstGeom prst="line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100" b="1"/>
                  </a:pPr>
                  <a:endParaRPr/>
                </a:p>
              </p:txBody>
            </p:sp>
          </p:grpSp>
        </p:grpSp>
        <p:grpSp>
          <p:nvGrpSpPr>
            <p:cNvPr id="93" name="Group"/>
            <p:cNvGrpSpPr/>
            <p:nvPr/>
          </p:nvGrpSpPr>
          <p:grpSpPr>
            <a:xfrm>
              <a:off x="1069559" y="3782483"/>
              <a:ext cx="1776478" cy="203201"/>
              <a:chOff x="0" y="0"/>
              <a:chExt cx="1776476" cy="203200"/>
            </a:xfrm>
          </p:grpSpPr>
          <p:sp>
            <p:nvSpPr>
              <p:cNvPr id="89" name="Line"/>
              <p:cNvSpPr/>
              <p:nvPr/>
            </p:nvSpPr>
            <p:spPr>
              <a:xfrm>
                <a:off x="0" y="101600"/>
                <a:ext cx="1776477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  <p:grpSp>
            <p:nvGrpSpPr>
              <p:cNvPr id="92" name="Group"/>
              <p:cNvGrpSpPr/>
              <p:nvPr/>
            </p:nvGrpSpPr>
            <p:grpSpPr>
              <a:xfrm>
                <a:off x="719666" y="0"/>
                <a:ext cx="329196" cy="203200"/>
                <a:chOff x="0" y="0"/>
                <a:chExt cx="329194" cy="203200"/>
              </a:xfrm>
            </p:grpSpPr>
            <p:sp>
              <p:nvSpPr>
                <p:cNvPr id="90" name="Rectangle"/>
                <p:cNvSpPr/>
                <p:nvPr/>
              </p:nvSpPr>
              <p:spPr>
                <a:xfrm>
                  <a:off x="7948" y="0"/>
                  <a:ext cx="321247" cy="203200"/>
                </a:xfrm>
                <a:prstGeom prst="rect">
                  <a:avLst/>
                </a:prstGeom>
                <a:solidFill>
                  <a:srgbClr val="FFFED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100" b="1"/>
                  </a:pPr>
                  <a:endParaRPr/>
                </a:p>
              </p:txBody>
            </p:sp>
            <p:sp>
              <p:nvSpPr>
                <p:cNvPr id="91" name="Line"/>
                <p:cNvSpPr/>
                <p:nvPr/>
              </p:nvSpPr>
              <p:spPr>
                <a:xfrm flipV="1">
                  <a:off x="-1" y="50799"/>
                  <a:ext cx="311744" cy="50802"/>
                </a:xfrm>
                <a:prstGeom prst="line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100" b="1"/>
                  </a:pPr>
                  <a:endParaRPr/>
                </a:p>
              </p:txBody>
            </p:sp>
          </p:grpSp>
        </p:grpSp>
        <p:grpSp>
          <p:nvGrpSpPr>
            <p:cNvPr id="98" name="Group"/>
            <p:cNvGrpSpPr/>
            <p:nvPr/>
          </p:nvGrpSpPr>
          <p:grpSpPr>
            <a:xfrm>
              <a:off x="1069559" y="3278716"/>
              <a:ext cx="1776478" cy="203201"/>
              <a:chOff x="0" y="0"/>
              <a:chExt cx="1776476" cy="203200"/>
            </a:xfrm>
          </p:grpSpPr>
          <p:sp>
            <p:nvSpPr>
              <p:cNvPr id="94" name="Line"/>
              <p:cNvSpPr/>
              <p:nvPr/>
            </p:nvSpPr>
            <p:spPr>
              <a:xfrm>
                <a:off x="0" y="101600"/>
                <a:ext cx="1776477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  <p:grpSp>
            <p:nvGrpSpPr>
              <p:cNvPr id="97" name="Group"/>
              <p:cNvGrpSpPr/>
              <p:nvPr/>
            </p:nvGrpSpPr>
            <p:grpSpPr>
              <a:xfrm>
                <a:off x="719666" y="0"/>
                <a:ext cx="329196" cy="203200"/>
                <a:chOff x="0" y="0"/>
                <a:chExt cx="329194" cy="203200"/>
              </a:xfrm>
            </p:grpSpPr>
            <p:sp>
              <p:nvSpPr>
                <p:cNvPr id="95" name="Rectangle"/>
                <p:cNvSpPr/>
                <p:nvPr/>
              </p:nvSpPr>
              <p:spPr>
                <a:xfrm>
                  <a:off x="7948" y="0"/>
                  <a:ext cx="321247" cy="203200"/>
                </a:xfrm>
                <a:prstGeom prst="rect">
                  <a:avLst/>
                </a:prstGeom>
                <a:solidFill>
                  <a:srgbClr val="FFFED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100" b="1"/>
                  </a:pPr>
                  <a:endParaRPr/>
                </a:p>
              </p:txBody>
            </p:sp>
            <p:sp>
              <p:nvSpPr>
                <p:cNvPr id="96" name="Line"/>
                <p:cNvSpPr/>
                <p:nvPr/>
              </p:nvSpPr>
              <p:spPr>
                <a:xfrm flipV="1">
                  <a:off x="-1" y="50799"/>
                  <a:ext cx="311744" cy="50802"/>
                </a:xfrm>
                <a:prstGeom prst="line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100" b="1"/>
                  </a:pPr>
                  <a:endParaRPr/>
                </a:p>
              </p:txBody>
            </p:sp>
          </p:grpSp>
        </p:grpSp>
        <p:grpSp>
          <p:nvGrpSpPr>
            <p:cNvPr id="103" name="Group"/>
            <p:cNvGrpSpPr/>
            <p:nvPr/>
          </p:nvGrpSpPr>
          <p:grpSpPr>
            <a:xfrm>
              <a:off x="1069559" y="2774949"/>
              <a:ext cx="1776478" cy="203201"/>
              <a:chOff x="0" y="0"/>
              <a:chExt cx="1776476" cy="203200"/>
            </a:xfrm>
          </p:grpSpPr>
          <p:sp>
            <p:nvSpPr>
              <p:cNvPr id="99" name="Line"/>
              <p:cNvSpPr/>
              <p:nvPr/>
            </p:nvSpPr>
            <p:spPr>
              <a:xfrm>
                <a:off x="0" y="101600"/>
                <a:ext cx="1776477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  <p:grpSp>
            <p:nvGrpSpPr>
              <p:cNvPr id="102" name="Group"/>
              <p:cNvGrpSpPr/>
              <p:nvPr/>
            </p:nvGrpSpPr>
            <p:grpSpPr>
              <a:xfrm>
                <a:off x="719666" y="0"/>
                <a:ext cx="329196" cy="203200"/>
                <a:chOff x="0" y="0"/>
                <a:chExt cx="329194" cy="203200"/>
              </a:xfrm>
            </p:grpSpPr>
            <p:sp>
              <p:nvSpPr>
                <p:cNvPr id="100" name="Rectangle"/>
                <p:cNvSpPr/>
                <p:nvPr/>
              </p:nvSpPr>
              <p:spPr>
                <a:xfrm>
                  <a:off x="7948" y="0"/>
                  <a:ext cx="321247" cy="203200"/>
                </a:xfrm>
                <a:prstGeom prst="rect">
                  <a:avLst/>
                </a:prstGeom>
                <a:solidFill>
                  <a:srgbClr val="FFFED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100" b="1"/>
                  </a:pPr>
                  <a:endParaRPr/>
                </a:p>
              </p:txBody>
            </p:sp>
            <p:sp>
              <p:nvSpPr>
                <p:cNvPr id="101" name="Line"/>
                <p:cNvSpPr/>
                <p:nvPr/>
              </p:nvSpPr>
              <p:spPr>
                <a:xfrm flipV="1">
                  <a:off x="-1" y="50799"/>
                  <a:ext cx="311744" cy="50802"/>
                </a:xfrm>
                <a:prstGeom prst="line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100" b="1"/>
                  </a:pPr>
                  <a:endParaRPr/>
                </a:p>
              </p:txBody>
            </p:sp>
          </p:grpSp>
        </p:grpSp>
        <p:grpSp>
          <p:nvGrpSpPr>
            <p:cNvPr id="108" name="Group"/>
            <p:cNvGrpSpPr/>
            <p:nvPr/>
          </p:nvGrpSpPr>
          <p:grpSpPr>
            <a:xfrm>
              <a:off x="1069559" y="2271182"/>
              <a:ext cx="1776478" cy="203201"/>
              <a:chOff x="0" y="0"/>
              <a:chExt cx="1776476" cy="203200"/>
            </a:xfrm>
          </p:grpSpPr>
          <p:sp>
            <p:nvSpPr>
              <p:cNvPr id="104" name="Line"/>
              <p:cNvSpPr/>
              <p:nvPr/>
            </p:nvSpPr>
            <p:spPr>
              <a:xfrm>
                <a:off x="0" y="101600"/>
                <a:ext cx="1776477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  <p:grpSp>
            <p:nvGrpSpPr>
              <p:cNvPr id="107" name="Group"/>
              <p:cNvGrpSpPr/>
              <p:nvPr/>
            </p:nvGrpSpPr>
            <p:grpSpPr>
              <a:xfrm>
                <a:off x="719666" y="0"/>
                <a:ext cx="329196" cy="203200"/>
                <a:chOff x="0" y="0"/>
                <a:chExt cx="329194" cy="203200"/>
              </a:xfrm>
            </p:grpSpPr>
            <p:sp>
              <p:nvSpPr>
                <p:cNvPr id="105" name="Rectangle"/>
                <p:cNvSpPr/>
                <p:nvPr/>
              </p:nvSpPr>
              <p:spPr>
                <a:xfrm>
                  <a:off x="7948" y="0"/>
                  <a:ext cx="321247" cy="203200"/>
                </a:xfrm>
                <a:prstGeom prst="rect">
                  <a:avLst/>
                </a:prstGeom>
                <a:solidFill>
                  <a:srgbClr val="FFFED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100" b="1"/>
                  </a:pPr>
                  <a:endParaRPr/>
                </a:p>
              </p:txBody>
            </p:sp>
            <p:sp>
              <p:nvSpPr>
                <p:cNvPr id="106" name="Line"/>
                <p:cNvSpPr/>
                <p:nvPr/>
              </p:nvSpPr>
              <p:spPr>
                <a:xfrm flipV="1">
                  <a:off x="-1" y="50799"/>
                  <a:ext cx="311744" cy="50802"/>
                </a:xfrm>
                <a:prstGeom prst="line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100" b="1"/>
                  </a:pPr>
                  <a:endParaRPr/>
                </a:p>
              </p:txBody>
            </p:sp>
          </p:grpSp>
        </p:grpSp>
        <p:grpSp>
          <p:nvGrpSpPr>
            <p:cNvPr id="113" name="Group"/>
            <p:cNvGrpSpPr/>
            <p:nvPr/>
          </p:nvGrpSpPr>
          <p:grpSpPr>
            <a:xfrm>
              <a:off x="1069559" y="1775883"/>
              <a:ext cx="1776478" cy="203201"/>
              <a:chOff x="0" y="0"/>
              <a:chExt cx="1776476" cy="203200"/>
            </a:xfrm>
          </p:grpSpPr>
          <p:sp>
            <p:nvSpPr>
              <p:cNvPr id="109" name="Line"/>
              <p:cNvSpPr/>
              <p:nvPr/>
            </p:nvSpPr>
            <p:spPr>
              <a:xfrm>
                <a:off x="0" y="101600"/>
                <a:ext cx="1776477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  <p:grpSp>
            <p:nvGrpSpPr>
              <p:cNvPr id="112" name="Group"/>
              <p:cNvGrpSpPr/>
              <p:nvPr/>
            </p:nvGrpSpPr>
            <p:grpSpPr>
              <a:xfrm>
                <a:off x="719666" y="0"/>
                <a:ext cx="329196" cy="203200"/>
                <a:chOff x="0" y="0"/>
                <a:chExt cx="329194" cy="203200"/>
              </a:xfrm>
            </p:grpSpPr>
            <p:sp>
              <p:nvSpPr>
                <p:cNvPr id="110" name="Rectangle"/>
                <p:cNvSpPr/>
                <p:nvPr/>
              </p:nvSpPr>
              <p:spPr>
                <a:xfrm>
                  <a:off x="7948" y="0"/>
                  <a:ext cx="321247" cy="203200"/>
                </a:xfrm>
                <a:prstGeom prst="rect">
                  <a:avLst/>
                </a:prstGeom>
                <a:solidFill>
                  <a:srgbClr val="FFFED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100" b="1"/>
                  </a:pPr>
                  <a:endParaRPr/>
                </a:p>
              </p:txBody>
            </p:sp>
            <p:sp>
              <p:nvSpPr>
                <p:cNvPr id="111" name="Line"/>
                <p:cNvSpPr/>
                <p:nvPr/>
              </p:nvSpPr>
              <p:spPr>
                <a:xfrm flipV="1">
                  <a:off x="-1" y="50799"/>
                  <a:ext cx="311744" cy="50802"/>
                </a:xfrm>
                <a:prstGeom prst="line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100" b="1"/>
                  </a:pPr>
                  <a:endParaRPr/>
                </a:p>
              </p:txBody>
            </p:sp>
          </p:grpSp>
        </p:grpSp>
        <p:grpSp>
          <p:nvGrpSpPr>
            <p:cNvPr id="118" name="Group"/>
            <p:cNvGrpSpPr/>
            <p:nvPr/>
          </p:nvGrpSpPr>
          <p:grpSpPr>
            <a:xfrm>
              <a:off x="1069559" y="1280583"/>
              <a:ext cx="1776478" cy="203201"/>
              <a:chOff x="0" y="0"/>
              <a:chExt cx="1776476" cy="203200"/>
            </a:xfrm>
          </p:grpSpPr>
          <p:sp>
            <p:nvSpPr>
              <p:cNvPr id="114" name="Line"/>
              <p:cNvSpPr/>
              <p:nvPr/>
            </p:nvSpPr>
            <p:spPr>
              <a:xfrm>
                <a:off x="0" y="101600"/>
                <a:ext cx="1776477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  <p:grpSp>
            <p:nvGrpSpPr>
              <p:cNvPr id="117" name="Group"/>
              <p:cNvGrpSpPr/>
              <p:nvPr/>
            </p:nvGrpSpPr>
            <p:grpSpPr>
              <a:xfrm>
                <a:off x="719666" y="0"/>
                <a:ext cx="329196" cy="203200"/>
                <a:chOff x="0" y="0"/>
                <a:chExt cx="329194" cy="203200"/>
              </a:xfrm>
            </p:grpSpPr>
            <p:sp>
              <p:nvSpPr>
                <p:cNvPr id="115" name="Rectangle"/>
                <p:cNvSpPr/>
                <p:nvPr/>
              </p:nvSpPr>
              <p:spPr>
                <a:xfrm>
                  <a:off x="7948" y="0"/>
                  <a:ext cx="321247" cy="203200"/>
                </a:xfrm>
                <a:prstGeom prst="rect">
                  <a:avLst/>
                </a:prstGeom>
                <a:solidFill>
                  <a:srgbClr val="FFFED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100" b="1"/>
                  </a:pPr>
                  <a:endParaRPr/>
                </a:p>
              </p:txBody>
            </p:sp>
            <p:sp>
              <p:nvSpPr>
                <p:cNvPr id="116" name="Line"/>
                <p:cNvSpPr/>
                <p:nvPr/>
              </p:nvSpPr>
              <p:spPr>
                <a:xfrm flipV="1">
                  <a:off x="-1" y="50799"/>
                  <a:ext cx="311744" cy="50802"/>
                </a:xfrm>
                <a:prstGeom prst="line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100" b="1"/>
                  </a:pPr>
                  <a:endParaRPr/>
                </a:p>
              </p:txBody>
            </p:sp>
          </p:grpSp>
        </p:grpSp>
        <p:grpSp>
          <p:nvGrpSpPr>
            <p:cNvPr id="123" name="Group"/>
            <p:cNvGrpSpPr/>
            <p:nvPr/>
          </p:nvGrpSpPr>
          <p:grpSpPr>
            <a:xfrm>
              <a:off x="1069559" y="776816"/>
              <a:ext cx="1776478" cy="203201"/>
              <a:chOff x="0" y="0"/>
              <a:chExt cx="1776476" cy="203200"/>
            </a:xfrm>
          </p:grpSpPr>
          <p:sp>
            <p:nvSpPr>
              <p:cNvPr id="119" name="Line"/>
              <p:cNvSpPr/>
              <p:nvPr/>
            </p:nvSpPr>
            <p:spPr>
              <a:xfrm>
                <a:off x="0" y="101600"/>
                <a:ext cx="1776477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  <p:grpSp>
            <p:nvGrpSpPr>
              <p:cNvPr id="122" name="Group"/>
              <p:cNvGrpSpPr/>
              <p:nvPr/>
            </p:nvGrpSpPr>
            <p:grpSpPr>
              <a:xfrm>
                <a:off x="719666" y="0"/>
                <a:ext cx="329196" cy="203200"/>
                <a:chOff x="0" y="0"/>
                <a:chExt cx="329194" cy="203200"/>
              </a:xfrm>
            </p:grpSpPr>
            <p:sp>
              <p:nvSpPr>
                <p:cNvPr id="120" name="Rectangle"/>
                <p:cNvSpPr/>
                <p:nvPr/>
              </p:nvSpPr>
              <p:spPr>
                <a:xfrm>
                  <a:off x="7948" y="0"/>
                  <a:ext cx="321247" cy="203200"/>
                </a:xfrm>
                <a:prstGeom prst="rect">
                  <a:avLst/>
                </a:prstGeom>
                <a:solidFill>
                  <a:srgbClr val="FFFED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100" b="1"/>
                  </a:pPr>
                  <a:endParaRPr/>
                </a:p>
              </p:txBody>
            </p:sp>
            <p:sp>
              <p:nvSpPr>
                <p:cNvPr id="121" name="Line"/>
                <p:cNvSpPr/>
                <p:nvPr/>
              </p:nvSpPr>
              <p:spPr>
                <a:xfrm flipV="1">
                  <a:off x="-1" y="50799"/>
                  <a:ext cx="311744" cy="50802"/>
                </a:xfrm>
                <a:prstGeom prst="line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100" b="1"/>
                  </a:pPr>
                  <a:endParaRPr/>
                </a:p>
              </p:txBody>
            </p:sp>
          </p:grpSp>
        </p:grpSp>
        <p:sp>
          <p:nvSpPr>
            <p:cNvPr id="124" name="Rectangle"/>
            <p:cNvSpPr/>
            <p:nvPr/>
          </p:nvSpPr>
          <p:spPr>
            <a:xfrm>
              <a:off x="978843" y="487064"/>
              <a:ext cx="189900" cy="28317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125" name="Rectangle"/>
            <p:cNvSpPr/>
            <p:nvPr/>
          </p:nvSpPr>
          <p:spPr>
            <a:xfrm>
              <a:off x="978843" y="992716"/>
              <a:ext cx="189900" cy="28317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126" name="Rectangle"/>
            <p:cNvSpPr/>
            <p:nvPr/>
          </p:nvSpPr>
          <p:spPr>
            <a:xfrm>
              <a:off x="978843" y="1486131"/>
              <a:ext cx="189900" cy="28317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127" name="Rectangle"/>
            <p:cNvSpPr/>
            <p:nvPr/>
          </p:nvSpPr>
          <p:spPr>
            <a:xfrm>
              <a:off x="978843" y="1981253"/>
              <a:ext cx="189900" cy="28317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128" name="Rectangle"/>
            <p:cNvSpPr/>
            <p:nvPr/>
          </p:nvSpPr>
          <p:spPr>
            <a:xfrm>
              <a:off x="978843" y="2474667"/>
              <a:ext cx="189900" cy="28317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129" name="Rectangle"/>
            <p:cNvSpPr/>
            <p:nvPr/>
          </p:nvSpPr>
          <p:spPr>
            <a:xfrm>
              <a:off x="978843" y="2995314"/>
              <a:ext cx="189900" cy="28317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130" name="Rectangle"/>
            <p:cNvSpPr/>
            <p:nvPr/>
          </p:nvSpPr>
          <p:spPr>
            <a:xfrm>
              <a:off x="978843" y="3490614"/>
              <a:ext cx="189900" cy="28317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131" name="Rectangle"/>
            <p:cNvSpPr/>
            <p:nvPr/>
          </p:nvSpPr>
          <p:spPr>
            <a:xfrm>
              <a:off x="978843" y="4002500"/>
              <a:ext cx="189900" cy="28317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132" name="Triangle"/>
            <p:cNvSpPr/>
            <p:nvPr/>
          </p:nvSpPr>
          <p:spPr>
            <a:xfrm rot="5400000">
              <a:off x="3372835" y="1782542"/>
              <a:ext cx="711201" cy="6805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133" name="R"/>
            <p:cNvSpPr txBox="1"/>
            <p:nvPr/>
          </p:nvSpPr>
          <p:spPr>
            <a:xfrm>
              <a:off x="630685" y="391752"/>
              <a:ext cx="334417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t>R</a:t>
              </a:r>
            </a:p>
          </p:txBody>
        </p:sp>
        <p:sp>
          <p:nvSpPr>
            <p:cNvPr id="134" name="R"/>
            <p:cNvSpPr txBox="1"/>
            <p:nvPr/>
          </p:nvSpPr>
          <p:spPr>
            <a:xfrm>
              <a:off x="630685" y="895181"/>
              <a:ext cx="334417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t>R</a:t>
              </a:r>
            </a:p>
          </p:txBody>
        </p:sp>
        <p:sp>
          <p:nvSpPr>
            <p:cNvPr id="135" name="R"/>
            <p:cNvSpPr txBox="1"/>
            <p:nvPr/>
          </p:nvSpPr>
          <p:spPr>
            <a:xfrm>
              <a:off x="630685" y="1382213"/>
              <a:ext cx="334417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t>R</a:t>
              </a:r>
            </a:p>
          </p:txBody>
        </p:sp>
        <p:sp>
          <p:nvSpPr>
            <p:cNvPr id="136" name="R"/>
            <p:cNvSpPr txBox="1"/>
            <p:nvPr/>
          </p:nvSpPr>
          <p:spPr>
            <a:xfrm>
              <a:off x="630685" y="1885642"/>
              <a:ext cx="334417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t>R</a:t>
              </a:r>
            </a:p>
          </p:txBody>
        </p:sp>
        <p:sp>
          <p:nvSpPr>
            <p:cNvPr id="137" name="R"/>
            <p:cNvSpPr txBox="1"/>
            <p:nvPr/>
          </p:nvSpPr>
          <p:spPr>
            <a:xfrm>
              <a:off x="630685" y="2390021"/>
              <a:ext cx="334417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t>R</a:t>
              </a:r>
            </a:p>
          </p:txBody>
        </p:sp>
        <p:sp>
          <p:nvSpPr>
            <p:cNvPr id="138" name="R"/>
            <p:cNvSpPr txBox="1"/>
            <p:nvPr/>
          </p:nvSpPr>
          <p:spPr>
            <a:xfrm>
              <a:off x="630685" y="2893451"/>
              <a:ext cx="334417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t>R</a:t>
              </a:r>
            </a:p>
          </p:txBody>
        </p:sp>
        <p:sp>
          <p:nvSpPr>
            <p:cNvPr id="139" name="R"/>
            <p:cNvSpPr txBox="1"/>
            <p:nvPr/>
          </p:nvSpPr>
          <p:spPr>
            <a:xfrm>
              <a:off x="630685" y="3397830"/>
              <a:ext cx="334417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t>R</a:t>
              </a:r>
            </a:p>
          </p:txBody>
        </p:sp>
        <p:sp>
          <p:nvSpPr>
            <p:cNvPr id="140" name="R"/>
            <p:cNvSpPr txBox="1"/>
            <p:nvPr/>
          </p:nvSpPr>
          <p:spPr>
            <a:xfrm>
              <a:off x="630685" y="3902210"/>
              <a:ext cx="334417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t>R</a:t>
              </a:r>
            </a:p>
          </p:txBody>
        </p:sp>
        <p:sp>
          <p:nvSpPr>
            <p:cNvPr id="141" name="sw7"/>
            <p:cNvSpPr txBox="1"/>
            <p:nvPr/>
          </p:nvSpPr>
          <p:spPr>
            <a:xfrm>
              <a:off x="1672010" y="485357"/>
              <a:ext cx="571576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sw7</a:t>
              </a:r>
            </a:p>
          </p:txBody>
        </p:sp>
        <p:sp>
          <p:nvSpPr>
            <p:cNvPr id="142" name="sw6"/>
            <p:cNvSpPr txBox="1"/>
            <p:nvPr/>
          </p:nvSpPr>
          <p:spPr>
            <a:xfrm>
              <a:off x="1672010" y="992388"/>
              <a:ext cx="571576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sw6</a:t>
              </a:r>
            </a:p>
          </p:txBody>
        </p:sp>
        <p:sp>
          <p:nvSpPr>
            <p:cNvPr id="143" name="sw5"/>
            <p:cNvSpPr txBox="1"/>
            <p:nvPr/>
          </p:nvSpPr>
          <p:spPr>
            <a:xfrm>
              <a:off x="1672010" y="1498167"/>
              <a:ext cx="571576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sw5</a:t>
              </a:r>
            </a:p>
          </p:txBody>
        </p:sp>
        <p:sp>
          <p:nvSpPr>
            <p:cNvPr id="144" name="sw4"/>
            <p:cNvSpPr txBox="1"/>
            <p:nvPr/>
          </p:nvSpPr>
          <p:spPr>
            <a:xfrm>
              <a:off x="1672010" y="1977163"/>
              <a:ext cx="571576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sw4</a:t>
              </a:r>
            </a:p>
          </p:txBody>
        </p:sp>
        <p:sp>
          <p:nvSpPr>
            <p:cNvPr id="145" name="sw3"/>
            <p:cNvSpPr txBox="1"/>
            <p:nvPr/>
          </p:nvSpPr>
          <p:spPr>
            <a:xfrm>
              <a:off x="1672010" y="2494554"/>
              <a:ext cx="571576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sw3</a:t>
              </a:r>
            </a:p>
          </p:txBody>
        </p:sp>
        <p:sp>
          <p:nvSpPr>
            <p:cNvPr id="146" name="sw2"/>
            <p:cNvSpPr txBox="1"/>
            <p:nvPr/>
          </p:nvSpPr>
          <p:spPr>
            <a:xfrm>
              <a:off x="1672010" y="3000334"/>
              <a:ext cx="571576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sw2</a:t>
              </a:r>
            </a:p>
          </p:txBody>
        </p:sp>
        <p:sp>
          <p:nvSpPr>
            <p:cNvPr id="147" name="sw1"/>
            <p:cNvSpPr txBox="1"/>
            <p:nvPr/>
          </p:nvSpPr>
          <p:spPr>
            <a:xfrm>
              <a:off x="1672010" y="3504729"/>
              <a:ext cx="571576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sw1</a:t>
              </a:r>
            </a:p>
          </p:txBody>
        </p:sp>
        <p:sp>
          <p:nvSpPr>
            <p:cNvPr id="148" name="sw0"/>
            <p:cNvSpPr txBox="1"/>
            <p:nvPr/>
          </p:nvSpPr>
          <p:spPr>
            <a:xfrm>
              <a:off x="1672010" y="3988119"/>
              <a:ext cx="571576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sw0</a:t>
              </a:r>
            </a:p>
          </p:txBody>
        </p:sp>
        <p:sp>
          <p:nvSpPr>
            <p:cNvPr id="149" name="Vref"/>
            <p:cNvSpPr txBox="1"/>
            <p:nvPr/>
          </p:nvSpPr>
          <p:spPr>
            <a:xfrm>
              <a:off x="-10870" y="-12701"/>
              <a:ext cx="554733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400"/>
              </a:pPr>
              <a:r>
                <a:t>V</a:t>
              </a:r>
              <a:r>
                <a:rPr baseline="-5999"/>
                <a:t>ref</a:t>
              </a:r>
            </a:p>
          </p:txBody>
        </p:sp>
        <p:sp>
          <p:nvSpPr>
            <p:cNvPr id="150" name="VDAC"/>
            <p:cNvSpPr txBox="1"/>
            <p:nvPr/>
          </p:nvSpPr>
          <p:spPr>
            <a:xfrm>
              <a:off x="4512989" y="1900588"/>
              <a:ext cx="746622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400"/>
              </a:pPr>
              <a:r>
                <a:t>V</a:t>
              </a:r>
              <a:r>
                <a:rPr baseline="-5999"/>
                <a:t>DAC</a:t>
              </a:r>
            </a:p>
          </p:txBody>
        </p:sp>
        <p:sp>
          <p:nvSpPr>
            <p:cNvPr id="151" name="output…"/>
            <p:cNvSpPr txBox="1"/>
            <p:nvPr/>
          </p:nvSpPr>
          <p:spPr>
            <a:xfrm>
              <a:off x="3254934" y="2385642"/>
              <a:ext cx="961728" cy="838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400"/>
              </a:pPr>
              <a:r>
                <a:rPr dirty="0"/>
                <a:t>output</a:t>
              </a:r>
            </a:p>
            <a:p>
              <a:pPr>
                <a:defRPr sz="2400"/>
              </a:pPr>
              <a:r>
                <a:rPr dirty="0"/>
                <a:t>buffer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Here is a 3-bit DAC. It uses 23 = 8 resistors.…"/>
              <p:cNvSpPr txBox="1"/>
              <p:nvPr/>
            </p:nvSpPr>
            <p:spPr>
              <a:xfrm>
                <a:off x="5648690" y="3645388"/>
                <a:ext cx="6939838" cy="499865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rmAutofit/>
              </a:bodyPr>
              <a:lstStyle/>
              <a:p>
                <a:pPr marL="444500" indent="-444500" algn="l">
                  <a:spcBef>
                    <a:spcPts val="4200"/>
                  </a:spcBef>
                  <a:buSzPct val="145000"/>
                  <a:buChar char="•"/>
                </a:pPr>
                <a:r>
                  <a:rPr lang="en-GB" dirty="0"/>
                  <a:t>A 3-bit DAC uses 2</a:t>
                </a:r>
                <a:r>
                  <a:rPr lang="en-GB" baseline="31999" dirty="0"/>
                  <a:t>3</a:t>
                </a:r>
                <a:r>
                  <a:rPr lang="en-GB" dirty="0"/>
                  <a:t> = 8 resistors.</a:t>
                </a:r>
              </a:p>
              <a:p>
                <a:pPr marL="444500" indent="-444500" algn="l">
                  <a:spcBef>
                    <a:spcPts val="4200"/>
                  </a:spcBef>
                  <a:buSzPct val="145000"/>
                  <a:buChar char="•"/>
                </a:pPr>
                <a:r>
                  <a:rPr lang="en-GB" dirty="0"/>
                  <a:t>When the digital input is 5, we close (only) switch </a:t>
                </a:r>
                <a:r>
                  <a:rPr lang="en-GB" dirty="0">
                    <a:solidFill>
                      <a:schemeClr val="accent6">
                        <a:satOff val="-15808"/>
                        <a:lumOff val="-17557"/>
                      </a:schemeClr>
                    </a:solidFill>
                    <a:latin typeface="Courier"/>
                    <a:ea typeface="Courier"/>
                    <a:cs typeface="Courier"/>
                    <a:sym typeface="Courier"/>
                  </a:rPr>
                  <a:t>sw5</a:t>
                </a:r>
                <a:r>
                  <a:rPr lang="en-GB" dirty="0"/>
                  <a:t>, which means V</a:t>
                </a:r>
                <a:r>
                  <a:rPr lang="en-GB" baseline="-5999" dirty="0"/>
                  <a:t>DAC</a:t>
                </a:r>
                <a:r>
                  <a:rPr lang="en-GB" dirty="0"/>
                  <a:t> is ⅝</a:t>
                </a:r>
                <a:r>
                  <a:rPr lang="en-GB" dirty="0" err="1"/>
                  <a:t>V</a:t>
                </a:r>
                <a:r>
                  <a:rPr lang="en-GB" baseline="-5999" dirty="0" err="1"/>
                  <a:t>ref</a:t>
                </a:r>
                <a:r>
                  <a:rPr lang="en-GB" dirty="0"/>
                  <a:t>.</a:t>
                </a:r>
              </a:p>
              <a:p>
                <a:pPr marL="444500" indent="-444500" algn="l">
                  <a:spcBef>
                    <a:spcPts val="4200"/>
                  </a:spcBef>
                  <a:buSzPct val="145000"/>
                  <a:buChar char="•"/>
                </a:pPr>
                <a:r>
                  <a:rPr lang="en-GB" dirty="0"/>
                  <a:t>Resistors in series: </a:t>
                </a:r>
              </a:p>
              <a:p>
                <a:pPr algn="l">
                  <a:spcBef>
                    <a:spcPts val="4200"/>
                  </a:spcBef>
                  <a:buSzPct val="1450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𝑏𝑒𝑙𝑜𝑤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53" name="Here is a 3-bit DAC. It uses 23 = 8 resistors.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690" y="3645388"/>
                <a:ext cx="6939838" cy="4998651"/>
              </a:xfrm>
              <a:prstGeom prst="rect">
                <a:avLst/>
              </a:prstGeom>
              <a:blipFill>
                <a:blip r:embed="rId2"/>
                <a:stretch>
                  <a:fillRect l="-3467" t="-355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1" animBg="1" advAuto="0"/>
      <p:bldP spid="152" grpId="2" animBg="1" advAuto="0"/>
      <p:bldP spid="153" grpId="3" build="p" bldLvl="5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DA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DAC</a:t>
            </a:r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57" name="Line"/>
          <p:cNvSpPr/>
          <p:nvPr/>
        </p:nvSpPr>
        <p:spPr>
          <a:xfrm>
            <a:off x="1007533" y="4762500"/>
            <a:ext cx="548868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8" name="Line"/>
          <p:cNvSpPr/>
          <p:nvPr/>
        </p:nvSpPr>
        <p:spPr>
          <a:xfrm flipH="1">
            <a:off x="1557866" y="4753879"/>
            <a:ext cx="1" cy="447390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9" name="Line"/>
          <p:cNvSpPr/>
          <p:nvPr/>
        </p:nvSpPr>
        <p:spPr>
          <a:xfrm>
            <a:off x="1382606" y="9228666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0" name="Line"/>
          <p:cNvSpPr/>
          <p:nvPr/>
        </p:nvSpPr>
        <p:spPr>
          <a:xfrm>
            <a:off x="1431489" y="9330266"/>
            <a:ext cx="25275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1" name="Line"/>
          <p:cNvSpPr/>
          <p:nvPr/>
        </p:nvSpPr>
        <p:spPr>
          <a:xfrm>
            <a:off x="1493836" y="9431866"/>
            <a:ext cx="12806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2" name="Line"/>
          <p:cNvSpPr/>
          <p:nvPr/>
        </p:nvSpPr>
        <p:spPr>
          <a:xfrm>
            <a:off x="10054166" y="5398435"/>
            <a:ext cx="1" cy="352454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3" name="Line"/>
          <p:cNvSpPr/>
          <p:nvPr/>
        </p:nvSpPr>
        <p:spPr>
          <a:xfrm>
            <a:off x="10062633" y="6663088"/>
            <a:ext cx="177647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168" name="Group"/>
          <p:cNvGrpSpPr/>
          <p:nvPr/>
        </p:nvGrpSpPr>
        <p:grpSpPr>
          <a:xfrm>
            <a:off x="7014633" y="8813800"/>
            <a:ext cx="1776477" cy="203200"/>
            <a:chOff x="0" y="0"/>
            <a:chExt cx="1776476" cy="203200"/>
          </a:xfrm>
        </p:grpSpPr>
        <p:sp>
          <p:nvSpPr>
            <p:cNvPr id="164" name="Line"/>
            <p:cNvSpPr/>
            <p:nvPr/>
          </p:nvSpPr>
          <p:spPr>
            <a:xfrm>
              <a:off x="0" y="101600"/>
              <a:ext cx="1776477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grpSp>
          <p:nvGrpSpPr>
            <p:cNvPr id="167" name="Group"/>
            <p:cNvGrpSpPr/>
            <p:nvPr/>
          </p:nvGrpSpPr>
          <p:grpSpPr>
            <a:xfrm>
              <a:off x="719666" y="0"/>
              <a:ext cx="329196" cy="203200"/>
              <a:chOff x="0" y="0"/>
              <a:chExt cx="329194" cy="203200"/>
            </a:xfrm>
          </p:grpSpPr>
          <p:sp>
            <p:nvSpPr>
              <p:cNvPr id="165" name="Rectangle"/>
              <p:cNvSpPr/>
              <p:nvPr/>
            </p:nvSpPr>
            <p:spPr>
              <a:xfrm>
                <a:off x="7948" y="0"/>
                <a:ext cx="321247" cy="203200"/>
              </a:xfrm>
              <a:prstGeom prst="rect">
                <a:avLst/>
              </a:prstGeom>
              <a:solidFill>
                <a:srgbClr val="FFFED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  <p:sp>
            <p:nvSpPr>
              <p:cNvPr id="166" name="Line"/>
              <p:cNvSpPr/>
              <p:nvPr/>
            </p:nvSpPr>
            <p:spPr>
              <a:xfrm flipV="1">
                <a:off x="-1" y="50799"/>
                <a:ext cx="311744" cy="5080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</p:grpSp>
      </p:grpSp>
      <p:grpSp>
        <p:nvGrpSpPr>
          <p:cNvPr id="173" name="Group"/>
          <p:cNvGrpSpPr/>
          <p:nvPr/>
        </p:nvGrpSpPr>
        <p:grpSpPr>
          <a:xfrm>
            <a:off x="6252633" y="8310033"/>
            <a:ext cx="1776477" cy="203201"/>
            <a:chOff x="0" y="0"/>
            <a:chExt cx="1776476" cy="203200"/>
          </a:xfrm>
        </p:grpSpPr>
        <p:sp>
          <p:nvSpPr>
            <p:cNvPr id="169" name="Line"/>
            <p:cNvSpPr/>
            <p:nvPr/>
          </p:nvSpPr>
          <p:spPr>
            <a:xfrm>
              <a:off x="0" y="101600"/>
              <a:ext cx="1776477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grpSp>
          <p:nvGrpSpPr>
            <p:cNvPr id="172" name="Group"/>
            <p:cNvGrpSpPr/>
            <p:nvPr/>
          </p:nvGrpSpPr>
          <p:grpSpPr>
            <a:xfrm>
              <a:off x="719666" y="0"/>
              <a:ext cx="329196" cy="203200"/>
              <a:chOff x="0" y="0"/>
              <a:chExt cx="329194" cy="203200"/>
            </a:xfrm>
          </p:grpSpPr>
          <p:sp>
            <p:nvSpPr>
              <p:cNvPr id="170" name="Rectangle"/>
              <p:cNvSpPr/>
              <p:nvPr/>
            </p:nvSpPr>
            <p:spPr>
              <a:xfrm>
                <a:off x="7948" y="0"/>
                <a:ext cx="321247" cy="203200"/>
              </a:xfrm>
              <a:prstGeom prst="rect">
                <a:avLst/>
              </a:prstGeom>
              <a:solidFill>
                <a:srgbClr val="FFFED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  <p:sp>
            <p:nvSpPr>
              <p:cNvPr id="171" name="Line"/>
              <p:cNvSpPr/>
              <p:nvPr/>
            </p:nvSpPr>
            <p:spPr>
              <a:xfrm flipV="1">
                <a:off x="-1" y="50799"/>
                <a:ext cx="311744" cy="5080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</p:grpSp>
      </p:grpSp>
      <p:grpSp>
        <p:nvGrpSpPr>
          <p:cNvPr id="178" name="Group"/>
          <p:cNvGrpSpPr/>
          <p:nvPr/>
        </p:nvGrpSpPr>
        <p:grpSpPr>
          <a:xfrm>
            <a:off x="5490633" y="7806266"/>
            <a:ext cx="1776477" cy="203201"/>
            <a:chOff x="0" y="0"/>
            <a:chExt cx="1776476" cy="203200"/>
          </a:xfrm>
        </p:grpSpPr>
        <p:sp>
          <p:nvSpPr>
            <p:cNvPr id="174" name="Line"/>
            <p:cNvSpPr/>
            <p:nvPr/>
          </p:nvSpPr>
          <p:spPr>
            <a:xfrm>
              <a:off x="0" y="101600"/>
              <a:ext cx="1776477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grpSp>
          <p:nvGrpSpPr>
            <p:cNvPr id="177" name="Group"/>
            <p:cNvGrpSpPr/>
            <p:nvPr/>
          </p:nvGrpSpPr>
          <p:grpSpPr>
            <a:xfrm>
              <a:off x="719666" y="0"/>
              <a:ext cx="329196" cy="203200"/>
              <a:chOff x="0" y="0"/>
              <a:chExt cx="329194" cy="203200"/>
            </a:xfrm>
          </p:grpSpPr>
          <p:sp>
            <p:nvSpPr>
              <p:cNvPr id="175" name="Rectangle"/>
              <p:cNvSpPr/>
              <p:nvPr/>
            </p:nvSpPr>
            <p:spPr>
              <a:xfrm>
                <a:off x="7948" y="0"/>
                <a:ext cx="321247" cy="203200"/>
              </a:xfrm>
              <a:prstGeom prst="rect">
                <a:avLst/>
              </a:prstGeom>
              <a:solidFill>
                <a:srgbClr val="FFFED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  <p:sp>
            <p:nvSpPr>
              <p:cNvPr id="176" name="Line"/>
              <p:cNvSpPr/>
              <p:nvPr/>
            </p:nvSpPr>
            <p:spPr>
              <a:xfrm flipV="1">
                <a:off x="-1" y="50799"/>
                <a:ext cx="311744" cy="5080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</p:grpSp>
      </p:grpSp>
      <p:grpSp>
        <p:nvGrpSpPr>
          <p:cNvPr id="183" name="Group"/>
          <p:cNvGrpSpPr/>
          <p:nvPr/>
        </p:nvGrpSpPr>
        <p:grpSpPr>
          <a:xfrm>
            <a:off x="4728633" y="7302499"/>
            <a:ext cx="1776477" cy="203201"/>
            <a:chOff x="0" y="0"/>
            <a:chExt cx="1776476" cy="203200"/>
          </a:xfrm>
        </p:grpSpPr>
        <p:sp>
          <p:nvSpPr>
            <p:cNvPr id="179" name="Line"/>
            <p:cNvSpPr/>
            <p:nvPr/>
          </p:nvSpPr>
          <p:spPr>
            <a:xfrm>
              <a:off x="0" y="101600"/>
              <a:ext cx="1776477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grpSp>
          <p:nvGrpSpPr>
            <p:cNvPr id="182" name="Group"/>
            <p:cNvGrpSpPr/>
            <p:nvPr/>
          </p:nvGrpSpPr>
          <p:grpSpPr>
            <a:xfrm>
              <a:off x="719666" y="0"/>
              <a:ext cx="329196" cy="203200"/>
              <a:chOff x="0" y="0"/>
              <a:chExt cx="329194" cy="203200"/>
            </a:xfrm>
          </p:grpSpPr>
          <p:sp>
            <p:nvSpPr>
              <p:cNvPr id="180" name="Rectangle"/>
              <p:cNvSpPr/>
              <p:nvPr/>
            </p:nvSpPr>
            <p:spPr>
              <a:xfrm>
                <a:off x="7948" y="0"/>
                <a:ext cx="321247" cy="203200"/>
              </a:xfrm>
              <a:prstGeom prst="rect">
                <a:avLst/>
              </a:prstGeom>
              <a:solidFill>
                <a:srgbClr val="FFFED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  <p:sp>
            <p:nvSpPr>
              <p:cNvPr id="181" name="Line"/>
              <p:cNvSpPr/>
              <p:nvPr/>
            </p:nvSpPr>
            <p:spPr>
              <a:xfrm flipV="1">
                <a:off x="-1" y="50799"/>
                <a:ext cx="311744" cy="5080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</p:grpSp>
      </p:grpSp>
      <p:grpSp>
        <p:nvGrpSpPr>
          <p:cNvPr id="188" name="Group"/>
          <p:cNvGrpSpPr/>
          <p:nvPr/>
        </p:nvGrpSpPr>
        <p:grpSpPr>
          <a:xfrm>
            <a:off x="3839633" y="6798732"/>
            <a:ext cx="1776477" cy="203201"/>
            <a:chOff x="0" y="0"/>
            <a:chExt cx="1776476" cy="203200"/>
          </a:xfrm>
        </p:grpSpPr>
        <p:sp>
          <p:nvSpPr>
            <p:cNvPr id="184" name="Line"/>
            <p:cNvSpPr/>
            <p:nvPr/>
          </p:nvSpPr>
          <p:spPr>
            <a:xfrm>
              <a:off x="0" y="101600"/>
              <a:ext cx="1776477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grpSp>
          <p:nvGrpSpPr>
            <p:cNvPr id="187" name="Group"/>
            <p:cNvGrpSpPr/>
            <p:nvPr/>
          </p:nvGrpSpPr>
          <p:grpSpPr>
            <a:xfrm>
              <a:off x="719666" y="0"/>
              <a:ext cx="329196" cy="203200"/>
              <a:chOff x="0" y="0"/>
              <a:chExt cx="329194" cy="203200"/>
            </a:xfrm>
          </p:grpSpPr>
          <p:sp>
            <p:nvSpPr>
              <p:cNvPr id="185" name="Rectangle"/>
              <p:cNvSpPr/>
              <p:nvPr/>
            </p:nvSpPr>
            <p:spPr>
              <a:xfrm>
                <a:off x="7948" y="0"/>
                <a:ext cx="321247" cy="203200"/>
              </a:xfrm>
              <a:prstGeom prst="rect">
                <a:avLst/>
              </a:prstGeom>
              <a:solidFill>
                <a:srgbClr val="FFFED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  <p:sp>
            <p:nvSpPr>
              <p:cNvPr id="186" name="Line"/>
              <p:cNvSpPr/>
              <p:nvPr/>
            </p:nvSpPr>
            <p:spPr>
              <a:xfrm flipV="1">
                <a:off x="-1" y="50799"/>
                <a:ext cx="311744" cy="5080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</p:grpSp>
      </p:grpSp>
      <p:grpSp>
        <p:nvGrpSpPr>
          <p:cNvPr id="193" name="Group"/>
          <p:cNvGrpSpPr/>
          <p:nvPr/>
        </p:nvGrpSpPr>
        <p:grpSpPr>
          <a:xfrm>
            <a:off x="3077633" y="6303433"/>
            <a:ext cx="1776477" cy="203201"/>
            <a:chOff x="0" y="0"/>
            <a:chExt cx="1776476" cy="203200"/>
          </a:xfrm>
        </p:grpSpPr>
        <p:sp>
          <p:nvSpPr>
            <p:cNvPr id="189" name="Line"/>
            <p:cNvSpPr/>
            <p:nvPr/>
          </p:nvSpPr>
          <p:spPr>
            <a:xfrm>
              <a:off x="0" y="101600"/>
              <a:ext cx="1776477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grpSp>
          <p:nvGrpSpPr>
            <p:cNvPr id="192" name="Group"/>
            <p:cNvGrpSpPr/>
            <p:nvPr/>
          </p:nvGrpSpPr>
          <p:grpSpPr>
            <a:xfrm>
              <a:off x="719666" y="0"/>
              <a:ext cx="329196" cy="203200"/>
              <a:chOff x="0" y="0"/>
              <a:chExt cx="329194" cy="203200"/>
            </a:xfrm>
          </p:grpSpPr>
          <p:sp>
            <p:nvSpPr>
              <p:cNvPr id="190" name="Rectangle"/>
              <p:cNvSpPr/>
              <p:nvPr/>
            </p:nvSpPr>
            <p:spPr>
              <a:xfrm>
                <a:off x="7948" y="0"/>
                <a:ext cx="321247" cy="203200"/>
              </a:xfrm>
              <a:prstGeom prst="rect">
                <a:avLst/>
              </a:prstGeom>
              <a:solidFill>
                <a:srgbClr val="FFFED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  <p:sp>
            <p:nvSpPr>
              <p:cNvPr id="191" name="Line"/>
              <p:cNvSpPr/>
              <p:nvPr/>
            </p:nvSpPr>
            <p:spPr>
              <a:xfrm flipV="1">
                <a:off x="-1" y="50799"/>
                <a:ext cx="311744" cy="5080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</p:grpSp>
      </p:grpSp>
      <p:grpSp>
        <p:nvGrpSpPr>
          <p:cNvPr id="198" name="Group"/>
          <p:cNvGrpSpPr/>
          <p:nvPr/>
        </p:nvGrpSpPr>
        <p:grpSpPr>
          <a:xfrm>
            <a:off x="2315633" y="5808133"/>
            <a:ext cx="1776477" cy="203201"/>
            <a:chOff x="0" y="0"/>
            <a:chExt cx="1776476" cy="203200"/>
          </a:xfrm>
        </p:grpSpPr>
        <p:sp>
          <p:nvSpPr>
            <p:cNvPr id="194" name="Line"/>
            <p:cNvSpPr/>
            <p:nvPr/>
          </p:nvSpPr>
          <p:spPr>
            <a:xfrm>
              <a:off x="0" y="101600"/>
              <a:ext cx="1776477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grpSp>
          <p:nvGrpSpPr>
            <p:cNvPr id="197" name="Group"/>
            <p:cNvGrpSpPr/>
            <p:nvPr/>
          </p:nvGrpSpPr>
          <p:grpSpPr>
            <a:xfrm>
              <a:off x="719666" y="0"/>
              <a:ext cx="329196" cy="203200"/>
              <a:chOff x="0" y="0"/>
              <a:chExt cx="329194" cy="203200"/>
            </a:xfrm>
          </p:grpSpPr>
          <p:sp>
            <p:nvSpPr>
              <p:cNvPr id="195" name="Rectangle"/>
              <p:cNvSpPr/>
              <p:nvPr/>
            </p:nvSpPr>
            <p:spPr>
              <a:xfrm>
                <a:off x="7948" y="0"/>
                <a:ext cx="321247" cy="203200"/>
              </a:xfrm>
              <a:prstGeom prst="rect">
                <a:avLst/>
              </a:prstGeom>
              <a:solidFill>
                <a:srgbClr val="FFFED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  <p:sp>
            <p:nvSpPr>
              <p:cNvPr id="196" name="Line"/>
              <p:cNvSpPr/>
              <p:nvPr/>
            </p:nvSpPr>
            <p:spPr>
              <a:xfrm flipV="1">
                <a:off x="-1" y="50799"/>
                <a:ext cx="311744" cy="5080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</p:grpSp>
      </p:grpSp>
      <p:grpSp>
        <p:nvGrpSpPr>
          <p:cNvPr id="203" name="Group"/>
          <p:cNvGrpSpPr/>
          <p:nvPr/>
        </p:nvGrpSpPr>
        <p:grpSpPr>
          <a:xfrm>
            <a:off x="1553633" y="5304366"/>
            <a:ext cx="1776477" cy="203201"/>
            <a:chOff x="0" y="0"/>
            <a:chExt cx="1776476" cy="203200"/>
          </a:xfrm>
        </p:grpSpPr>
        <p:sp>
          <p:nvSpPr>
            <p:cNvPr id="199" name="Line"/>
            <p:cNvSpPr/>
            <p:nvPr/>
          </p:nvSpPr>
          <p:spPr>
            <a:xfrm>
              <a:off x="0" y="101600"/>
              <a:ext cx="1776477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grpSp>
          <p:nvGrpSpPr>
            <p:cNvPr id="202" name="Group"/>
            <p:cNvGrpSpPr/>
            <p:nvPr/>
          </p:nvGrpSpPr>
          <p:grpSpPr>
            <a:xfrm>
              <a:off x="719666" y="0"/>
              <a:ext cx="329196" cy="203200"/>
              <a:chOff x="0" y="0"/>
              <a:chExt cx="329194" cy="203200"/>
            </a:xfrm>
          </p:grpSpPr>
          <p:sp>
            <p:nvSpPr>
              <p:cNvPr id="200" name="Rectangle"/>
              <p:cNvSpPr/>
              <p:nvPr/>
            </p:nvSpPr>
            <p:spPr>
              <a:xfrm>
                <a:off x="7948" y="0"/>
                <a:ext cx="321247" cy="203200"/>
              </a:xfrm>
              <a:prstGeom prst="rect">
                <a:avLst/>
              </a:prstGeom>
              <a:solidFill>
                <a:srgbClr val="FFFED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  <p:sp>
            <p:nvSpPr>
              <p:cNvPr id="201" name="Line"/>
              <p:cNvSpPr/>
              <p:nvPr/>
            </p:nvSpPr>
            <p:spPr>
              <a:xfrm flipV="1">
                <a:off x="-1" y="50799"/>
                <a:ext cx="311744" cy="5080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/>
              </a:p>
            </p:txBody>
          </p:sp>
        </p:grpSp>
      </p:grpSp>
      <p:sp>
        <p:nvSpPr>
          <p:cNvPr id="204" name="Rectangle"/>
          <p:cNvSpPr/>
          <p:nvPr/>
        </p:nvSpPr>
        <p:spPr>
          <a:xfrm>
            <a:off x="1462917" y="5014614"/>
            <a:ext cx="189900" cy="28317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5" name="Rectangle"/>
          <p:cNvSpPr/>
          <p:nvPr/>
        </p:nvSpPr>
        <p:spPr>
          <a:xfrm>
            <a:off x="1462917" y="5520266"/>
            <a:ext cx="189900" cy="28317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6" name="Rectangle"/>
          <p:cNvSpPr/>
          <p:nvPr/>
        </p:nvSpPr>
        <p:spPr>
          <a:xfrm>
            <a:off x="1462917" y="6013681"/>
            <a:ext cx="189900" cy="28317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7" name="Rectangle"/>
          <p:cNvSpPr/>
          <p:nvPr/>
        </p:nvSpPr>
        <p:spPr>
          <a:xfrm>
            <a:off x="1462917" y="6508803"/>
            <a:ext cx="189900" cy="28317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8" name="Rectangle"/>
          <p:cNvSpPr/>
          <p:nvPr/>
        </p:nvSpPr>
        <p:spPr>
          <a:xfrm>
            <a:off x="1462917" y="7002217"/>
            <a:ext cx="189900" cy="28317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9" name="Rectangle"/>
          <p:cNvSpPr/>
          <p:nvPr/>
        </p:nvSpPr>
        <p:spPr>
          <a:xfrm>
            <a:off x="1462917" y="7522864"/>
            <a:ext cx="189900" cy="28317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0" name="Rectangle"/>
          <p:cNvSpPr/>
          <p:nvPr/>
        </p:nvSpPr>
        <p:spPr>
          <a:xfrm>
            <a:off x="1462917" y="8018164"/>
            <a:ext cx="189900" cy="28317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1" name="Rectangle"/>
          <p:cNvSpPr/>
          <p:nvPr/>
        </p:nvSpPr>
        <p:spPr>
          <a:xfrm>
            <a:off x="1462917" y="8530050"/>
            <a:ext cx="189900" cy="28317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2" name="Triangle"/>
          <p:cNvSpPr/>
          <p:nvPr/>
        </p:nvSpPr>
        <p:spPr>
          <a:xfrm rot="5400000">
            <a:off x="10587909" y="6310092"/>
            <a:ext cx="711201" cy="6805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3" name="R"/>
          <p:cNvSpPr txBox="1"/>
          <p:nvPr/>
        </p:nvSpPr>
        <p:spPr>
          <a:xfrm>
            <a:off x="1114758" y="4919302"/>
            <a:ext cx="33441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R</a:t>
            </a:r>
          </a:p>
        </p:txBody>
      </p:sp>
      <p:sp>
        <p:nvSpPr>
          <p:cNvPr id="214" name="R"/>
          <p:cNvSpPr txBox="1"/>
          <p:nvPr/>
        </p:nvSpPr>
        <p:spPr>
          <a:xfrm>
            <a:off x="1114758" y="5422731"/>
            <a:ext cx="33441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R</a:t>
            </a:r>
          </a:p>
        </p:txBody>
      </p:sp>
      <p:sp>
        <p:nvSpPr>
          <p:cNvPr id="215" name="R"/>
          <p:cNvSpPr txBox="1"/>
          <p:nvPr/>
        </p:nvSpPr>
        <p:spPr>
          <a:xfrm>
            <a:off x="1114758" y="5909763"/>
            <a:ext cx="33441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R</a:t>
            </a:r>
          </a:p>
        </p:txBody>
      </p:sp>
      <p:sp>
        <p:nvSpPr>
          <p:cNvPr id="216" name="R"/>
          <p:cNvSpPr txBox="1"/>
          <p:nvPr/>
        </p:nvSpPr>
        <p:spPr>
          <a:xfrm>
            <a:off x="1114758" y="6413192"/>
            <a:ext cx="33441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R</a:t>
            </a:r>
          </a:p>
        </p:txBody>
      </p:sp>
      <p:sp>
        <p:nvSpPr>
          <p:cNvPr id="217" name="R"/>
          <p:cNvSpPr txBox="1"/>
          <p:nvPr/>
        </p:nvSpPr>
        <p:spPr>
          <a:xfrm>
            <a:off x="1114758" y="6917571"/>
            <a:ext cx="33441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R</a:t>
            </a:r>
          </a:p>
        </p:txBody>
      </p:sp>
      <p:sp>
        <p:nvSpPr>
          <p:cNvPr id="218" name="R"/>
          <p:cNvSpPr txBox="1"/>
          <p:nvPr/>
        </p:nvSpPr>
        <p:spPr>
          <a:xfrm>
            <a:off x="1114758" y="7421001"/>
            <a:ext cx="33441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R</a:t>
            </a:r>
          </a:p>
        </p:txBody>
      </p:sp>
      <p:sp>
        <p:nvSpPr>
          <p:cNvPr id="219" name="R"/>
          <p:cNvSpPr txBox="1"/>
          <p:nvPr/>
        </p:nvSpPr>
        <p:spPr>
          <a:xfrm>
            <a:off x="1114758" y="7925380"/>
            <a:ext cx="33441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R</a:t>
            </a:r>
          </a:p>
        </p:txBody>
      </p:sp>
      <p:sp>
        <p:nvSpPr>
          <p:cNvPr id="220" name="R"/>
          <p:cNvSpPr txBox="1"/>
          <p:nvPr/>
        </p:nvSpPr>
        <p:spPr>
          <a:xfrm>
            <a:off x="1114758" y="8429760"/>
            <a:ext cx="33441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R</a:t>
            </a:r>
          </a:p>
        </p:txBody>
      </p:sp>
      <p:sp>
        <p:nvSpPr>
          <p:cNvPr id="221" name="sw7"/>
          <p:cNvSpPr txBox="1"/>
          <p:nvPr/>
        </p:nvSpPr>
        <p:spPr>
          <a:xfrm>
            <a:off x="2156084" y="5012907"/>
            <a:ext cx="57157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sw7</a:t>
            </a:r>
          </a:p>
        </p:txBody>
      </p:sp>
      <p:sp>
        <p:nvSpPr>
          <p:cNvPr id="222" name="sw6"/>
          <p:cNvSpPr txBox="1"/>
          <p:nvPr/>
        </p:nvSpPr>
        <p:spPr>
          <a:xfrm>
            <a:off x="2918084" y="5519938"/>
            <a:ext cx="57157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sw6</a:t>
            </a:r>
          </a:p>
        </p:txBody>
      </p:sp>
      <p:sp>
        <p:nvSpPr>
          <p:cNvPr id="223" name="sw5"/>
          <p:cNvSpPr txBox="1"/>
          <p:nvPr/>
        </p:nvSpPr>
        <p:spPr>
          <a:xfrm>
            <a:off x="3680084" y="6025717"/>
            <a:ext cx="57157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sw5</a:t>
            </a:r>
          </a:p>
        </p:txBody>
      </p:sp>
      <p:sp>
        <p:nvSpPr>
          <p:cNvPr id="224" name="sw4"/>
          <p:cNvSpPr txBox="1"/>
          <p:nvPr/>
        </p:nvSpPr>
        <p:spPr>
          <a:xfrm>
            <a:off x="4442084" y="6504713"/>
            <a:ext cx="57157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sw4</a:t>
            </a:r>
          </a:p>
        </p:txBody>
      </p:sp>
      <p:sp>
        <p:nvSpPr>
          <p:cNvPr id="225" name="sw3"/>
          <p:cNvSpPr txBox="1"/>
          <p:nvPr/>
        </p:nvSpPr>
        <p:spPr>
          <a:xfrm>
            <a:off x="5331084" y="7022104"/>
            <a:ext cx="57157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sw3</a:t>
            </a:r>
          </a:p>
        </p:txBody>
      </p:sp>
      <p:sp>
        <p:nvSpPr>
          <p:cNvPr id="226" name="sw2"/>
          <p:cNvSpPr txBox="1"/>
          <p:nvPr/>
        </p:nvSpPr>
        <p:spPr>
          <a:xfrm>
            <a:off x="6093084" y="7527884"/>
            <a:ext cx="57157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sw2</a:t>
            </a:r>
          </a:p>
        </p:txBody>
      </p:sp>
      <p:sp>
        <p:nvSpPr>
          <p:cNvPr id="227" name="sw1"/>
          <p:cNvSpPr txBox="1"/>
          <p:nvPr/>
        </p:nvSpPr>
        <p:spPr>
          <a:xfrm>
            <a:off x="6855083" y="8032279"/>
            <a:ext cx="57157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sw1</a:t>
            </a:r>
          </a:p>
        </p:txBody>
      </p:sp>
      <p:sp>
        <p:nvSpPr>
          <p:cNvPr id="228" name="sw0"/>
          <p:cNvSpPr txBox="1"/>
          <p:nvPr/>
        </p:nvSpPr>
        <p:spPr>
          <a:xfrm>
            <a:off x="7617083" y="8515669"/>
            <a:ext cx="57157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sw0</a:t>
            </a:r>
          </a:p>
        </p:txBody>
      </p:sp>
      <p:sp>
        <p:nvSpPr>
          <p:cNvPr id="229" name="Vref"/>
          <p:cNvSpPr txBox="1"/>
          <p:nvPr/>
        </p:nvSpPr>
        <p:spPr>
          <a:xfrm>
            <a:off x="473203" y="4514849"/>
            <a:ext cx="554734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400"/>
            </a:pPr>
            <a:r>
              <a:t>V</a:t>
            </a:r>
            <a:r>
              <a:rPr baseline="-5999"/>
              <a:t>ref</a:t>
            </a:r>
          </a:p>
        </p:txBody>
      </p:sp>
      <p:sp>
        <p:nvSpPr>
          <p:cNvPr id="230" name="VDAC"/>
          <p:cNvSpPr txBox="1"/>
          <p:nvPr/>
        </p:nvSpPr>
        <p:spPr>
          <a:xfrm>
            <a:off x="11728062" y="6428138"/>
            <a:ext cx="74662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400"/>
            </a:pPr>
            <a:r>
              <a:t>V</a:t>
            </a:r>
            <a:r>
              <a:rPr baseline="-5999"/>
              <a:t>DAC</a:t>
            </a:r>
          </a:p>
        </p:txBody>
      </p:sp>
      <p:sp>
        <p:nvSpPr>
          <p:cNvPr id="231" name="output…"/>
          <p:cNvSpPr txBox="1"/>
          <p:nvPr/>
        </p:nvSpPr>
        <p:spPr>
          <a:xfrm>
            <a:off x="10470008" y="6913192"/>
            <a:ext cx="961728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400"/>
            </a:pPr>
            <a:r>
              <a:t>output</a:t>
            </a:r>
          </a:p>
          <a:p>
            <a:pPr>
              <a:defRPr sz="2400"/>
            </a:pPr>
            <a:r>
              <a:t>buffer</a:t>
            </a:r>
          </a:p>
        </p:txBody>
      </p:sp>
      <p:sp>
        <p:nvSpPr>
          <p:cNvPr id="232" name="Line"/>
          <p:cNvSpPr/>
          <p:nvPr/>
        </p:nvSpPr>
        <p:spPr>
          <a:xfrm>
            <a:off x="1685714" y="1859117"/>
            <a:ext cx="334759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3" name="Line"/>
          <p:cNvSpPr/>
          <p:nvPr/>
        </p:nvSpPr>
        <p:spPr>
          <a:xfrm>
            <a:off x="1688317" y="2968587"/>
            <a:ext cx="490448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4" name="Line"/>
          <p:cNvSpPr/>
          <p:nvPr/>
        </p:nvSpPr>
        <p:spPr>
          <a:xfrm>
            <a:off x="1685236" y="3999499"/>
            <a:ext cx="605136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5" name="MUX"/>
          <p:cNvSpPr/>
          <p:nvPr/>
        </p:nvSpPr>
        <p:spPr>
          <a:xfrm rot="16200000">
            <a:off x="2519513" y="3728944"/>
            <a:ext cx="563514" cy="654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t>MUX</a:t>
            </a:r>
          </a:p>
        </p:txBody>
      </p:sp>
      <p:sp>
        <p:nvSpPr>
          <p:cNvPr id="236" name="MUX"/>
          <p:cNvSpPr/>
          <p:nvPr/>
        </p:nvSpPr>
        <p:spPr>
          <a:xfrm rot="16200000">
            <a:off x="4107013" y="3728944"/>
            <a:ext cx="563514" cy="654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t>MUX</a:t>
            </a:r>
          </a:p>
        </p:txBody>
      </p:sp>
      <p:sp>
        <p:nvSpPr>
          <p:cNvPr id="237" name="MUX"/>
          <p:cNvSpPr/>
          <p:nvPr/>
        </p:nvSpPr>
        <p:spPr>
          <a:xfrm rot="16200000">
            <a:off x="5605613" y="3728944"/>
            <a:ext cx="563514" cy="654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t>MUX</a:t>
            </a:r>
          </a:p>
        </p:txBody>
      </p:sp>
      <p:sp>
        <p:nvSpPr>
          <p:cNvPr id="238" name="MUX"/>
          <p:cNvSpPr/>
          <p:nvPr/>
        </p:nvSpPr>
        <p:spPr>
          <a:xfrm rot="16200000">
            <a:off x="7282013" y="3728944"/>
            <a:ext cx="563514" cy="654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t>MUX</a:t>
            </a:r>
          </a:p>
        </p:txBody>
      </p:sp>
      <p:sp>
        <p:nvSpPr>
          <p:cNvPr id="239" name="MUX"/>
          <p:cNvSpPr/>
          <p:nvPr/>
        </p:nvSpPr>
        <p:spPr>
          <a:xfrm rot="16200000">
            <a:off x="3345013" y="2624043"/>
            <a:ext cx="563514" cy="654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t>MUX</a:t>
            </a:r>
          </a:p>
        </p:txBody>
      </p:sp>
      <p:sp>
        <p:nvSpPr>
          <p:cNvPr id="240" name="MUX"/>
          <p:cNvSpPr/>
          <p:nvPr/>
        </p:nvSpPr>
        <p:spPr>
          <a:xfrm rot="16200000">
            <a:off x="6469213" y="2636743"/>
            <a:ext cx="563514" cy="654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t>MUX</a:t>
            </a:r>
          </a:p>
        </p:txBody>
      </p:sp>
      <p:sp>
        <p:nvSpPr>
          <p:cNvPr id="241" name="MUX"/>
          <p:cNvSpPr/>
          <p:nvPr/>
        </p:nvSpPr>
        <p:spPr>
          <a:xfrm rot="16200000">
            <a:off x="4881713" y="1531843"/>
            <a:ext cx="563514" cy="654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t>MUX</a:t>
            </a:r>
          </a:p>
        </p:txBody>
      </p:sp>
      <p:sp>
        <p:nvSpPr>
          <p:cNvPr id="242" name="Line"/>
          <p:cNvSpPr/>
          <p:nvPr/>
        </p:nvSpPr>
        <p:spPr>
          <a:xfrm rot="16200000">
            <a:off x="2291567" y="4460238"/>
            <a:ext cx="518419" cy="3011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43" name="Line"/>
          <p:cNvSpPr/>
          <p:nvPr/>
        </p:nvSpPr>
        <p:spPr>
          <a:xfrm rot="16200000">
            <a:off x="2796041" y="4461649"/>
            <a:ext cx="518419" cy="2982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44" name="Line"/>
          <p:cNvSpPr/>
          <p:nvPr/>
        </p:nvSpPr>
        <p:spPr>
          <a:xfrm rot="16200000">
            <a:off x="3839369" y="4460238"/>
            <a:ext cx="518420" cy="3011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45" name="Line"/>
          <p:cNvSpPr/>
          <p:nvPr/>
        </p:nvSpPr>
        <p:spPr>
          <a:xfrm rot="16200000">
            <a:off x="4343844" y="4461649"/>
            <a:ext cx="518419" cy="2982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46" name="Line"/>
          <p:cNvSpPr/>
          <p:nvPr/>
        </p:nvSpPr>
        <p:spPr>
          <a:xfrm rot="16200000">
            <a:off x="5452215" y="4460238"/>
            <a:ext cx="518419" cy="3011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47" name="Line"/>
          <p:cNvSpPr/>
          <p:nvPr/>
        </p:nvSpPr>
        <p:spPr>
          <a:xfrm rot="16200000">
            <a:off x="5956689" y="4461649"/>
            <a:ext cx="518419" cy="2982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48" name="Line"/>
          <p:cNvSpPr/>
          <p:nvPr/>
        </p:nvSpPr>
        <p:spPr>
          <a:xfrm rot="16200000">
            <a:off x="7026683" y="4460238"/>
            <a:ext cx="518419" cy="3011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49" name="Line"/>
          <p:cNvSpPr/>
          <p:nvPr/>
        </p:nvSpPr>
        <p:spPr>
          <a:xfrm rot="16200000">
            <a:off x="7531158" y="4461649"/>
            <a:ext cx="518419" cy="2982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50" name="Line"/>
          <p:cNvSpPr/>
          <p:nvPr/>
        </p:nvSpPr>
        <p:spPr>
          <a:xfrm rot="16200000">
            <a:off x="2868249" y="3174792"/>
            <a:ext cx="518419" cy="662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51" name="Line"/>
          <p:cNvSpPr/>
          <p:nvPr/>
        </p:nvSpPr>
        <p:spPr>
          <a:xfrm rot="16200000">
            <a:off x="3839369" y="3196078"/>
            <a:ext cx="518420" cy="6196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52" name="Line"/>
          <p:cNvSpPr/>
          <p:nvPr/>
        </p:nvSpPr>
        <p:spPr>
          <a:xfrm rot="16200000">
            <a:off x="6016283" y="3182968"/>
            <a:ext cx="518420" cy="662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53" name="Line"/>
          <p:cNvSpPr/>
          <p:nvPr/>
        </p:nvSpPr>
        <p:spPr>
          <a:xfrm rot="16200000">
            <a:off x="6987404" y="3204254"/>
            <a:ext cx="518419" cy="6196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54" name="Line"/>
          <p:cNvSpPr/>
          <p:nvPr/>
        </p:nvSpPr>
        <p:spPr>
          <a:xfrm rot="16200000">
            <a:off x="4071125" y="1720677"/>
            <a:ext cx="518419" cy="13775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55" name="Line"/>
          <p:cNvSpPr/>
          <p:nvPr/>
        </p:nvSpPr>
        <p:spPr>
          <a:xfrm rot="16200000">
            <a:off x="5795915" y="1703612"/>
            <a:ext cx="518419" cy="14116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56" name="Line"/>
          <p:cNvSpPr/>
          <p:nvPr/>
        </p:nvSpPr>
        <p:spPr>
          <a:xfrm flipV="1">
            <a:off x="5182626" y="859811"/>
            <a:ext cx="1" cy="7060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57" name="Line"/>
          <p:cNvSpPr/>
          <p:nvPr/>
        </p:nvSpPr>
        <p:spPr>
          <a:xfrm flipV="1">
            <a:off x="2398269" y="4825470"/>
            <a:ext cx="1" cy="30857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58" name="Line"/>
          <p:cNvSpPr/>
          <p:nvPr/>
        </p:nvSpPr>
        <p:spPr>
          <a:xfrm flipV="1">
            <a:off x="3198369" y="4863570"/>
            <a:ext cx="1" cy="75313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59" name="Line"/>
          <p:cNvSpPr/>
          <p:nvPr/>
        </p:nvSpPr>
        <p:spPr>
          <a:xfrm flipV="1">
            <a:off x="3948021" y="4820708"/>
            <a:ext cx="1" cy="131050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60" name="Line"/>
          <p:cNvSpPr/>
          <p:nvPr/>
        </p:nvSpPr>
        <p:spPr>
          <a:xfrm flipV="1">
            <a:off x="4743922" y="4863602"/>
            <a:ext cx="1" cy="175359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61" name="Line"/>
          <p:cNvSpPr/>
          <p:nvPr/>
        </p:nvSpPr>
        <p:spPr>
          <a:xfrm flipV="1">
            <a:off x="5569144" y="4824893"/>
            <a:ext cx="1" cy="2278439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62" name="Line"/>
          <p:cNvSpPr/>
          <p:nvPr/>
        </p:nvSpPr>
        <p:spPr>
          <a:xfrm flipV="1">
            <a:off x="6365045" y="4867787"/>
            <a:ext cx="1" cy="272226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63" name="Line"/>
          <p:cNvSpPr/>
          <p:nvPr/>
        </p:nvSpPr>
        <p:spPr>
          <a:xfrm flipV="1">
            <a:off x="7136048" y="4820708"/>
            <a:ext cx="1" cy="32957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64" name="Line"/>
          <p:cNvSpPr/>
          <p:nvPr/>
        </p:nvSpPr>
        <p:spPr>
          <a:xfrm flipV="1">
            <a:off x="7931948" y="4863602"/>
            <a:ext cx="1" cy="374065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65" name="Line"/>
          <p:cNvSpPr/>
          <p:nvPr/>
        </p:nvSpPr>
        <p:spPr>
          <a:xfrm flipH="1">
            <a:off x="1565695" y="5909733"/>
            <a:ext cx="110710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66" name="Line"/>
          <p:cNvSpPr/>
          <p:nvPr/>
        </p:nvSpPr>
        <p:spPr>
          <a:xfrm flipH="1">
            <a:off x="1557454" y="6405033"/>
            <a:ext cx="194663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67" name="Line"/>
          <p:cNvSpPr/>
          <p:nvPr/>
        </p:nvSpPr>
        <p:spPr>
          <a:xfrm flipH="1">
            <a:off x="1557454" y="6900332"/>
            <a:ext cx="243074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68" name="Line"/>
          <p:cNvSpPr/>
          <p:nvPr/>
        </p:nvSpPr>
        <p:spPr>
          <a:xfrm flipH="1">
            <a:off x="1570787" y="7413476"/>
            <a:ext cx="321536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69" name="Line"/>
          <p:cNvSpPr/>
          <p:nvPr/>
        </p:nvSpPr>
        <p:spPr>
          <a:xfrm flipH="1">
            <a:off x="1565985" y="7907866"/>
            <a:ext cx="39897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0" name="Line"/>
          <p:cNvSpPr/>
          <p:nvPr/>
        </p:nvSpPr>
        <p:spPr>
          <a:xfrm flipH="1">
            <a:off x="1560276" y="8411633"/>
            <a:ext cx="479207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1" name="Line"/>
          <p:cNvSpPr/>
          <p:nvPr/>
        </p:nvSpPr>
        <p:spPr>
          <a:xfrm flipH="1">
            <a:off x="1546112" y="8915400"/>
            <a:ext cx="5619245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2" name="Line"/>
          <p:cNvSpPr/>
          <p:nvPr/>
        </p:nvSpPr>
        <p:spPr>
          <a:xfrm flipH="1" flipV="1">
            <a:off x="3245502" y="5406476"/>
            <a:ext cx="681775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3" name="Line"/>
          <p:cNvSpPr/>
          <p:nvPr/>
        </p:nvSpPr>
        <p:spPr>
          <a:xfrm flipH="1" flipV="1">
            <a:off x="3588402" y="5913638"/>
            <a:ext cx="64513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4" name="Line"/>
          <p:cNvSpPr/>
          <p:nvPr/>
        </p:nvSpPr>
        <p:spPr>
          <a:xfrm flipH="1" flipV="1">
            <a:off x="4438384" y="6405033"/>
            <a:ext cx="561645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5" name="Line"/>
          <p:cNvSpPr/>
          <p:nvPr/>
        </p:nvSpPr>
        <p:spPr>
          <a:xfrm flipH="1">
            <a:off x="5274797" y="6900332"/>
            <a:ext cx="479207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6" name="Line"/>
          <p:cNvSpPr/>
          <p:nvPr/>
        </p:nvSpPr>
        <p:spPr>
          <a:xfrm flipH="1">
            <a:off x="5998697" y="7407353"/>
            <a:ext cx="404430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7" name="Line"/>
          <p:cNvSpPr/>
          <p:nvPr/>
        </p:nvSpPr>
        <p:spPr>
          <a:xfrm flipH="1">
            <a:off x="6917190" y="7904602"/>
            <a:ext cx="312581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8" name="Line"/>
          <p:cNvSpPr/>
          <p:nvPr/>
        </p:nvSpPr>
        <p:spPr>
          <a:xfrm flipH="1">
            <a:off x="7628390" y="8411633"/>
            <a:ext cx="241454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9" name="Line"/>
          <p:cNvSpPr/>
          <p:nvPr/>
        </p:nvSpPr>
        <p:spPr>
          <a:xfrm flipH="1">
            <a:off x="8288790" y="8915400"/>
            <a:ext cx="1776477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80" name="in[1]"/>
          <p:cNvSpPr txBox="1"/>
          <p:nvPr/>
        </p:nvSpPr>
        <p:spPr>
          <a:xfrm>
            <a:off x="936759" y="2692867"/>
            <a:ext cx="690415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in[1]</a:t>
            </a:r>
          </a:p>
        </p:txBody>
      </p:sp>
      <p:sp>
        <p:nvSpPr>
          <p:cNvPr id="281" name="in[2]"/>
          <p:cNvSpPr txBox="1"/>
          <p:nvPr/>
        </p:nvSpPr>
        <p:spPr>
          <a:xfrm>
            <a:off x="936759" y="1624167"/>
            <a:ext cx="690415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in[2]</a:t>
            </a:r>
          </a:p>
        </p:txBody>
      </p:sp>
      <p:sp>
        <p:nvSpPr>
          <p:cNvPr id="282" name="in[0]"/>
          <p:cNvSpPr txBox="1"/>
          <p:nvPr/>
        </p:nvSpPr>
        <p:spPr>
          <a:xfrm>
            <a:off x="936759" y="3732857"/>
            <a:ext cx="690415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in[0]</a:t>
            </a:r>
          </a:p>
        </p:txBody>
      </p:sp>
      <p:sp>
        <p:nvSpPr>
          <p:cNvPr id="283" name="1"/>
          <p:cNvSpPr txBox="1"/>
          <p:nvPr/>
        </p:nvSpPr>
        <p:spPr>
          <a:xfrm>
            <a:off x="5040718" y="467067"/>
            <a:ext cx="283816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1</a:t>
            </a:r>
          </a:p>
        </p:txBody>
      </p:sp>
      <p:sp>
        <p:nvSpPr>
          <p:cNvPr id="284" name="1"/>
          <p:cNvSpPr txBox="1"/>
          <p:nvPr/>
        </p:nvSpPr>
        <p:spPr>
          <a:xfrm>
            <a:off x="4914465" y="1910006"/>
            <a:ext cx="2061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300"/>
            </a:lvl1pPr>
          </a:lstStyle>
          <a:p>
            <a:r>
              <a:t>1</a:t>
            </a:r>
          </a:p>
        </p:txBody>
      </p:sp>
      <p:sp>
        <p:nvSpPr>
          <p:cNvPr id="285" name="0"/>
          <p:cNvSpPr txBox="1"/>
          <p:nvPr/>
        </p:nvSpPr>
        <p:spPr>
          <a:xfrm>
            <a:off x="5231965" y="1898559"/>
            <a:ext cx="2061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300"/>
            </a:lvl1pPr>
          </a:lstStyle>
          <a:p>
            <a:r>
              <a:t>0</a:t>
            </a:r>
          </a:p>
        </p:txBody>
      </p:sp>
      <p:sp>
        <p:nvSpPr>
          <p:cNvPr id="286" name="1"/>
          <p:cNvSpPr txBox="1"/>
          <p:nvPr/>
        </p:nvSpPr>
        <p:spPr>
          <a:xfrm>
            <a:off x="3364400" y="2993412"/>
            <a:ext cx="2061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300"/>
            </a:lvl1pPr>
          </a:lstStyle>
          <a:p>
            <a:r>
              <a:t>1</a:t>
            </a:r>
          </a:p>
        </p:txBody>
      </p:sp>
      <p:sp>
        <p:nvSpPr>
          <p:cNvPr id="287" name="0"/>
          <p:cNvSpPr txBox="1"/>
          <p:nvPr/>
        </p:nvSpPr>
        <p:spPr>
          <a:xfrm>
            <a:off x="3681900" y="2981965"/>
            <a:ext cx="2061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300"/>
            </a:lvl1pPr>
          </a:lstStyle>
          <a:p>
            <a:r>
              <a:t>0</a:t>
            </a:r>
          </a:p>
        </p:txBody>
      </p:sp>
      <p:sp>
        <p:nvSpPr>
          <p:cNvPr id="288" name="1"/>
          <p:cNvSpPr txBox="1"/>
          <p:nvPr/>
        </p:nvSpPr>
        <p:spPr>
          <a:xfrm>
            <a:off x="6501300" y="2990199"/>
            <a:ext cx="2061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300"/>
            </a:lvl1pPr>
          </a:lstStyle>
          <a:p>
            <a:r>
              <a:t>1</a:t>
            </a:r>
          </a:p>
        </p:txBody>
      </p:sp>
      <p:sp>
        <p:nvSpPr>
          <p:cNvPr id="289" name="0"/>
          <p:cNvSpPr txBox="1"/>
          <p:nvPr/>
        </p:nvSpPr>
        <p:spPr>
          <a:xfrm>
            <a:off x="6818800" y="2978752"/>
            <a:ext cx="2061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300"/>
            </a:lvl1pPr>
          </a:lstStyle>
          <a:p>
            <a:r>
              <a:t>0</a:t>
            </a:r>
          </a:p>
        </p:txBody>
      </p:sp>
      <p:sp>
        <p:nvSpPr>
          <p:cNvPr id="290" name="1"/>
          <p:cNvSpPr txBox="1"/>
          <p:nvPr/>
        </p:nvSpPr>
        <p:spPr>
          <a:xfrm>
            <a:off x="2554198" y="4096260"/>
            <a:ext cx="2061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300"/>
            </a:lvl1pPr>
          </a:lstStyle>
          <a:p>
            <a:r>
              <a:t>1</a:t>
            </a:r>
          </a:p>
        </p:txBody>
      </p:sp>
      <p:sp>
        <p:nvSpPr>
          <p:cNvPr id="291" name="0"/>
          <p:cNvSpPr txBox="1"/>
          <p:nvPr/>
        </p:nvSpPr>
        <p:spPr>
          <a:xfrm>
            <a:off x="2871698" y="4084813"/>
            <a:ext cx="2061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300"/>
            </a:lvl1pPr>
          </a:lstStyle>
          <a:p>
            <a:r>
              <a:t>0</a:t>
            </a:r>
          </a:p>
        </p:txBody>
      </p:sp>
      <p:sp>
        <p:nvSpPr>
          <p:cNvPr id="292" name="1"/>
          <p:cNvSpPr txBox="1"/>
          <p:nvPr/>
        </p:nvSpPr>
        <p:spPr>
          <a:xfrm>
            <a:off x="4109971" y="4096260"/>
            <a:ext cx="2061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300"/>
            </a:lvl1pPr>
          </a:lstStyle>
          <a:p>
            <a:r>
              <a:t>1</a:t>
            </a:r>
          </a:p>
        </p:txBody>
      </p:sp>
      <p:sp>
        <p:nvSpPr>
          <p:cNvPr id="293" name="0"/>
          <p:cNvSpPr txBox="1"/>
          <p:nvPr/>
        </p:nvSpPr>
        <p:spPr>
          <a:xfrm>
            <a:off x="4427471" y="4084813"/>
            <a:ext cx="2061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300"/>
            </a:lvl1pPr>
          </a:lstStyle>
          <a:p>
            <a:r>
              <a:t>0</a:t>
            </a:r>
          </a:p>
        </p:txBody>
      </p:sp>
      <p:sp>
        <p:nvSpPr>
          <p:cNvPr id="294" name="1"/>
          <p:cNvSpPr txBox="1"/>
          <p:nvPr/>
        </p:nvSpPr>
        <p:spPr>
          <a:xfrm>
            <a:off x="5660921" y="4096260"/>
            <a:ext cx="20612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300"/>
            </a:lvl1pPr>
          </a:lstStyle>
          <a:p>
            <a:r>
              <a:t>1</a:t>
            </a:r>
          </a:p>
        </p:txBody>
      </p:sp>
      <p:sp>
        <p:nvSpPr>
          <p:cNvPr id="295" name="0"/>
          <p:cNvSpPr txBox="1"/>
          <p:nvPr/>
        </p:nvSpPr>
        <p:spPr>
          <a:xfrm>
            <a:off x="5978421" y="4084813"/>
            <a:ext cx="20612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300"/>
            </a:lvl1pPr>
          </a:lstStyle>
          <a:p>
            <a:r>
              <a:t>0</a:t>
            </a:r>
          </a:p>
        </p:txBody>
      </p:sp>
      <p:sp>
        <p:nvSpPr>
          <p:cNvPr id="296" name="1"/>
          <p:cNvSpPr txBox="1"/>
          <p:nvPr/>
        </p:nvSpPr>
        <p:spPr>
          <a:xfrm>
            <a:off x="7283988" y="4096260"/>
            <a:ext cx="2061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300"/>
            </a:lvl1pPr>
          </a:lstStyle>
          <a:p>
            <a:r>
              <a:t>1</a:t>
            </a:r>
          </a:p>
        </p:txBody>
      </p:sp>
      <p:sp>
        <p:nvSpPr>
          <p:cNvPr id="297" name="0"/>
          <p:cNvSpPr txBox="1"/>
          <p:nvPr/>
        </p:nvSpPr>
        <p:spPr>
          <a:xfrm>
            <a:off x="7601488" y="4084813"/>
            <a:ext cx="2061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300"/>
            </a:lvl1pPr>
          </a:lstStyle>
          <a:p>
            <a:r>
              <a:t>0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DAC can also be done using digital components, via pulse-width modulation (PWM)."/>
          <p:cNvSpPr txBox="1">
            <a:spLocks noGrp="1"/>
          </p:cNvSpPr>
          <p:nvPr>
            <p:ph type="body" sz="half" idx="1"/>
          </p:nvPr>
        </p:nvSpPr>
        <p:spPr>
          <a:xfrm>
            <a:off x="952500" y="2686050"/>
            <a:ext cx="11099800" cy="2845098"/>
          </a:xfrm>
          <a:prstGeom prst="rect">
            <a:avLst/>
          </a:prstGeom>
        </p:spPr>
        <p:txBody>
          <a:bodyPr/>
          <a:lstStyle/>
          <a:p>
            <a:r>
              <a:t>DAC can also be done using digital components, via </a:t>
            </a:r>
            <a:r>
              <a:rPr b="1"/>
              <a:t>pulse-width modulation</a:t>
            </a:r>
            <a:r>
              <a:t> (PWM).</a:t>
            </a:r>
          </a:p>
        </p:txBody>
      </p:sp>
      <p:sp>
        <p:nvSpPr>
          <p:cNvPr id="3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grpSp>
        <p:nvGrpSpPr>
          <p:cNvPr id="314" name="Group"/>
          <p:cNvGrpSpPr/>
          <p:nvPr/>
        </p:nvGrpSpPr>
        <p:grpSpPr>
          <a:xfrm>
            <a:off x="824958" y="5689600"/>
            <a:ext cx="10043939" cy="1270001"/>
            <a:chOff x="-1091819" y="0"/>
            <a:chExt cx="10043938" cy="1270000"/>
          </a:xfrm>
        </p:grpSpPr>
        <p:sp>
          <p:nvSpPr>
            <p:cNvPr id="302" name="Line"/>
            <p:cNvSpPr/>
            <p:nvPr/>
          </p:nvSpPr>
          <p:spPr>
            <a:xfrm flipV="1">
              <a:off x="2623285" y="0"/>
              <a:ext cx="1270001" cy="1270000"/>
            </a:xfrm>
            <a:prstGeom prst="line">
              <a:avLst/>
            </a:prstGeom>
            <a:noFill/>
            <a:ln w="25400" cap="flat">
              <a:solidFill>
                <a:schemeClr val="accent3">
                  <a:hueOff val="362282"/>
                  <a:satOff val="31803"/>
                  <a:lumOff val="-182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03" name="Line"/>
            <p:cNvSpPr/>
            <p:nvPr/>
          </p:nvSpPr>
          <p:spPr>
            <a:xfrm flipV="1">
              <a:off x="3889051" y="0"/>
              <a:ext cx="1" cy="1270000"/>
            </a:xfrm>
            <a:prstGeom prst="line">
              <a:avLst/>
            </a:prstGeom>
            <a:noFill/>
            <a:ln w="25400" cap="flat">
              <a:solidFill>
                <a:schemeClr val="accent3">
                  <a:hueOff val="362282"/>
                  <a:satOff val="31803"/>
                  <a:lumOff val="-182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04" name="Line"/>
            <p:cNvSpPr/>
            <p:nvPr/>
          </p:nvSpPr>
          <p:spPr>
            <a:xfrm flipV="1">
              <a:off x="3889051" y="0"/>
              <a:ext cx="1270001" cy="1270000"/>
            </a:xfrm>
            <a:prstGeom prst="line">
              <a:avLst/>
            </a:prstGeom>
            <a:noFill/>
            <a:ln w="25400" cap="flat">
              <a:solidFill>
                <a:schemeClr val="accent3">
                  <a:hueOff val="362282"/>
                  <a:satOff val="31803"/>
                  <a:lumOff val="-182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05" name="Line"/>
            <p:cNvSpPr/>
            <p:nvPr/>
          </p:nvSpPr>
          <p:spPr>
            <a:xfrm flipV="1">
              <a:off x="5150584" y="0"/>
              <a:ext cx="1" cy="1270000"/>
            </a:xfrm>
            <a:prstGeom prst="line">
              <a:avLst/>
            </a:prstGeom>
            <a:noFill/>
            <a:ln w="25400" cap="flat">
              <a:solidFill>
                <a:schemeClr val="accent3">
                  <a:hueOff val="362282"/>
                  <a:satOff val="31803"/>
                  <a:lumOff val="-182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06" name="Line"/>
            <p:cNvSpPr/>
            <p:nvPr/>
          </p:nvSpPr>
          <p:spPr>
            <a:xfrm flipV="1">
              <a:off x="5150584" y="0"/>
              <a:ext cx="1270001" cy="1270000"/>
            </a:xfrm>
            <a:prstGeom prst="line">
              <a:avLst/>
            </a:prstGeom>
            <a:noFill/>
            <a:ln w="25400" cap="flat">
              <a:solidFill>
                <a:schemeClr val="accent3">
                  <a:hueOff val="362282"/>
                  <a:satOff val="31803"/>
                  <a:lumOff val="-182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07" name="Line"/>
            <p:cNvSpPr/>
            <p:nvPr/>
          </p:nvSpPr>
          <p:spPr>
            <a:xfrm flipV="1">
              <a:off x="6412117" y="0"/>
              <a:ext cx="1" cy="1270000"/>
            </a:xfrm>
            <a:prstGeom prst="line">
              <a:avLst/>
            </a:prstGeom>
            <a:noFill/>
            <a:ln w="25400" cap="flat">
              <a:solidFill>
                <a:schemeClr val="accent3">
                  <a:hueOff val="362282"/>
                  <a:satOff val="31803"/>
                  <a:lumOff val="-182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08" name="Line"/>
            <p:cNvSpPr/>
            <p:nvPr/>
          </p:nvSpPr>
          <p:spPr>
            <a:xfrm flipV="1">
              <a:off x="6412118" y="0"/>
              <a:ext cx="1270001" cy="1270000"/>
            </a:xfrm>
            <a:prstGeom prst="line">
              <a:avLst/>
            </a:prstGeom>
            <a:noFill/>
            <a:ln w="25400" cap="flat">
              <a:solidFill>
                <a:schemeClr val="accent3">
                  <a:hueOff val="362282"/>
                  <a:satOff val="31803"/>
                  <a:lumOff val="-182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09" name="Line"/>
            <p:cNvSpPr/>
            <p:nvPr/>
          </p:nvSpPr>
          <p:spPr>
            <a:xfrm flipV="1">
              <a:off x="7682117" y="0"/>
              <a:ext cx="1" cy="1270000"/>
            </a:xfrm>
            <a:prstGeom prst="line">
              <a:avLst/>
            </a:prstGeom>
            <a:noFill/>
            <a:ln w="25400" cap="flat">
              <a:solidFill>
                <a:schemeClr val="accent3">
                  <a:hueOff val="362282"/>
                  <a:satOff val="31803"/>
                  <a:lumOff val="-182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10" name="Line"/>
            <p:cNvSpPr/>
            <p:nvPr/>
          </p:nvSpPr>
          <p:spPr>
            <a:xfrm flipV="1">
              <a:off x="7682118" y="0"/>
              <a:ext cx="1270001" cy="1270000"/>
            </a:xfrm>
            <a:prstGeom prst="line">
              <a:avLst/>
            </a:prstGeom>
            <a:noFill/>
            <a:ln w="25400" cap="flat">
              <a:solidFill>
                <a:schemeClr val="accent3">
                  <a:hueOff val="362282"/>
                  <a:satOff val="31803"/>
                  <a:lumOff val="-182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11" name="Line"/>
            <p:cNvSpPr/>
            <p:nvPr/>
          </p:nvSpPr>
          <p:spPr>
            <a:xfrm flipV="1">
              <a:off x="8947884" y="0"/>
              <a:ext cx="1" cy="1270000"/>
            </a:xfrm>
            <a:prstGeom prst="line">
              <a:avLst/>
            </a:prstGeom>
            <a:noFill/>
            <a:ln w="25400" cap="flat">
              <a:solidFill>
                <a:schemeClr val="accent3">
                  <a:hueOff val="362282"/>
                  <a:satOff val="31803"/>
                  <a:lumOff val="-182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12" name="Line"/>
            <p:cNvSpPr/>
            <p:nvPr/>
          </p:nvSpPr>
          <p:spPr>
            <a:xfrm flipV="1">
              <a:off x="2619565" y="0"/>
              <a:ext cx="1" cy="1270000"/>
            </a:xfrm>
            <a:prstGeom prst="line">
              <a:avLst/>
            </a:prstGeom>
            <a:noFill/>
            <a:ln w="25400" cap="flat">
              <a:solidFill>
                <a:schemeClr val="accent3">
                  <a:hueOff val="362282"/>
                  <a:satOff val="31803"/>
                  <a:lumOff val="-182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13" name="triangle wave"/>
            <p:cNvSpPr txBox="1"/>
            <p:nvPr/>
          </p:nvSpPr>
          <p:spPr>
            <a:xfrm>
              <a:off x="-1091819" y="22552"/>
              <a:ext cx="3494546" cy="595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rPr lang="en-GB" dirty="0"/>
                <a:t>counter (sawtooth)</a:t>
              </a:r>
              <a:endParaRPr dirty="0"/>
            </a:p>
          </p:txBody>
        </p:sp>
      </p:grpSp>
      <p:grpSp>
        <p:nvGrpSpPr>
          <p:cNvPr id="317" name="Group"/>
          <p:cNvGrpSpPr/>
          <p:nvPr/>
        </p:nvGrpSpPr>
        <p:grpSpPr>
          <a:xfrm>
            <a:off x="2985012" y="5865207"/>
            <a:ext cx="8103010" cy="1026181"/>
            <a:chOff x="-24676" y="0"/>
            <a:chExt cx="8103008" cy="1026179"/>
          </a:xfrm>
        </p:grpSpPr>
        <p:sp>
          <p:nvSpPr>
            <p:cNvPr id="315" name="Line"/>
            <p:cNvSpPr/>
            <p:nvPr/>
          </p:nvSpPr>
          <p:spPr>
            <a:xfrm>
              <a:off x="1446500" y="0"/>
              <a:ext cx="6631832" cy="757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3750" y="21600"/>
                  </a:lnTo>
                  <a:lnTo>
                    <a:pt x="3750" y="16658"/>
                  </a:lnTo>
                  <a:lnTo>
                    <a:pt x="8712" y="16658"/>
                  </a:lnTo>
                  <a:lnTo>
                    <a:pt x="8712" y="11688"/>
                  </a:lnTo>
                  <a:lnTo>
                    <a:pt x="11955" y="11688"/>
                  </a:lnTo>
                  <a:lnTo>
                    <a:pt x="11955" y="5582"/>
                  </a:lnTo>
                  <a:lnTo>
                    <a:pt x="16909" y="5582"/>
                  </a:lnTo>
                  <a:lnTo>
                    <a:pt x="16909" y="0"/>
                  </a:lnTo>
                  <a:lnTo>
                    <a:pt x="21600" y="0"/>
                  </a:lnTo>
                </a:path>
              </a:pathLst>
            </a:custGeom>
            <a:noFill/>
            <a:ln w="254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16" name="data in"/>
            <p:cNvSpPr txBox="1"/>
            <p:nvPr/>
          </p:nvSpPr>
          <p:spPr>
            <a:xfrm>
              <a:off x="-24677" y="441979"/>
              <a:ext cx="1334493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r>
                <a:t>data in</a:t>
              </a:r>
            </a:p>
          </p:txBody>
        </p:sp>
      </p:grpSp>
      <p:grpSp>
        <p:nvGrpSpPr>
          <p:cNvPr id="345" name="Group"/>
          <p:cNvGrpSpPr/>
          <p:nvPr/>
        </p:nvGrpSpPr>
        <p:grpSpPr>
          <a:xfrm>
            <a:off x="1958338" y="5685994"/>
            <a:ext cx="8926979" cy="2285374"/>
            <a:chOff x="-48254" y="0"/>
            <a:chExt cx="8926977" cy="2285372"/>
          </a:xfrm>
        </p:grpSpPr>
        <p:sp>
          <p:nvSpPr>
            <p:cNvPr id="318" name="Line"/>
            <p:cNvSpPr/>
            <p:nvPr/>
          </p:nvSpPr>
          <p:spPr>
            <a:xfrm flipV="1">
              <a:off x="2863562" y="0"/>
              <a:ext cx="1" cy="1597985"/>
            </a:xfrm>
            <a:prstGeom prst="line">
              <a:avLst/>
            </a:prstGeom>
            <a:noFill/>
            <a:ln w="12700" cap="flat">
              <a:solidFill>
                <a:srgbClr val="D2D0AD"/>
              </a:solidFill>
              <a:prstDash val="sysDot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19" name="Line"/>
            <p:cNvSpPr/>
            <p:nvPr/>
          </p:nvSpPr>
          <p:spPr>
            <a:xfrm flipV="1">
              <a:off x="4294429" y="0"/>
              <a:ext cx="1" cy="1597985"/>
            </a:xfrm>
            <a:prstGeom prst="line">
              <a:avLst/>
            </a:prstGeom>
            <a:noFill/>
            <a:ln w="12700" cap="flat">
              <a:solidFill>
                <a:srgbClr val="D2D0AD"/>
              </a:solidFill>
              <a:prstDash val="sysDot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20" name="Line"/>
            <p:cNvSpPr/>
            <p:nvPr/>
          </p:nvSpPr>
          <p:spPr>
            <a:xfrm flipV="1">
              <a:off x="5729529" y="0"/>
              <a:ext cx="1" cy="1597985"/>
            </a:xfrm>
            <a:prstGeom prst="line">
              <a:avLst/>
            </a:prstGeom>
            <a:noFill/>
            <a:ln w="12700" cap="flat">
              <a:solidFill>
                <a:srgbClr val="D2D0AD"/>
              </a:solidFill>
              <a:prstDash val="sysDot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21" name="Line"/>
            <p:cNvSpPr/>
            <p:nvPr/>
          </p:nvSpPr>
          <p:spPr>
            <a:xfrm flipV="1">
              <a:off x="7211196" y="0"/>
              <a:ext cx="1" cy="1597985"/>
            </a:xfrm>
            <a:prstGeom prst="line">
              <a:avLst/>
            </a:prstGeom>
            <a:noFill/>
            <a:ln w="12700" cap="flat">
              <a:solidFill>
                <a:srgbClr val="D2D0AD"/>
              </a:solidFill>
              <a:prstDash val="sysDot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22" name="Line"/>
            <p:cNvSpPr/>
            <p:nvPr/>
          </p:nvSpPr>
          <p:spPr>
            <a:xfrm flipV="1">
              <a:off x="8692863" y="0"/>
              <a:ext cx="1" cy="1597985"/>
            </a:xfrm>
            <a:prstGeom prst="line">
              <a:avLst/>
            </a:prstGeom>
            <a:noFill/>
            <a:ln w="12700" cap="flat">
              <a:solidFill>
                <a:srgbClr val="D2D0AD"/>
              </a:solidFill>
              <a:prstDash val="sysDot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23" name="Line"/>
            <p:cNvSpPr/>
            <p:nvPr/>
          </p:nvSpPr>
          <p:spPr>
            <a:xfrm flipV="1">
              <a:off x="2533470" y="1612272"/>
              <a:ext cx="347134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24" name="Line"/>
            <p:cNvSpPr/>
            <p:nvPr/>
          </p:nvSpPr>
          <p:spPr>
            <a:xfrm flipV="1">
              <a:off x="3803470" y="1612272"/>
              <a:ext cx="512234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25" name="Line"/>
            <p:cNvSpPr/>
            <p:nvPr/>
          </p:nvSpPr>
          <p:spPr>
            <a:xfrm flipV="1">
              <a:off x="5052046" y="1612272"/>
              <a:ext cx="694525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26" name="Line"/>
            <p:cNvSpPr/>
            <p:nvPr/>
          </p:nvSpPr>
          <p:spPr>
            <a:xfrm flipV="1">
              <a:off x="6309346" y="1612272"/>
              <a:ext cx="918892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27" name="Line"/>
            <p:cNvSpPr/>
            <p:nvPr/>
          </p:nvSpPr>
          <p:spPr>
            <a:xfrm>
              <a:off x="7590187" y="1612272"/>
              <a:ext cx="110939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28" name="Line"/>
            <p:cNvSpPr/>
            <p:nvPr/>
          </p:nvSpPr>
          <p:spPr>
            <a:xfrm>
              <a:off x="2872137" y="2272672"/>
              <a:ext cx="93980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29" name="Line"/>
            <p:cNvSpPr/>
            <p:nvPr/>
          </p:nvSpPr>
          <p:spPr>
            <a:xfrm>
              <a:off x="4296653" y="2272672"/>
              <a:ext cx="766234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30" name="Line"/>
            <p:cNvSpPr/>
            <p:nvPr/>
          </p:nvSpPr>
          <p:spPr>
            <a:xfrm>
              <a:off x="5721170" y="2272672"/>
              <a:ext cx="593535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31" name="Line"/>
            <p:cNvSpPr/>
            <p:nvPr/>
          </p:nvSpPr>
          <p:spPr>
            <a:xfrm>
              <a:off x="7202837" y="2272672"/>
              <a:ext cx="41384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32" name="Line"/>
            <p:cNvSpPr/>
            <p:nvPr/>
          </p:nvSpPr>
          <p:spPr>
            <a:xfrm>
              <a:off x="8692443" y="2285372"/>
              <a:ext cx="18628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33" name="Line"/>
            <p:cNvSpPr/>
            <p:nvPr/>
          </p:nvSpPr>
          <p:spPr>
            <a:xfrm flipV="1">
              <a:off x="2867903" y="1607773"/>
              <a:ext cx="1" cy="67601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34" name="Line"/>
            <p:cNvSpPr/>
            <p:nvPr/>
          </p:nvSpPr>
          <p:spPr>
            <a:xfrm flipV="1">
              <a:off x="2542450" y="1607773"/>
              <a:ext cx="1" cy="67601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35" name="Line"/>
            <p:cNvSpPr/>
            <p:nvPr/>
          </p:nvSpPr>
          <p:spPr>
            <a:xfrm flipV="1">
              <a:off x="3811936" y="1607773"/>
              <a:ext cx="1" cy="67601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36" name="Line"/>
            <p:cNvSpPr/>
            <p:nvPr/>
          </p:nvSpPr>
          <p:spPr>
            <a:xfrm flipV="1">
              <a:off x="5060770" y="1607773"/>
              <a:ext cx="1" cy="67601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37" name="Line"/>
            <p:cNvSpPr/>
            <p:nvPr/>
          </p:nvSpPr>
          <p:spPr>
            <a:xfrm flipV="1">
              <a:off x="6317556" y="1607773"/>
              <a:ext cx="1" cy="67601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38" name="Line"/>
            <p:cNvSpPr/>
            <p:nvPr/>
          </p:nvSpPr>
          <p:spPr>
            <a:xfrm flipV="1">
              <a:off x="7599742" y="1607773"/>
              <a:ext cx="1" cy="67601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39" name="Line"/>
            <p:cNvSpPr/>
            <p:nvPr/>
          </p:nvSpPr>
          <p:spPr>
            <a:xfrm flipV="1">
              <a:off x="8869228" y="1607773"/>
              <a:ext cx="1" cy="67601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40" name="Line"/>
            <p:cNvSpPr/>
            <p:nvPr/>
          </p:nvSpPr>
          <p:spPr>
            <a:xfrm flipV="1">
              <a:off x="4298770" y="1607773"/>
              <a:ext cx="1" cy="67601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41" name="Line"/>
            <p:cNvSpPr/>
            <p:nvPr/>
          </p:nvSpPr>
          <p:spPr>
            <a:xfrm flipV="1">
              <a:off x="5733870" y="1607773"/>
              <a:ext cx="1" cy="67601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42" name="Line"/>
            <p:cNvSpPr/>
            <p:nvPr/>
          </p:nvSpPr>
          <p:spPr>
            <a:xfrm flipV="1">
              <a:off x="7215536" y="1607773"/>
              <a:ext cx="1" cy="67601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43" name="Line"/>
            <p:cNvSpPr/>
            <p:nvPr/>
          </p:nvSpPr>
          <p:spPr>
            <a:xfrm flipV="1">
              <a:off x="8697203" y="1607773"/>
              <a:ext cx="1" cy="67601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44" name="PWM signal"/>
            <p:cNvSpPr txBox="1"/>
            <p:nvPr/>
          </p:nvSpPr>
          <p:spPr>
            <a:xfrm>
              <a:off x="-48255" y="1653679"/>
              <a:ext cx="2282231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PWM signal</a:t>
              </a:r>
            </a:p>
          </p:txBody>
        </p:sp>
      </p:grpSp>
      <p:grpSp>
        <p:nvGrpSpPr>
          <p:cNvPr id="348" name="Group"/>
          <p:cNvGrpSpPr/>
          <p:nvPr/>
        </p:nvGrpSpPr>
        <p:grpSpPr>
          <a:xfrm>
            <a:off x="1386507" y="8529621"/>
            <a:ext cx="9539661" cy="672720"/>
            <a:chOff x="-82384" y="18"/>
            <a:chExt cx="9539659" cy="672718"/>
          </a:xfrm>
        </p:grpSpPr>
        <p:sp>
          <p:nvSpPr>
            <p:cNvPr id="346" name="+ low pass filter"/>
            <p:cNvSpPr txBox="1"/>
            <p:nvPr/>
          </p:nvSpPr>
          <p:spPr>
            <a:xfrm>
              <a:off x="-82385" y="88537"/>
              <a:ext cx="2926359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+ low pass filter</a:t>
              </a:r>
            </a:p>
          </p:txBody>
        </p:sp>
        <p:sp>
          <p:nvSpPr>
            <p:cNvPr id="347" name="Line"/>
            <p:cNvSpPr/>
            <p:nvPr/>
          </p:nvSpPr>
          <p:spPr>
            <a:xfrm>
              <a:off x="3039343" y="18"/>
              <a:ext cx="6417933" cy="5079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374" extrusionOk="0">
                  <a:moveTo>
                    <a:pt x="0" y="19681"/>
                  </a:moveTo>
                  <a:cubicBezTo>
                    <a:pt x="3632" y="21600"/>
                    <a:pt x="7271" y="19529"/>
                    <a:pt x="10871" y="13494"/>
                  </a:cubicBezTo>
                  <a:cubicBezTo>
                    <a:pt x="11888" y="11790"/>
                    <a:pt x="12901" y="9770"/>
                    <a:pt x="13917" y="8022"/>
                  </a:cubicBezTo>
                  <a:cubicBezTo>
                    <a:pt x="16463" y="3640"/>
                    <a:pt x="19028" y="962"/>
                    <a:pt x="21600" y="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4" name="DAC via PWM">
            <a:extLst>
              <a:ext uri="{FF2B5EF4-FFF2-40B4-BE49-F238E27FC236}">
                <a16:creationId xmlns:a16="http://schemas.microsoft.com/office/drawing/2014/main" id="{79587B2B-4F35-8330-EC89-35C714AB44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0" y="546100"/>
            <a:ext cx="11099800" cy="130661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dirty="0"/>
              <a:t>DAC via PWM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1" build="p" bldLvl="5" animBg="1" advAuto="0"/>
      <p:bldP spid="314" grpId="3" animBg="1" advAuto="0"/>
      <p:bldP spid="317" grpId="2" animBg="1" advAuto="0"/>
      <p:bldP spid="345" grpId="4" animBg="1" advAuto="0"/>
      <p:bldP spid="348" grpId="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grpSp>
        <p:nvGrpSpPr>
          <p:cNvPr id="354" name="Group"/>
          <p:cNvGrpSpPr/>
          <p:nvPr/>
        </p:nvGrpSpPr>
        <p:grpSpPr>
          <a:xfrm>
            <a:off x="301034" y="5683234"/>
            <a:ext cx="12402732" cy="3831117"/>
            <a:chOff x="0" y="0"/>
            <a:chExt cx="12402730" cy="3831115"/>
          </a:xfrm>
        </p:grpSpPr>
        <p:sp>
          <p:nvSpPr>
            <p:cNvPr id="352" name="Rectangle"/>
            <p:cNvSpPr/>
            <p:nvPr/>
          </p:nvSpPr>
          <p:spPr>
            <a:xfrm>
              <a:off x="138368" y="0"/>
              <a:ext cx="12264363" cy="383111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pic>
          <p:nvPicPr>
            <p:cNvPr id="353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49568"/>
              <a:ext cx="12256927" cy="33319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55" name="DAC can also be done using digital components, via pulse-width modulation (PWM)."/>
          <p:cNvSpPr txBox="1">
            <a:spLocks noGrp="1"/>
          </p:cNvSpPr>
          <p:nvPr>
            <p:ph type="body" sz="half" idx="1"/>
          </p:nvPr>
        </p:nvSpPr>
        <p:spPr>
          <a:xfrm>
            <a:off x="952500" y="2686050"/>
            <a:ext cx="11099800" cy="2845098"/>
          </a:xfrm>
          <a:prstGeom prst="rect">
            <a:avLst/>
          </a:prstGeom>
        </p:spPr>
        <p:txBody>
          <a:bodyPr/>
          <a:lstStyle/>
          <a:p>
            <a:r>
              <a:t>DAC can also be done using digital components, via </a:t>
            </a:r>
            <a:r>
              <a:rPr b="1"/>
              <a:t>pulse-width modulation</a:t>
            </a:r>
            <a:r>
              <a:t> (PWM).</a:t>
            </a:r>
          </a:p>
        </p:txBody>
      </p:sp>
      <p:sp>
        <p:nvSpPr>
          <p:cNvPr id="4" name="DAC via PWM">
            <a:extLst>
              <a:ext uri="{FF2B5EF4-FFF2-40B4-BE49-F238E27FC236}">
                <a16:creationId xmlns:a16="http://schemas.microsoft.com/office/drawing/2014/main" id="{8FDC3672-CC14-7A9F-3C38-E32188DACA79}"/>
              </a:ext>
            </a:extLst>
          </p:cNvPr>
          <p:cNvSpPr txBox="1">
            <a:spLocks/>
          </p:cNvSpPr>
          <p:nvPr/>
        </p:nvSpPr>
        <p:spPr>
          <a:xfrm>
            <a:off x="952500" y="546100"/>
            <a:ext cx="11099800" cy="1306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 fontScale="97500"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hangingPunct="1"/>
            <a:r>
              <a:rPr lang="en-GB"/>
              <a:t>DAC via PWM</a:t>
            </a:r>
            <a:endParaRPr lang="en-GB" dirty="0"/>
          </a:p>
        </p:txBody>
      </p:sp>
      <p:pic>
        <p:nvPicPr>
          <p:cNvPr id="2" name="Picture 1" descr="Passive Low Pass Filter Circuit - A Passive RC Filter Tutorial">
            <a:extLst>
              <a:ext uri="{FF2B5EF4-FFF2-40B4-BE49-F238E27FC236}">
                <a16:creationId xmlns:a16="http://schemas.microsoft.com/office/drawing/2014/main" id="{75F31069-3930-786B-2D36-08DDED12A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955" y="4808814"/>
            <a:ext cx="2700910" cy="174883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grpSp>
        <p:nvGrpSpPr>
          <p:cNvPr id="360" name="Group"/>
          <p:cNvGrpSpPr/>
          <p:nvPr/>
        </p:nvGrpSpPr>
        <p:grpSpPr>
          <a:xfrm>
            <a:off x="301034" y="5683234"/>
            <a:ext cx="12402732" cy="3831117"/>
            <a:chOff x="0" y="0"/>
            <a:chExt cx="12402730" cy="3831115"/>
          </a:xfrm>
        </p:grpSpPr>
        <p:sp>
          <p:nvSpPr>
            <p:cNvPr id="358" name="Rectangle"/>
            <p:cNvSpPr/>
            <p:nvPr/>
          </p:nvSpPr>
          <p:spPr>
            <a:xfrm>
              <a:off x="138368" y="0"/>
              <a:ext cx="12264363" cy="383111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pic>
          <p:nvPicPr>
            <p:cNvPr id="35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49568"/>
              <a:ext cx="12256927" cy="33319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6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351" y="7156112"/>
            <a:ext cx="1280584" cy="1280584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934" y="5899150"/>
            <a:ext cx="1259418" cy="1259417"/>
          </a:xfrm>
          <a:prstGeom prst="rect">
            <a:avLst/>
          </a:prstGeom>
          <a:ln w="12700">
            <a:miter lim="400000"/>
          </a:ln>
        </p:spPr>
      </p:pic>
      <p:pic>
        <p:nvPicPr>
          <p:cNvPr id="36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817" y="5961591"/>
            <a:ext cx="4038601" cy="2396533"/>
          </a:xfrm>
          <a:prstGeom prst="rect">
            <a:avLst/>
          </a:prstGeom>
          <a:ln w="12700">
            <a:miter lim="400000"/>
          </a:ln>
        </p:spPr>
      </p:pic>
      <p:sp>
        <p:nvSpPr>
          <p:cNvPr id="364" name="module pwm (clk, data_in, load, pwm_out);…"/>
          <p:cNvSpPr txBox="1"/>
          <p:nvPr/>
        </p:nvSpPr>
        <p:spPr>
          <a:xfrm>
            <a:off x="814818" y="2602342"/>
            <a:ext cx="4332917" cy="2441694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9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pwm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</a:t>
            </a:r>
          </a:p>
          <a:p>
            <a:pPr algn="l">
              <a:defRPr sz="19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clk,</a:t>
            </a:r>
          </a:p>
          <a:p>
            <a:pPr algn="l">
              <a:defRPr sz="19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[9:0]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data_in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</a:p>
          <a:p>
            <a:pPr algn="l">
              <a:defRPr sz="19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load,</a:t>
            </a:r>
          </a:p>
          <a:p>
            <a:pPr algn="l">
              <a:defRPr sz="19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pwm_out</a:t>
            </a:r>
            <a:endParaRPr lang="en-GB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19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19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[9:0] d = '0;</a:t>
            </a:r>
          </a:p>
          <a:p>
            <a:pPr algn="l">
              <a:defRPr sz="19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[9:0] count = '0;</a:t>
            </a:r>
          </a:p>
        </p:txBody>
      </p:sp>
      <p:sp>
        <p:nvSpPr>
          <p:cNvPr id="365" name="always @(posedge clk)…"/>
          <p:cNvSpPr txBox="1"/>
          <p:nvPr/>
        </p:nvSpPr>
        <p:spPr>
          <a:xfrm>
            <a:off x="7177981" y="1960978"/>
            <a:ext cx="5208157" cy="3611245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9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clk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</a:p>
          <a:p>
            <a:pPr algn="l">
              <a:defRPr sz="1900" b="1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if (load == 1’b1) d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data_in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1900" b="1"/>
            </a:pPr>
            <a:endParaRPr lang="en-GB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1900" b="1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clk) begin</a:t>
            </a:r>
          </a:p>
          <a:p>
            <a:pPr algn="l">
              <a:defRPr sz="1900" b="1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count &lt;= count + 1'b1;</a:t>
            </a:r>
          </a:p>
          <a:p>
            <a:pPr algn="l">
              <a:defRPr sz="1900" b="1"/>
            </a:pPr>
            <a:endParaRPr lang="en-GB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1900" b="1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if (count &gt; d)</a:t>
            </a:r>
          </a:p>
          <a:p>
            <a:pPr algn="l">
              <a:defRPr sz="1900" b="1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pwm_out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&lt;= 1'b0;</a:t>
            </a:r>
          </a:p>
          <a:p>
            <a:pPr algn="l">
              <a:defRPr sz="1900" b="1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else</a:t>
            </a:r>
          </a:p>
          <a:p>
            <a:pPr algn="l">
              <a:defRPr sz="1900" b="1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pwm_out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&lt;= 1'b1;</a:t>
            </a:r>
          </a:p>
          <a:p>
            <a:pPr algn="l">
              <a:defRPr sz="1900" b="1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1900" b="1"/>
            </a:pP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366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9656" y="1991933"/>
            <a:ext cx="5208156" cy="6852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7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1330" y="3682234"/>
            <a:ext cx="5224807" cy="1286932"/>
          </a:xfrm>
          <a:prstGeom prst="rect">
            <a:avLst/>
          </a:prstGeom>
          <a:ln w="12700">
            <a:miter lim="400000"/>
          </a:ln>
        </p:spPr>
      </p:pic>
      <p:pic>
        <p:nvPicPr>
          <p:cNvPr id="368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7981" y="2926780"/>
            <a:ext cx="5208156" cy="598845"/>
          </a:xfrm>
          <a:prstGeom prst="rect">
            <a:avLst/>
          </a:prstGeom>
          <a:ln w="12700">
            <a:miter lim="400000"/>
          </a:ln>
        </p:spPr>
      </p:pic>
      <p:sp>
        <p:nvSpPr>
          <p:cNvPr id="369" name="DAC via PWM"/>
          <p:cNvSpPr txBox="1">
            <a:spLocks noGrp="1"/>
          </p:cNvSpPr>
          <p:nvPr>
            <p:ph type="title"/>
          </p:nvPr>
        </p:nvSpPr>
        <p:spPr>
          <a:xfrm>
            <a:off x="952500" y="546100"/>
            <a:ext cx="11099800" cy="141704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DAC via PWM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" grpId="2" animBg="1" advAuto="0"/>
      <p:bldP spid="362" grpId="4" animBg="1" advAuto="0"/>
      <p:bldP spid="363" grpId="6" animBg="1" advAuto="0"/>
      <p:bldP spid="366" grpId="3" animBg="1" advAuto="0"/>
      <p:bldP spid="367" grpId="5" animBg="1" advAuto="0"/>
      <p:bldP spid="368" grpId="1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his l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lecture</a:t>
            </a:r>
          </a:p>
        </p:txBody>
      </p:sp>
      <p:sp>
        <p:nvSpPr>
          <p:cNvPr id="372" name="Pulse-width modulation (PWM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Pulse-width modulation (PWM)</a:t>
            </a:r>
          </a:p>
          <a:p>
            <a:r>
              <a:t>Finite state machines (FSMs)</a:t>
            </a:r>
          </a:p>
          <a:p>
            <a:r>
              <a:t>The analogue add-on card</a:t>
            </a:r>
          </a:p>
        </p:txBody>
      </p:sp>
      <p:sp>
        <p:nvSpPr>
          <p:cNvPr id="37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his l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lecture</a:t>
            </a:r>
          </a:p>
        </p:txBody>
      </p:sp>
      <p:sp>
        <p:nvSpPr>
          <p:cNvPr id="376" name="Pulse-width modulation (PWM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Pulse-width modulation (PWM)</a:t>
            </a:r>
          </a:p>
          <a:p>
            <a:pPr>
              <a:defRPr b="1"/>
            </a:pPr>
            <a:r>
              <a:t>Finite state machines (FSMs)</a:t>
            </a:r>
          </a:p>
          <a:p>
            <a:r>
              <a:t>The analogue add-on card</a:t>
            </a:r>
          </a:p>
        </p:txBody>
      </p:sp>
      <p:sp>
        <p:nvSpPr>
          <p:cNvPr id="3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Example 1: denois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1: denoiser</a:t>
            </a:r>
          </a:p>
        </p:txBody>
      </p:sp>
      <p:sp>
        <p:nvSpPr>
          <p:cNvPr id="380" name="Task:"/>
          <p:cNvSpPr txBox="1">
            <a:spLocks noGrp="1"/>
          </p:cNvSpPr>
          <p:nvPr>
            <p:ph type="body" sz="quarter" idx="1"/>
          </p:nvPr>
        </p:nvSpPr>
        <p:spPr>
          <a:xfrm>
            <a:off x="952500" y="2686050"/>
            <a:ext cx="11099800" cy="1642402"/>
          </a:xfrm>
          <a:prstGeom prst="rect">
            <a:avLst/>
          </a:prstGeom>
        </p:spPr>
        <p:txBody>
          <a:bodyPr/>
          <a:lstStyle/>
          <a:p>
            <a:r>
              <a:rPr dirty="0"/>
              <a:t>Task: </a:t>
            </a:r>
          </a:p>
        </p:txBody>
      </p:sp>
      <p:sp>
        <p:nvSpPr>
          <p:cNvPr id="3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516878" y="31750"/>
            <a:ext cx="382936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pic>
        <p:nvPicPr>
          <p:cNvPr id="38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625" y="2246022"/>
            <a:ext cx="7179692" cy="1023235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405" name="Table 1"/>
          <p:cNvGraphicFramePr/>
          <p:nvPr/>
        </p:nvGraphicFramePr>
        <p:xfrm>
          <a:off x="6346837" y="4080933"/>
          <a:ext cx="5540097" cy="4681405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1119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62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 b="1"/>
                        <a:t>state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 b="1"/>
                        <a:t>meaning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 b="1"/>
                        <a:t>output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2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a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"definitely low"</a:t>
                      </a:r>
                    </a:p>
                  </a:txBody>
                  <a:tcPr marL="50800" marR="50800" marT="50800" marB="50800" anchor="ctr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2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b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"maybe rising"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2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c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"definitely high"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2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d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"maybe falling"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E020D68-47C3-0412-69FD-7FF4E1A41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810" y="4328452"/>
            <a:ext cx="6274281" cy="5057741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C174E4-CEC6-8148-9447-1B9F457A51FE}"/>
              </a:ext>
            </a:extLst>
          </p:cNvPr>
          <p:cNvCxnSpPr/>
          <p:nvPr/>
        </p:nvCxnSpPr>
        <p:spPr>
          <a:xfrm>
            <a:off x="4965538" y="2246022"/>
            <a:ext cx="0" cy="1261229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9D638F-8296-A899-8D97-EA903B9CDFFF}"/>
              </a:ext>
            </a:extLst>
          </p:cNvPr>
          <p:cNvCxnSpPr/>
          <p:nvPr/>
        </p:nvCxnSpPr>
        <p:spPr>
          <a:xfrm>
            <a:off x="5418880" y="2246022"/>
            <a:ext cx="0" cy="1261229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C93FD2-DA19-FD2C-5F2E-5EA40C6EAC2B}"/>
              </a:ext>
            </a:extLst>
          </p:cNvPr>
          <p:cNvCxnSpPr/>
          <p:nvPr/>
        </p:nvCxnSpPr>
        <p:spPr>
          <a:xfrm>
            <a:off x="5837498" y="2246021"/>
            <a:ext cx="0" cy="1261229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4ABCAF-ADD9-1E57-22F0-002FA029D5D4}"/>
              </a:ext>
            </a:extLst>
          </p:cNvPr>
          <p:cNvCxnSpPr/>
          <p:nvPr/>
        </p:nvCxnSpPr>
        <p:spPr>
          <a:xfrm>
            <a:off x="6205959" y="2265640"/>
            <a:ext cx="0" cy="1261229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D04A96-9DAB-13E5-7FBB-5284DD2F5A43}"/>
              </a:ext>
            </a:extLst>
          </p:cNvPr>
          <p:cNvCxnSpPr/>
          <p:nvPr/>
        </p:nvCxnSpPr>
        <p:spPr>
          <a:xfrm>
            <a:off x="6659301" y="2265640"/>
            <a:ext cx="0" cy="1261229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C2803F-529C-9B83-0A1F-D69A88AA495A}"/>
              </a:ext>
            </a:extLst>
          </p:cNvPr>
          <p:cNvCxnSpPr/>
          <p:nvPr/>
        </p:nvCxnSpPr>
        <p:spPr>
          <a:xfrm>
            <a:off x="7135792" y="2265640"/>
            <a:ext cx="0" cy="1261229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BB0C8F3-42B4-0577-95AA-FB74F1DC126B}"/>
              </a:ext>
            </a:extLst>
          </p:cNvPr>
          <p:cNvSpPr txBox="1"/>
          <p:nvPr/>
        </p:nvSpPr>
        <p:spPr>
          <a:xfrm>
            <a:off x="4699320" y="3556978"/>
            <a:ext cx="53243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18083C-31FA-0638-F17E-DFCD25DE86D4}"/>
              </a:ext>
            </a:extLst>
          </p:cNvPr>
          <p:cNvSpPr txBox="1"/>
          <p:nvPr/>
        </p:nvSpPr>
        <p:spPr>
          <a:xfrm>
            <a:off x="5152662" y="3570839"/>
            <a:ext cx="53243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2400" dirty="0">
                <a:solidFill>
                  <a:srgbClr val="FF0000"/>
                </a:solidFill>
              </a:rPr>
              <a:t>1</a:t>
            </a:r>
            <a:endParaRPr kumimoji="0" lang="en-GB" sz="2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7A4FEE-6AE2-B856-43DC-6A6E21ABF0AF}"/>
              </a:ext>
            </a:extLst>
          </p:cNvPr>
          <p:cNvSpPr txBox="1"/>
          <p:nvPr/>
        </p:nvSpPr>
        <p:spPr>
          <a:xfrm>
            <a:off x="5557505" y="3556978"/>
            <a:ext cx="53243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9A9F67-86F5-4B54-EBAF-D44C4FCE5DBF}"/>
              </a:ext>
            </a:extLst>
          </p:cNvPr>
          <p:cNvSpPr txBox="1"/>
          <p:nvPr/>
        </p:nvSpPr>
        <p:spPr>
          <a:xfrm>
            <a:off x="6010847" y="3570839"/>
            <a:ext cx="53243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2400" dirty="0">
                <a:solidFill>
                  <a:srgbClr val="FF0000"/>
                </a:solidFill>
              </a:rPr>
              <a:t>1</a:t>
            </a:r>
            <a:endParaRPr kumimoji="0" lang="en-GB" sz="2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A4E99A-4B5C-7E88-508E-7ECC73EE8D68}"/>
              </a:ext>
            </a:extLst>
          </p:cNvPr>
          <p:cNvSpPr txBox="1"/>
          <p:nvPr/>
        </p:nvSpPr>
        <p:spPr>
          <a:xfrm>
            <a:off x="6415690" y="3589378"/>
            <a:ext cx="53243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6F8A4-BA9E-52C0-F3D9-9699C58A2C39}"/>
              </a:ext>
            </a:extLst>
          </p:cNvPr>
          <p:cNvSpPr txBox="1"/>
          <p:nvPr/>
        </p:nvSpPr>
        <p:spPr>
          <a:xfrm>
            <a:off x="6869032" y="3603239"/>
            <a:ext cx="53243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2400" dirty="0">
                <a:solidFill>
                  <a:srgbClr val="FF0000"/>
                </a:solidFill>
              </a:rPr>
              <a:t>1</a:t>
            </a:r>
            <a:endParaRPr kumimoji="0" lang="en-GB" sz="2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E14A9D8-1AB8-987A-92D3-F4F2911AD8EF}"/>
              </a:ext>
            </a:extLst>
          </p:cNvPr>
          <p:cNvCxnSpPr/>
          <p:nvPr/>
        </p:nvCxnSpPr>
        <p:spPr>
          <a:xfrm>
            <a:off x="7517625" y="2265640"/>
            <a:ext cx="0" cy="1261229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220EE45-14FC-1C77-E72A-2FA5BA8D87FA}"/>
              </a:ext>
            </a:extLst>
          </p:cNvPr>
          <p:cNvSpPr txBox="1"/>
          <p:nvPr/>
        </p:nvSpPr>
        <p:spPr>
          <a:xfrm>
            <a:off x="7250865" y="3603239"/>
            <a:ext cx="53243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2400" dirty="0">
                <a:solidFill>
                  <a:srgbClr val="FF0000"/>
                </a:solidFill>
              </a:rPr>
              <a:t>1</a:t>
            </a:r>
            <a:endParaRPr kumimoji="0" lang="en-GB" sz="2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" grpId="21" animBg="1" advAuto="0"/>
      <p:bldP spid="11" grpId="0"/>
      <p:bldP spid="12" grpId="0"/>
      <p:bldP spid="13" grpId="0"/>
      <p:bldP spid="14" grpId="0"/>
      <p:bldP spid="15" grpId="0"/>
      <p:bldP spid="16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next state"/>
          <p:cNvSpPr txBox="1"/>
          <p:nvPr/>
        </p:nvSpPr>
        <p:spPr>
          <a:xfrm>
            <a:off x="6900616" y="8342300"/>
            <a:ext cx="187642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next state</a:t>
            </a:r>
          </a:p>
        </p:txBody>
      </p:sp>
      <p:sp>
        <p:nvSpPr>
          <p:cNvPr id="410" name="current state"/>
          <p:cNvSpPr txBox="1"/>
          <p:nvPr/>
        </p:nvSpPr>
        <p:spPr>
          <a:xfrm>
            <a:off x="6179603" y="6925658"/>
            <a:ext cx="2373115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current state</a:t>
            </a:r>
          </a:p>
        </p:txBody>
      </p:sp>
      <p:sp>
        <p:nvSpPr>
          <p:cNvPr id="411" name="Mealy machi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Mealy machines</a:t>
            </a:r>
          </a:p>
        </p:txBody>
      </p:sp>
      <p:sp>
        <p:nvSpPr>
          <p:cNvPr id="4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413" name="input"/>
          <p:cNvSpPr txBox="1"/>
          <p:nvPr/>
        </p:nvSpPr>
        <p:spPr>
          <a:xfrm>
            <a:off x="1386557" y="3662667"/>
            <a:ext cx="99556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dirty="0"/>
              <a:t>input</a:t>
            </a:r>
          </a:p>
        </p:txBody>
      </p:sp>
      <p:sp>
        <p:nvSpPr>
          <p:cNvPr id="414" name="output"/>
          <p:cNvSpPr txBox="1"/>
          <p:nvPr/>
        </p:nvSpPr>
        <p:spPr>
          <a:xfrm>
            <a:off x="9783431" y="3357867"/>
            <a:ext cx="124420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output</a:t>
            </a:r>
          </a:p>
        </p:txBody>
      </p:sp>
      <p:grpSp>
        <p:nvGrpSpPr>
          <p:cNvPr id="417" name="Group"/>
          <p:cNvGrpSpPr/>
          <p:nvPr/>
        </p:nvGrpSpPr>
        <p:grpSpPr>
          <a:xfrm>
            <a:off x="436816" y="5688702"/>
            <a:ext cx="4520644" cy="2724395"/>
            <a:chOff x="0" y="0"/>
            <a:chExt cx="4520643" cy="2724393"/>
          </a:xfrm>
        </p:grpSpPr>
        <p:sp>
          <p:nvSpPr>
            <p:cNvPr id="415" name="Cloud"/>
            <p:cNvSpPr/>
            <p:nvPr/>
          </p:nvSpPr>
          <p:spPr>
            <a:xfrm>
              <a:off x="0" y="0"/>
              <a:ext cx="4520644" cy="2724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79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416" name="combinational logic"/>
            <p:cNvSpPr txBox="1"/>
            <p:nvPr/>
          </p:nvSpPr>
          <p:spPr>
            <a:xfrm>
              <a:off x="295194" y="1488532"/>
              <a:ext cx="3930255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combinational logic</a:t>
              </a:r>
            </a:p>
          </p:txBody>
        </p:sp>
      </p:grpSp>
      <p:grpSp>
        <p:nvGrpSpPr>
          <p:cNvPr id="420" name="Group"/>
          <p:cNvGrpSpPr/>
          <p:nvPr/>
        </p:nvGrpSpPr>
        <p:grpSpPr>
          <a:xfrm>
            <a:off x="8679457" y="6318565"/>
            <a:ext cx="2441047" cy="1464668"/>
            <a:chOff x="0" y="0"/>
            <a:chExt cx="2441045" cy="1464667"/>
          </a:xfrm>
        </p:grpSpPr>
        <p:sp>
          <p:nvSpPr>
            <p:cNvPr id="418" name="Rectangle"/>
            <p:cNvSpPr/>
            <p:nvPr/>
          </p:nvSpPr>
          <p:spPr>
            <a:xfrm>
              <a:off x="0" y="0"/>
              <a:ext cx="2441046" cy="1464668"/>
            </a:xfrm>
            <a:prstGeom prst="rect">
              <a:avLst/>
            </a:pr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419" name="state…"/>
            <p:cNvSpPr txBox="1"/>
            <p:nvPr/>
          </p:nvSpPr>
          <p:spPr>
            <a:xfrm>
              <a:off x="405242" y="198933"/>
              <a:ext cx="1605162" cy="1066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b="1">
                  <a:solidFill>
                    <a:srgbClr val="FFFFFF"/>
                  </a:solidFill>
                </a:defRPr>
              </a:pPr>
              <a:r>
                <a:t>state</a:t>
              </a:r>
            </a:p>
            <a:p>
              <a:pPr>
                <a:defRPr b="1">
                  <a:solidFill>
                    <a:srgbClr val="FFFFFF"/>
                  </a:solidFill>
                </a:defRPr>
              </a:pPr>
              <a:r>
                <a:t>register</a:t>
              </a:r>
            </a:p>
          </p:txBody>
        </p:sp>
      </p:grpSp>
      <p:grpSp>
        <p:nvGrpSpPr>
          <p:cNvPr id="423" name="Group"/>
          <p:cNvGrpSpPr/>
          <p:nvPr/>
        </p:nvGrpSpPr>
        <p:grpSpPr>
          <a:xfrm>
            <a:off x="3970260" y="2999453"/>
            <a:ext cx="4520644" cy="2724395"/>
            <a:chOff x="0" y="0"/>
            <a:chExt cx="4520643" cy="2724393"/>
          </a:xfrm>
        </p:grpSpPr>
        <p:sp>
          <p:nvSpPr>
            <p:cNvPr id="421" name="Cloud"/>
            <p:cNvSpPr/>
            <p:nvPr/>
          </p:nvSpPr>
          <p:spPr>
            <a:xfrm>
              <a:off x="0" y="0"/>
              <a:ext cx="4520644" cy="2724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79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422" name="combinational logic"/>
            <p:cNvSpPr txBox="1"/>
            <p:nvPr/>
          </p:nvSpPr>
          <p:spPr>
            <a:xfrm>
              <a:off x="295194" y="1488532"/>
              <a:ext cx="3930254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combinational logic</a:t>
              </a:r>
            </a:p>
          </p:txBody>
        </p:sp>
      </p:grpSp>
      <p:sp>
        <p:nvSpPr>
          <p:cNvPr id="430" name="Connection Line"/>
          <p:cNvSpPr/>
          <p:nvPr/>
        </p:nvSpPr>
        <p:spPr>
          <a:xfrm>
            <a:off x="4696248" y="7050899"/>
            <a:ext cx="398321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32" name="Connection Line"/>
          <p:cNvSpPr/>
          <p:nvPr/>
        </p:nvSpPr>
        <p:spPr>
          <a:xfrm>
            <a:off x="4927237" y="7783431"/>
            <a:ext cx="4711625" cy="662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6" extrusionOk="0">
                <a:moveTo>
                  <a:pt x="0" y="1990"/>
                </a:moveTo>
                <a:cubicBezTo>
                  <a:pt x="11650" y="21600"/>
                  <a:pt x="18850" y="20937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35" name="Connection Line"/>
          <p:cNvSpPr/>
          <p:nvPr/>
        </p:nvSpPr>
        <p:spPr>
          <a:xfrm>
            <a:off x="7365587" y="3416870"/>
            <a:ext cx="2417845" cy="4063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206" extrusionOk="0">
                <a:moveTo>
                  <a:pt x="0" y="18206"/>
                </a:moveTo>
                <a:cubicBezTo>
                  <a:pt x="8208" y="1989"/>
                  <a:pt x="15408" y="-3394"/>
                  <a:pt x="21600" y="2056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7771199-9A42-71C8-1FAD-1868D0F84BD4}"/>
              </a:ext>
            </a:extLst>
          </p:cNvPr>
          <p:cNvCxnSpPr>
            <a:stCxn id="418" idx="1"/>
          </p:cNvCxnSpPr>
          <p:nvPr/>
        </p:nvCxnSpPr>
        <p:spPr>
          <a:xfrm flipH="1" flipV="1">
            <a:off x="6308203" y="5723849"/>
            <a:ext cx="2371254" cy="132705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910876-59FE-15E6-4BA6-57F35040E74F}"/>
              </a:ext>
            </a:extLst>
          </p:cNvPr>
          <p:cNvCxnSpPr>
            <a:stCxn id="413" idx="3"/>
          </p:cNvCxnSpPr>
          <p:nvPr/>
        </p:nvCxnSpPr>
        <p:spPr>
          <a:xfrm>
            <a:off x="2382119" y="3954768"/>
            <a:ext cx="1588141" cy="779278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53C221-E95F-6A41-18E4-5162016560F5}"/>
              </a:ext>
            </a:extLst>
          </p:cNvPr>
          <p:cNvCxnSpPr>
            <a:stCxn id="413" idx="2"/>
          </p:cNvCxnSpPr>
          <p:nvPr/>
        </p:nvCxnSpPr>
        <p:spPr>
          <a:xfrm>
            <a:off x="1884338" y="4246868"/>
            <a:ext cx="731540" cy="1441834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" grpId="13" animBg="1" advAuto="0"/>
      <p:bldP spid="410" grpId="8" animBg="1" advAuto="0"/>
      <p:bldP spid="413" grpId="4" animBg="1" advAuto="0"/>
      <p:bldP spid="414" grpId="3" animBg="1" advAuto="0"/>
      <p:bldP spid="417" grpId="11" animBg="1" advAuto="0"/>
      <p:bldP spid="420" grpId="7" animBg="1" advAuto="0"/>
      <p:bldP spid="423" grpId="1" animBg="1" advAuto="0"/>
      <p:bldP spid="430" grpId="9" animBg="1" advAuto="0"/>
      <p:bldP spid="432" grpId="12" animBg="1" advAuto="0"/>
      <p:bldP spid="435" grpId="2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7382F-1F56-B2F5-E6F2-977EFBBC5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next state">
            <a:extLst>
              <a:ext uri="{FF2B5EF4-FFF2-40B4-BE49-F238E27FC236}">
                <a16:creationId xmlns:a16="http://schemas.microsoft.com/office/drawing/2014/main" id="{B04ABA60-5E76-B7EC-A037-EC3600A4C673}"/>
              </a:ext>
            </a:extLst>
          </p:cNvPr>
          <p:cNvSpPr txBox="1"/>
          <p:nvPr/>
        </p:nvSpPr>
        <p:spPr>
          <a:xfrm>
            <a:off x="6900616" y="8342300"/>
            <a:ext cx="187642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next state</a:t>
            </a:r>
          </a:p>
        </p:txBody>
      </p:sp>
      <p:sp>
        <p:nvSpPr>
          <p:cNvPr id="410" name="current state">
            <a:extLst>
              <a:ext uri="{FF2B5EF4-FFF2-40B4-BE49-F238E27FC236}">
                <a16:creationId xmlns:a16="http://schemas.microsoft.com/office/drawing/2014/main" id="{8FB1F1DA-45F0-9F2A-36E0-ED0AFAA7A6A1}"/>
              </a:ext>
            </a:extLst>
          </p:cNvPr>
          <p:cNvSpPr txBox="1"/>
          <p:nvPr/>
        </p:nvSpPr>
        <p:spPr>
          <a:xfrm>
            <a:off x="6179603" y="6925658"/>
            <a:ext cx="2373115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current state</a:t>
            </a:r>
          </a:p>
        </p:txBody>
      </p:sp>
      <p:sp>
        <p:nvSpPr>
          <p:cNvPr id="411" name="Mealy machines">
            <a:extLst>
              <a:ext uri="{FF2B5EF4-FFF2-40B4-BE49-F238E27FC236}">
                <a16:creationId xmlns:a16="http://schemas.microsoft.com/office/drawing/2014/main" id="{940313D5-DACF-7D36-BEDF-318E526BFF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M</a:t>
            </a:r>
            <a:r>
              <a:rPr lang="en-GB" dirty="0" err="1"/>
              <a:t>oore</a:t>
            </a:r>
            <a:r>
              <a:rPr dirty="0"/>
              <a:t> machines</a:t>
            </a:r>
          </a:p>
        </p:txBody>
      </p:sp>
      <p:sp>
        <p:nvSpPr>
          <p:cNvPr id="412" name="Slide Number">
            <a:extLst>
              <a:ext uri="{FF2B5EF4-FFF2-40B4-BE49-F238E27FC236}">
                <a16:creationId xmlns:a16="http://schemas.microsoft.com/office/drawing/2014/main" id="{1794E6C5-5129-6935-9088-257AC2113B3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413" name="input">
            <a:extLst>
              <a:ext uri="{FF2B5EF4-FFF2-40B4-BE49-F238E27FC236}">
                <a16:creationId xmlns:a16="http://schemas.microsoft.com/office/drawing/2014/main" id="{A32E929E-A533-271B-8AF0-36CF8F8E5A34}"/>
              </a:ext>
            </a:extLst>
          </p:cNvPr>
          <p:cNvSpPr txBox="1"/>
          <p:nvPr/>
        </p:nvSpPr>
        <p:spPr>
          <a:xfrm>
            <a:off x="1386557" y="3662667"/>
            <a:ext cx="99556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dirty="0"/>
              <a:t>input</a:t>
            </a:r>
          </a:p>
        </p:txBody>
      </p:sp>
      <p:sp>
        <p:nvSpPr>
          <p:cNvPr id="414" name="output">
            <a:extLst>
              <a:ext uri="{FF2B5EF4-FFF2-40B4-BE49-F238E27FC236}">
                <a16:creationId xmlns:a16="http://schemas.microsoft.com/office/drawing/2014/main" id="{7AAC61E3-AAEE-D514-C8C8-AD4F1C79A8BA}"/>
              </a:ext>
            </a:extLst>
          </p:cNvPr>
          <p:cNvSpPr txBox="1"/>
          <p:nvPr/>
        </p:nvSpPr>
        <p:spPr>
          <a:xfrm>
            <a:off x="9783431" y="3357867"/>
            <a:ext cx="124420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output</a:t>
            </a:r>
          </a:p>
        </p:txBody>
      </p:sp>
      <p:grpSp>
        <p:nvGrpSpPr>
          <p:cNvPr id="417" name="Group">
            <a:extLst>
              <a:ext uri="{FF2B5EF4-FFF2-40B4-BE49-F238E27FC236}">
                <a16:creationId xmlns:a16="http://schemas.microsoft.com/office/drawing/2014/main" id="{59BDA520-400E-C908-9E82-A4DA9899660E}"/>
              </a:ext>
            </a:extLst>
          </p:cNvPr>
          <p:cNvGrpSpPr/>
          <p:nvPr/>
        </p:nvGrpSpPr>
        <p:grpSpPr>
          <a:xfrm>
            <a:off x="436816" y="5688702"/>
            <a:ext cx="4520644" cy="2724395"/>
            <a:chOff x="0" y="0"/>
            <a:chExt cx="4520643" cy="2724393"/>
          </a:xfrm>
        </p:grpSpPr>
        <p:sp>
          <p:nvSpPr>
            <p:cNvPr id="415" name="Cloud">
              <a:extLst>
                <a:ext uri="{FF2B5EF4-FFF2-40B4-BE49-F238E27FC236}">
                  <a16:creationId xmlns:a16="http://schemas.microsoft.com/office/drawing/2014/main" id="{7A6D43AA-5A20-5B04-0531-C53C6CCD2426}"/>
                </a:ext>
              </a:extLst>
            </p:cNvPr>
            <p:cNvSpPr/>
            <p:nvPr/>
          </p:nvSpPr>
          <p:spPr>
            <a:xfrm>
              <a:off x="0" y="0"/>
              <a:ext cx="4520644" cy="2724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79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416" name="combinational logic">
              <a:extLst>
                <a:ext uri="{FF2B5EF4-FFF2-40B4-BE49-F238E27FC236}">
                  <a16:creationId xmlns:a16="http://schemas.microsoft.com/office/drawing/2014/main" id="{B67EE9F9-FA6E-D0A8-5A6C-4E4B2F583CC1}"/>
                </a:ext>
              </a:extLst>
            </p:cNvPr>
            <p:cNvSpPr txBox="1"/>
            <p:nvPr/>
          </p:nvSpPr>
          <p:spPr>
            <a:xfrm>
              <a:off x="295194" y="1488532"/>
              <a:ext cx="3930255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combinational logic</a:t>
              </a:r>
            </a:p>
          </p:txBody>
        </p:sp>
      </p:grpSp>
      <p:grpSp>
        <p:nvGrpSpPr>
          <p:cNvPr id="420" name="Group">
            <a:extLst>
              <a:ext uri="{FF2B5EF4-FFF2-40B4-BE49-F238E27FC236}">
                <a16:creationId xmlns:a16="http://schemas.microsoft.com/office/drawing/2014/main" id="{44178F16-E6EC-5F28-5246-DDA4C62394DA}"/>
              </a:ext>
            </a:extLst>
          </p:cNvPr>
          <p:cNvGrpSpPr/>
          <p:nvPr/>
        </p:nvGrpSpPr>
        <p:grpSpPr>
          <a:xfrm>
            <a:off x="8679457" y="6318565"/>
            <a:ext cx="2441047" cy="1464668"/>
            <a:chOff x="0" y="0"/>
            <a:chExt cx="2441045" cy="1464667"/>
          </a:xfrm>
        </p:grpSpPr>
        <p:sp>
          <p:nvSpPr>
            <p:cNvPr id="418" name="Rectangle">
              <a:extLst>
                <a:ext uri="{FF2B5EF4-FFF2-40B4-BE49-F238E27FC236}">
                  <a16:creationId xmlns:a16="http://schemas.microsoft.com/office/drawing/2014/main" id="{D189E88C-9ECC-53C1-2467-C098CCD7A22F}"/>
                </a:ext>
              </a:extLst>
            </p:cNvPr>
            <p:cNvSpPr/>
            <p:nvPr/>
          </p:nvSpPr>
          <p:spPr>
            <a:xfrm>
              <a:off x="0" y="0"/>
              <a:ext cx="2441046" cy="1464668"/>
            </a:xfrm>
            <a:prstGeom prst="rect">
              <a:avLst/>
            </a:pr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419" name="state…">
              <a:extLst>
                <a:ext uri="{FF2B5EF4-FFF2-40B4-BE49-F238E27FC236}">
                  <a16:creationId xmlns:a16="http://schemas.microsoft.com/office/drawing/2014/main" id="{C3EE4B2B-3E78-C3DF-8056-30249CFBC6CD}"/>
                </a:ext>
              </a:extLst>
            </p:cNvPr>
            <p:cNvSpPr txBox="1"/>
            <p:nvPr/>
          </p:nvSpPr>
          <p:spPr>
            <a:xfrm>
              <a:off x="405242" y="198933"/>
              <a:ext cx="1605162" cy="1066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b="1">
                  <a:solidFill>
                    <a:srgbClr val="FFFFFF"/>
                  </a:solidFill>
                </a:defRPr>
              </a:pPr>
              <a:r>
                <a:t>state</a:t>
              </a:r>
            </a:p>
            <a:p>
              <a:pPr>
                <a:defRPr b="1">
                  <a:solidFill>
                    <a:srgbClr val="FFFFFF"/>
                  </a:solidFill>
                </a:defRPr>
              </a:pPr>
              <a:r>
                <a:t>register</a:t>
              </a:r>
            </a:p>
          </p:txBody>
        </p:sp>
      </p:grpSp>
      <p:grpSp>
        <p:nvGrpSpPr>
          <p:cNvPr id="423" name="Group">
            <a:extLst>
              <a:ext uri="{FF2B5EF4-FFF2-40B4-BE49-F238E27FC236}">
                <a16:creationId xmlns:a16="http://schemas.microsoft.com/office/drawing/2014/main" id="{29D62EBC-E038-0DBA-77C9-FD3EEEC26E73}"/>
              </a:ext>
            </a:extLst>
          </p:cNvPr>
          <p:cNvGrpSpPr/>
          <p:nvPr/>
        </p:nvGrpSpPr>
        <p:grpSpPr>
          <a:xfrm>
            <a:off x="3970260" y="2999453"/>
            <a:ext cx="4520644" cy="2724395"/>
            <a:chOff x="0" y="0"/>
            <a:chExt cx="4520643" cy="2724393"/>
          </a:xfrm>
        </p:grpSpPr>
        <p:sp>
          <p:nvSpPr>
            <p:cNvPr id="421" name="Cloud">
              <a:extLst>
                <a:ext uri="{FF2B5EF4-FFF2-40B4-BE49-F238E27FC236}">
                  <a16:creationId xmlns:a16="http://schemas.microsoft.com/office/drawing/2014/main" id="{14E8E966-E134-F683-1D30-F35F8B5BEAF9}"/>
                </a:ext>
              </a:extLst>
            </p:cNvPr>
            <p:cNvSpPr/>
            <p:nvPr/>
          </p:nvSpPr>
          <p:spPr>
            <a:xfrm>
              <a:off x="0" y="0"/>
              <a:ext cx="4520644" cy="2724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79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422" name="combinational logic">
              <a:extLst>
                <a:ext uri="{FF2B5EF4-FFF2-40B4-BE49-F238E27FC236}">
                  <a16:creationId xmlns:a16="http://schemas.microsoft.com/office/drawing/2014/main" id="{5D2751BF-CE08-2666-B86E-577C83CC1F6C}"/>
                </a:ext>
              </a:extLst>
            </p:cNvPr>
            <p:cNvSpPr txBox="1"/>
            <p:nvPr/>
          </p:nvSpPr>
          <p:spPr>
            <a:xfrm>
              <a:off x="295194" y="1488532"/>
              <a:ext cx="3930254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combinational logic</a:t>
              </a:r>
            </a:p>
          </p:txBody>
        </p:sp>
      </p:grpSp>
      <p:sp>
        <p:nvSpPr>
          <p:cNvPr id="430" name="Connection Line">
            <a:extLst>
              <a:ext uri="{FF2B5EF4-FFF2-40B4-BE49-F238E27FC236}">
                <a16:creationId xmlns:a16="http://schemas.microsoft.com/office/drawing/2014/main" id="{52263CBB-AD17-2845-387B-9E9B05580C7E}"/>
              </a:ext>
            </a:extLst>
          </p:cNvPr>
          <p:cNvSpPr/>
          <p:nvPr/>
        </p:nvSpPr>
        <p:spPr>
          <a:xfrm>
            <a:off x="4696248" y="7050899"/>
            <a:ext cx="398321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32" name="Connection Line">
            <a:extLst>
              <a:ext uri="{FF2B5EF4-FFF2-40B4-BE49-F238E27FC236}">
                <a16:creationId xmlns:a16="http://schemas.microsoft.com/office/drawing/2014/main" id="{59CBA652-EA62-472B-B95B-C21114B1D122}"/>
              </a:ext>
            </a:extLst>
          </p:cNvPr>
          <p:cNvSpPr/>
          <p:nvPr/>
        </p:nvSpPr>
        <p:spPr>
          <a:xfrm>
            <a:off x="4927237" y="7783431"/>
            <a:ext cx="4711625" cy="662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6" extrusionOk="0">
                <a:moveTo>
                  <a:pt x="0" y="1990"/>
                </a:moveTo>
                <a:cubicBezTo>
                  <a:pt x="11650" y="21600"/>
                  <a:pt x="18850" y="20937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35" name="Connection Line">
            <a:extLst>
              <a:ext uri="{FF2B5EF4-FFF2-40B4-BE49-F238E27FC236}">
                <a16:creationId xmlns:a16="http://schemas.microsoft.com/office/drawing/2014/main" id="{C4FE8355-BCD2-B906-468E-7DAF07F4CF07}"/>
              </a:ext>
            </a:extLst>
          </p:cNvPr>
          <p:cNvSpPr/>
          <p:nvPr/>
        </p:nvSpPr>
        <p:spPr>
          <a:xfrm>
            <a:off x="7365587" y="3416870"/>
            <a:ext cx="2417845" cy="4063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206" extrusionOk="0">
                <a:moveTo>
                  <a:pt x="0" y="18206"/>
                </a:moveTo>
                <a:cubicBezTo>
                  <a:pt x="8208" y="1989"/>
                  <a:pt x="15408" y="-3394"/>
                  <a:pt x="21600" y="2056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22E1EEA-8296-6E95-4ADA-AAE3DC521355}"/>
              </a:ext>
            </a:extLst>
          </p:cNvPr>
          <p:cNvCxnSpPr>
            <a:stCxn id="418" idx="1"/>
          </p:cNvCxnSpPr>
          <p:nvPr/>
        </p:nvCxnSpPr>
        <p:spPr>
          <a:xfrm flipH="1" flipV="1">
            <a:off x="6308203" y="5723849"/>
            <a:ext cx="2371254" cy="132705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6933189-D0BD-1A54-4F73-7634186B380D}"/>
              </a:ext>
            </a:extLst>
          </p:cNvPr>
          <p:cNvCxnSpPr>
            <a:stCxn id="413" idx="2"/>
          </p:cNvCxnSpPr>
          <p:nvPr/>
        </p:nvCxnSpPr>
        <p:spPr>
          <a:xfrm>
            <a:off x="1884338" y="4246868"/>
            <a:ext cx="731540" cy="1441834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70019720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Mealy vs Moo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Mealy vs Moore</a:t>
            </a:r>
          </a:p>
        </p:txBody>
      </p:sp>
      <p:sp>
        <p:nvSpPr>
          <p:cNvPr id="464" name="Mealy machines are a bit more complicated to design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Mealy machines are a bit more complicated to design.</a:t>
            </a:r>
          </a:p>
          <a:p>
            <a:r>
              <a:rPr dirty="0"/>
              <a:t>Moore machines tend to require more states.</a:t>
            </a:r>
          </a:p>
          <a:p>
            <a:r>
              <a:rPr dirty="0"/>
              <a:t>Outputs of Moore machines are delayed.</a:t>
            </a:r>
          </a:p>
        </p:txBody>
      </p:sp>
      <p:sp>
        <p:nvSpPr>
          <p:cNvPr id="4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pic>
        <p:nvPicPr>
          <p:cNvPr id="466" name="Screenshot 2019-10-25 at 08.03.00.png" descr="Screenshot 2019-10-25 at 08.03.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336" y="5595882"/>
            <a:ext cx="2298701" cy="274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7" name="Screenshot 2019-10-25 at 08.03.08.png" descr="Screenshot 2019-10-25 at 08.03.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274" y="5797550"/>
            <a:ext cx="1841501" cy="25019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7714D0-838D-0DDB-4C83-6CFC57AEEB89}"/>
              </a:ext>
            </a:extLst>
          </p:cNvPr>
          <p:cNvSpPr txBox="1"/>
          <p:nvPr/>
        </p:nvSpPr>
        <p:spPr>
          <a:xfrm>
            <a:off x="138896" y="8869604"/>
            <a:ext cx="1272700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Question: What kind of machine did we just describe for the denoiser?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Implementing the FS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Implementing the FSM</a:t>
            </a:r>
          </a:p>
        </p:txBody>
      </p:sp>
      <p:sp>
        <p:nvSpPr>
          <p:cNvPr id="4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graphicFrame>
        <p:nvGraphicFramePr>
          <p:cNvPr id="493" name="Table 1"/>
          <p:cNvGraphicFramePr/>
          <p:nvPr/>
        </p:nvGraphicFramePr>
        <p:xfrm>
          <a:off x="6346837" y="4715933"/>
          <a:ext cx="5540097" cy="4681405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1119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62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 b="1"/>
                        <a:t>state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 b="1"/>
                        <a:t>meaning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 b="1"/>
                        <a:t>output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2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a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"definitely low"</a:t>
                      </a:r>
                    </a:p>
                  </a:txBody>
                  <a:tcPr marL="50800" marR="50800" marT="50800" marB="50800" anchor="ctr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2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b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"maybe rising"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2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c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"definitely high"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2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d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"maybe falling"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D58BDCA-8CFD-A42F-71F1-2BD9DBE03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810" y="4328452"/>
            <a:ext cx="6274281" cy="505774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Implementing the FS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Implementing the FSM</a:t>
            </a:r>
          </a:p>
        </p:txBody>
      </p:sp>
      <p:sp>
        <p:nvSpPr>
          <p:cNvPr id="4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graphicFrame>
        <p:nvGraphicFramePr>
          <p:cNvPr id="519" name="Table 1"/>
          <p:cNvGraphicFramePr/>
          <p:nvPr/>
        </p:nvGraphicFramePr>
        <p:xfrm>
          <a:off x="6346837" y="4715933"/>
          <a:ext cx="5540097" cy="4681405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1119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62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 b="1"/>
                        <a:t>state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 b="1"/>
                        <a:t>meaning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 b="1"/>
                        <a:t>output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2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00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"definitely low"</a:t>
                      </a:r>
                    </a:p>
                  </a:txBody>
                  <a:tcPr marL="50800" marR="50800" marT="50800" marB="50800" anchor="ctr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2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"maybe rising"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2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"definitely high"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2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10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"maybe falling"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0" name="Try to make the output value and the state number similar.…"/>
          <p:cNvSpPr txBox="1">
            <a:spLocks noGrp="1"/>
          </p:cNvSpPr>
          <p:nvPr>
            <p:ph type="body" sz="quarter" idx="1"/>
          </p:nvPr>
        </p:nvSpPr>
        <p:spPr>
          <a:xfrm>
            <a:off x="952500" y="2169451"/>
            <a:ext cx="11099800" cy="2159001"/>
          </a:xfrm>
          <a:prstGeom prst="rect">
            <a:avLst/>
          </a:prstGeom>
        </p:spPr>
        <p:txBody>
          <a:bodyPr/>
          <a:lstStyle/>
          <a:p>
            <a:pPr marL="386715" indent="-386715" defTabSz="508254">
              <a:spcBef>
                <a:spcPts val="1400"/>
              </a:spcBef>
              <a:defRPr sz="2784"/>
            </a:pPr>
            <a:r>
              <a:t>Try to make the output value and the state number similar.</a:t>
            </a:r>
          </a:p>
          <a:p>
            <a:pPr marL="386715" indent="-386715" defTabSz="508254">
              <a:spcBef>
                <a:spcPts val="1400"/>
              </a:spcBef>
              <a:defRPr sz="2784"/>
            </a:pPr>
            <a:r>
              <a:t>Try to change one bit of the state number per transition.</a:t>
            </a:r>
          </a:p>
          <a:p>
            <a:pPr marL="386715" indent="-386715" defTabSz="508254">
              <a:spcBef>
                <a:spcPts val="1400"/>
              </a:spcBef>
              <a:defRPr sz="2784"/>
            </a:pPr>
            <a:r>
              <a:t>If two parts of the FSM have identical transitions, try to give the corresponding states similar numbers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4DB5A7-5FA1-6C49-FD4F-628E5A8AF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78" y="4620363"/>
            <a:ext cx="5807425" cy="468140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0" grpId="1" build="p" bldLvl="5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Implementing the FS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Implementing the FSM</a:t>
            </a:r>
          </a:p>
        </p:txBody>
      </p:sp>
      <p:sp>
        <p:nvSpPr>
          <p:cNvPr id="5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graphicFrame>
        <p:nvGraphicFramePr>
          <p:cNvPr id="546" name="Table 1"/>
          <p:cNvGraphicFramePr/>
          <p:nvPr/>
        </p:nvGraphicFramePr>
        <p:xfrm>
          <a:off x="6275053" y="4568097"/>
          <a:ext cx="6637733" cy="4831080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1206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9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4550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 b="1"/>
                      </a:pPr>
                      <a:r>
                        <a:t>state </a:t>
                      </a:r>
                      <a:r>
                        <a:rPr sz="2300" b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s[1:0]</a:t>
                      </a:r>
                    </a:p>
                  </a:txBody>
                  <a:tcPr marL="50800" marR="50800" marT="50800" marB="50800" anchor="b" horzOverflow="overflow">
                    <a:lnL w="0">
                      <a:miter lim="400000"/>
                    </a:lnL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 b="1"/>
                        <a:t>meaning</a:t>
                      </a:r>
                    </a:p>
                  </a:txBody>
                  <a:tcPr marL="50800" marR="50800" marT="50800" marB="50800" anchor="b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 b="1"/>
                      </a:pPr>
                      <a:r>
                        <a:t>output </a:t>
                      </a:r>
                      <a:r>
                        <a:rPr sz="2300" b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out</a:t>
                      </a:r>
                    </a:p>
                  </a:txBody>
                  <a:tcPr marL="50800" marR="50800" marT="50800" marB="50800" anchor="b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 b="1"/>
                      </a:pPr>
                      <a:r>
                        <a:t>input</a:t>
                      </a:r>
                      <a:r>
                        <a:rPr sz="2300" b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in</a:t>
                      </a:r>
                    </a:p>
                  </a:txBody>
                  <a:tcPr marL="50800" marR="50800" marT="50800" marB="50800" anchor="b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 b="1"/>
                      </a:pPr>
                      <a:r>
                        <a:t>next state </a:t>
                      </a:r>
                      <a:r>
                        <a:rPr sz="2300" b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ns[1:0]</a:t>
                      </a:r>
                    </a:p>
                  </a:txBody>
                  <a:tcPr marL="50800" marR="50800" marT="50800" marB="50800" anchor="b" horzOverflow="overflow">
                    <a:lnR w="0">
                      <a:miter lim="400000"/>
                    </a:lnR>
                    <a:lnT w="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00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"definitely low"</a:t>
                      </a:r>
                    </a:p>
                  </a:txBody>
                  <a:tcPr marL="50800" marR="50800" marT="50800" marB="50800" horzOverflow="overflow"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01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"maybe rising"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"definitely high"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900"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10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"maybe falling"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C333AD0D-3ACA-9533-2157-2E989367B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78" y="4620363"/>
            <a:ext cx="5807425" cy="468140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" grpId="1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Implementing the FS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Implementing the FSM</a:t>
            </a:r>
          </a:p>
        </p:txBody>
      </p:sp>
      <p:sp>
        <p:nvSpPr>
          <p:cNvPr id="5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graphicFrame>
        <p:nvGraphicFramePr>
          <p:cNvPr id="552" name="Table 1"/>
          <p:cNvGraphicFramePr/>
          <p:nvPr/>
        </p:nvGraphicFramePr>
        <p:xfrm>
          <a:off x="6275053" y="4568097"/>
          <a:ext cx="6637733" cy="4831080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1206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9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4550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 b="1"/>
                      </a:pPr>
                      <a:r>
                        <a:t>state </a:t>
                      </a:r>
                      <a:r>
                        <a:rPr sz="2300" b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s[1:0]</a:t>
                      </a:r>
                    </a:p>
                  </a:txBody>
                  <a:tcPr marL="50800" marR="50800" marT="50800" marB="50800" anchor="b" horzOverflow="overflow">
                    <a:lnL w="0">
                      <a:miter lim="400000"/>
                    </a:lnL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 b="1"/>
                        <a:t>meaning</a:t>
                      </a:r>
                    </a:p>
                  </a:txBody>
                  <a:tcPr marL="50800" marR="50800" marT="50800" marB="50800" anchor="b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 b="1"/>
                      </a:pPr>
                      <a:r>
                        <a:t>output </a:t>
                      </a:r>
                      <a:r>
                        <a:rPr sz="2300" b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out</a:t>
                      </a:r>
                    </a:p>
                  </a:txBody>
                  <a:tcPr marL="50800" marR="50800" marT="50800" marB="50800" anchor="b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 b="1"/>
                      </a:pPr>
                      <a:r>
                        <a:t>input</a:t>
                      </a:r>
                      <a:r>
                        <a:rPr sz="2300" b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in</a:t>
                      </a:r>
                    </a:p>
                  </a:txBody>
                  <a:tcPr marL="50800" marR="50800" marT="50800" marB="50800" anchor="b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 b="1"/>
                      </a:pPr>
                      <a:r>
                        <a:t>next state </a:t>
                      </a:r>
                      <a:r>
                        <a:rPr sz="2300" b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ns[1:0]</a:t>
                      </a:r>
                    </a:p>
                  </a:txBody>
                  <a:tcPr marL="50800" marR="50800" marT="50800" marB="50800" anchor="b" horzOverflow="overflow">
                    <a:lnR w="0">
                      <a:miter lim="400000"/>
                    </a:lnR>
                    <a:lnT w="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00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"definitely low"</a:t>
                      </a:r>
                    </a:p>
                  </a:txBody>
                  <a:tcPr marL="50800" marR="50800" marT="50800" marB="50800" horzOverflow="overflow"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01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"maybe rising"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"definitely high"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900"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10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"maybe falling"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53" name="assign out = s[1];"/>
          <p:cNvSpPr txBox="1"/>
          <p:nvPr/>
        </p:nvSpPr>
        <p:spPr>
          <a:xfrm>
            <a:off x="728199" y="2654299"/>
            <a:ext cx="4504135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assign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out = s[1];</a:t>
            </a:r>
          </a:p>
        </p:txBody>
      </p:sp>
      <p:graphicFrame>
        <p:nvGraphicFramePr>
          <p:cNvPr id="554" name="Table 2"/>
          <p:cNvGraphicFramePr/>
          <p:nvPr/>
        </p:nvGraphicFramePr>
        <p:xfrm>
          <a:off x="567266" y="5130800"/>
          <a:ext cx="2951955" cy="4389305"/>
        </p:xfrm>
        <a:graphic>
          <a:graphicData uri="http://schemas.openxmlformats.org/drawingml/2006/table">
            <a:tbl>
              <a:tblPr firstRow="1" firstCol="1">
                <a:tableStyleId>{4A9BC294-FFE2-49D5-8D69-9E1BD2C41BD5}</a:tableStyleId>
              </a:tblPr>
              <a:tblGrid>
                <a:gridCol w="983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3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3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861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ns[1]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in=0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in=1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61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s=00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61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s=01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61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s=11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61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s=10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5" name="Rounded Rectangle"/>
          <p:cNvSpPr/>
          <p:nvPr/>
        </p:nvSpPr>
        <p:spPr>
          <a:xfrm>
            <a:off x="2650066" y="7001933"/>
            <a:ext cx="950914" cy="2370666"/>
          </a:xfrm>
          <a:prstGeom prst="roundRect">
            <a:avLst>
              <a:gd name="adj" fmla="val 20033"/>
            </a:avLst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defRPr>
            </a:pPr>
            <a:endParaRPr/>
          </a:p>
        </p:txBody>
      </p:sp>
      <p:sp>
        <p:nvSpPr>
          <p:cNvPr id="556" name="Rounded Rectangle"/>
          <p:cNvSpPr/>
          <p:nvPr/>
        </p:nvSpPr>
        <p:spPr>
          <a:xfrm>
            <a:off x="1618720" y="7907866"/>
            <a:ext cx="2007064" cy="5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4" y="0"/>
                </a:moveTo>
                <a:lnTo>
                  <a:pt x="4056" y="0"/>
                </a:lnTo>
                <a:cubicBezTo>
                  <a:pt x="2892" y="0"/>
                  <a:pt x="2194" y="0"/>
                  <a:pt x="1728" y="610"/>
                </a:cubicBezTo>
                <a:cubicBezTo>
                  <a:pt x="1004" y="1556"/>
                  <a:pt x="433" y="3605"/>
                  <a:pt x="170" y="6207"/>
                </a:cubicBezTo>
                <a:cubicBezTo>
                  <a:pt x="48" y="7219"/>
                  <a:pt x="0" y="9389"/>
                  <a:pt x="0" y="10800"/>
                </a:cubicBezTo>
                <a:cubicBezTo>
                  <a:pt x="0" y="12211"/>
                  <a:pt x="48" y="14381"/>
                  <a:pt x="170" y="15393"/>
                </a:cubicBezTo>
                <a:cubicBezTo>
                  <a:pt x="433" y="17995"/>
                  <a:pt x="1004" y="20044"/>
                  <a:pt x="1728" y="20990"/>
                </a:cubicBezTo>
                <a:cubicBezTo>
                  <a:pt x="2194" y="21600"/>
                  <a:pt x="2892" y="21600"/>
                  <a:pt x="4056" y="21600"/>
                </a:cubicBezTo>
                <a:lnTo>
                  <a:pt x="17544" y="21600"/>
                </a:lnTo>
                <a:cubicBezTo>
                  <a:pt x="18708" y="21600"/>
                  <a:pt x="19406" y="21600"/>
                  <a:pt x="19872" y="20990"/>
                </a:cubicBezTo>
                <a:cubicBezTo>
                  <a:pt x="20596" y="20044"/>
                  <a:pt x="21167" y="17995"/>
                  <a:pt x="21430" y="15393"/>
                </a:cubicBezTo>
                <a:cubicBezTo>
                  <a:pt x="21552" y="14381"/>
                  <a:pt x="21600" y="12211"/>
                  <a:pt x="21600" y="10800"/>
                </a:cubicBezTo>
                <a:cubicBezTo>
                  <a:pt x="21600" y="9389"/>
                  <a:pt x="21552" y="7219"/>
                  <a:pt x="21430" y="6207"/>
                </a:cubicBezTo>
                <a:cubicBezTo>
                  <a:pt x="21167" y="3605"/>
                  <a:pt x="20596" y="1556"/>
                  <a:pt x="19872" y="610"/>
                </a:cubicBezTo>
                <a:cubicBezTo>
                  <a:pt x="19406" y="0"/>
                  <a:pt x="18708" y="0"/>
                  <a:pt x="17544" y="0"/>
                </a:cubicBezTo>
                <a:close/>
              </a:path>
            </a:pathLst>
          </a:cu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defRPr>
            </a:pPr>
            <a:endParaRPr/>
          </a:p>
        </p:txBody>
      </p:sp>
      <p:sp>
        <p:nvSpPr>
          <p:cNvPr id="557" name="assign ns[1] = s[1] &amp; s[0] | in &amp; (s[0] | s[1]);"/>
          <p:cNvSpPr txBox="1"/>
          <p:nvPr/>
        </p:nvSpPr>
        <p:spPr>
          <a:xfrm>
            <a:off x="728199" y="3291416"/>
            <a:ext cx="1182052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assign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ns[1] = s[1] &amp; s[0] | in &amp; (s[0] | s[1]);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" grpId="1" animBg="1" advAuto="0"/>
      <p:bldP spid="554" grpId="2" animBg="1" advAuto="0"/>
      <p:bldP spid="555" grpId="4" animBg="1" advAuto="0"/>
      <p:bldP spid="556" grpId="3" animBg="1" advAuto="0"/>
      <p:bldP spid="557" grpId="5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Implementing the FS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Implementing the FSM</a:t>
            </a:r>
          </a:p>
        </p:txBody>
      </p:sp>
      <p:sp>
        <p:nvSpPr>
          <p:cNvPr id="5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graphicFrame>
        <p:nvGraphicFramePr>
          <p:cNvPr id="561" name="Table 1"/>
          <p:cNvGraphicFramePr/>
          <p:nvPr/>
        </p:nvGraphicFramePr>
        <p:xfrm>
          <a:off x="6275053" y="4568097"/>
          <a:ext cx="6637733" cy="4831080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1206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9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4550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 b="1"/>
                      </a:pPr>
                      <a:r>
                        <a:t>state </a:t>
                      </a:r>
                      <a:r>
                        <a:rPr sz="2300" b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s[1:0]</a:t>
                      </a:r>
                    </a:p>
                  </a:txBody>
                  <a:tcPr marL="50800" marR="50800" marT="50800" marB="50800" anchor="b" horzOverflow="overflow">
                    <a:lnL w="0">
                      <a:miter lim="400000"/>
                    </a:lnL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 b="1"/>
                        <a:t>meaning</a:t>
                      </a:r>
                    </a:p>
                  </a:txBody>
                  <a:tcPr marL="50800" marR="50800" marT="50800" marB="50800" anchor="b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 b="1"/>
                      </a:pPr>
                      <a:r>
                        <a:t>output </a:t>
                      </a:r>
                      <a:r>
                        <a:rPr sz="2300" b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out</a:t>
                      </a:r>
                    </a:p>
                  </a:txBody>
                  <a:tcPr marL="50800" marR="50800" marT="50800" marB="50800" anchor="b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 b="1"/>
                      </a:pPr>
                      <a:r>
                        <a:t>input</a:t>
                      </a:r>
                      <a:r>
                        <a:rPr sz="2300" b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in</a:t>
                      </a:r>
                    </a:p>
                  </a:txBody>
                  <a:tcPr marL="50800" marR="50800" marT="50800" marB="50800" anchor="b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 b="1"/>
                      </a:pPr>
                      <a:r>
                        <a:t>next state </a:t>
                      </a:r>
                      <a:r>
                        <a:rPr sz="2300" b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ns[1:0]</a:t>
                      </a:r>
                    </a:p>
                  </a:txBody>
                  <a:tcPr marL="50800" marR="50800" marT="50800" marB="50800" anchor="b" horzOverflow="overflow">
                    <a:lnR w="0">
                      <a:miter lim="400000"/>
                    </a:lnR>
                    <a:lnT w="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00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"definitely low"</a:t>
                      </a:r>
                    </a:p>
                  </a:txBody>
                  <a:tcPr marL="50800" marR="50800" marT="50800" marB="50800" horzOverflow="overflow"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01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"maybe rising"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"definitely high"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900"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10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"maybe falling"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62" name="assign out = s[1];"/>
          <p:cNvSpPr txBox="1"/>
          <p:nvPr/>
        </p:nvSpPr>
        <p:spPr>
          <a:xfrm>
            <a:off x="728199" y="2654299"/>
            <a:ext cx="4504135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assign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out = s[1];</a:t>
            </a:r>
          </a:p>
        </p:txBody>
      </p:sp>
      <p:graphicFrame>
        <p:nvGraphicFramePr>
          <p:cNvPr id="563" name="Table 2"/>
          <p:cNvGraphicFramePr/>
          <p:nvPr/>
        </p:nvGraphicFramePr>
        <p:xfrm>
          <a:off x="567266" y="5130800"/>
          <a:ext cx="2951955" cy="4389305"/>
        </p:xfrm>
        <a:graphic>
          <a:graphicData uri="http://schemas.openxmlformats.org/drawingml/2006/table">
            <a:tbl>
              <a:tblPr firstRow="1" firstCol="1">
                <a:tableStyleId>{4A9BC294-FFE2-49D5-8D69-9E1BD2C41BD5}</a:tableStyleId>
              </a:tblPr>
              <a:tblGrid>
                <a:gridCol w="983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3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3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861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ns[0]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in=0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in=1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61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s=00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61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s=01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61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s=11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61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s=10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4" name="Rounded Rectangle"/>
          <p:cNvSpPr/>
          <p:nvPr/>
        </p:nvSpPr>
        <p:spPr>
          <a:xfrm>
            <a:off x="2650066" y="6104995"/>
            <a:ext cx="950914" cy="3267604"/>
          </a:xfrm>
          <a:prstGeom prst="roundRect">
            <a:avLst>
              <a:gd name="adj" fmla="val 20033"/>
            </a:avLst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defRPr>
            </a:pPr>
            <a:endParaRPr/>
          </a:p>
        </p:txBody>
      </p:sp>
      <p:sp>
        <p:nvSpPr>
          <p:cNvPr id="565" name="assign ns[1] = s[1] &amp; s[0] | in &amp; (s[0] | s[1]);"/>
          <p:cNvSpPr txBox="1"/>
          <p:nvPr/>
        </p:nvSpPr>
        <p:spPr>
          <a:xfrm>
            <a:off x="728199" y="3291416"/>
            <a:ext cx="1182052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assign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ns[1] = s[1] &amp; s[0] | in &amp; (s[0] | s[1]);</a:t>
            </a:r>
          </a:p>
        </p:txBody>
      </p:sp>
      <p:sp>
        <p:nvSpPr>
          <p:cNvPr id="566" name="assign ns[0] = in;"/>
          <p:cNvSpPr txBox="1"/>
          <p:nvPr/>
        </p:nvSpPr>
        <p:spPr>
          <a:xfrm>
            <a:off x="728199" y="3928533"/>
            <a:ext cx="4504135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assign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ns[0] = in;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" grpId="1" animBg="1" advAuto="0"/>
      <p:bldP spid="564" grpId="2" animBg="1" advAuto="0"/>
      <p:bldP spid="566" grpId="3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graphicFrame>
        <p:nvGraphicFramePr>
          <p:cNvPr id="569" name="Table 1"/>
          <p:cNvGraphicFramePr/>
          <p:nvPr/>
        </p:nvGraphicFramePr>
        <p:xfrm>
          <a:off x="6275053" y="4568097"/>
          <a:ext cx="6637733" cy="4831080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1206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9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4550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 b="1"/>
                      </a:pPr>
                      <a:r>
                        <a:t>state </a:t>
                      </a:r>
                      <a:r>
                        <a:rPr sz="2300" b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s[1:0]</a:t>
                      </a:r>
                    </a:p>
                  </a:txBody>
                  <a:tcPr marL="50800" marR="50800" marT="50800" marB="50800" anchor="b" horzOverflow="overflow">
                    <a:lnL w="0">
                      <a:miter lim="400000"/>
                    </a:lnL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 b="1"/>
                        <a:t>meaning</a:t>
                      </a:r>
                    </a:p>
                  </a:txBody>
                  <a:tcPr marL="50800" marR="50800" marT="50800" marB="50800" anchor="b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 b="1"/>
                      </a:pPr>
                      <a:r>
                        <a:rPr dirty="0"/>
                        <a:t>output </a:t>
                      </a:r>
                      <a:r>
                        <a:rPr sz="2300" b="0" dirty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out</a:t>
                      </a:r>
                    </a:p>
                  </a:txBody>
                  <a:tcPr marL="50800" marR="50800" marT="50800" marB="50800" anchor="b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 b="1"/>
                      </a:pPr>
                      <a:r>
                        <a:t>input</a:t>
                      </a:r>
                      <a:r>
                        <a:rPr sz="2300" b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in</a:t>
                      </a:r>
                    </a:p>
                  </a:txBody>
                  <a:tcPr marL="50800" marR="50800" marT="50800" marB="50800" anchor="b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 b="1"/>
                      </a:pPr>
                      <a:r>
                        <a:t>next state </a:t>
                      </a:r>
                      <a:r>
                        <a:rPr sz="2300" b="0"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ns[1:0]</a:t>
                      </a:r>
                    </a:p>
                  </a:txBody>
                  <a:tcPr marL="50800" marR="50800" marT="50800" marB="50800" anchor="b" horzOverflow="overflow">
                    <a:lnR w="0">
                      <a:miter lim="400000"/>
                    </a:lnR>
                    <a:lnT w="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00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 dirty="0"/>
                        <a:t>"definitely low"</a:t>
                      </a:r>
                    </a:p>
                  </a:txBody>
                  <a:tcPr marL="50800" marR="50800" marT="50800" marB="50800" horzOverflow="overflow"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 dirty="0"/>
                        <a:t>0</a:t>
                      </a:r>
                    </a:p>
                  </a:txBody>
                  <a:tcPr marL="50800" marR="50800" marT="50800" marB="50800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01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"maybe rising"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"definitely high"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900"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10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"maybe falling"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00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 dirty="0"/>
                        <a:t>11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70" name="assign out = s[1];"/>
          <p:cNvSpPr txBox="1"/>
          <p:nvPr/>
        </p:nvSpPr>
        <p:spPr>
          <a:xfrm>
            <a:off x="728199" y="2654299"/>
            <a:ext cx="4504135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assign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out = s[1];</a:t>
            </a:r>
          </a:p>
        </p:txBody>
      </p:sp>
      <p:graphicFrame>
        <p:nvGraphicFramePr>
          <p:cNvPr id="571" name="Table 2"/>
          <p:cNvGraphicFramePr/>
          <p:nvPr/>
        </p:nvGraphicFramePr>
        <p:xfrm>
          <a:off x="567266" y="5130800"/>
          <a:ext cx="2951955" cy="4389305"/>
        </p:xfrm>
        <a:graphic>
          <a:graphicData uri="http://schemas.openxmlformats.org/drawingml/2006/table">
            <a:tbl>
              <a:tblPr firstRow="1" firstCol="1">
                <a:tableStyleId>{4A9BC294-FFE2-49D5-8D69-9E1BD2C41BD5}</a:tableStyleId>
              </a:tblPr>
              <a:tblGrid>
                <a:gridCol w="983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3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3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861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ns[0]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in=0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in=1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61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s=00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61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s=01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61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s=11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61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20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s=10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72" name="Rounded Rectangle"/>
          <p:cNvSpPr/>
          <p:nvPr/>
        </p:nvSpPr>
        <p:spPr>
          <a:xfrm>
            <a:off x="2650066" y="6104995"/>
            <a:ext cx="950914" cy="3267604"/>
          </a:xfrm>
          <a:prstGeom prst="roundRect">
            <a:avLst>
              <a:gd name="adj" fmla="val 20033"/>
            </a:avLst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defRPr>
            </a:pPr>
            <a:endParaRPr/>
          </a:p>
        </p:txBody>
      </p:sp>
      <p:sp>
        <p:nvSpPr>
          <p:cNvPr id="573" name="assign ns[1] = s[1] &amp; s[0] | in &amp; (s[0] | s[1]);"/>
          <p:cNvSpPr txBox="1"/>
          <p:nvPr/>
        </p:nvSpPr>
        <p:spPr>
          <a:xfrm>
            <a:off x="728199" y="3291416"/>
            <a:ext cx="1182052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assign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ns[1] = s[1] &amp; s[0] | in &amp; (s[0] | s[1]);</a:t>
            </a:r>
          </a:p>
        </p:txBody>
      </p:sp>
      <p:sp>
        <p:nvSpPr>
          <p:cNvPr id="574" name="assign ns[0] = in;"/>
          <p:cNvSpPr txBox="1"/>
          <p:nvPr/>
        </p:nvSpPr>
        <p:spPr>
          <a:xfrm>
            <a:off x="728199" y="3928533"/>
            <a:ext cx="4504135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assign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ns[0] = in;</a:t>
            </a:r>
          </a:p>
        </p:txBody>
      </p:sp>
      <p:grpSp>
        <p:nvGrpSpPr>
          <p:cNvPr id="577" name="Group"/>
          <p:cNvGrpSpPr/>
          <p:nvPr/>
        </p:nvGrpSpPr>
        <p:grpSpPr>
          <a:xfrm>
            <a:off x="2777662" y="868197"/>
            <a:ext cx="7721601" cy="1480775"/>
            <a:chOff x="0" y="0"/>
            <a:chExt cx="7721600" cy="1480773"/>
          </a:xfrm>
        </p:grpSpPr>
        <p:pic>
          <p:nvPicPr>
            <p:cNvPr id="575" name="Image" descr="Image"/>
            <p:cNvPicPr>
              <a:picLocks noChangeAspect="1"/>
            </p:cNvPicPr>
            <p:nvPr/>
          </p:nvPicPr>
          <p:blipFill>
            <a:blip r:embed="rId2"/>
            <a:srcRect b="71463"/>
            <a:stretch>
              <a:fillRect/>
            </a:stretch>
          </p:blipFill>
          <p:spPr>
            <a:xfrm>
              <a:off x="0" y="0"/>
              <a:ext cx="7721601" cy="60159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6" name="Image" descr="Image"/>
            <p:cNvPicPr>
              <a:picLocks noChangeAspect="1"/>
            </p:cNvPicPr>
            <p:nvPr/>
          </p:nvPicPr>
          <p:blipFill>
            <a:blip r:embed="rId2"/>
            <a:srcRect t="57084"/>
            <a:stretch>
              <a:fillRect/>
            </a:stretch>
          </p:blipFill>
          <p:spPr>
            <a:xfrm>
              <a:off x="0" y="576031"/>
              <a:ext cx="7721601" cy="90474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" grpId="1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One-hot enco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One-hot encoding</a:t>
            </a:r>
          </a:p>
        </p:txBody>
      </p:sp>
      <p:sp>
        <p:nvSpPr>
          <p:cNvPr id="580" name="&quot;One-hot&quot; means &quot;exactly one bit of a binary number is 1&quot;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13384" indent="-413384" defTabSz="543305">
              <a:spcBef>
                <a:spcPts val="3900"/>
              </a:spcBef>
              <a:defRPr sz="2976"/>
            </a:pPr>
            <a:r>
              <a:t>"One-hot" means "exactly one bit of a binary number is 1".</a:t>
            </a:r>
            <a:br/>
            <a:br/>
            <a:br/>
            <a:br/>
            <a:br/>
            <a:br/>
            <a:br/>
            <a:endParaRPr/>
          </a:p>
          <a:p>
            <a:pPr marL="413384" indent="-413384" defTabSz="543305">
              <a:spcBef>
                <a:spcPts val="3900"/>
              </a:spcBef>
              <a:defRPr sz="2976"/>
            </a:pPr>
            <a:r>
              <a:t>One-hot encoding uses more bits, but can lead to simpler logic.</a:t>
            </a:r>
          </a:p>
          <a:p>
            <a:pPr marL="413384" indent="-413384" defTabSz="543305">
              <a:spcBef>
                <a:spcPts val="3900"/>
              </a:spcBef>
              <a:defRPr sz="2976"/>
            </a:pPr>
            <a:r>
              <a:rPr b="1"/>
              <a:t>Exercise.</a:t>
            </a:r>
            <a:r>
              <a:t> Re-implement the FSM using one-hot encoding. Is the logic simpler?</a:t>
            </a:r>
          </a:p>
        </p:txBody>
      </p:sp>
      <p:sp>
        <p:nvSpPr>
          <p:cNvPr id="5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graphicFrame>
        <p:nvGraphicFramePr>
          <p:cNvPr id="582" name="Table 1"/>
          <p:cNvGraphicFramePr/>
          <p:nvPr/>
        </p:nvGraphicFramePr>
        <p:xfrm>
          <a:off x="1887006" y="3721430"/>
          <a:ext cx="9230785" cy="2856230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1287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0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2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950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 b="1"/>
                        <a:t>state</a:t>
                      </a:r>
                    </a:p>
                  </a:txBody>
                  <a:tcPr marL="50800" marR="50800" marT="50800" marB="50800" anchor="b" horzOverflow="overflow">
                    <a:lnL w="0">
                      <a:miter lim="400000"/>
                    </a:lnL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 b="1"/>
                        <a:t>encoding as a binary number</a:t>
                      </a:r>
                    </a:p>
                  </a:txBody>
                  <a:tcPr marL="50800" marR="50800" marT="50800" marB="50800" anchor="b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 b="1"/>
                        <a:t>one-hot encoding</a:t>
                      </a:r>
                    </a:p>
                  </a:txBody>
                  <a:tcPr marL="50800" marR="50800" marT="50800" marB="50800" anchor="b" horzOverflow="overflow">
                    <a:lnR w="0">
                      <a:miter lim="400000"/>
                    </a:lnR>
                    <a:lnT w="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a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00</a:t>
                      </a:r>
                    </a:p>
                  </a:txBody>
                  <a:tcPr marL="50800" marR="50800" marT="50800" marB="50800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0001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b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01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0010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c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11</a:t>
                      </a:r>
                    </a:p>
                  </a:txBody>
                  <a:tcPr marL="50800" marR="50800" marT="50800" marB="5080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0100</a:t>
                      </a:r>
                    </a:p>
                  </a:txBody>
                  <a:tcPr marL="50800" marR="50800" marT="50800" marB="5080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d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 dirty="0"/>
                        <a:t>10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3200" dirty="0"/>
                        <a:t>1000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" grpId="1" build="p" bldLvl="5" animBg="1" advAuto="0"/>
      <p:bldP spid="582" grpId="2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Automated FSM design"/>
          <p:cNvSpPr txBox="1">
            <a:spLocks noGrp="1"/>
          </p:cNvSpPr>
          <p:nvPr>
            <p:ph type="title"/>
          </p:nvPr>
        </p:nvSpPr>
        <p:spPr>
          <a:xfrm>
            <a:off x="4855333" y="320460"/>
            <a:ext cx="8149467" cy="2513545"/>
          </a:xfrm>
          <a:prstGeom prst="rect">
            <a:avLst/>
          </a:prstGeom>
        </p:spPr>
        <p:txBody>
          <a:bodyPr>
            <a:normAutofit/>
          </a:bodyPr>
          <a:lstStyle>
            <a:lvl1pPr defTabSz="566674">
              <a:defRPr sz="7760"/>
            </a:lvl1pPr>
          </a:lstStyle>
          <a:p>
            <a:r>
              <a:rPr dirty="0"/>
              <a:t>Automated FSM</a:t>
            </a:r>
            <a:r>
              <a:rPr lang="en-GB" dirty="0"/>
              <a:t> Design</a:t>
            </a:r>
            <a:endParaRPr dirty="0"/>
          </a:p>
        </p:txBody>
      </p:sp>
      <p:sp>
        <p:nvSpPr>
          <p:cNvPr id="585" name="We usually design FSMs at a higher level of abstraction."/>
          <p:cNvSpPr txBox="1">
            <a:spLocks noGrp="1"/>
          </p:cNvSpPr>
          <p:nvPr>
            <p:ph type="body" sz="quarter" idx="1"/>
          </p:nvPr>
        </p:nvSpPr>
        <p:spPr>
          <a:xfrm>
            <a:off x="5061635" y="2921770"/>
            <a:ext cx="7862234" cy="104345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dirty="0"/>
              <a:t>We usually design FSMs at a higher level of abstraction.</a:t>
            </a:r>
          </a:p>
        </p:txBody>
      </p:sp>
      <p:sp>
        <p:nvSpPr>
          <p:cNvPr id="5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sp>
        <p:nvSpPr>
          <p:cNvPr id="608" name="module denoiser (out, in, clk, rst);…"/>
          <p:cNvSpPr txBox="1"/>
          <p:nvPr/>
        </p:nvSpPr>
        <p:spPr>
          <a:xfrm>
            <a:off x="10563" y="830156"/>
            <a:ext cx="5027017" cy="8720336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denoiser (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in, clk,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rst</a:t>
            </a:r>
            <a:endParaRPr lang="en-GB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typedef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enum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[3:0]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sA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4'b0001,</a:t>
            </a:r>
          </a:p>
          <a:p>
            <a:pPr algn="l">
              <a:defRPr sz="20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sB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4'b0010,</a:t>
            </a:r>
          </a:p>
          <a:p>
            <a:pPr algn="l">
              <a:defRPr sz="20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sC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4'b0100,</a:t>
            </a:r>
          </a:p>
          <a:p>
            <a:pPr algn="l">
              <a:defRPr sz="20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sD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4'b1000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}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state_t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state_t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 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sA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if (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rst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sA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else begin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case (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sA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: 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(in)  s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sB</a:t>
            </a:r>
            <a:endParaRPr lang="en-GB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0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sB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: 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(in)  s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sC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    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else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s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sA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sC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: 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(!in) s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sD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sD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: 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(in)  s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sC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    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else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s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sA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default: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sA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endcase</a:t>
            </a: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end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</p:txBody>
      </p:sp>
      <p:sp>
        <p:nvSpPr>
          <p:cNvPr id="609" name="always @ *…"/>
          <p:cNvSpPr txBox="1"/>
          <p:nvPr/>
        </p:nvSpPr>
        <p:spPr>
          <a:xfrm>
            <a:off x="6314256" y="7293464"/>
            <a:ext cx="4103688" cy="2257028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0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always_comb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begin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case (s)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sC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sD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: out = 1'b1;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default: out = 1'b0;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endcase</a:t>
            </a: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20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10" name="declare…"/>
          <p:cNvSpPr/>
          <p:nvPr/>
        </p:nvSpPr>
        <p:spPr>
          <a:xfrm>
            <a:off x="3090780" y="3419116"/>
            <a:ext cx="157437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/>
          <a:p>
            <a:r>
              <a:rPr dirty="0"/>
              <a:t>declare</a:t>
            </a:r>
          </a:p>
          <a:p>
            <a:r>
              <a:rPr dirty="0"/>
              <a:t>states</a:t>
            </a:r>
          </a:p>
        </p:txBody>
      </p:sp>
      <p:sp>
        <p:nvSpPr>
          <p:cNvPr id="613" name="calculate…"/>
          <p:cNvSpPr txBox="1"/>
          <p:nvPr/>
        </p:nvSpPr>
        <p:spPr>
          <a:xfrm>
            <a:off x="5037580" y="5228618"/>
            <a:ext cx="1975962" cy="19812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noAutofit/>
          </a:bodyPr>
          <a:lstStyle/>
          <a:p>
            <a:r>
              <a:rPr dirty="0"/>
              <a:t>calculate</a:t>
            </a:r>
          </a:p>
          <a:p>
            <a:r>
              <a:rPr dirty="0"/>
              <a:t>next state</a:t>
            </a:r>
          </a:p>
        </p:txBody>
      </p:sp>
      <p:sp>
        <p:nvSpPr>
          <p:cNvPr id="614" name="Line"/>
          <p:cNvSpPr/>
          <p:nvPr/>
        </p:nvSpPr>
        <p:spPr>
          <a:xfrm flipH="1">
            <a:off x="4665150" y="6740201"/>
            <a:ext cx="792970" cy="218506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100" b="1"/>
            </a:pPr>
            <a:endParaRPr/>
          </a:p>
        </p:txBody>
      </p:sp>
      <p:sp>
        <p:nvSpPr>
          <p:cNvPr id="616" name="calculate output"/>
          <p:cNvSpPr txBox="1"/>
          <p:nvPr/>
        </p:nvSpPr>
        <p:spPr>
          <a:xfrm>
            <a:off x="10677757" y="7972755"/>
            <a:ext cx="1708953" cy="10414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noAutofit/>
          </a:bodyPr>
          <a:lstStyle/>
          <a:p>
            <a:r>
              <a:rPr dirty="0"/>
              <a:t>calculate 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27C9A3-BA60-2577-1132-27C1E45B7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320" y="3867110"/>
            <a:ext cx="3665231" cy="2954568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5" grpId="1" animBg="1" advAuto="0"/>
      <p:bldP spid="608" grpId="3" animBg="1" advAuto="0"/>
      <p:bldP spid="609" grpId="4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718D9-5198-1C39-03BD-A2C9D4E0D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E4094A-BBEE-0EA4-364D-5048F450B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771601"/>
              </p:ext>
            </p:extLst>
          </p:nvPr>
        </p:nvGraphicFramePr>
        <p:xfrm>
          <a:off x="802029" y="2302494"/>
          <a:ext cx="11099800" cy="5364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96218">
                  <a:extLst>
                    <a:ext uri="{9D8B030D-6E8A-4147-A177-3AD203B41FA5}">
                      <a16:colId xmlns:a16="http://schemas.microsoft.com/office/drawing/2014/main" val="577237048"/>
                    </a:ext>
                  </a:extLst>
                </a:gridCol>
                <a:gridCol w="1423686">
                  <a:extLst>
                    <a:ext uri="{9D8B030D-6E8A-4147-A177-3AD203B41FA5}">
                      <a16:colId xmlns:a16="http://schemas.microsoft.com/office/drawing/2014/main" val="698112831"/>
                    </a:ext>
                  </a:extLst>
                </a:gridCol>
                <a:gridCol w="3761773">
                  <a:extLst>
                    <a:ext uri="{9D8B030D-6E8A-4147-A177-3AD203B41FA5}">
                      <a16:colId xmlns:a16="http://schemas.microsoft.com/office/drawing/2014/main" val="3817986081"/>
                    </a:ext>
                  </a:extLst>
                </a:gridCol>
                <a:gridCol w="4818123">
                  <a:extLst>
                    <a:ext uri="{9D8B030D-6E8A-4147-A177-3AD203B41FA5}">
                      <a16:colId xmlns:a16="http://schemas.microsoft.com/office/drawing/2014/main" val="1778665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State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2600" dirty="0">
                          <a:effectLst/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Next state in =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4150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2600" dirty="0">
                          <a:effectLst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6315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26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26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3350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2600" dirty="0">
                          <a:effectLst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9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2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26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612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2600" dirty="0">
                          <a:effectLst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8681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26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26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6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8567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2600" dirty="0">
                          <a:effectLst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242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2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26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699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/>
                        <a:t>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2600">
                          <a:effectLst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1025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2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26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6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86313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88425B-2083-70F5-4DA2-49ABAFE79C2D}"/>
              </a:ext>
            </a:extLst>
          </p:cNvPr>
          <p:cNvSpPr txBox="1"/>
          <p:nvPr/>
        </p:nvSpPr>
        <p:spPr>
          <a:xfrm>
            <a:off x="636608" y="8114125"/>
            <a:ext cx="11265221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14350" marR="0" indent="-51435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Draw the corresponding FSM?</a:t>
            </a:r>
            <a:endParaRPr lang="en-GB" dirty="0"/>
          </a:p>
          <a:p>
            <a:pPr marL="514350" marR="0" indent="-51435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Can you simplify it and merge some states together?</a:t>
            </a:r>
          </a:p>
        </p:txBody>
      </p:sp>
    </p:spTree>
    <p:extLst>
      <p:ext uri="{BB962C8B-B14F-4D97-AF65-F5344CB8AC3E}">
        <p14:creationId xmlns:p14="http://schemas.microsoft.com/office/powerpoint/2010/main" val="79268231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Example 2: puls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2: pulser</a:t>
            </a:r>
          </a:p>
        </p:txBody>
      </p:sp>
      <p:sp>
        <p:nvSpPr>
          <p:cNvPr id="627" name="Task: Whenever the input rises, output a 1-cycle pulse."/>
          <p:cNvSpPr txBox="1">
            <a:spLocks noGrp="1"/>
          </p:cNvSpPr>
          <p:nvPr>
            <p:ph type="body" sz="quarter" idx="1"/>
          </p:nvPr>
        </p:nvSpPr>
        <p:spPr>
          <a:xfrm>
            <a:off x="952500" y="2686050"/>
            <a:ext cx="11099800" cy="1004690"/>
          </a:xfrm>
          <a:prstGeom prst="rect">
            <a:avLst/>
          </a:prstGeom>
        </p:spPr>
        <p:txBody>
          <a:bodyPr/>
          <a:lstStyle/>
          <a:p>
            <a:r>
              <a:t>Task: Whenever the input rises, output a 1-cycle pulse.</a:t>
            </a:r>
          </a:p>
        </p:txBody>
      </p:sp>
      <p:sp>
        <p:nvSpPr>
          <p:cNvPr id="6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  <p:pic>
        <p:nvPicPr>
          <p:cNvPr id="62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39" y="3518444"/>
            <a:ext cx="12267322" cy="3262812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5A503A4-2BD5-2110-7042-2CF4EEBA1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447" y="6975836"/>
            <a:ext cx="9812631" cy="2127936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Example 2: pulser"/>
          <p:cNvSpPr txBox="1">
            <a:spLocks noGrp="1"/>
          </p:cNvSpPr>
          <p:nvPr>
            <p:ph type="title"/>
          </p:nvPr>
        </p:nvSpPr>
        <p:spPr>
          <a:xfrm>
            <a:off x="5750743" y="628052"/>
            <a:ext cx="7427929" cy="21590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dirty="0"/>
              <a:t>Example 2: pulser</a:t>
            </a:r>
          </a:p>
        </p:txBody>
      </p:sp>
      <p:sp>
        <p:nvSpPr>
          <p:cNvPr id="6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  <p:sp>
        <p:nvSpPr>
          <p:cNvPr id="650" name="module pulser (out, in, clk);…"/>
          <p:cNvSpPr txBox="1"/>
          <p:nvPr/>
        </p:nvSpPr>
        <p:spPr>
          <a:xfrm>
            <a:off x="0" y="1033264"/>
            <a:ext cx="5180905" cy="8720336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pulser (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out,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in, clk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typedef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enum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[1:0] 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{</a:t>
            </a:r>
          </a:p>
          <a:p>
            <a:pPr algn="l">
              <a:defRPr sz="20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sIDLE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2'b00,</a:t>
            </a:r>
          </a:p>
          <a:p>
            <a:pPr algn="l">
              <a:defRPr sz="20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sHIGH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2'b01,</a:t>
            </a:r>
          </a:p>
          <a:p>
            <a:pPr algn="l">
              <a:defRPr sz="20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sWAIT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2'b10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}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state_t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state_t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 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sIDLE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case (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sIDLE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: if (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in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sHIGH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sHIGH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: if (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in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sWAIT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     else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sIDLE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sWAIT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: if (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!in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sIDLE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endcase</a:t>
            </a: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20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always_comb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begin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case (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sHIGH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:   out = 1'b1;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default: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 = 1'b0;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endcase</a:t>
            </a: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20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51" name="declare…"/>
          <p:cNvSpPr/>
          <p:nvPr/>
        </p:nvSpPr>
        <p:spPr>
          <a:xfrm>
            <a:off x="5290933" y="3162717"/>
            <a:ext cx="157437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/>
          <a:p>
            <a:r>
              <a:rPr dirty="0"/>
              <a:t>declare</a:t>
            </a:r>
          </a:p>
          <a:p>
            <a:r>
              <a:rPr dirty="0"/>
              <a:t>states</a:t>
            </a:r>
          </a:p>
        </p:txBody>
      </p:sp>
      <p:sp>
        <p:nvSpPr>
          <p:cNvPr id="654" name="calculate…"/>
          <p:cNvSpPr txBox="1"/>
          <p:nvPr/>
        </p:nvSpPr>
        <p:spPr>
          <a:xfrm>
            <a:off x="4492972" y="4876800"/>
            <a:ext cx="3512261" cy="19812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noAutofit/>
          </a:bodyPr>
          <a:lstStyle/>
          <a:p>
            <a:r>
              <a:rPr dirty="0"/>
              <a:t>calculate</a:t>
            </a:r>
          </a:p>
          <a:p>
            <a:r>
              <a:rPr dirty="0"/>
              <a:t>next state</a:t>
            </a:r>
          </a:p>
        </p:txBody>
      </p:sp>
      <p:sp>
        <p:nvSpPr>
          <p:cNvPr id="657" name="calculate output"/>
          <p:cNvSpPr txBox="1"/>
          <p:nvPr/>
        </p:nvSpPr>
        <p:spPr>
          <a:xfrm>
            <a:off x="5290933" y="8084147"/>
            <a:ext cx="1708953" cy="10414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noAutofit/>
          </a:bodyPr>
          <a:lstStyle/>
          <a:p>
            <a:r>
              <a:rPr dirty="0"/>
              <a:t>calculate 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0FE82C-3975-29C0-0D3C-F739AC7B1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05" y="3538383"/>
            <a:ext cx="7904214" cy="171408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Example 3: delay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3: delayer</a:t>
            </a:r>
          </a:p>
        </p:txBody>
      </p:sp>
      <p:sp>
        <p:nvSpPr>
          <p:cNvPr id="662" name="Task: when the 'trigger' input rises, wait for n cycles, then produce a 1-cycle pulse."/>
          <p:cNvSpPr txBox="1">
            <a:spLocks noGrp="1"/>
          </p:cNvSpPr>
          <p:nvPr>
            <p:ph type="body" sz="quarter" idx="1"/>
          </p:nvPr>
        </p:nvSpPr>
        <p:spPr>
          <a:xfrm>
            <a:off x="952500" y="2686050"/>
            <a:ext cx="11099800" cy="1163572"/>
          </a:xfrm>
          <a:prstGeom prst="rect">
            <a:avLst/>
          </a:prstGeom>
        </p:spPr>
        <p:txBody>
          <a:bodyPr/>
          <a:lstStyle/>
          <a:p>
            <a:r>
              <a:t>Task: when the 'trigger' input rises, wait for n cycles, then produce a 1-cycle pulse.</a:t>
            </a:r>
          </a:p>
        </p:txBody>
      </p:sp>
      <p:sp>
        <p:nvSpPr>
          <p:cNvPr id="6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  <p:grpSp>
        <p:nvGrpSpPr>
          <p:cNvPr id="668" name="Group"/>
          <p:cNvGrpSpPr/>
          <p:nvPr/>
        </p:nvGrpSpPr>
        <p:grpSpPr>
          <a:xfrm>
            <a:off x="1441515" y="3926416"/>
            <a:ext cx="5298343" cy="2825484"/>
            <a:chOff x="0" y="0"/>
            <a:chExt cx="5298341" cy="2825483"/>
          </a:xfrm>
        </p:grpSpPr>
        <p:sp>
          <p:nvSpPr>
            <p:cNvPr id="664" name="Rectangle"/>
            <p:cNvSpPr/>
            <p:nvPr/>
          </p:nvSpPr>
          <p:spPr>
            <a:xfrm>
              <a:off x="0" y="0"/>
              <a:ext cx="5298342" cy="282548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pic>
          <p:nvPicPr>
            <p:cNvPr id="665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285" y="212060"/>
              <a:ext cx="5017772" cy="24013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66" name="Rectangle"/>
            <p:cNvSpPr/>
            <p:nvPr/>
          </p:nvSpPr>
          <p:spPr>
            <a:xfrm>
              <a:off x="275762" y="1970285"/>
              <a:ext cx="653389" cy="69982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667" name="Rectangle"/>
            <p:cNvSpPr/>
            <p:nvPr/>
          </p:nvSpPr>
          <p:spPr>
            <a:xfrm>
              <a:off x="3891028" y="556352"/>
              <a:ext cx="757636" cy="69982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4D062C5-77A2-F32A-CD6E-C801DF0FC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15" y="6828695"/>
            <a:ext cx="11460038" cy="28604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715F78-C538-3CFE-7555-873DE9EA8B54}"/>
              </a:ext>
            </a:extLst>
          </p:cNvPr>
          <p:cNvSpPr txBox="1"/>
          <p:nvPr/>
        </p:nvSpPr>
        <p:spPr>
          <a:xfrm>
            <a:off x="8346831" y="4907529"/>
            <a:ext cx="3589522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Assume n&gt;0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27</a:t>
            </a:fld>
            <a:endParaRPr/>
          </a:p>
        </p:txBody>
      </p:sp>
      <p:sp>
        <p:nvSpPr>
          <p:cNvPr id="693" name="module delayer (out, in, n, clk);…"/>
          <p:cNvSpPr txBox="1"/>
          <p:nvPr/>
        </p:nvSpPr>
        <p:spPr>
          <a:xfrm>
            <a:off x="0" y="547818"/>
            <a:ext cx="4411464" cy="5334794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delayer (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out,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in,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[9:0] n,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typedef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enum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[1:0] 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{</a:t>
            </a:r>
          </a:p>
          <a:p>
            <a:pPr algn="l">
              <a:defRPr sz="20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sIDLE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2'b00,</a:t>
            </a:r>
          </a:p>
          <a:p>
            <a:pPr algn="l">
              <a:defRPr sz="20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sDELA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2'b01,</a:t>
            </a:r>
          </a:p>
          <a:p>
            <a:pPr algn="l">
              <a:defRPr sz="20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sHIGH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2'b11,</a:t>
            </a:r>
          </a:p>
          <a:p>
            <a:pPr algn="l">
              <a:defRPr sz="20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sWAIT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2'b10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}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state_t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state_t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 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sIDLE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[9:0] c = '0;</a:t>
            </a:r>
          </a:p>
          <a:p>
            <a:pPr algn="l">
              <a:defRPr sz="20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0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A386ED-D920-FABE-99C1-1369BE9593FC}"/>
              </a:ext>
            </a:extLst>
          </p:cNvPr>
          <p:cNvSpPr txBox="1"/>
          <p:nvPr/>
        </p:nvSpPr>
        <p:spPr>
          <a:xfrm>
            <a:off x="4502018" y="547818"/>
            <a:ext cx="6513922" cy="5324535"/>
          </a:xfrm>
          <a:prstGeom prst="rect">
            <a:avLst/>
          </a:prstGeom>
          <a:solidFill>
            <a:srgbClr val="E9E6C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defRPr sz="2000"/>
            </a:pPr>
            <a:r>
              <a:rPr lang="en-GB" sz="20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sz="20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case (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</a:t>
            </a: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sz="20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sIDLE</a:t>
            </a: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: if (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in</a:t>
            </a: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if (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n == '0</a:t>
            </a: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 &lt;= </a:t>
            </a:r>
            <a:r>
              <a:rPr lang="en-GB" sz="200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sHIGH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else begin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 &lt;= n - 1'b1;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 &lt;= </a:t>
            </a:r>
            <a:r>
              <a:rPr lang="en-GB" sz="200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sDELA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end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end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sz="20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sDELA</a:t>
            </a: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: if (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 == '0</a:t>
            </a: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 &lt;= </a:t>
            </a:r>
            <a:r>
              <a:rPr lang="en-GB" sz="200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sHIGH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   else         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 &lt;= c - 1'b1;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sz="20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sHIGH</a:t>
            </a: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: if (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in</a:t>
            </a: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 &lt;= </a:t>
            </a:r>
            <a:r>
              <a:rPr lang="en-GB" sz="200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sWAIT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   else    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 &lt;= </a:t>
            </a:r>
            <a:r>
              <a:rPr lang="en-GB" sz="200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sIDLE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sz="20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sWAIT</a:t>
            </a: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: if (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!in</a:t>
            </a: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 &lt;= </a:t>
            </a:r>
            <a:r>
              <a:rPr lang="en-GB" sz="200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sIDLE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default: 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 &lt;= </a:t>
            </a:r>
            <a:r>
              <a:rPr lang="en-GB" sz="200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sIDLE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sz="20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endcase</a:t>
            </a:r>
            <a:endParaRPr lang="en-GB" sz="2000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F3A237-5C92-72D1-E756-D50AC71E35C6}"/>
              </a:ext>
            </a:extLst>
          </p:cNvPr>
          <p:cNvSpPr txBox="1"/>
          <p:nvPr/>
        </p:nvSpPr>
        <p:spPr>
          <a:xfrm>
            <a:off x="8792535" y="5240035"/>
            <a:ext cx="4212265" cy="2246769"/>
          </a:xfrm>
          <a:prstGeom prst="rect">
            <a:avLst/>
          </a:prstGeom>
          <a:solidFill>
            <a:srgbClr val="E9E6C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sz="20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always_comb</a:t>
            </a: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begin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case (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</a:t>
            </a: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lang="en-GB" sz="200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sHIGH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:   out = 1'b1;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default: </a:t>
            </a:r>
            <a:r>
              <a:rPr lang="en-GB" sz="200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 = 1'b0;</a:t>
            </a: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sz="20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endcase</a:t>
            </a:r>
            <a:endParaRPr lang="en-GB" sz="2000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000"/>
            </a:pPr>
            <a:r>
              <a:rPr lang="en-GB" sz="20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2000"/>
            </a:pPr>
            <a:r>
              <a:rPr lang="en-GB" sz="20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340D0A-6EAD-FB47-7541-A3112564B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93132"/>
            <a:ext cx="11460038" cy="286046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This l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lecture</a:t>
            </a:r>
          </a:p>
        </p:txBody>
      </p:sp>
      <p:sp>
        <p:nvSpPr>
          <p:cNvPr id="717" name="Pulse-width modulation (PWM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Pulse-width modulation (PWM)</a:t>
            </a:r>
          </a:p>
          <a:p>
            <a:r>
              <a:t>Finite state machines (FSMs)</a:t>
            </a:r>
          </a:p>
          <a:p>
            <a:r>
              <a:t>The analogue add-on card</a:t>
            </a:r>
          </a:p>
        </p:txBody>
      </p:sp>
      <p:sp>
        <p:nvSpPr>
          <p:cNvPr id="7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28</a:t>
            </a:fld>
            <a:endParaRPr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This l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lecture</a:t>
            </a:r>
          </a:p>
        </p:txBody>
      </p:sp>
      <p:sp>
        <p:nvSpPr>
          <p:cNvPr id="721" name="Pulse-width modulation (PWM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Pulse-width modulation (PWM)</a:t>
            </a:r>
          </a:p>
          <a:p>
            <a:r>
              <a:t>Finite state machines (FSMs)</a:t>
            </a:r>
          </a:p>
          <a:p>
            <a:pPr>
              <a:defRPr b="1"/>
            </a:pPr>
            <a:r>
              <a:t>The analogue add-on card</a:t>
            </a:r>
          </a:p>
        </p:txBody>
      </p:sp>
      <p:sp>
        <p:nvSpPr>
          <p:cNvPr id="7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29</a:t>
            </a:fld>
            <a:endParaRPr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The analogue I/O c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analogue I/O card</a:t>
            </a:r>
          </a:p>
        </p:txBody>
      </p:sp>
      <p:sp>
        <p:nvSpPr>
          <p:cNvPr id="725" name="Provides analogue inputs and outputs.…"/>
          <p:cNvSpPr txBox="1">
            <a:spLocks noGrp="1"/>
          </p:cNvSpPr>
          <p:nvPr>
            <p:ph type="body" sz="half" idx="1"/>
          </p:nvPr>
        </p:nvSpPr>
        <p:spPr>
          <a:xfrm>
            <a:off x="952500" y="2686050"/>
            <a:ext cx="5818122" cy="6286500"/>
          </a:xfrm>
          <a:prstGeom prst="rect">
            <a:avLst/>
          </a:prstGeom>
        </p:spPr>
        <p:txBody>
          <a:bodyPr/>
          <a:lstStyle/>
          <a:p>
            <a:r>
              <a:rPr dirty="0"/>
              <a:t>Provides analogue inputs and outputs.</a:t>
            </a:r>
          </a:p>
          <a:p>
            <a:r>
              <a:rPr dirty="0"/>
              <a:t>Contains an ADC, a DAC, a low-pass filter, and an op-amp</a:t>
            </a:r>
            <a:r>
              <a:rPr lang="en-GB" dirty="0"/>
              <a:t> (amplify/buffer a signal)</a:t>
            </a:r>
            <a:r>
              <a:rPr dirty="0"/>
              <a:t>.</a:t>
            </a:r>
          </a:p>
          <a:p>
            <a:r>
              <a:rPr dirty="0"/>
              <a:t>Will be used for parts 3 and 4 of the experiment.</a:t>
            </a:r>
          </a:p>
        </p:txBody>
      </p:sp>
      <p:sp>
        <p:nvSpPr>
          <p:cNvPr id="7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30</a:t>
            </a:fld>
            <a:endParaRPr/>
          </a:p>
        </p:txBody>
      </p:sp>
      <p:pic>
        <p:nvPicPr>
          <p:cNvPr id="72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283" y="4086660"/>
            <a:ext cx="4539983" cy="33074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5" grpId="1" build="p" bldLvl="5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Schemati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Schematic</a:t>
            </a:r>
          </a:p>
        </p:txBody>
      </p:sp>
      <p:sp>
        <p:nvSpPr>
          <p:cNvPr id="7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31</a:t>
            </a:fld>
            <a:endParaRPr/>
          </a:p>
        </p:txBody>
      </p:sp>
      <p:pic>
        <p:nvPicPr>
          <p:cNvPr id="73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1" y="2794000"/>
            <a:ext cx="11849638" cy="61375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Series-parallel interface for DA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800"/>
            </a:lvl1pPr>
          </a:lstStyle>
          <a:p>
            <a:r>
              <a:rPr dirty="0"/>
              <a:t>Series</a:t>
            </a:r>
            <a:r>
              <a:rPr lang="en-GB" dirty="0"/>
              <a:t> Peripheral</a:t>
            </a:r>
            <a:r>
              <a:rPr dirty="0"/>
              <a:t> </a:t>
            </a:r>
            <a:r>
              <a:rPr lang="en-GB" dirty="0"/>
              <a:t>I</a:t>
            </a:r>
            <a:r>
              <a:rPr dirty="0" err="1"/>
              <a:t>nterface</a:t>
            </a:r>
            <a:r>
              <a:rPr dirty="0"/>
              <a:t> for DAC</a:t>
            </a:r>
          </a:p>
        </p:txBody>
      </p:sp>
      <p:sp>
        <p:nvSpPr>
          <p:cNvPr id="734" name="To send a value to the DAC, 16 bits are transmitted serially.…"/>
          <p:cNvSpPr txBox="1">
            <a:spLocks noGrp="1"/>
          </p:cNvSpPr>
          <p:nvPr>
            <p:ph type="body" sz="half" idx="1"/>
          </p:nvPr>
        </p:nvSpPr>
        <p:spPr>
          <a:xfrm>
            <a:off x="952500" y="2686050"/>
            <a:ext cx="11099800" cy="2957959"/>
          </a:xfrm>
          <a:prstGeom prst="rect">
            <a:avLst/>
          </a:prstGeom>
        </p:spPr>
        <p:txBody>
          <a:bodyPr/>
          <a:lstStyle/>
          <a:p>
            <a:pPr marL="422275" indent="-422275" defTabSz="554990">
              <a:spcBef>
                <a:spcPts val="3900"/>
              </a:spcBef>
              <a:defRPr sz="3040"/>
            </a:pPr>
            <a:r>
              <a:rPr dirty="0"/>
              <a:t>To send a value to the DAC, 16 bits are transmitted </a:t>
            </a:r>
            <a:r>
              <a:rPr b="1" dirty="0"/>
              <a:t>serially</a:t>
            </a:r>
            <a:r>
              <a:rPr dirty="0"/>
              <a:t>. </a:t>
            </a:r>
          </a:p>
          <a:p>
            <a:pPr marL="422275" indent="-422275" defTabSz="554990">
              <a:spcBef>
                <a:spcPts val="3900"/>
              </a:spcBef>
              <a:defRPr sz="3040"/>
            </a:pPr>
            <a:r>
              <a:rPr b="1" dirty="0"/>
              <a:t>Chip select</a:t>
            </a:r>
            <a:r>
              <a:rPr dirty="0"/>
              <a:t> (C</a:t>
            </a:r>
            <a:r>
              <a:rPr lang="en-GB" dirty="0"/>
              <a:t>S</a:t>
            </a:r>
            <a:r>
              <a:rPr dirty="0"/>
              <a:t>) going low means the start of transmission.</a:t>
            </a:r>
          </a:p>
          <a:p>
            <a:pPr marL="422275" indent="-422275" defTabSz="554990">
              <a:spcBef>
                <a:spcPts val="3900"/>
              </a:spcBef>
              <a:defRPr sz="3040"/>
            </a:pPr>
            <a:r>
              <a:rPr dirty="0"/>
              <a:t>Then </a:t>
            </a:r>
            <a:r>
              <a:rPr b="1" dirty="0"/>
              <a:t>serial data in</a:t>
            </a:r>
            <a:r>
              <a:rPr dirty="0"/>
              <a:t> (SDI) takes the following sequence of values.</a:t>
            </a:r>
          </a:p>
        </p:txBody>
      </p:sp>
      <p:sp>
        <p:nvSpPr>
          <p:cNvPr id="7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32</a:t>
            </a:fld>
            <a:endParaRPr/>
          </a:p>
        </p:txBody>
      </p:sp>
      <p:graphicFrame>
        <p:nvGraphicFramePr>
          <p:cNvPr id="736" name="Table 1"/>
          <p:cNvGraphicFramePr/>
          <p:nvPr/>
        </p:nvGraphicFramePr>
        <p:xfrm>
          <a:off x="2895054" y="5588000"/>
          <a:ext cx="7214690" cy="3493285"/>
        </p:xfrm>
        <a:graphic>
          <a:graphicData uri="http://schemas.openxmlformats.org/drawingml/2006/table">
            <a:tbl>
              <a:tblPr firstRow="1">
                <a:tableStyleId>{4A9BC294-FFE2-49D5-8D69-9E1BD2C41BD5}</a:tableStyleId>
              </a:tblPr>
              <a:tblGrid>
                <a:gridCol w="977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445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1800" b="0"/>
                      </a:pPr>
                      <a:r>
                        <a:rPr sz="2200" b="1">
                          <a:sym typeface="Helvetica Neue"/>
                        </a:rPr>
                        <a:t>bit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1800" b="0"/>
                      </a:pPr>
                      <a:r>
                        <a:rPr sz="2200" b="1">
                          <a:sym typeface="Helvetica Neue"/>
                        </a:rPr>
                        <a:t>name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1800" b="0"/>
                      </a:pPr>
                      <a:r>
                        <a:rPr sz="2200" b="1">
                          <a:sym typeface="Helvetica Neue"/>
                        </a:rPr>
                        <a:t>interpretation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15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/>
                      </a:pPr>
                      <a:endParaRPr/>
                    </a:p>
                  </a:txBody>
                  <a:tcPr marL="50800" marR="50800" marT="50800" marB="50800" anchor="ctr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always 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14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BUF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2600"/>
                      </a:pPr>
                      <a:r>
                        <a:t>whether V</a:t>
                      </a:r>
                      <a:r>
                        <a:rPr baseline="-5999"/>
                        <a:t>ref</a:t>
                      </a:r>
                      <a:r>
                        <a:t> is buffered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¬GA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high = 1x gain, low = 2x gain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¬SHDN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high = normal, low = shutdown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11–2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/>
                      </a:pPr>
                      <a:endParaRPr/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the 10 bits of actual data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1–0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T w="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600"/>
                      </a:pPr>
                      <a:endParaRPr/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/>
                      </a:pPr>
                      <a:r>
                        <a:rPr sz="2600"/>
                        <a:t>these are ignored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T w="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spi2da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spi2dac</a:t>
            </a:r>
          </a:p>
        </p:txBody>
      </p:sp>
      <p:sp>
        <p:nvSpPr>
          <p:cNvPr id="7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33</a:t>
            </a:fld>
            <a:endParaRPr/>
          </a:p>
        </p:txBody>
      </p:sp>
      <p:pic>
        <p:nvPicPr>
          <p:cNvPr id="74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288" y="2590800"/>
            <a:ext cx="10314224" cy="5500920"/>
          </a:xfrm>
          <a:prstGeom prst="rect">
            <a:avLst/>
          </a:prstGeom>
          <a:ln w="12700">
            <a:miter lim="400000"/>
          </a:ln>
        </p:spPr>
      </p:pic>
      <p:sp>
        <p:nvSpPr>
          <p:cNvPr id="741" name="More on this circuit next week!"/>
          <p:cNvSpPr txBox="1">
            <a:spLocks noGrp="1"/>
          </p:cNvSpPr>
          <p:nvPr>
            <p:ph type="body" sz="quarter" idx="1"/>
          </p:nvPr>
        </p:nvSpPr>
        <p:spPr>
          <a:xfrm>
            <a:off x="952500" y="8536220"/>
            <a:ext cx="11099800" cy="58873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t>More on this circuit next week!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1" grpId="1" animBg="1" advAuto="0"/>
    </p:bld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E8627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1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E8627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1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1791</TotalTime>
  <Words>2000</Words>
  <Application>Microsoft Macintosh PowerPoint</Application>
  <PresentationFormat>Custom</PresentationFormat>
  <Paragraphs>635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Cambria Math</vt:lpstr>
      <vt:lpstr>Courier</vt:lpstr>
      <vt:lpstr>Helvetica</vt:lpstr>
      <vt:lpstr>Helvetica Neue</vt:lpstr>
      <vt:lpstr>Helvetica Neue Thin</vt:lpstr>
      <vt:lpstr>White</vt:lpstr>
      <vt:lpstr>Mastering  Digital Design</vt:lpstr>
      <vt:lpstr>This lecture</vt:lpstr>
      <vt:lpstr>This lecture</vt:lpstr>
      <vt:lpstr>DAC</vt:lpstr>
      <vt:lpstr>DAC</vt:lpstr>
      <vt:lpstr>DAC via PWM</vt:lpstr>
      <vt:lpstr>PowerPoint Presentation</vt:lpstr>
      <vt:lpstr>DAC via PWM</vt:lpstr>
      <vt:lpstr>This lecture</vt:lpstr>
      <vt:lpstr>This lecture</vt:lpstr>
      <vt:lpstr>Example 1: denoiser</vt:lpstr>
      <vt:lpstr>Mealy machines</vt:lpstr>
      <vt:lpstr>Moore machines</vt:lpstr>
      <vt:lpstr>Mealy vs Moore</vt:lpstr>
      <vt:lpstr>Implementing the FSM</vt:lpstr>
      <vt:lpstr>Implementing the FSM</vt:lpstr>
      <vt:lpstr>Implementing the FSM</vt:lpstr>
      <vt:lpstr>Implementing the FSM</vt:lpstr>
      <vt:lpstr>Implementing the FSM</vt:lpstr>
      <vt:lpstr>PowerPoint Presentation</vt:lpstr>
      <vt:lpstr>One-hot encoding</vt:lpstr>
      <vt:lpstr>Automated FSM Design</vt:lpstr>
      <vt:lpstr>Question</vt:lpstr>
      <vt:lpstr>Example 2: pulser</vt:lpstr>
      <vt:lpstr>Example 2: pulser</vt:lpstr>
      <vt:lpstr>Example 3: delayer</vt:lpstr>
      <vt:lpstr>PowerPoint Presentation</vt:lpstr>
      <vt:lpstr>This lecture</vt:lpstr>
      <vt:lpstr>This lecture</vt:lpstr>
      <vt:lpstr>The analogue I/O card</vt:lpstr>
      <vt:lpstr>Schematic</vt:lpstr>
      <vt:lpstr>Series Peripheral Interface for DAC</vt:lpstr>
      <vt:lpstr>spi2dac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Coward, Samuel R</cp:lastModifiedBy>
  <cp:revision>5</cp:revision>
  <dcterms:modified xsi:type="dcterms:W3CDTF">2026-10-23T12:48:41Z</dcterms:modified>
</cp:coreProperties>
</file>