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9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7"/>
    <p:restoredTop sz="94746"/>
  </p:normalViewPr>
  <p:slideViewPr>
    <p:cSldViewPr snapToGrid="0">
      <p:cViewPr varScale="1">
        <p:scale>
          <a:sx n="109" d="100"/>
          <a:sy n="109" d="100"/>
        </p:scale>
        <p:origin x="224" y="1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49-8740-81C1-A96F496BFBE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49-8740-81C1-A96F496BFB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 b="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65281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 b="1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4963355" y="25400"/>
            <a:ext cx="3078089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 b="1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3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Lecture 3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Mastering </a:t>
            </a:r>
            <a:br/>
            <a:r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2861180" y="4614322"/>
            <a:ext cx="7282443" cy="702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dirty="0"/>
              <a:t>with </a:t>
            </a:r>
            <a:r>
              <a:rPr lang="en-GB" dirty="0"/>
              <a:t>System</a:t>
            </a:r>
            <a:r>
              <a:rPr dirty="0"/>
              <a:t>Verilog on FPGAs</a:t>
            </a:r>
          </a:p>
        </p:txBody>
      </p:sp>
      <p:sp>
        <p:nvSpPr>
          <p:cNvPr id="2" name="Slides by John Wickerson">
            <a:extLst>
              <a:ext uri="{FF2B5EF4-FFF2-40B4-BE49-F238E27FC236}">
                <a16:creationId xmlns:a16="http://schemas.microsoft.com/office/drawing/2014/main" id="{26B812DB-C489-FACB-FD20-0014A15BB8E2}"/>
              </a:ext>
            </a:extLst>
          </p:cNvPr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67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71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Pulse-width modulation (PWM)</a:t>
            </a:r>
          </a:p>
          <a:p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DAC</a:t>
            </a:r>
          </a:p>
        </p:txBody>
      </p:sp>
      <p:sp>
        <p:nvSpPr>
          <p:cNvPr id="75" name="Digital-to-analogue conversion (DAC) can be done using a string of resistors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703144"/>
          </a:xfrm>
          <a:prstGeom prst="rect">
            <a:avLst/>
          </a:prstGeom>
        </p:spPr>
        <p:txBody>
          <a:bodyPr/>
          <a:lstStyle/>
          <a:p>
            <a:r>
              <a:rPr b="1"/>
              <a:t>Digital-to-analogue conversion</a:t>
            </a:r>
            <a:r>
              <a:t> (DAC) can be done using a string of resistors. 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grpSp>
        <p:nvGrpSpPr>
          <p:cNvPr id="152" name="Group"/>
          <p:cNvGrpSpPr/>
          <p:nvPr/>
        </p:nvGrpSpPr>
        <p:grpSpPr>
          <a:xfrm>
            <a:off x="473204" y="4514849"/>
            <a:ext cx="5270480" cy="4917018"/>
            <a:chOff x="-10869" y="-12700"/>
            <a:chExt cx="5270479" cy="4917016"/>
          </a:xfrm>
        </p:grpSpPr>
        <p:sp>
          <p:nvSpPr>
            <p:cNvPr id="77" name="Line"/>
            <p:cNvSpPr/>
            <p:nvPr/>
          </p:nvSpPr>
          <p:spPr>
            <a:xfrm>
              <a:off x="523460" y="234950"/>
              <a:ext cx="548868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8" name="Line"/>
            <p:cNvSpPr/>
            <p:nvPr/>
          </p:nvSpPr>
          <p:spPr>
            <a:xfrm flipH="1">
              <a:off x="1073793" y="226329"/>
              <a:ext cx="1" cy="447390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9" name="Line"/>
            <p:cNvSpPr/>
            <p:nvPr/>
          </p:nvSpPr>
          <p:spPr>
            <a:xfrm>
              <a:off x="898533" y="4701116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0" name="Line"/>
            <p:cNvSpPr/>
            <p:nvPr/>
          </p:nvSpPr>
          <p:spPr>
            <a:xfrm>
              <a:off x="947416" y="4802716"/>
              <a:ext cx="252755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1" name="Line"/>
            <p:cNvSpPr/>
            <p:nvPr/>
          </p:nvSpPr>
          <p:spPr>
            <a:xfrm>
              <a:off x="1009763" y="4904316"/>
              <a:ext cx="12806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2" name="Line"/>
            <p:cNvSpPr/>
            <p:nvPr/>
          </p:nvSpPr>
          <p:spPr>
            <a:xfrm flipH="1">
              <a:off x="2839093" y="870885"/>
              <a:ext cx="1" cy="352454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3" name="Line"/>
            <p:cNvSpPr/>
            <p:nvPr/>
          </p:nvSpPr>
          <p:spPr>
            <a:xfrm>
              <a:off x="2847560" y="2135538"/>
              <a:ext cx="177647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88" name="Group"/>
            <p:cNvGrpSpPr/>
            <p:nvPr/>
          </p:nvGrpSpPr>
          <p:grpSpPr>
            <a:xfrm>
              <a:off x="1069559" y="4286250"/>
              <a:ext cx="1776478" cy="203200"/>
              <a:chOff x="0" y="0"/>
              <a:chExt cx="1776476" cy="203200"/>
            </a:xfrm>
          </p:grpSpPr>
          <p:sp>
            <p:nvSpPr>
              <p:cNvPr id="84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87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85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86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93" name="Group"/>
            <p:cNvGrpSpPr/>
            <p:nvPr/>
          </p:nvGrpSpPr>
          <p:grpSpPr>
            <a:xfrm>
              <a:off x="1069559" y="3782483"/>
              <a:ext cx="1776478" cy="203201"/>
              <a:chOff x="0" y="0"/>
              <a:chExt cx="1776476" cy="203200"/>
            </a:xfrm>
          </p:grpSpPr>
          <p:sp>
            <p:nvSpPr>
              <p:cNvPr id="89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92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90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91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98" name="Group"/>
            <p:cNvGrpSpPr/>
            <p:nvPr/>
          </p:nvGrpSpPr>
          <p:grpSpPr>
            <a:xfrm>
              <a:off x="1069559" y="3278716"/>
              <a:ext cx="1776478" cy="203201"/>
              <a:chOff x="0" y="0"/>
              <a:chExt cx="1776476" cy="203200"/>
            </a:xfrm>
          </p:grpSpPr>
          <p:sp>
            <p:nvSpPr>
              <p:cNvPr id="94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97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95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96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03" name="Group"/>
            <p:cNvGrpSpPr/>
            <p:nvPr/>
          </p:nvGrpSpPr>
          <p:grpSpPr>
            <a:xfrm>
              <a:off x="1069559" y="2774949"/>
              <a:ext cx="1776478" cy="203201"/>
              <a:chOff x="0" y="0"/>
              <a:chExt cx="1776476" cy="203200"/>
            </a:xfrm>
          </p:grpSpPr>
          <p:sp>
            <p:nvSpPr>
              <p:cNvPr id="99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02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00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01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08" name="Group"/>
            <p:cNvGrpSpPr/>
            <p:nvPr/>
          </p:nvGrpSpPr>
          <p:grpSpPr>
            <a:xfrm>
              <a:off x="1069559" y="2271182"/>
              <a:ext cx="1776478" cy="203201"/>
              <a:chOff x="0" y="0"/>
              <a:chExt cx="1776476" cy="203200"/>
            </a:xfrm>
          </p:grpSpPr>
          <p:sp>
            <p:nvSpPr>
              <p:cNvPr id="104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07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05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06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13" name="Group"/>
            <p:cNvGrpSpPr/>
            <p:nvPr/>
          </p:nvGrpSpPr>
          <p:grpSpPr>
            <a:xfrm>
              <a:off x="1069559" y="1775883"/>
              <a:ext cx="1776478" cy="203201"/>
              <a:chOff x="0" y="0"/>
              <a:chExt cx="1776476" cy="203200"/>
            </a:xfrm>
          </p:grpSpPr>
          <p:sp>
            <p:nvSpPr>
              <p:cNvPr id="109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12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10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11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18" name="Group"/>
            <p:cNvGrpSpPr/>
            <p:nvPr/>
          </p:nvGrpSpPr>
          <p:grpSpPr>
            <a:xfrm>
              <a:off x="1069559" y="1280583"/>
              <a:ext cx="1776478" cy="203201"/>
              <a:chOff x="0" y="0"/>
              <a:chExt cx="1776476" cy="203200"/>
            </a:xfrm>
          </p:grpSpPr>
          <p:sp>
            <p:nvSpPr>
              <p:cNvPr id="114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17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15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16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grpSp>
          <p:nvGrpSpPr>
            <p:cNvPr id="123" name="Group"/>
            <p:cNvGrpSpPr/>
            <p:nvPr/>
          </p:nvGrpSpPr>
          <p:grpSpPr>
            <a:xfrm>
              <a:off x="1069559" y="776816"/>
              <a:ext cx="1776478" cy="203201"/>
              <a:chOff x="0" y="0"/>
              <a:chExt cx="1776476" cy="203200"/>
            </a:xfrm>
          </p:grpSpPr>
          <p:sp>
            <p:nvSpPr>
              <p:cNvPr id="119" name="Line"/>
              <p:cNvSpPr/>
              <p:nvPr/>
            </p:nvSpPr>
            <p:spPr>
              <a:xfrm>
                <a:off x="0" y="101600"/>
                <a:ext cx="1776477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grpSp>
            <p:nvGrpSpPr>
              <p:cNvPr id="122" name="Group"/>
              <p:cNvGrpSpPr/>
              <p:nvPr/>
            </p:nvGrpSpPr>
            <p:grpSpPr>
              <a:xfrm>
                <a:off x="719666" y="0"/>
                <a:ext cx="329196" cy="203200"/>
                <a:chOff x="0" y="0"/>
                <a:chExt cx="329194" cy="203200"/>
              </a:xfrm>
            </p:grpSpPr>
            <p:sp>
              <p:nvSpPr>
                <p:cNvPr id="120" name="Rectangle"/>
                <p:cNvSpPr/>
                <p:nvPr/>
              </p:nvSpPr>
              <p:spPr>
                <a:xfrm>
                  <a:off x="7948" y="0"/>
                  <a:ext cx="321247" cy="203200"/>
                </a:xfrm>
                <a:prstGeom prst="rect">
                  <a:avLst/>
                </a:prstGeom>
                <a:solidFill>
                  <a:srgbClr val="FFFED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  <p:sp>
              <p:nvSpPr>
                <p:cNvPr id="121" name="Line"/>
                <p:cNvSpPr/>
                <p:nvPr/>
              </p:nvSpPr>
              <p:spPr>
                <a:xfrm flipV="1">
                  <a:off x="-1" y="50799"/>
                  <a:ext cx="311744" cy="50802"/>
                </a:xfrm>
                <a:prstGeom prst="line">
                  <a:avLst/>
                </a:prstGeom>
                <a:noFill/>
                <a:ln w="25400" cap="flat">
                  <a:solidFill>
                    <a:srgbClr val="000000"/>
                  </a:solidFill>
                  <a:prstDash val="solid"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>
                    <a:defRPr sz="2100" b="1"/>
                  </a:pPr>
                  <a:endParaRPr/>
                </a:p>
              </p:txBody>
            </p:sp>
          </p:grpSp>
        </p:grpSp>
        <p:sp>
          <p:nvSpPr>
            <p:cNvPr id="124" name="Rectangle"/>
            <p:cNvSpPr/>
            <p:nvPr/>
          </p:nvSpPr>
          <p:spPr>
            <a:xfrm>
              <a:off x="978843" y="487064"/>
              <a:ext cx="189900" cy="283172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5" name="Rectangle"/>
            <p:cNvSpPr/>
            <p:nvPr/>
          </p:nvSpPr>
          <p:spPr>
            <a:xfrm>
              <a:off x="978843" y="992716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6" name="Rectangle"/>
            <p:cNvSpPr/>
            <p:nvPr/>
          </p:nvSpPr>
          <p:spPr>
            <a:xfrm>
              <a:off x="978843" y="1486131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7" name="Rectangle"/>
            <p:cNvSpPr/>
            <p:nvPr/>
          </p:nvSpPr>
          <p:spPr>
            <a:xfrm>
              <a:off x="978843" y="1981253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8" name="Rectangle"/>
            <p:cNvSpPr/>
            <p:nvPr/>
          </p:nvSpPr>
          <p:spPr>
            <a:xfrm>
              <a:off x="978843" y="2474667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29" name="Rectangle"/>
            <p:cNvSpPr/>
            <p:nvPr/>
          </p:nvSpPr>
          <p:spPr>
            <a:xfrm>
              <a:off x="978843" y="2995314"/>
              <a:ext cx="189900" cy="283172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30" name="Rectangle"/>
            <p:cNvSpPr/>
            <p:nvPr/>
          </p:nvSpPr>
          <p:spPr>
            <a:xfrm>
              <a:off x="978843" y="3490614"/>
              <a:ext cx="189900" cy="283172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31" name="Rectangle"/>
            <p:cNvSpPr/>
            <p:nvPr/>
          </p:nvSpPr>
          <p:spPr>
            <a:xfrm>
              <a:off x="978843" y="4002500"/>
              <a:ext cx="189900" cy="283171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32" name="Triangle"/>
            <p:cNvSpPr/>
            <p:nvPr/>
          </p:nvSpPr>
          <p:spPr>
            <a:xfrm rot="5400000">
              <a:off x="3372835" y="1782542"/>
              <a:ext cx="711201" cy="6805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33" name="R"/>
            <p:cNvSpPr txBox="1"/>
            <p:nvPr/>
          </p:nvSpPr>
          <p:spPr>
            <a:xfrm>
              <a:off x="630685" y="391752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4" name="R"/>
            <p:cNvSpPr txBox="1"/>
            <p:nvPr/>
          </p:nvSpPr>
          <p:spPr>
            <a:xfrm>
              <a:off x="630685" y="895181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5" name="R"/>
            <p:cNvSpPr txBox="1"/>
            <p:nvPr/>
          </p:nvSpPr>
          <p:spPr>
            <a:xfrm>
              <a:off x="630685" y="1382213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6" name="R"/>
            <p:cNvSpPr txBox="1"/>
            <p:nvPr/>
          </p:nvSpPr>
          <p:spPr>
            <a:xfrm>
              <a:off x="630685" y="1885642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7" name="R"/>
            <p:cNvSpPr txBox="1"/>
            <p:nvPr/>
          </p:nvSpPr>
          <p:spPr>
            <a:xfrm>
              <a:off x="630685" y="2390021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8" name="R"/>
            <p:cNvSpPr txBox="1"/>
            <p:nvPr/>
          </p:nvSpPr>
          <p:spPr>
            <a:xfrm>
              <a:off x="630685" y="2893451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39" name="R"/>
            <p:cNvSpPr txBox="1"/>
            <p:nvPr/>
          </p:nvSpPr>
          <p:spPr>
            <a:xfrm>
              <a:off x="630685" y="3397830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40" name="R"/>
            <p:cNvSpPr txBox="1"/>
            <p:nvPr/>
          </p:nvSpPr>
          <p:spPr>
            <a:xfrm>
              <a:off x="630685" y="3902210"/>
              <a:ext cx="334417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R</a:t>
              </a:r>
            </a:p>
          </p:txBody>
        </p:sp>
        <p:sp>
          <p:nvSpPr>
            <p:cNvPr id="141" name="sw7"/>
            <p:cNvSpPr txBox="1"/>
            <p:nvPr/>
          </p:nvSpPr>
          <p:spPr>
            <a:xfrm>
              <a:off x="1672010" y="485357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sw7</a:t>
              </a:r>
            </a:p>
          </p:txBody>
        </p:sp>
        <p:sp>
          <p:nvSpPr>
            <p:cNvPr id="142" name="sw6"/>
            <p:cNvSpPr txBox="1"/>
            <p:nvPr/>
          </p:nvSpPr>
          <p:spPr>
            <a:xfrm>
              <a:off x="1672010" y="992388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sw6</a:t>
              </a:r>
            </a:p>
          </p:txBody>
        </p:sp>
        <p:sp>
          <p:nvSpPr>
            <p:cNvPr id="143" name="sw5"/>
            <p:cNvSpPr txBox="1"/>
            <p:nvPr/>
          </p:nvSpPr>
          <p:spPr>
            <a:xfrm>
              <a:off x="1672010" y="1498167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sw5</a:t>
              </a:r>
            </a:p>
          </p:txBody>
        </p:sp>
        <p:sp>
          <p:nvSpPr>
            <p:cNvPr id="144" name="sw4"/>
            <p:cNvSpPr txBox="1"/>
            <p:nvPr/>
          </p:nvSpPr>
          <p:spPr>
            <a:xfrm>
              <a:off x="1672010" y="1977163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sw4</a:t>
              </a:r>
            </a:p>
          </p:txBody>
        </p:sp>
        <p:sp>
          <p:nvSpPr>
            <p:cNvPr id="145" name="sw3"/>
            <p:cNvSpPr txBox="1"/>
            <p:nvPr/>
          </p:nvSpPr>
          <p:spPr>
            <a:xfrm>
              <a:off x="1672010" y="2494554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sw3</a:t>
              </a:r>
            </a:p>
          </p:txBody>
        </p:sp>
        <p:sp>
          <p:nvSpPr>
            <p:cNvPr id="146" name="sw2"/>
            <p:cNvSpPr txBox="1"/>
            <p:nvPr/>
          </p:nvSpPr>
          <p:spPr>
            <a:xfrm>
              <a:off x="1672010" y="3000334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sw2</a:t>
              </a:r>
            </a:p>
          </p:txBody>
        </p:sp>
        <p:sp>
          <p:nvSpPr>
            <p:cNvPr id="147" name="sw1"/>
            <p:cNvSpPr txBox="1"/>
            <p:nvPr/>
          </p:nvSpPr>
          <p:spPr>
            <a:xfrm>
              <a:off x="1672010" y="3504729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sw1</a:t>
              </a:r>
            </a:p>
          </p:txBody>
        </p:sp>
        <p:sp>
          <p:nvSpPr>
            <p:cNvPr id="148" name="sw0"/>
            <p:cNvSpPr txBox="1"/>
            <p:nvPr/>
          </p:nvSpPr>
          <p:spPr>
            <a:xfrm>
              <a:off x="1672010" y="3988119"/>
              <a:ext cx="571576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0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sw0</a:t>
              </a:r>
            </a:p>
          </p:txBody>
        </p:sp>
        <p:sp>
          <p:nvSpPr>
            <p:cNvPr id="149" name="Vref"/>
            <p:cNvSpPr txBox="1"/>
            <p:nvPr/>
          </p:nvSpPr>
          <p:spPr>
            <a:xfrm>
              <a:off x="-10870" y="-12701"/>
              <a:ext cx="554733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sz="2400"/>
              </a:pPr>
              <a:r>
                <a:t>V</a:t>
              </a:r>
              <a:r>
                <a:rPr baseline="-5999"/>
                <a:t>ref</a:t>
              </a:r>
            </a:p>
          </p:txBody>
        </p:sp>
        <p:sp>
          <p:nvSpPr>
            <p:cNvPr id="150" name="VDAC"/>
            <p:cNvSpPr txBox="1"/>
            <p:nvPr/>
          </p:nvSpPr>
          <p:spPr>
            <a:xfrm>
              <a:off x="4512989" y="1900588"/>
              <a:ext cx="746622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sz="2400"/>
              </a:pPr>
              <a:r>
                <a:t>V</a:t>
              </a:r>
              <a:r>
                <a:rPr baseline="-5999"/>
                <a:t>DAC</a:t>
              </a:r>
            </a:p>
          </p:txBody>
        </p:sp>
        <p:sp>
          <p:nvSpPr>
            <p:cNvPr id="151" name="output…"/>
            <p:cNvSpPr txBox="1"/>
            <p:nvPr/>
          </p:nvSpPr>
          <p:spPr>
            <a:xfrm>
              <a:off x="3254934" y="2385642"/>
              <a:ext cx="961728" cy="838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sz="2400"/>
              </a:pPr>
              <a:r>
                <a:t>output</a:t>
              </a:r>
            </a:p>
            <a:p>
              <a:pPr>
                <a:defRPr sz="2400"/>
              </a:pPr>
              <a:r>
                <a:t>buffer</a:t>
              </a:r>
            </a:p>
          </p:txBody>
        </p:sp>
      </p:grpSp>
      <p:sp>
        <p:nvSpPr>
          <p:cNvPr id="153" name="Here is a 3-bit DAC. It uses 23 = 8 resistors.…"/>
          <p:cNvSpPr txBox="1"/>
          <p:nvPr/>
        </p:nvSpPr>
        <p:spPr>
          <a:xfrm>
            <a:off x="5648690" y="3645388"/>
            <a:ext cx="6939838" cy="4998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dirty="0"/>
              <a:t>Here is a 3-bit DAC. It uses 2</a:t>
            </a:r>
            <a:r>
              <a:rPr baseline="31999" dirty="0"/>
              <a:t>3</a:t>
            </a:r>
            <a:r>
              <a:rPr dirty="0"/>
              <a:t> = 8 resistors.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dirty="0"/>
              <a:t>When the digital input is 5, we close (only) switch </a:t>
            </a:r>
            <a:r>
              <a:rPr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sw5</a:t>
            </a:r>
            <a:r>
              <a:rPr dirty="0"/>
              <a:t>, which means V</a:t>
            </a:r>
            <a:r>
              <a:rPr baseline="-5999" dirty="0"/>
              <a:t>DAC</a:t>
            </a:r>
            <a:r>
              <a:rPr dirty="0"/>
              <a:t> is ⅝</a:t>
            </a:r>
            <a:r>
              <a:rPr dirty="0" err="1"/>
              <a:t>V</a:t>
            </a:r>
            <a:r>
              <a:rPr baseline="-5999" dirty="0" err="1"/>
              <a:t>ref</a:t>
            </a:r>
            <a:r>
              <a:rPr dirty="0"/>
              <a:t>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1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1" animBg="1" advAuto="0"/>
      <p:bldP spid="152" grpId="2" animBg="1" advAuto="0"/>
      <p:bldP spid="153" grpId="3" build="p" bldLvl="5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DAC</a:t>
            </a:r>
          </a:p>
        </p:txBody>
      </p:sp>
      <p:sp>
        <p:nvSpPr>
          <p:cNvPr id="1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157" name="Line"/>
          <p:cNvSpPr/>
          <p:nvPr/>
        </p:nvSpPr>
        <p:spPr>
          <a:xfrm>
            <a:off x="1007533" y="4762500"/>
            <a:ext cx="5488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" name="Line"/>
          <p:cNvSpPr/>
          <p:nvPr/>
        </p:nvSpPr>
        <p:spPr>
          <a:xfrm flipH="1">
            <a:off x="1557866" y="4753879"/>
            <a:ext cx="1" cy="44739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" name="Line"/>
          <p:cNvSpPr/>
          <p:nvPr/>
        </p:nvSpPr>
        <p:spPr>
          <a:xfrm>
            <a:off x="1382606" y="9228666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" name="Line"/>
          <p:cNvSpPr/>
          <p:nvPr/>
        </p:nvSpPr>
        <p:spPr>
          <a:xfrm>
            <a:off x="1431489" y="9330266"/>
            <a:ext cx="25275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" name="Line"/>
          <p:cNvSpPr/>
          <p:nvPr/>
        </p:nvSpPr>
        <p:spPr>
          <a:xfrm>
            <a:off x="1493836" y="9431866"/>
            <a:ext cx="128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" name="Line"/>
          <p:cNvSpPr/>
          <p:nvPr/>
        </p:nvSpPr>
        <p:spPr>
          <a:xfrm>
            <a:off x="10054166" y="5398435"/>
            <a:ext cx="1" cy="352454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" name="Line"/>
          <p:cNvSpPr/>
          <p:nvPr/>
        </p:nvSpPr>
        <p:spPr>
          <a:xfrm>
            <a:off x="10062633" y="6663088"/>
            <a:ext cx="177647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68" name="Group"/>
          <p:cNvGrpSpPr/>
          <p:nvPr/>
        </p:nvGrpSpPr>
        <p:grpSpPr>
          <a:xfrm>
            <a:off x="7014633" y="8813800"/>
            <a:ext cx="1776477" cy="203200"/>
            <a:chOff x="0" y="0"/>
            <a:chExt cx="1776476" cy="203200"/>
          </a:xfrm>
        </p:grpSpPr>
        <p:sp>
          <p:nvSpPr>
            <p:cNvPr id="164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67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65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66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73" name="Group"/>
          <p:cNvGrpSpPr/>
          <p:nvPr/>
        </p:nvGrpSpPr>
        <p:grpSpPr>
          <a:xfrm>
            <a:off x="6252633" y="8310033"/>
            <a:ext cx="1776477" cy="203201"/>
            <a:chOff x="0" y="0"/>
            <a:chExt cx="1776476" cy="203200"/>
          </a:xfrm>
        </p:grpSpPr>
        <p:sp>
          <p:nvSpPr>
            <p:cNvPr id="169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72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70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71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78" name="Group"/>
          <p:cNvGrpSpPr/>
          <p:nvPr/>
        </p:nvGrpSpPr>
        <p:grpSpPr>
          <a:xfrm>
            <a:off x="5490633" y="7806266"/>
            <a:ext cx="1776477" cy="203201"/>
            <a:chOff x="0" y="0"/>
            <a:chExt cx="1776476" cy="203200"/>
          </a:xfrm>
        </p:grpSpPr>
        <p:sp>
          <p:nvSpPr>
            <p:cNvPr id="174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77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75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76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83" name="Group"/>
          <p:cNvGrpSpPr/>
          <p:nvPr/>
        </p:nvGrpSpPr>
        <p:grpSpPr>
          <a:xfrm>
            <a:off x="4728633" y="7302499"/>
            <a:ext cx="1776477" cy="203201"/>
            <a:chOff x="0" y="0"/>
            <a:chExt cx="1776476" cy="203200"/>
          </a:xfrm>
        </p:grpSpPr>
        <p:sp>
          <p:nvSpPr>
            <p:cNvPr id="179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82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80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81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88" name="Group"/>
          <p:cNvGrpSpPr/>
          <p:nvPr/>
        </p:nvGrpSpPr>
        <p:grpSpPr>
          <a:xfrm>
            <a:off x="3839633" y="6798732"/>
            <a:ext cx="1776477" cy="203201"/>
            <a:chOff x="0" y="0"/>
            <a:chExt cx="1776476" cy="203200"/>
          </a:xfrm>
        </p:grpSpPr>
        <p:sp>
          <p:nvSpPr>
            <p:cNvPr id="184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87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85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86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93" name="Group"/>
          <p:cNvGrpSpPr/>
          <p:nvPr/>
        </p:nvGrpSpPr>
        <p:grpSpPr>
          <a:xfrm>
            <a:off x="3077633" y="6303433"/>
            <a:ext cx="1776477" cy="203201"/>
            <a:chOff x="0" y="0"/>
            <a:chExt cx="1776476" cy="203200"/>
          </a:xfrm>
        </p:grpSpPr>
        <p:sp>
          <p:nvSpPr>
            <p:cNvPr id="189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92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90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91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198" name="Group"/>
          <p:cNvGrpSpPr/>
          <p:nvPr/>
        </p:nvGrpSpPr>
        <p:grpSpPr>
          <a:xfrm>
            <a:off x="2315633" y="5808133"/>
            <a:ext cx="1776477" cy="203201"/>
            <a:chOff x="0" y="0"/>
            <a:chExt cx="1776476" cy="203200"/>
          </a:xfrm>
        </p:grpSpPr>
        <p:sp>
          <p:nvSpPr>
            <p:cNvPr id="194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97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195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96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grpSp>
        <p:nvGrpSpPr>
          <p:cNvPr id="203" name="Group"/>
          <p:cNvGrpSpPr/>
          <p:nvPr/>
        </p:nvGrpSpPr>
        <p:grpSpPr>
          <a:xfrm>
            <a:off x="1553633" y="5304366"/>
            <a:ext cx="1776477" cy="203201"/>
            <a:chOff x="0" y="0"/>
            <a:chExt cx="1776476" cy="203200"/>
          </a:xfrm>
        </p:grpSpPr>
        <p:sp>
          <p:nvSpPr>
            <p:cNvPr id="199" name="Line"/>
            <p:cNvSpPr/>
            <p:nvPr/>
          </p:nvSpPr>
          <p:spPr>
            <a:xfrm>
              <a:off x="0" y="101600"/>
              <a:ext cx="1776477" cy="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202" name="Group"/>
            <p:cNvGrpSpPr/>
            <p:nvPr/>
          </p:nvGrpSpPr>
          <p:grpSpPr>
            <a:xfrm>
              <a:off x="719666" y="0"/>
              <a:ext cx="329196" cy="203200"/>
              <a:chOff x="0" y="0"/>
              <a:chExt cx="329194" cy="203200"/>
            </a:xfrm>
          </p:grpSpPr>
          <p:sp>
            <p:nvSpPr>
              <p:cNvPr id="200" name="Rectangle"/>
              <p:cNvSpPr/>
              <p:nvPr/>
            </p:nvSpPr>
            <p:spPr>
              <a:xfrm>
                <a:off x="7948" y="0"/>
                <a:ext cx="321247" cy="203200"/>
              </a:xfrm>
              <a:prstGeom prst="rect">
                <a:avLst/>
              </a:prstGeom>
              <a:solidFill>
                <a:srgbClr val="FFFED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201" name="Line"/>
              <p:cNvSpPr/>
              <p:nvPr/>
            </p:nvSpPr>
            <p:spPr>
              <a:xfrm flipV="1">
                <a:off x="-1" y="50799"/>
                <a:ext cx="311744" cy="50802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</p:grpSp>
      </p:grpSp>
      <p:sp>
        <p:nvSpPr>
          <p:cNvPr id="204" name="Rectangle"/>
          <p:cNvSpPr/>
          <p:nvPr/>
        </p:nvSpPr>
        <p:spPr>
          <a:xfrm>
            <a:off x="1462917" y="5014614"/>
            <a:ext cx="189900" cy="2831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" name="Rectangle"/>
          <p:cNvSpPr/>
          <p:nvPr/>
        </p:nvSpPr>
        <p:spPr>
          <a:xfrm>
            <a:off x="1462917" y="5520266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" name="Rectangle"/>
          <p:cNvSpPr/>
          <p:nvPr/>
        </p:nvSpPr>
        <p:spPr>
          <a:xfrm>
            <a:off x="1462917" y="6013681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" name="Rectangle"/>
          <p:cNvSpPr/>
          <p:nvPr/>
        </p:nvSpPr>
        <p:spPr>
          <a:xfrm>
            <a:off x="1462917" y="6508803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" name="Rectangle"/>
          <p:cNvSpPr/>
          <p:nvPr/>
        </p:nvSpPr>
        <p:spPr>
          <a:xfrm>
            <a:off x="1462917" y="7002217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" name="Rectangle"/>
          <p:cNvSpPr/>
          <p:nvPr/>
        </p:nvSpPr>
        <p:spPr>
          <a:xfrm>
            <a:off x="1462917" y="7522864"/>
            <a:ext cx="189900" cy="2831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" name="Rectangle"/>
          <p:cNvSpPr/>
          <p:nvPr/>
        </p:nvSpPr>
        <p:spPr>
          <a:xfrm>
            <a:off x="1462917" y="8018164"/>
            <a:ext cx="189900" cy="2831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" name="Rectangle"/>
          <p:cNvSpPr/>
          <p:nvPr/>
        </p:nvSpPr>
        <p:spPr>
          <a:xfrm>
            <a:off x="1462917" y="8530050"/>
            <a:ext cx="189900" cy="28317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" name="Triangle"/>
          <p:cNvSpPr/>
          <p:nvPr/>
        </p:nvSpPr>
        <p:spPr>
          <a:xfrm rot="5400000">
            <a:off x="10587909" y="6310092"/>
            <a:ext cx="711201" cy="6805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" name="R"/>
          <p:cNvSpPr txBox="1"/>
          <p:nvPr/>
        </p:nvSpPr>
        <p:spPr>
          <a:xfrm>
            <a:off x="1114758" y="4919302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4" name="R"/>
          <p:cNvSpPr txBox="1"/>
          <p:nvPr/>
        </p:nvSpPr>
        <p:spPr>
          <a:xfrm>
            <a:off x="1114758" y="5422731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5" name="R"/>
          <p:cNvSpPr txBox="1"/>
          <p:nvPr/>
        </p:nvSpPr>
        <p:spPr>
          <a:xfrm>
            <a:off x="1114758" y="5909763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6" name="R"/>
          <p:cNvSpPr txBox="1"/>
          <p:nvPr/>
        </p:nvSpPr>
        <p:spPr>
          <a:xfrm>
            <a:off x="1114758" y="6413192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7" name="R"/>
          <p:cNvSpPr txBox="1"/>
          <p:nvPr/>
        </p:nvSpPr>
        <p:spPr>
          <a:xfrm>
            <a:off x="1114758" y="6917571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8" name="R"/>
          <p:cNvSpPr txBox="1"/>
          <p:nvPr/>
        </p:nvSpPr>
        <p:spPr>
          <a:xfrm>
            <a:off x="1114758" y="7421001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19" name="R"/>
          <p:cNvSpPr txBox="1"/>
          <p:nvPr/>
        </p:nvSpPr>
        <p:spPr>
          <a:xfrm>
            <a:off x="1114758" y="7925380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20" name="R"/>
          <p:cNvSpPr txBox="1"/>
          <p:nvPr/>
        </p:nvSpPr>
        <p:spPr>
          <a:xfrm>
            <a:off x="1114758" y="8429760"/>
            <a:ext cx="33441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R</a:t>
            </a:r>
          </a:p>
        </p:txBody>
      </p:sp>
      <p:sp>
        <p:nvSpPr>
          <p:cNvPr id="221" name="sw7"/>
          <p:cNvSpPr txBox="1"/>
          <p:nvPr/>
        </p:nvSpPr>
        <p:spPr>
          <a:xfrm>
            <a:off x="2156084" y="5012907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sw7</a:t>
            </a:r>
          </a:p>
        </p:txBody>
      </p:sp>
      <p:sp>
        <p:nvSpPr>
          <p:cNvPr id="222" name="sw6"/>
          <p:cNvSpPr txBox="1"/>
          <p:nvPr/>
        </p:nvSpPr>
        <p:spPr>
          <a:xfrm>
            <a:off x="2918084" y="5519938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sw6</a:t>
            </a:r>
          </a:p>
        </p:txBody>
      </p:sp>
      <p:sp>
        <p:nvSpPr>
          <p:cNvPr id="223" name="sw5"/>
          <p:cNvSpPr txBox="1"/>
          <p:nvPr/>
        </p:nvSpPr>
        <p:spPr>
          <a:xfrm>
            <a:off x="3680084" y="6025717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sw5</a:t>
            </a:r>
          </a:p>
        </p:txBody>
      </p:sp>
      <p:sp>
        <p:nvSpPr>
          <p:cNvPr id="224" name="sw4"/>
          <p:cNvSpPr txBox="1"/>
          <p:nvPr/>
        </p:nvSpPr>
        <p:spPr>
          <a:xfrm>
            <a:off x="4442084" y="6504713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sw4</a:t>
            </a:r>
          </a:p>
        </p:txBody>
      </p:sp>
      <p:sp>
        <p:nvSpPr>
          <p:cNvPr id="225" name="sw3"/>
          <p:cNvSpPr txBox="1"/>
          <p:nvPr/>
        </p:nvSpPr>
        <p:spPr>
          <a:xfrm>
            <a:off x="5331084" y="7022104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sw3</a:t>
            </a:r>
          </a:p>
        </p:txBody>
      </p:sp>
      <p:sp>
        <p:nvSpPr>
          <p:cNvPr id="226" name="sw2"/>
          <p:cNvSpPr txBox="1"/>
          <p:nvPr/>
        </p:nvSpPr>
        <p:spPr>
          <a:xfrm>
            <a:off x="6093084" y="7527884"/>
            <a:ext cx="57157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sw2</a:t>
            </a:r>
          </a:p>
        </p:txBody>
      </p:sp>
      <p:sp>
        <p:nvSpPr>
          <p:cNvPr id="227" name="sw1"/>
          <p:cNvSpPr txBox="1"/>
          <p:nvPr/>
        </p:nvSpPr>
        <p:spPr>
          <a:xfrm>
            <a:off x="6855083" y="8032279"/>
            <a:ext cx="57157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sw1</a:t>
            </a:r>
          </a:p>
        </p:txBody>
      </p:sp>
      <p:sp>
        <p:nvSpPr>
          <p:cNvPr id="228" name="sw0"/>
          <p:cNvSpPr txBox="1"/>
          <p:nvPr/>
        </p:nvSpPr>
        <p:spPr>
          <a:xfrm>
            <a:off x="7617083" y="8515669"/>
            <a:ext cx="57157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sw0</a:t>
            </a:r>
          </a:p>
        </p:txBody>
      </p:sp>
      <p:sp>
        <p:nvSpPr>
          <p:cNvPr id="229" name="Vref"/>
          <p:cNvSpPr txBox="1"/>
          <p:nvPr/>
        </p:nvSpPr>
        <p:spPr>
          <a:xfrm>
            <a:off x="473203" y="4514849"/>
            <a:ext cx="55473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400"/>
            </a:pPr>
            <a:r>
              <a:t>V</a:t>
            </a:r>
            <a:r>
              <a:rPr baseline="-5999"/>
              <a:t>ref</a:t>
            </a:r>
          </a:p>
        </p:txBody>
      </p:sp>
      <p:sp>
        <p:nvSpPr>
          <p:cNvPr id="230" name="VDAC"/>
          <p:cNvSpPr txBox="1"/>
          <p:nvPr/>
        </p:nvSpPr>
        <p:spPr>
          <a:xfrm>
            <a:off x="11728062" y="6428138"/>
            <a:ext cx="746622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400"/>
            </a:pPr>
            <a:r>
              <a:t>V</a:t>
            </a:r>
            <a:r>
              <a:rPr baseline="-5999"/>
              <a:t>DAC</a:t>
            </a:r>
          </a:p>
        </p:txBody>
      </p:sp>
      <p:sp>
        <p:nvSpPr>
          <p:cNvPr id="231" name="output…"/>
          <p:cNvSpPr txBox="1"/>
          <p:nvPr/>
        </p:nvSpPr>
        <p:spPr>
          <a:xfrm>
            <a:off x="10470008" y="6913192"/>
            <a:ext cx="961728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400"/>
            </a:pPr>
            <a:r>
              <a:t>output</a:t>
            </a:r>
          </a:p>
          <a:p>
            <a:pPr>
              <a:defRPr sz="2400"/>
            </a:pPr>
            <a:r>
              <a:t>buffer</a:t>
            </a:r>
          </a:p>
        </p:txBody>
      </p:sp>
      <p:sp>
        <p:nvSpPr>
          <p:cNvPr id="232" name="Line"/>
          <p:cNvSpPr/>
          <p:nvPr/>
        </p:nvSpPr>
        <p:spPr>
          <a:xfrm>
            <a:off x="1685714" y="1859117"/>
            <a:ext cx="334759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" name="Line"/>
          <p:cNvSpPr/>
          <p:nvPr/>
        </p:nvSpPr>
        <p:spPr>
          <a:xfrm>
            <a:off x="1688317" y="2968587"/>
            <a:ext cx="490448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" name="Line"/>
          <p:cNvSpPr/>
          <p:nvPr/>
        </p:nvSpPr>
        <p:spPr>
          <a:xfrm>
            <a:off x="1685236" y="3999499"/>
            <a:ext cx="605136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" name="MUX"/>
          <p:cNvSpPr/>
          <p:nvPr/>
        </p:nvSpPr>
        <p:spPr>
          <a:xfrm rot="16200000">
            <a:off x="2519513" y="3728944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36" name="MUX"/>
          <p:cNvSpPr/>
          <p:nvPr/>
        </p:nvSpPr>
        <p:spPr>
          <a:xfrm rot="16200000">
            <a:off x="4107013" y="3728944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37" name="MUX"/>
          <p:cNvSpPr/>
          <p:nvPr/>
        </p:nvSpPr>
        <p:spPr>
          <a:xfrm rot="16200000">
            <a:off x="5605613" y="3728944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38" name="MUX"/>
          <p:cNvSpPr/>
          <p:nvPr/>
        </p:nvSpPr>
        <p:spPr>
          <a:xfrm rot="16200000">
            <a:off x="7282013" y="3728944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39" name="MUX"/>
          <p:cNvSpPr/>
          <p:nvPr/>
        </p:nvSpPr>
        <p:spPr>
          <a:xfrm rot="16200000">
            <a:off x="3345013" y="2624043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40" name="MUX"/>
          <p:cNvSpPr/>
          <p:nvPr/>
        </p:nvSpPr>
        <p:spPr>
          <a:xfrm rot="16200000">
            <a:off x="6469213" y="2636743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41" name="MUX"/>
          <p:cNvSpPr/>
          <p:nvPr/>
        </p:nvSpPr>
        <p:spPr>
          <a:xfrm rot="16200000">
            <a:off x="4881713" y="1531843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t>MUX</a:t>
            </a:r>
          </a:p>
        </p:txBody>
      </p:sp>
      <p:sp>
        <p:nvSpPr>
          <p:cNvPr id="242" name="Line"/>
          <p:cNvSpPr/>
          <p:nvPr/>
        </p:nvSpPr>
        <p:spPr>
          <a:xfrm rot="16200000">
            <a:off x="2291567" y="4460238"/>
            <a:ext cx="518419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3" name="Line"/>
          <p:cNvSpPr/>
          <p:nvPr/>
        </p:nvSpPr>
        <p:spPr>
          <a:xfrm rot="16200000">
            <a:off x="2796041" y="4461649"/>
            <a:ext cx="518419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4" name="Line"/>
          <p:cNvSpPr/>
          <p:nvPr/>
        </p:nvSpPr>
        <p:spPr>
          <a:xfrm rot="16200000">
            <a:off x="3839369" y="4460238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5" name="Line"/>
          <p:cNvSpPr/>
          <p:nvPr/>
        </p:nvSpPr>
        <p:spPr>
          <a:xfrm rot="16200000">
            <a:off x="4343844" y="4461649"/>
            <a:ext cx="518419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6" name="Line"/>
          <p:cNvSpPr/>
          <p:nvPr/>
        </p:nvSpPr>
        <p:spPr>
          <a:xfrm rot="16200000">
            <a:off x="5452215" y="4460238"/>
            <a:ext cx="518419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7" name="Line"/>
          <p:cNvSpPr/>
          <p:nvPr/>
        </p:nvSpPr>
        <p:spPr>
          <a:xfrm rot="16200000">
            <a:off x="5956689" y="4461649"/>
            <a:ext cx="518419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8" name="Line"/>
          <p:cNvSpPr/>
          <p:nvPr/>
        </p:nvSpPr>
        <p:spPr>
          <a:xfrm rot="16200000">
            <a:off x="7026683" y="4460238"/>
            <a:ext cx="518419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49" name="Line"/>
          <p:cNvSpPr/>
          <p:nvPr/>
        </p:nvSpPr>
        <p:spPr>
          <a:xfrm rot="16200000">
            <a:off x="7531158" y="4461649"/>
            <a:ext cx="518419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0" name="Line"/>
          <p:cNvSpPr/>
          <p:nvPr/>
        </p:nvSpPr>
        <p:spPr>
          <a:xfrm rot="16200000">
            <a:off x="2868249" y="3174792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1" name="Line"/>
          <p:cNvSpPr/>
          <p:nvPr/>
        </p:nvSpPr>
        <p:spPr>
          <a:xfrm rot="16200000">
            <a:off x="3839369" y="3196078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2" name="Line"/>
          <p:cNvSpPr/>
          <p:nvPr/>
        </p:nvSpPr>
        <p:spPr>
          <a:xfrm rot="16200000">
            <a:off x="6016283" y="3182968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3" name="Line"/>
          <p:cNvSpPr/>
          <p:nvPr/>
        </p:nvSpPr>
        <p:spPr>
          <a:xfrm rot="16200000">
            <a:off x="6987404" y="3204254"/>
            <a:ext cx="518419" cy="6196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4" name="Line"/>
          <p:cNvSpPr/>
          <p:nvPr/>
        </p:nvSpPr>
        <p:spPr>
          <a:xfrm rot="16200000">
            <a:off x="4071125" y="1720677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5" name="Line"/>
          <p:cNvSpPr/>
          <p:nvPr/>
        </p:nvSpPr>
        <p:spPr>
          <a:xfrm rot="16200000">
            <a:off x="5795915" y="1703612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6" name="Line"/>
          <p:cNvSpPr/>
          <p:nvPr/>
        </p:nvSpPr>
        <p:spPr>
          <a:xfrm flipV="1">
            <a:off x="5182626" y="859811"/>
            <a:ext cx="1" cy="7060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7" name="Line"/>
          <p:cNvSpPr/>
          <p:nvPr/>
        </p:nvSpPr>
        <p:spPr>
          <a:xfrm flipV="1">
            <a:off x="2398269" y="4825470"/>
            <a:ext cx="1" cy="3085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8" name="Line"/>
          <p:cNvSpPr/>
          <p:nvPr/>
        </p:nvSpPr>
        <p:spPr>
          <a:xfrm flipV="1">
            <a:off x="3198369" y="4863570"/>
            <a:ext cx="1" cy="75313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59" name="Line"/>
          <p:cNvSpPr/>
          <p:nvPr/>
        </p:nvSpPr>
        <p:spPr>
          <a:xfrm flipV="1">
            <a:off x="3948021" y="4820708"/>
            <a:ext cx="1" cy="13105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0" name="Line"/>
          <p:cNvSpPr/>
          <p:nvPr/>
        </p:nvSpPr>
        <p:spPr>
          <a:xfrm flipV="1">
            <a:off x="4743922" y="4863602"/>
            <a:ext cx="1" cy="175359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1" name="Line"/>
          <p:cNvSpPr/>
          <p:nvPr/>
        </p:nvSpPr>
        <p:spPr>
          <a:xfrm flipV="1">
            <a:off x="5569144" y="4824893"/>
            <a:ext cx="1" cy="2278439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2" name="Line"/>
          <p:cNvSpPr/>
          <p:nvPr/>
        </p:nvSpPr>
        <p:spPr>
          <a:xfrm flipV="1">
            <a:off x="6365045" y="4867787"/>
            <a:ext cx="1" cy="272226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3" name="Line"/>
          <p:cNvSpPr/>
          <p:nvPr/>
        </p:nvSpPr>
        <p:spPr>
          <a:xfrm flipV="1">
            <a:off x="7136048" y="4820708"/>
            <a:ext cx="1" cy="329570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4" name="Line"/>
          <p:cNvSpPr/>
          <p:nvPr/>
        </p:nvSpPr>
        <p:spPr>
          <a:xfrm flipV="1">
            <a:off x="7931948" y="4863602"/>
            <a:ext cx="1" cy="374065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5" name="Line"/>
          <p:cNvSpPr/>
          <p:nvPr/>
        </p:nvSpPr>
        <p:spPr>
          <a:xfrm flipH="1">
            <a:off x="1565695" y="5909733"/>
            <a:ext cx="110710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6" name="Line"/>
          <p:cNvSpPr/>
          <p:nvPr/>
        </p:nvSpPr>
        <p:spPr>
          <a:xfrm flipH="1">
            <a:off x="1557454" y="6405033"/>
            <a:ext cx="194663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7" name="Line"/>
          <p:cNvSpPr/>
          <p:nvPr/>
        </p:nvSpPr>
        <p:spPr>
          <a:xfrm flipH="1">
            <a:off x="1557454" y="6900332"/>
            <a:ext cx="243074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8" name="Line"/>
          <p:cNvSpPr/>
          <p:nvPr/>
        </p:nvSpPr>
        <p:spPr>
          <a:xfrm flipH="1">
            <a:off x="1570787" y="7413476"/>
            <a:ext cx="321536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9" name="Line"/>
          <p:cNvSpPr/>
          <p:nvPr/>
        </p:nvSpPr>
        <p:spPr>
          <a:xfrm flipH="1">
            <a:off x="1565985" y="7907866"/>
            <a:ext cx="39897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0" name="Line"/>
          <p:cNvSpPr/>
          <p:nvPr/>
        </p:nvSpPr>
        <p:spPr>
          <a:xfrm flipH="1">
            <a:off x="1560276" y="8411633"/>
            <a:ext cx="479207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1" name="Line"/>
          <p:cNvSpPr/>
          <p:nvPr/>
        </p:nvSpPr>
        <p:spPr>
          <a:xfrm flipH="1">
            <a:off x="1546112" y="8915400"/>
            <a:ext cx="5619245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2" name="Line"/>
          <p:cNvSpPr/>
          <p:nvPr/>
        </p:nvSpPr>
        <p:spPr>
          <a:xfrm flipH="1" flipV="1">
            <a:off x="3245502" y="5406476"/>
            <a:ext cx="681775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3" name="Line"/>
          <p:cNvSpPr/>
          <p:nvPr/>
        </p:nvSpPr>
        <p:spPr>
          <a:xfrm flipH="1" flipV="1">
            <a:off x="3588402" y="5913638"/>
            <a:ext cx="64513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4" name="Line"/>
          <p:cNvSpPr/>
          <p:nvPr/>
        </p:nvSpPr>
        <p:spPr>
          <a:xfrm flipH="1" flipV="1">
            <a:off x="4438384" y="6405033"/>
            <a:ext cx="561645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5" name="Line"/>
          <p:cNvSpPr/>
          <p:nvPr/>
        </p:nvSpPr>
        <p:spPr>
          <a:xfrm flipH="1">
            <a:off x="5274797" y="6900332"/>
            <a:ext cx="479207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6" name="Line"/>
          <p:cNvSpPr/>
          <p:nvPr/>
        </p:nvSpPr>
        <p:spPr>
          <a:xfrm flipH="1">
            <a:off x="5998697" y="7407353"/>
            <a:ext cx="404430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7" name="Line"/>
          <p:cNvSpPr/>
          <p:nvPr/>
        </p:nvSpPr>
        <p:spPr>
          <a:xfrm flipH="1">
            <a:off x="6917190" y="7904602"/>
            <a:ext cx="312581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8" name="Line"/>
          <p:cNvSpPr/>
          <p:nvPr/>
        </p:nvSpPr>
        <p:spPr>
          <a:xfrm flipH="1">
            <a:off x="7628390" y="8411633"/>
            <a:ext cx="241454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9" name="Line"/>
          <p:cNvSpPr/>
          <p:nvPr/>
        </p:nvSpPr>
        <p:spPr>
          <a:xfrm flipH="1">
            <a:off x="8288790" y="8915400"/>
            <a:ext cx="177647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80" name="in[1]"/>
          <p:cNvSpPr txBox="1"/>
          <p:nvPr/>
        </p:nvSpPr>
        <p:spPr>
          <a:xfrm>
            <a:off x="936759" y="2692867"/>
            <a:ext cx="69041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in[1]</a:t>
            </a:r>
          </a:p>
        </p:txBody>
      </p:sp>
      <p:sp>
        <p:nvSpPr>
          <p:cNvPr id="281" name="in[2]"/>
          <p:cNvSpPr txBox="1"/>
          <p:nvPr/>
        </p:nvSpPr>
        <p:spPr>
          <a:xfrm>
            <a:off x="936759" y="1624167"/>
            <a:ext cx="69041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in[2]</a:t>
            </a:r>
          </a:p>
        </p:txBody>
      </p:sp>
      <p:sp>
        <p:nvSpPr>
          <p:cNvPr id="282" name="in[0]"/>
          <p:cNvSpPr txBox="1"/>
          <p:nvPr/>
        </p:nvSpPr>
        <p:spPr>
          <a:xfrm>
            <a:off x="936759" y="3732857"/>
            <a:ext cx="69041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in[0]</a:t>
            </a:r>
          </a:p>
        </p:txBody>
      </p:sp>
      <p:sp>
        <p:nvSpPr>
          <p:cNvPr id="283" name="1"/>
          <p:cNvSpPr txBox="1"/>
          <p:nvPr/>
        </p:nvSpPr>
        <p:spPr>
          <a:xfrm>
            <a:off x="5040718" y="467067"/>
            <a:ext cx="283816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1</a:t>
            </a:r>
          </a:p>
        </p:txBody>
      </p:sp>
      <p:sp>
        <p:nvSpPr>
          <p:cNvPr id="284" name="1"/>
          <p:cNvSpPr txBox="1"/>
          <p:nvPr/>
        </p:nvSpPr>
        <p:spPr>
          <a:xfrm>
            <a:off x="4914465" y="1910006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85" name="0"/>
          <p:cNvSpPr txBox="1"/>
          <p:nvPr/>
        </p:nvSpPr>
        <p:spPr>
          <a:xfrm>
            <a:off x="5231965" y="1898559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86" name="1"/>
          <p:cNvSpPr txBox="1"/>
          <p:nvPr/>
        </p:nvSpPr>
        <p:spPr>
          <a:xfrm>
            <a:off x="3364400" y="2993412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87" name="0"/>
          <p:cNvSpPr txBox="1"/>
          <p:nvPr/>
        </p:nvSpPr>
        <p:spPr>
          <a:xfrm>
            <a:off x="3681900" y="2981965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88" name="1"/>
          <p:cNvSpPr txBox="1"/>
          <p:nvPr/>
        </p:nvSpPr>
        <p:spPr>
          <a:xfrm>
            <a:off x="6501300" y="2990199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89" name="0"/>
          <p:cNvSpPr txBox="1"/>
          <p:nvPr/>
        </p:nvSpPr>
        <p:spPr>
          <a:xfrm>
            <a:off x="6818800" y="2978752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90" name="1"/>
          <p:cNvSpPr txBox="1"/>
          <p:nvPr/>
        </p:nvSpPr>
        <p:spPr>
          <a:xfrm>
            <a:off x="2554198" y="4096260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91" name="0"/>
          <p:cNvSpPr txBox="1"/>
          <p:nvPr/>
        </p:nvSpPr>
        <p:spPr>
          <a:xfrm>
            <a:off x="2871698" y="4084813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92" name="1"/>
          <p:cNvSpPr txBox="1"/>
          <p:nvPr/>
        </p:nvSpPr>
        <p:spPr>
          <a:xfrm>
            <a:off x="4109971" y="4096260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93" name="0"/>
          <p:cNvSpPr txBox="1"/>
          <p:nvPr/>
        </p:nvSpPr>
        <p:spPr>
          <a:xfrm>
            <a:off x="4427471" y="4084813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94" name="1"/>
          <p:cNvSpPr txBox="1"/>
          <p:nvPr/>
        </p:nvSpPr>
        <p:spPr>
          <a:xfrm>
            <a:off x="5660921" y="4096260"/>
            <a:ext cx="20612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95" name="0"/>
          <p:cNvSpPr txBox="1"/>
          <p:nvPr/>
        </p:nvSpPr>
        <p:spPr>
          <a:xfrm>
            <a:off x="5978421" y="4084813"/>
            <a:ext cx="20612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  <p:sp>
        <p:nvSpPr>
          <p:cNvPr id="296" name="1"/>
          <p:cNvSpPr txBox="1"/>
          <p:nvPr/>
        </p:nvSpPr>
        <p:spPr>
          <a:xfrm>
            <a:off x="7283988" y="4096260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1</a:t>
            </a:r>
          </a:p>
        </p:txBody>
      </p:sp>
      <p:sp>
        <p:nvSpPr>
          <p:cNvPr id="297" name="0"/>
          <p:cNvSpPr txBox="1"/>
          <p:nvPr/>
        </p:nvSpPr>
        <p:spPr>
          <a:xfrm>
            <a:off x="7601488" y="4084813"/>
            <a:ext cx="2061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300"/>
            </a:lvl1pPr>
          </a:lstStyle>
          <a:p>
            <a:r>
              <a:t>0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DAC can also be done using digital components, via pulse-width modulation (PWM).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11099800" cy="2845098"/>
          </a:xfrm>
          <a:prstGeom prst="rect">
            <a:avLst/>
          </a:prstGeom>
        </p:spPr>
        <p:txBody>
          <a:bodyPr/>
          <a:lstStyle/>
          <a:p>
            <a:r>
              <a:t>DAC can also be done using digital components, via </a:t>
            </a:r>
            <a:r>
              <a:rPr b="1"/>
              <a:t>pulse-width modulation</a:t>
            </a:r>
            <a:r>
              <a:t> (PWM).</a:t>
            </a:r>
          </a:p>
        </p:txBody>
      </p:sp>
      <p:sp>
        <p:nvSpPr>
          <p:cNvPr id="3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grpSp>
        <p:nvGrpSpPr>
          <p:cNvPr id="314" name="Group"/>
          <p:cNvGrpSpPr/>
          <p:nvPr/>
        </p:nvGrpSpPr>
        <p:grpSpPr>
          <a:xfrm>
            <a:off x="1845030" y="5689600"/>
            <a:ext cx="9023867" cy="1270001"/>
            <a:chOff x="-71747" y="0"/>
            <a:chExt cx="9023866" cy="1270000"/>
          </a:xfrm>
        </p:grpSpPr>
        <p:sp>
          <p:nvSpPr>
            <p:cNvPr id="302" name="Line"/>
            <p:cNvSpPr/>
            <p:nvPr/>
          </p:nvSpPr>
          <p:spPr>
            <a:xfrm flipV="1">
              <a:off x="2623285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3" name="Line"/>
            <p:cNvSpPr/>
            <p:nvPr/>
          </p:nvSpPr>
          <p:spPr>
            <a:xfrm flipV="1">
              <a:off x="3889051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4" name="Line"/>
            <p:cNvSpPr/>
            <p:nvPr/>
          </p:nvSpPr>
          <p:spPr>
            <a:xfrm flipV="1">
              <a:off x="3889051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5" name="Line"/>
            <p:cNvSpPr/>
            <p:nvPr/>
          </p:nvSpPr>
          <p:spPr>
            <a:xfrm flipV="1">
              <a:off x="5150584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6" name="Line"/>
            <p:cNvSpPr/>
            <p:nvPr/>
          </p:nvSpPr>
          <p:spPr>
            <a:xfrm flipV="1">
              <a:off x="5150584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7" name="Line"/>
            <p:cNvSpPr/>
            <p:nvPr/>
          </p:nvSpPr>
          <p:spPr>
            <a:xfrm flipV="1">
              <a:off x="6412117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8" name="Line"/>
            <p:cNvSpPr/>
            <p:nvPr/>
          </p:nvSpPr>
          <p:spPr>
            <a:xfrm flipV="1">
              <a:off x="6412118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9" name="Line"/>
            <p:cNvSpPr/>
            <p:nvPr/>
          </p:nvSpPr>
          <p:spPr>
            <a:xfrm flipV="1">
              <a:off x="7682117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0" name="Line"/>
            <p:cNvSpPr/>
            <p:nvPr/>
          </p:nvSpPr>
          <p:spPr>
            <a:xfrm flipV="1">
              <a:off x="7682118" y="0"/>
              <a:ext cx="127000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1" name="Line"/>
            <p:cNvSpPr/>
            <p:nvPr/>
          </p:nvSpPr>
          <p:spPr>
            <a:xfrm flipV="1">
              <a:off x="8947884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2" name="Line"/>
            <p:cNvSpPr/>
            <p:nvPr/>
          </p:nvSpPr>
          <p:spPr>
            <a:xfrm flipV="1">
              <a:off x="2619565" y="0"/>
              <a:ext cx="1" cy="1270000"/>
            </a:xfrm>
            <a:prstGeom prst="line">
              <a:avLst/>
            </a:prstGeom>
            <a:noFill/>
            <a:ln w="25400" cap="flat">
              <a:solidFill>
                <a:schemeClr val="accent3">
                  <a:hueOff val="362282"/>
                  <a:satOff val="31803"/>
                  <a:lumOff val="-18242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3" name="triangle wave"/>
            <p:cNvSpPr txBox="1"/>
            <p:nvPr/>
          </p:nvSpPr>
          <p:spPr>
            <a:xfrm>
              <a:off x="-71748" y="139699"/>
              <a:ext cx="2508846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3">
                      <a:hueOff val="362282"/>
                      <a:satOff val="31803"/>
                      <a:lumOff val="-18242"/>
                    </a:schemeClr>
                  </a:solidFill>
                </a:defRPr>
              </a:lvl1pPr>
            </a:lstStyle>
            <a:p>
              <a:r>
                <a:t>triangle wave</a:t>
              </a:r>
            </a:p>
          </p:txBody>
        </p:sp>
      </p:grpSp>
      <p:grpSp>
        <p:nvGrpSpPr>
          <p:cNvPr id="317" name="Group"/>
          <p:cNvGrpSpPr/>
          <p:nvPr/>
        </p:nvGrpSpPr>
        <p:grpSpPr>
          <a:xfrm>
            <a:off x="2985012" y="5865207"/>
            <a:ext cx="8103010" cy="1026181"/>
            <a:chOff x="-24676" y="0"/>
            <a:chExt cx="8103008" cy="1026179"/>
          </a:xfrm>
        </p:grpSpPr>
        <p:sp>
          <p:nvSpPr>
            <p:cNvPr id="315" name="Line"/>
            <p:cNvSpPr/>
            <p:nvPr/>
          </p:nvSpPr>
          <p:spPr>
            <a:xfrm>
              <a:off x="1446500" y="0"/>
              <a:ext cx="6631832" cy="7573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3750" y="21600"/>
                  </a:lnTo>
                  <a:lnTo>
                    <a:pt x="3750" y="16658"/>
                  </a:lnTo>
                  <a:lnTo>
                    <a:pt x="8712" y="16658"/>
                  </a:lnTo>
                  <a:lnTo>
                    <a:pt x="8712" y="11688"/>
                  </a:lnTo>
                  <a:lnTo>
                    <a:pt x="11955" y="11688"/>
                  </a:lnTo>
                  <a:lnTo>
                    <a:pt x="11955" y="5582"/>
                  </a:lnTo>
                  <a:lnTo>
                    <a:pt x="16909" y="5582"/>
                  </a:lnTo>
                  <a:lnTo>
                    <a:pt x="16909" y="0"/>
                  </a:lnTo>
                  <a:lnTo>
                    <a:pt x="21600" y="0"/>
                  </a:lnTo>
                </a:path>
              </a:pathLst>
            </a:cu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6" name="data in"/>
            <p:cNvSpPr txBox="1"/>
            <p:nvPr/>
          </p:nvSpPr>
          <p:spPr>
            <a:xfrm>
              <a:off x="-24677" y="441979"/>
              <a:ext cx="1334493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t>data in</a:t>
              </a:r>
            </a:p>
          </p:txBody>
        </p:sp>
      </p:grpSp>
      <p:grpSp>
        <p:nvGrpSpPr>
          <p:cNvPr id="345" name="Group"/>
          <p:cNvGrpSpPr/>
          <p:nvPr/>
        </p:nvGrpSpPr>
        <p:grpSpPr>
          <a:xfrm>
            <a:off x="1958338" y="5685994"/>
            <a:ext cx="8926979" cy="2285374"/>
            <a:chOff x="-48254" y="0"/>
            <a:chExt cx="8926977" cy="2285372"/>
          </a:xfrm>
        </p:grpSpPr>
        <p:sp>
          <p:nvSpPr>
            <p:cNvPr id="318" name="Line"/>
            <p:cNvSpPr/>
            <p:nvPr/>
          </p:nvSpPr>
          <p:spPr>
            <a:xfrm flipV="1">
              <a:off x="2863562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9" name="Line"/>
            <p:cNvSpPr/>
            <p:nvPr/>
          </p:nvSpPr>
          <p:spPr>
            <a:xfrm flipV="1">
              <a:off x="4294429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0" name="Line"/>
            <p:cNvSpPr/>
            <p:nvPr/>
          </p:nvSpPr>
          <p:spPr>
            <a:xfrm flipV="1">
              <a:off x="5729529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1" name="Line"/>
            <p:cNvSpPr/>
            <p:nvPr/>
          </p:nvSpPr>
          <p:spPr>
            <a:xfrm flipV="1">
              <a:off x="7211196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2" name="Line"/>
            <p:cNvSpPr/>
            <p:nvPr/>
          </p:nvSpPr>
          <p:spPr>
            <a:xfrm flipV="1">
              <a:off x="8692863" y="0"/>
              <a:ext cx="1" cy="1597985"/>
            </a:xfrm>
            <a:prstGeom prst="line">
              <a:avLst/>
            </a:prstGeom>
            <a:noFill/>
            <a:ln w="12700" cap="flat">
              <a:solidFill>
                <a:srgbClr val="D2D0AD"/>
              </a:solidFill>
              <a:prstDash val="sysDot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3" name="Line"/>
            <p:cNvSpPr/>
            <p:nvPr/>
          </p:nvSpPr>
          <p:spPr>
            <a:xfrm flipV="1">
              <a:off x="2533470" y="1612272"/>
              <a:ext cx="34713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4" name="Line"/>
            <p:cNvSpPr/>
            <p:nvPr/>
          </p:nvSpPr>
          <p:spPr>
            <a:xfrm flipV="1">
              <a:off x="3803470" y="1612272"/>
              <a:ext cx="51223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5" name="Line"/>
            <p:cNvSpPr/>
            <p:nvPr/>
          </p:nvSpPr>
          <p:spPr>
            <a:xfrm flipV="1">
              <a:off x="5052046" y="1612272"/>
              <a:ext cx="694525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6" name="Line"/>
            <p:cNvSpPr/>
            <p:nvPr/>
          </p:nvSpPr>
          <p:spPr>
            <a:xfrm flipV="1">
              <a:off x="6309346" y="1612272"/>
              <a:ext cx="91889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7" name="Line"/>
            <p:cNvSpPr/>
            <p:nvPr/>
          </p:nvSpPr>
          <p:spPr>
            <a:xfrm>
              <a:off x="7590187" y="1612272"/>
              <a:ext cx="110939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8" name="Line"/>
            <p:cNvSpPr/>
            <p:nvPr/>
          </p:nvSpPr>
          <p:spPr>
            <a:xfrm>
              <a:off x="2872137" y="2272672"/>
              <a:ext cx="9398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29" name="Line"/>
            <p:cNvSpPr/>
            <p:nvPr/>
          </p:nvSpPr>
          <p:spPr>
            <a:xfrm>
              <a:off x="4296653" y="2272672"/>
              <a:ext cx="76623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0" name="Line"/>
            <p:cNvSpPr/>
            <p:nvPr/>
          </p:nvSpPr>
          <p:spPr>
            <a:xfrm>
              <a:off x="5721170" y="2272672"/>
              <a:ext cx="593535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1" name="Line"/>
            <p:cNvSpPr/>
            <p:nvPr/>
          </p:nvSpPr>
          <p:spPr>
            <a:xfrm>
              <a:off x="7202837" y="2272672"/>
              <a:ext cx="413840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2" name="Line"/>
            <p:cNvSpPr/>
            <p:nvPr/>
          </p:nvSpPr>
          <p:spPr>
            <a:xfrm>
              <a:off x="8692443" y="2285372"/>
              <a:ext cx="18628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3" name="Line"/>
            <p:cNvSpPr/>
            <p:nvPr/>
          </p:nvSpPr>
          <p:spPr>
            <a:xfrm flipV="1">
              <a:off x="2867903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4" name="Line"/>
            <p:cNvSpPr/>
            <p:nvPr/>
          </p:nvSpPr>
          <p:spPr>
            <a:xfrm flipV="1">
              <a:off x="2542450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5" name="Line"/>
            <p:cNvSpPr/>
            <p:nvPr/>
          </p:nvSpPr>
          <p:spPr>
            <a:xfrm flipV="1">
              <a:off x="3811936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6" name="Line"/>
            <p:cNvSpPr/>
            <p:nvPr/>
          </p:nvSpPr>
          <p:spPr>
            <a:xfrm flipV="1">
              <a:off x="5060770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7" name="Line"/>
            <p:cNvSpPr/>
            <p:nvPr/>
          </p:nvSpPr>
          <p:spPr>
            <a:xfrm flipV="1">
              <a:off x="6317556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8" name="Line"/>
            <p:cNvSpPr/>
            <p:nvPr/>
          </p:nvSpPr>
          <p:spPr>
            <a:xfrm flipV="1">
              <a:off x="7599742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9" name="Line"/>
            <p:cNvSpPr/>
            <p:nvPr/>
          </p:nvSpPr>
          <p:spPr>
            <a:xfrm flipV="1">
              <a:off x="8869228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0" name="Line"/>
            <p:cNvSpPr/>
            <p:nvPr/>
          </p:nvSpPr>
          <p:spPr>
            <a:xfrm flipV="1">
              <a:off x="4298770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1" name="Line"/>
            <p:cNvSpPr/>
            <p:nvPr/>
          </p:nvSpPr>
          <p:spPr>
            <a:xfrm flipV="1">
              <a:off x="5733870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2" name="Line"/>
            <p:cNvSpPr/>
            <p:nvPr/>
          </p:nvSpPr>
          <p:spPr>
            <a:xfrm flipV="1">
              <a:off x="7215536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3" name="Line"/>
            <p:cNvSpPr/>
            <p:nvPr/>
          </p:nvSpPr>
          <p:spPr>
            <a:xfrm flipV="1">
              <a:off x="8697203" y="1607773"/>
              <a:ext cx="1" cy="67601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4" name="PWM signal"/>
            <p:cNvSpPr txBox="1"/>
            <p:nvPr/>
          </p:nvSpPr>
          <p:spPr>
            <a:xfrm>
              <a:off x="-48255" y="1653679"/>
              <a:ext cx="228223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PWM signal</a:t>
              </a:r>
            </a:p>
          </p:txBody>
        </p:sp>
      </p:grpSp>
      <p:grpSp>
        <p:nvGrpSpPr>
          <p:cNvPr id="348" name="Group"/>
          <p:cNvGrpSpPr/>
          <p:nvPr/>
        </p:nvGrpSpPr>
        <p:grpSpPr>
          <a:xfrm>
            <a:off x="1386507" y="8529621"/>
            <a:ext cx="9539661" cy="672720"/>
            <a:chOff x="-82384" y="18"/>
            <a:chExt cx="9539659" cy="672718"/>
          </a:xfrm>
        </p:grpSpPr>
        <p:sp>
          <p:nvSpPr>
            <p:cNvPr id="346" name="+ low pass filter"/>
            <p:cNvSpPr txBox="1"/>
            <p:nvPr/>
          </p:nvSpPr>
          <p:spPr>
            <a:xfrm>
              <a:off x="-82385" y="88537"/>
              <a:ext cx="292635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+ low pass filter</a:t>
              </a:r>
            </a:p>
          </p:txBody>
        </p:sp>
        <p:sp>
          <p:nvSpPr>
            <p:cNvPr id="347" name="Line"/>
            <p:cNvSpPr/>
            <p:nvPr/>
          </p:nvSpPr>
          <p:spPr>
            <a:xfrm>
              <a:off x="3039343" y="18"/>
              <a:ext cx="6417933" cy="5079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0374" extrusionOk="0">
                  <a:moveTo>
                    <a:pt x="0" y="19681"/>
                  </a:moveTo>
                  <a:cubicBezTo>
                    <a:pt x="3632" y="21600"/>
                    <a:pt x="7271" y="19529"/>
                    <a:pt x="10871" y="13494"/>
                  </a:cubicBezTo>
                  <a:cubicBezTo>
                    <a:pt x="11888" y="11790"/>
                    <a:pt x="12901" y="9770"/>
                    <a:pt x="13917" y="8022"/>
                  </a:cubicBezTo>
                  <a:cubicBezTo>
                    <a:pt x="16463" y="3640"/>
                    <a:pt x="19028" y="962"/>
                    <a:pt x="21600" y="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4" name="DAC via PWM">
            <a:extLst>
              <a:ext uri="{FF2B5EF4-FFF2-40B4-BE49-F238E27FC236}">
                <a16:creationId xmlns:a16="http://schemas.microsoft.com/office/drawing/2014/main" id="{79587B2B-4F35-8330-EC89-35C714AB44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1306613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dirty="0"/>
              <a:t>DAC via PWM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" grpId="1" build="p" bldLvl="5" animBg="1" advAuto="0"/>
      <p:bldP spid="314" grpId="3" animBg="1" advAuto="0"/>
      <p:bldP spid="317" grpId="2" animBg="1" advAuto="0"/>
      <p:bldP spid="345" grpId="4" animBg="1" advAuto="0"/>
      <p:bldP spid="348" grpId="5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grpSp>
        <p:nvGrpSpPr>
          <p:cNvPr id="354" name="Group"/>
          <p:cNvGrpSpPr/>
          <p:nvPr/>
        </p:nvGrpSpPr>
        <p:grpSpPr>
          <a:xfrm>
            <a:off x="301034" y="5683234"/>
            <a:ext cx="12402732" cy="3831117"/>
            <a:chOff x="0" y="0"/>
            <a:chExt cx="12402730" cy="3831115"/>
          </a:xfrm>
        </p:grpSpPr>
        <p:sp>
          <p:nvSpPr>
            <p:cNvPr id="352" name="Rectangle"/>
            <p:cNvSpPr/>
            <p:nvPr/>
          </p:nvSpPr>
          <p:spPr>
            <a:xfrm>
              <a:off x="138368" y="0"/>
              <a:ext cx="12264363" cy="383111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53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49568"/>
              <a:ext cx="12256927" cy="33319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355" name="DAC can also be done using digital components, via pulse-width modulation (PWM).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11099800" cy="2845098"/>
          </a:xfrm>
          <a:prstGeom prst="rect">
            <a:avLst/>
          </a:prstGeom>
        </p:spPr>
        <p:txBody>
          <a:bodyPr/>
          <a:lstStyle/>
          <a:p>
            <a:r>
              <a:t>DAC can also be done using digital components, via </a:t>
            </a:r>
            <a:r>
              <a:rPr b="1"/>
              <a:t>pulse-width modulation</a:t>
            </a:r>
            <a:r>
              <a:t> (PWM).</a:t>
            </a:r>
          </a:p>
        </p:txBody>
      </p:sp>
      <p:sp>
        <p:nvSpPr>
          <p:cNvPr id="4" name="DAC via PWM">
            <a:extLst>
              <a:ext uri="{FF2B5EF4-FFF2-40B4-BE49-F238E27FC236}">
                <a16:creationId xmlns:a16="http://schemas.microsoft.com/office/drawing/2014/main" id="{8FDC3672-CC14-7A9F-3C38-E32188DACA79}"/>
              </a:ext>
            </a:extLst>
          </p:cNvPr>
          <p:cNvSpPr txBox="1">
            <a:spLocks/>
          </p:cNvSpPr>
          <p:nvPr/>
        </p:nvSpPr>
        <p:spPr>
          <a:xfrm>
            <a:off x="952500" y="546100"/>
            <a:ext cx="11099800" cy="13066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97500"/>
          </a:bodyPr>
          <a:lstStyle>
            <a:lvl1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hangingPunct="1"/>
            <a:r>
              <a:rPr lang="en-GB"/>
              <a:t>DAC via PWM</a:t>
            </a:r>
            <a:endParaRPr lang="en-GB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grpSp>
        <p:nvGrpSpPr>
          <p:cNvPr id="360" name="Group"/>
          <p:cNvGrpSpPr/>
          <p:nvPr/>
        </p:nvGrpSpPr>
        <p:grpSpPr>
          <a:xfrm>
            <a:off x="301034" y="5683234"/>
            <a:ext cx="12402732" cy="3831117"/>
            <a:chOff x="0" y="0"/>
            <a:chExt cx="12402730" cy="3831115"/>
          </a:xfrm>
        </p:grpSpPr>
        <p:sp>
          <p:nvSpPr>
            <p:cNvPr id="358" name="Rectangle"/>
            <p:cNvSpPr/>
            <p:nvPr/>
          </p:nvSpPr>
          <p:spPr>
            <a:xfrm>
              <a:off x="138368" y="0"/>
              <a:ext cx="12264363" cy="383111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59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49568"/>
              <a:ext cx="12256927" cy="33319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6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351" y="7156112"/>
            <a:ext cx="1280584" cy="1280584"/>
          </a:xfrm>
          <a:prstGeom prst="rect">
            <a:avLst/>
          </a:prstGeom>
          <a:ln w="12700">
            <a:miter lim="400000"/>
          </a:ln>
        </p:spPr>
      </p:pic>
      <p:pic>
        <p:nvPicPr>
          <p:cNvPr id="362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5934" y="5899150"/>
            <a:ext cx="1259418" cy="1259417"/>
          </a:xfrm>
          <a:prstGeom prst="rect">
            <a:avLst/>
          </a:prstGeom>
          <a:ln w="12700">
            <a:miter lim="400000"/>
          </a:ln>
        </p:spPr>
      </p:pic>
      <p:pic>
        <p:nvPicPr>
          <p:cNvPr id="36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817" y="5961591"/>
            <a:ext cx="4038601" cy="2396533"/>
          </a:xfrm>
          <a:prstGeom prst="rect">
            <a:avLst/>
          </a:prstGeom>
          <a:ln w="12700">
            <a:miter lim="400000"/>
          </a:ln>
        </p:spPr>
      </p:pic>
      <p:sp>
        <p:nvSpPr>
          <p:cNvPr id="364" name="module pwm (clk, data_in, load, pwm_out);…"/>
          <p:cNvSpPr txBox="1"/>
          <p:nvPr/>
        </p:nvSpPr>
        <p:spPr>
          <a:xfrm>
            <a:off x="814818" y="2602342"/>
            <a:ext cx="4332917" cy="244169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9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pwm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19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clk,</a:t>
            </a:r>
          </a:p>
          <a:p>
            <a:pPr algn="l">
              <a:defRPr sz="19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[9:0]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19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load,</a:t>
            </a:r>
          </a:p>
          <a:p>
            <a:pPr algn="l">
              <a:defRPr sz="19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pwm_out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9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[9:0] d = '0;</a:t>
            </a:r>
          </a:p>
          <a:p>
            <a:pPr algn="l">
              <a:defRPr sz="19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[9:0] count = '0;</a:t>
            </a:r>
          </a:p>
        </p:txBody>
      </p:sp>
      <p:sp>
        <p:nvSpPr>
          <p:cNvPr id="365" name="always @(posedge clk)…"/>
          <p:cNvSpPr txBox="1"/>
          <p:nvPr/>
        </p:nvSpPr>
        <p:spPr>
          <a:xfrm>
            <a:off x="7177981" y="1960978"/>
            <a:ext cx="5208157" cy="3611245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19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1900" b="1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(load == 1’b1) d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1900" b="1"/>
            </a:pP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 b="1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 begin</a:t>
            </a:r>
          </a:p>
          <a:p>
            <a:pPr algn="l">
              <a:defRPr sz="1900" b="1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count &lt;= count + 1'b1;</a:t>
            </a:r>
          </a:p>
          <a:p>
            <a:pPr algn="l">
              <a:defRPr sz="1900" b="1"/>
            </a:pP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900" b="1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(count &gt; d)</a:t>
            </a:r>
          </a:p>
          <a:p>
            <a:pPr algn="l">
              <a:defRPr sz="1900" b="1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pwm_out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&lt;= 1'b0;</a:t>
            </a:r>
          </a:p>
          <a:p>
            <a:pPr algn="l">
              <a:defRPr sz="1900" b="1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else</a:t>
            </a:r>
          </a:p>
          <a:p>
            <a:pPr algn="l">
              <a:defRPr sz="1900" b="1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pwm_out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&lt;= 1'b1;</a:t>
            </a:r>
          </a:p>
          <a:p>
            <a:pPr algn="l">
              <a:defRPr sz="1900" b="1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1900" b="1"/>
            </a:pP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pic>
        <p:nvPicPr>
          <p:cNvPr id="366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9656" y="1991933"/>
            <a:ext cx="5208156" cy="685279"/>
          </a:xfrm>
          <a:prstGeom prst="rect">
            <a:avLst/>
          </a:prstGeom>
          <a:ln w="12700">
            <a:miter lim="400000"/>
          </a:ln>
        </p:spPr>
      </p:pic>
      <p:pic>
        <p:nvPicPr>
          <p:cNvPr id="367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1330" y="3682234"/>
            <a:ext cx="5224807" cy="12869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68" name="Image" descr="Imag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7981" y="2926780"/>
            <a:ext cx="5208156" cy="598845"/>
          </a:xfrm>
          <a:prstGeom prst="rect">
            <a:avLst/>
          </a:prstGeom>
          <a:ln w="12700">
            <a:miter lim="400000"/>
          </a:ln>
        </p:spPr>
      </p:pic>
      <p:sp>
        <p:nvSpPr>
          <p:cNvPr id="369" name="DAC via PWM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1417044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DAC via PWM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1" grpId="2" animBg="1" advAuto="0"/>
      <p:bldP spid="362" grpId="4" animBg="1" advAuto="0"/>
      <p:bldP spid="363" grpId="6" animBg="1" advAuto="0"/>
      <p:bldP spid="366" grpId="3" animBg="1" advAuto="0"/>
      <p:bldP spid="367" grpId="5" animBg="1" advAuto="0"/>
      <p:bldP spid="368" grpId="1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372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3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376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pPr>
              <a:defRPr b="1"/>
            </a:pPr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3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Example 1: denois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1: denoiser</a:t>
            </a:r>
          </a:p>
        </p:txBody>
      </p:sp>
      <p:sp>
        <p:nvSpPr>
          <p:cNvPr id="380" name="Task: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642402"/>
          </a:xfrm>
          <a:prstGeom prst="rect">
            <a:avLst/>
          </a:prstGeom>
        </p:spPr>
        <p:txBody>
          <a:bodyPr/>
          <a:lstStyle/>
          <a:p>
            <a:r>
              <a:t>Task: </a:t>
            </a:r>
          </a:p>
        </p:txBody>
      </p:sp>
      <p:sp>
        <p:nvSpPr>
          <p:cNvPr id="38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16878" y="31750"/>
            <a:ext cx="382936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38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83" y="2633133"/>
            <a:ext cx="7179692" cy="1023235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405" name="Table 1"/>
          <p:cNvGraphicFramePr/>
          <p:nvPr/>
        </p:nvGraphicFramePr>
        <p:xfrm>
          <a:off x="6346837" y="4080933"/>
          <a:ext cx="5540097" cy="4681405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11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8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2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state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meaning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output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a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low"</a:t>
                      </a:r>
                    </a:p>
                  </a:txBody>
                  <a:tcPr marL="50800" marR="50800" marT="50800" marB="50800" anchor="ctr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b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rising"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high"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d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falling"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E020D68-47C3-0412-69FD-7FF4E1A41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2810" y="4328452"/>
            <a:ext cx="6274281" cy="5057741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0" grpId="2" animBg="1" advAuto="0"/>
      <p:bldP spid="382" grpId="1" animBg="1" advAuto="0"/>
      <p:bldP spid="405" grpId="21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next state"/>
          <p:cNvSpPr txBox="1"/>
          <p:nvPr/>
        </p:nvSpPr>
        <p:spPr>
          <a:xfrm>
            <a:off x="6900616" y="8342300"/>
            <a:ext cx="18764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next state</a:t>
            </a:r>
          </a:p>
        </p:txBody>
      </p:sp>
      <p:sp>
        <p:nvSpPr>
          <p:cNvPr id="410" name="current state"/>
          <p:cNvSpPr txBox="1"/>
          <p:nvPr/>
        </p:nvSpPr>
        <p:spPr>
          <a:xfrm>
            <a:off x="6179603" y="6925658"/>
            <a:ext cx="237311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current state</a:t>
            </a:r>
          </a:p>
        </p:txBody>
      </p:sp>
      <p:sp>
        <p:nvSpPr>
          <p:cNvPr id="411" name="Mealy mach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Mealy machines</a:t>
            </a:r>
          </a:p>
        </p:txBody>
      </p:sp>
      <p:sp>
        <p:nvSpPr>
          <p:cNvPr id="4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sp>
        <p:nvSpPr>
          <p:cNvPr id="413" name="input"/>
          <p:cNvSpPr txBox="1"/>
          <p:nvPr/>
        </p:nvSpPr>
        <p:spPr>
          <a:xfrm>
            <a:off x="1386557" y="3662667"/>
            <a:ext cx="99556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dirty="0"/>
              <a:t>input</a:t>
            </a:r>
          </a:p>
        </p:txBody>
      </p:sp>
      <p:sp>
        <p:nvSpPr>
          <p:cNvPr id="414" name="output"/>
          <p:cNvSpPr txBox="1"/>
          <p:nvPr/>
        </p:nvSpPr>
        <p:spPr>
          <a:xfrm>
            <a:off x="9783431" y="3357867"/>
            <a:ext cx="124420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output</a:t>
            </a:r>
          </a:p>
        </p:txBody>
      </p:sp>
      <p:grpSp>
        <p:nvGrpSpPr>
          <p:cNvPr id="417" name="Group"/>
          <p:cNvGrpSpPr/>
          <p:nvPr/>
        </p:nvGrpSpPr>
        <p:grpSpPr>
          <a:xfrm>
            <a:off x="436816" y="5688702"/>
            <a:ext cx="4520644" cy="2724395"/>
            <a:chOff x="0" y="0"/>
            <a:chExt cx="4520643" cy="2724393"/>
          </a:xfrm>
        </p:grpSpPr>
        <p:sp>
          <p:nvSpPr>
            <p:cNvPr id="415" name="Cloud"/>
            <p:cNvSpPr/>
            <p:nvPr/>
          </p:nvSpPr>
          <p:spPr>
            <a:xfrm>
              <a:off x="0" y="0"/>
              <a:ext cx="4520644" cy="27243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03" y="0"/>
                  </a:moveTo>
                  <a:cubicBezTo>
                    <a:pt x="7967" y="0"/>
                    <a:pt x="5720" y="2939"/>
                    <a:pt x="4858" y="7062"/>
                  </a:cubicBezTo>
                  <a:cubicBezTo>
                    <a:pt x="4628" y="6992"/>
                    <a:pt x="4391" y="6953"/>
                    <a:pt x="4150" y="6953"/>
                  </a:cubicBezTo>
                  <a:cubicBezTo>
                    <a:pt x="1857" y="6953"/>
                    <a:pt x="0" y="10233"/>
                    <a:pt x="0" y="14278"/>
                  </a:cubicBezTo>
                  <a:cubicBezTo>
                    <a:pt x="0" y="18323"/>
                    <a:pt x="1857" y="21600"/>
                    <a:pt x="4150" y="21600"/>
                  </a:cubicBezTo>
                  <a:cubicBezTo>
                    <a:pt x="4193" y="21600"/>
                    <a:pt x="4237" y="21597"/>
                    <a:pt x="4279" y="21594"/>
                  </a:cubicBezTo>
                  <a:lnTo>
                    <a:pt x="10532" y="21597"/>
                  </a:lnTo>
                  <a:cubicBezTo>
                    <a:pt x="10555" y="21598"/>
                    <a:pt x="10579" y="21600"/>
                    <a:pt x="10603" y="21600"/>
                  </a:cubicBezTo>
                  <a:cubicBezTo>
                    <a:pt x="10626" y="21600"/>
                    <a:pt x="10648" y="21598"/>
                    <a:pt x="10672" y="21597"/>
                  </a:cubicBezTo>
                  <a:lnTo>
                    <a:pt x="18141" y="21600"/>
                  </a:lnTo>
                  <a:cubicBezTo>
                    <a:pt x="20051" y="21600"/>
                    <a:pt x="21600" y="18868"/>
                    <a:pt x="21600" y="15496"/>
                  </a:cubicBezTo>
                  <a:cubicBezTo>
                    <a:pt x="21600" y="12124"/>
                    <a:pt x="20051" y="9389"/>
                    <a:pt x="18141" y="9389"/>
                  </a:cubicBezTo>
                  <a:cubicBezTo>
                    <a:pt x="17627" y="9389"/>
                    <a:pt x="17139" y="9589"/>
                    <a:pt x="16701" y="9943"/>
                  </a:cubicBezTo>
                  <a:cubicBezTo>
                    <a:pt x="16453" y="4379"/>
                    <a:pt x="13819" y="0"/>
                    <a:pt x="10603" y="0"/>
                  </a:cubicBez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16" name="combinational logic"/>
            <p:cNvSpPr txBox="1"/>
            <p:nvPr/>
          </p:nvSpPr>
          <p:spPr>
            <a:xfrm>
              <a:off x="295194" y="1488532"/>
              <a:ext cx="3930255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combinational logic</a:t>
              </a:r>
            </a:p>
          </p:txBody>
        </p:sp>
      </p:grpSp>
      <p:grpSp>
        <p:nvGrpSpPr>
          <p:cNvPr id="420" name="Group"/>
          <p:cNvGrpSpPr/>
          <p:nvPr/>
        </p:nvGrpSpPr>
        <p:grpSpPr>
          <a:xfrm>
            <a:off x="8679457" y="6318565"/>
            <a:ext cx="2441047" cy="1464668"/>
            <a:chOff x="0" y="0"/>
            <a:chExt cx="2441045" cy="1464667"/>
          </a:xfrm>
        </p:grpSpPr>
        <p:sp>
          <p:nvSpPr>
            <p:cNvPr id="418" name="Rectangle"/>
            <p:cNvSpPr/>
            <p:nvPr/>
          </p:nvSpPr>
          <p:spPr>
            <a:xfrm>
              <a:off x="0" y="0"/>
              <a:ext cx="2441046" cy="1464668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19" name="state…"/>
            <p:cNvSpPr txBox="1"/>
            <p:nvPr/>
          </p:nvSpPr>
          <p:spPr>
            <a:xfrm>
              <a:off x="405242" y="198933"/>
              <a:ext cx="1605162" cy="1066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b="1">
                  <a:solidFill>
                    <a:srgbClr val="FFFFFF"/>
                  </a:solidFill>
                </a:defRPr>
              </a:pPr>
              <a:r>
                <a:t>state</a:t>
              </a:r>
            </a:p>
            <a:p>
              <a:pPr>
                <a:defRPr b="1">
                  <a:solidFill>
                    <a:srgbClr val="FFFFFF"/>
                  </a:solidFill>
                </a:defRPr>
              </a:pPr>
              <a:r>
                <a:t>register</a:t>
              </a:r>
            </a:p>
          </p:txBody>
        </p:sp>
      </p:grpSp>
      <p:grpSp>
        <p:nvGrpSpPr>
          <p:cNvPr id="423" name="Group"/>
          <p:cNvGrpSpPr/>
          <p:nvPr/>
        </p:nvGrpSpPr>
        <p:grpSpPr>
          <a:xfrm>
            <a:off x="3970260" y="2999453"/>
            <a:ext cx="4520644" cy="2724395"/>
            <a:chOff x="0" y="0"/>
            <a:chExt cx="4520643" cy="2724393"/>
          </a:xfrm>
        </p:grpSpPr>
        <p:sp>
          <p:nvSpPr>
            <p:cNvPr id="421" name="Cloud"/>
            <p:cNvSpPr/>
            <p:nvPr/>
          </p:nvSpPr>
          <p:spPr>
            <a:xfrm>
              <a:off x="0" y="0"/>
              <a:ext cx="4520644" cy="27243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03" y="0"/>
                  </a:moveTo>
                  <a:cubicBezTo>
                    <a:pt x="7967" y="0"/>
                    <a:pt x="5720" y="2939"/>
                    <a:pt x="4858" y="7062"/>
                  </a:cubicBezTo>
                  <a:cubicBezTo>
                    <a:pt x="4628" y="6992"/>
                    <a:pt x="4391" y="6953"/>
                    <a:pt x="4150" y="6953"/>
                  </a:cubicBezTo>
                  <a:cubicBezTo>
                    <a:pt x="1857" y="6953"/>
                    <a:pt x="0" y="10233"/>
                    <a:pt x="0" y="14278"/>
                  </a:cubicBezTo>
                  <a:cubicBezTo>
                    <a:pt x="0" y="18323"/>
                    <a:pt x="1857" y="21600"/>
                    <a:pt x="4150" y="21600"/>
                  </a:cubicBezTo>
                  <a:cubicBezTo>
                    <a:pt x="4193" y="21600"/>
                    <a:pt x="4237" y="21597"/>
                    <a:pt x="4279" y="21594"/>
                  </a:cubicBezTo>
                  <a:lnTo>
                    <a:pt x="10532" y="21597"/>
                  </a:lnTo>
                  <a:cubicBezTo>
                    <a:pt x="10555" y="21598"/>
                    <a:pt x="10579" y="21600"/>
                    <a:pt x="10603" y="21600"/>
                  </a:cubicBezTo>
                  <a:cubicBezTo>
                    <a:pt x="10626" y="21600"/>
                    <a:pt x="10648" y="21598"/>
                    <a:pt x="10672" y="21597"/>
                  </a:cubicBezTo>
                  <a:lnTo>
                    <a:pt x="18141" y="21600"/>
                  </a:lnTo>
                  <a:cubicBezTo>
                    <a:pt x="20051" y="21600"/>
                    <a:pt x="21600" y="18868"/>
                    <a:pt x="21600" y="15496"/>
                  </a:cubicBezTo>
                  <a:cubicBezTo>
                    <a:pt x="21600" y="12124"/>
                    <a:pt x="20051" y="9389"/>
                    <a:pt x="18141" y="9389"/>
                  </a:cubicBezTo>
                  <a:cubicBezTo>
                    <a:pt x="17627" y="9389"/>
                    <a:pt x="17139" y="9589"/>
                    <a:pt x="16701" y="9943"/>
                  </a:cubicBezTo>
                  <a:cubicBezTo>
                    <a:pt x="16453" y="4379"/>
                    <a:pt x="13819" y="0"/>
                    <a:pt x="10603" y="0"/>
                  </a:cubicBez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22" name="combinational logic"/>
            <p:cNvSpPr txBox="1"/>
            <p:nvPr/>
          </p:nvSpPr>
          <p:spPr>
            <a:xfrm>
              <a:off x="295194" y="1488532"/>
              <a:ext cx="3930254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combinational logic</a:t>
              </a:r>
            </a:p>
          </p:txBody>
        </p:sp>
      </p:grpSp>
      <p:sp>
        <p:nvSpPr>
          <p:cNvPr id="430" name="Connection Line"/>
          <p:cNvSpPr/>
          <p:nvPr/>
        </p:nvSpPr>
        <p:spPr>
          <a:xfrm>
            <a:off x="4696248" y="7050899"/>
            <a:ext cx="39832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1" name="Connection Line"/>
          <p:cNvSpPr/>
          <p:nvPr/>
        </p:nvSpPr>
        <p:spPr>
          <a:xfrm>
            <a:off x="5231875" y="5723333"/>
            <a:ext cx="3447583" cy="13271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5" h="21600" extrusionOk="0">
                <a:moveTo>
                  <a:pt x="20825" y="21600"/>
                </a:moveTo>
                <a:cubicBezTo>
                  <a:pt x="6144" y="20623"/>
                  <a:pt x="-775" y="13423"/>
                  <a:pt x="69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2" name="Connection Line"/>
          <p:cNvSpPr/>
          <p:nvPr/>
        </p:nvSpPr>
        <p:spPr>
          <a:xfrm>
            <a:off x="4927237" y="7783431"/>
            <a:ext cx="4711625" cy="6627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6" extrusionOk="0">
                <a:moveTo>
                  <a:pt x="0" y="1990"/>
                </a:moveTo>
                <a:cubicBezTo>
                  <a:pt x="11650" y="21600"/>
                  <a:pt x="18850" y="20937"/>
                  <a:pt x="21600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5" name="Connection Line"/>
          <p:cNvSpPr/>
          <p:nvPr/>
        </p:nvSpPr>
        <p:spPr>
          <a:xfrm>
            <a:off x="7365587" y="3416870"/>
            <a:ext cx="2417845" cy="4063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8206" extrusionOk="0">
                <a:moveTo>
                  <a:pt x="0" y="18206"/>
                </a:moveTo>
                <a:cubicBezTo>
                  <a:pt x="8208" y="1989"/>
                  <a:pt x="15408" y="-3394"/>
                  <a:pt x="21600" y="2056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3" name="Curved Connector 2">
            <a:extLst>
              <a:ext uri="{FF2B5EF4-FFF2-40B4-BE49-F238E27FC236}">
                <a16:creationId xmlns:a16="http://schemas.microsoft.com/office/drawing/2014/main" id="{C43557BF-B2EA-764F-E678-2C0310CAD6DC}"/>
              </a:ext>
            </a:extLst>
          </p:cNvPr>
          <p:cNvCxnSpPr>
            <a:stCxn id="413" idx="3"/>
          </p:cNvCxnSpPr>
          <p:nvPr/>
        </p:nvCxnSpPr>
        <p:spPr>
          <a:xfrm>
            <a:off x="2382119" y="3954768"/>
            <a:ext cx="1588141" cy="843475"/>
          </a:xfrm>
          <a:prstGeom prst="curvedConnector3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65F7CEEB-6529-E1B9-C039-F43A688EC5F7}"/>
              </a:ext>
            </a:extLst>
          </p:cNvPr>
          <p:cNvCxnSpPr>
            <a:stCxn id="413" idx="2"/>
          </p:cNvCxnSpPr>
          <p:nvPr/>
        </p:nvCxnSpPr>
        <p:spPr>
          <a:xfrm rot="16200000" flipH="1">
            <a:off x="1576453" y="4554752"/>
            <a:ext cx="1408744" cy="792975"/>
          </a:xfrm>
          <a:prstGeom prst="curvedConnector3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" grpId="13" animBg="1" advAuto="0"/>
      <p:bldP spid="410" grpId="8" animBg="1" advAuto="0"/>
      <p:bldP spid="411" grpId="14" animBg="1" advAuto="0"/>
      <p:bldP spid="413" grpId="4" animBg="1" advAuto="0"/>
      <p:bldP spid="414" grpId="3" animBg="1" advAuto="0"/>
      <p:bldP spid="417" grpId="11" animBg="1" advAuto="0"/>
      <p:bldP spid="420" grpId="7" animBg="1" advAuto="0"/>
      <p:bldP spid="423" grpId="1" animBg="1" advAuto="0"/>
      <p:bldP spid="430" grpId="9" animBg="1" advAuto="0"/>
      <p:bldP spid="431" grpId="6" animBg="1" advAuto="0"/>
      <p:bldP spid="432" grpId="12" animBg="1" advAuto="0"/>
      <p:bldP spid="435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9F07C-FE86-F639-FC91-089D48C4F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next state">
            <a:extLst>
              <a:ext uri="{FF2B5EF4-FFF2-40B4-BE49-F238E27FC236}">
                <a16:creationId xmlns:a16="http://schemas.microsoft.com/office/drawing/2014/main" id="{29C15325-6F36-2DB3-EFA5-4A91DAA77281}"/>
              </a:ext>
            </a:extLst>
          </p:cNvPr>
          <p:cNvSpPr txBox="1"/>
          <p:nvPr/>
        </p:nvSpPr>
        <p:spPr>
          <a:xfrm>
            <a:off x="6900616" y="8342300"/>
            <a:ext cx="18764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next state</a:t>
            </a:r>
          </a:p>
        </p:txBody>
      </p:sp>
      <p:sp>
        <p:nvSpPr>
          <p:cNvPr id="410" name="current state">
            <a:extLst>
              <a:ext uri="{FF2B5EF4-FFF2-40B4-BE49-F238E27FC236}">
                <a16:creationId xmlns:a16="http://schemas.microsoft.com/office/drawing/2014/main" id="{6E5D8512-D66B-F623-FB80-CEEE4EF5B166}"/>
              </a:ext>
            </a:extLst>
          </p:cNvPr>
          <p:cNvSpPr txBox="1"/>
          <p:nvPr/>
        </p:nvSpPr>
        <p:spPr>
          <a:xfrm>
            <a:off x="6340309" y="6983350"/>
            <a:ext cx="237311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dirty="0"/>
              <a:t>current state</a:t>
            </a:r>
          </a:p>
        </p:txBody>
      </p:sp>
      <p:sp>
        <p:nvSpPr>
          <p:cNvPr id="412" name="Slide Number">
            <a:extLst>
              <a:ext uri="{FF2B5EF4-FFF2-40B4-BE49-F238E27FC236}">
                <a16:creationId xmlns:a16="http://schemas.microsoft.com/office/drawing/2014/main" id="{3CE26FC9-202E-BBBF-FBC9-0DB10B6C3509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413" name="input">
            <a:extLst>
              <a:ext uri="{FF2B5EF4-FFF2-40B4-BE49-F238E27FC236}">
                <a16:creationId xmlns:a16="http://schemas.microsoft.com/office/drawing/2014/main" id="{87A18A34-D571-49E0-D9B5-BF658653BF3E}"/>
              </a:ext>
            </a:extLst>
          </p:cNvPr>
          <p:cNvSpPr txBox="1"/>
          <p:nvPr/>
        </p:nvSpPr>
        <p:spPr>
          <a:xfrm>
            <a:off x="1386557" y="3662667"/>
            <a:ext cx="99556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dirty="0"/>
              <a:t>input</a:t>
            </a:r>
          </a:p>
        </p:txBody>
      </p:sp>
      <p:sp>
        <p:nvSpPr>
          <p:cNvPr id="414" name="output">
            <a:extLst>
              <a:ext uri="{FF2B5EF4-FFF2-40B4-BE49-F238E27FC236}">
                <a16:creationId xmlns:a16="http://schemas.microsoft.com/office/drawing/2014/main" id="{69017BE5-DDC8-03EF-8A90-6A273D76E096}"/>
              </a:ext>
            </a:extLst>
          </p:cNvPr>
          <p:cNvSpPr txBox="1"/>
          <p:nvPr/>
        </p:nvSpPr>
        <p:spPr>
          <a:xfrm>
            <a:off x="9783431" y="3357867"/>
            <a:ext cx="124420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output</a:t>
            </a:r>
          </a:p>
        </p:txBody>
      </p:sp>
      <p:grpSp>
        <p:nvGrpSpPr>
          <p:cNvPr id="417" name="Group">
            <a:extLst>
              <a:ext uri="{FF2B5EF4-FFF2-40B4-BE49-F238E27FC236}">
                <a16:creationId xmlns:a16="http://schemas.microsoft.com/office/drawing/2014/main" id="{FDDD49BC-0772-48A2-78E7-37ECE62C534E}"/>
              </a:ext>
            </a:extLst>
          </p:cNvPr>
          <p:cNvGrpSpPr/>
          <p:nvPr/>
        </p:nvGrpSpPr>
        <p:grpSpPr>
          <a:xfrm>
            <a:off x="436816" y="5688702"/>
            <a:ext cx="4520644" cy="2724395"/>
            <a:chOff x="0" y="0"/>
            <a:chExt cx="4520643" cy="2724393"/>
          </a:xfrm>
        </p:grpSpPr>
        <p:sp>
          <p:nvSpPr>
            <p:cNvPr id="415" name="Cloud">
              <a:extLst>
                <a:ext uri="{FF2B5EF4-FFF2-40B4-BE49-F238E27FC236}">
                  <a16:creationId xmlns:a16="http://schemas.microsoft.com/office/drawing/2014/main" id="{33F80D6D-CF32-6E85-DEA8-BFD8561CC559}"/>
                </a:ext>
              </a:extLst>
            </p:cNvPr>
            <p:cNvSpPr/>
            <p:nvPr/>
          </p:nvSpPr>
          <p:spPr>
            <a:xfrm>
              <a:off x="0" y="0"/>
              <a:ext cx="4520644" cy="27243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03" y="0"/>
                  </a:moveTo>
                  <a:cubicBezTo>
                    <a:pt x="7967" y="0"/>
                    <a:pt x="5720" y="2939"/>
                    <a:pt x="4858" y="7062"/>
                  </a:cubicBezTo>
                  <a:cubicBezTo>
                    <a:pt x="4628" y="6992"/>
                    <a:pt x="4391" y="6953"/>
                    <a:pt x="4150" y="6953"/>
                  </a:cubicBezTo>
                  <a:cubicBezTo>
                    <a:pt x="1857" y="6953"/>
                    <a:pt x="0" y="10233"/>
                    <a:pt x="0" y="14278"/>
                  </a:cubicBezTo>
                  <a:cubicBezTo>
                    <a:pt x="0" y="18323"/>
                    <a:pt x="1857" y="21600"/>
                    <a:pt x="4150" y="21600"/>
                  </a:cubicBezTo>
                  <a:cubicBezTo>
                    <a:pt x="4193" y="21600"/>
                    <a:pt x="4237" y="21597"/>
                    <a:pt x="4279" y="21594"/>
                  </a:cubicBezTo>
                  <a:lnTo>
                    <a:pt x="10532" y="21597"/>
                  </a:lnTo>
                  <a:cubicBezTo>
                    <a:pt x="10555" y="21598"/>
                    <a:pt x="10579" y="21600"/>
                    <a:pt x="10603" y="21600"/>
                  </a:cubicBezTo>
                  <a:cubicBezTo>
                    <a:pt x="10626" y="21600"/>
                    <a:pt x="10648" y="21598"/>
                    <a:pt x="10672" y="21597"/>
                  </a:cubicBezTo>
                  <a:lnTo>
                    <a:pt x="18141" y="21600"/>
                  </a:lnTo>
                  <a:cubicBezTo>
                    <a:pt x="20051" y="21600"/>
                    <a:pt x="21600" y="18868"/>
                    <a:pt x="21600" y="15496"/>
                  </a:cubicBezTo>
                  <a:cubicBezTo>
                    <a:pt x="21600" y="12124"/>
                    <a:pt x="20051" y="9389"/>
                    <a:pt x="18141" y="9389"/>
                  </a:cubicBezTo>
                  <a:cubicBezTo>
                    <a:pt x="17627" y="9389"/>
                    <a:pt x="17139" y="9589"/>
                    <a:pt x="16701" y="9943"/>
                  </a:cubicBezTo>
                  <a:cubicBezTo>
                    <a:pt x="16453" y="4379"/>
                    <a:pt x="13819" y="0"/>
                    <a:pt x="10603" y="0"/>
                  </a:cubicBez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16" name="combinational logic">
              <a:extLst>
                <a:ext uri="{FF2B5EF4-FFF2-40B4-BE49-F238E27FC236}">
                  <a16:creationId xmlns:a16="http://schemas.microsoft.com/office/drawing/2014/main" id="{A6D4D325-418C-05EE-C130-0A2B0947E498}"/>
                </a:ext>
              </a:extLst>
            </p:cNvPr>
            <p:cNvSpPr txBox="1"/>
            <p:nvPr/>
          </p:nvSpPr>
          <p:spPr>
            <a:xfrm>
              <a:off x="295194" y="1488532"/>
              <a:ext cx="3930255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combinational logic</a:t>
              </a:r>
            </a:p>
          </p:txBody>
        </p:sp>
      </p:grpSp>
      <p:grpSp>
        <p:nvGrpSpPr>
          <p:cNvPr id="420" name="Group">
            <a:extLst>
              <a:ext uri="{FF2B5EF4-FFF2-40B4-BE49-F238E27FC236}">
                <a16:creationId xmlns:a16="http://schemas.microsoft.com/office/drawing/2014/main" id="{7F4F4B8A-2727-989D-15B5-F9297C48E8E2}"/>
              </a:ext>
            </a:extLst>
          </p:cNvPr>
          <p:cNvGrpSpPr/>
          <p:nvPr/>
        </p:nvGrpSpPr>
        <p:grpSpPr>
          <a:xfrm>
            <a:off x="8679457" y="6318565"/>
            <a:ext cx="2441047" cy="1464668"/>
            <a:chOff x="0" y="0"/>
            <a:chExt cx="2441045" cy="1464667"/>
          </a:xfrm>
        </p:grpSpPr>
        <p:sp>
          <p:nvSpPr>
            <p:cNvPr id="418" name="Rectangle">
              <a:extLst>
                <a:ext uri="{FF2B5EF4-FFF2-40B4-BE49-F238E27FC236}">
                  <a16:creationId xmlns:a16="http://schemas.microsoft.com/office/drawing/2014/main" id="{F6B70D8F-A3F1-4441-1ACC-F7F44E13924A}"/>
                </a:ext>
              </a:extLst>
            </p:cNvPr>
            <p:cNvSpPr/>
            <p:nvPr/>
          </p:nvSpPr>
          <p:spPr>
            <a:xfrm>
              <a:off x="0" y="0"/>
              <a:ext cx="2441046" cy="1464668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19" name="state…">
              <a:extLst>
                <a:ext uri="{FF2B5EF4-FFF2-40B4-BE49-F238E27FC236}">
                  <a16:creationId xmlns:a16="http://schemas.microsoft.com/office/drawing/2014/main" id="{E2394BED-F11D-5714-C7C2-D1608A6F1B49}"/>
                </a:ext>
              </a:extLst>
            </p:cNvPr>
            <p:cNvSpPr txBox="1"/>
            <p:nvPr/>
          </p:nvSpPr>
          <p:spPr>
            <a:xfrm>
              <a:off x="405242" y="198933"/>
              <a:ext cx="1605162" cy="1066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b="1">
                  <a:solidFill>
                    <a:srgbClr val="FFFFFF"/>
                  </a:solidFill>
                </a:defRPr>
              </a:pPr>
              <a:r>
                <a:t>state</a:t>
              </a:r>
            </a:p>
            <a:p>
              <a:pPr>
                <a:defRPr b="1">
                  <a:solidFill>
                    <a:srgbClr val="FFFFFF"/>
                  </a:solidFill>
                </a:defRPr>
              </a:pPr>
              <a:r>
                <a:t>register</a:t>
              </a:r>
            </a:p>
          </p:txBody>
        </p:sp>
      </p:grpSp>
      <p:grpSp>
        <p:nvGrpSpPr>
          <p:cNvPr id="423" name="Group">
            <a:extLst>
              <a:ext uri="{FF2B5EF4-FFF2-40B4-BE49-F238E27FC236}">
                <a16:creationId xmlns:a16="http://schemas.microsoft.com/office/drawing/2014/main" id="{C68D07DF-B999-E0ED-C712-E18991D291BE}"/>
              </a:ext>
            </a:extLst>
          </p:cNvPr>
          <p:cNvGrpSpPr/>
          <p:nvPr/>
        </p:nvGrpSpPr>
        <p:grpSpPr>
          <a:xfrm>
            <a:off x="3970260" y="2999453"/>
            <a:ext cx="4520644" cy="2724395"/>
            <a:chOff x="0" y="0"/>
            <a:chExt cx="4520643" cy="2724393"/>
          </a:xfrm>
        </p:grpSpPr>
        <p:sp>
          <p:nvSpPr>
            <p:cNvPr id="421" name="Cloud">
              <a:extLst>
                <a:ext uri="{FF2B5EF4-FFF2-40B4-BE49-F238E27FC236}">
                  <a16:creationId xmlns:a16="http://schemas.microsoft.com/office/drawing/2014/main" id="{9CD031CA-89CC-4503-8898-4D62636C5BBA}"/>
                </a:ext>
              </a:extLst>
            </p:cNvPr>
            <p:cNvSpPr/>
            <p:nvPr/>
          </p:nvSpPr>
          <p:spPr>
            <a:xfrm>
              <a:off x="0" y="0"/>
              <a:ext cx="4520644" cy="27243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603" y="0"/>
                  </a:moveTo>
                  <a:cubicBezTo>
                    <a:pt x="7967" y="0"/>
                    <a:pt x="5720" y="2939"/>
                    <a:pt x="4858" y="7062"/>
                  </a:cubicBezTo>
                  <a:cubicBezTo>
                    <a:pt x="4628" y="6992"/>
                    <a:pt x="4391" y="6953"/>
                    <a:pt x="4150" y="6953"/>
                  </a:cubicBezTo>
                  <a:cubicBezTo>
                    <a:pt x="1857" y="6953"/>
                    <a:pt x="0" y="10233"/>
                    <a:pt x="0" y="14278"/>
                  </a:cubicBezTo>
                  <a:cubicBezTo>
                    <a:pt x="0" y="18323"/>
                    <a:pt x="1857" y="21600"/>
                    <a:pt x="4150" y="21600"/>
                  </a:cubicBezTo>
                  <a:cubicBezTo>
                    <a:pt x="4193" y="21600"/>
                    <a:pt x="4237" y="21597"/>
                    <a:pt x="4279" y="21594"/>
                  </a:cubicBezTo>
                  <a:lnTo>
                    <a:pt x="10532" y="21597"/>
                  </a:lnTo>
                  <a:cubicBezTo>
                    <a:pt x="10555" y="21598"/>
                    <a:pt x="10579" y="21600"/>
                    <a:pt x="10603" y="21600"/>
                  </a:cubicBezTo>
                  <a:cubicBezTo>
                    <a:pt x="10626" y="21600"/>
                    <a:pt x="10648" y="21598"/>
                    <a:pt x="10672" y="21597"/>
                  </a:cubicBezTo>
                  <a:lnTo>
                    <a:pt x="18141" y="21600"/>
                  </a:lnTo>
                  <a:cubicBezTo>
                    <a:pt x="20051" y="21600"/>
                    <a:pt x="21600" y="18868"/>
                    <a:pt x="21600" y="15496"/>
                  </a:cubicBezTo>
                  <a:cubicBezTo>
                    <a:pt x="21600" y="12124"/>
                    <a:pt x="20051" y="9389"/>
                    <a:pt x="18141" y="9389"/>
                  </a:cubicBezTo>
                  <a:cubicBezTo>
                    <a:pt x="17627" y="9389"/>
                    <a:pt x="17139" y="9589"/>
                    <a:pt x="16701" y="9943"/>
                  </a:cubicBezTo>
                  <a:cubicBezTo>
                    <a:pt x="16453" y="4379"/>
                    <a:pt x="13819" y="0"/>
                    <a:pt x="10603" y="0"/>
                  </a:cubicBez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22" name="combinational logic">
              <a:extLst>
                <a:ext uri="{FF2B5EF4-FFF2-40B4-BE49-F238E27FC236}">
                  <a16:creationId xmlns:a16="http://schemas.microsoft.com/office/drawing/2014/main" id="{824DC7E5-DA5A-885C-C557-2B3EF6621AEB}"/>
                </a:ext>
              </a:extLst>
            </p:cNvPr>
            <p:cNvSpPr txBox="1"/>
            <p:nvPr/>
          </p:nvSpPr>
          <p:spPr>
            <a:xfrm>
              <a:off x="295194" y="1488532"/>
              <a:ext cx="3930254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combinational logic</a:t>
              </a:r>
            </a:p>
          </p:txBody>
        </p:sp>
      </p:grpSp>
      <p:sp>
        <p:nvSpPr>
          <p:cNvPr id="430" name="Connection Line">
            <a:extLst>
              <a:ext uri="{FF2B5EF4-FFF2-40B4-BE49-F238E27FC236}">
                <a16:creationId xmlns:a16="http://schemas.microsoft.com/office/drawing/2014/main" id="{F0ED7369-3BD5-4A32-ED70-B39221C27C9B}"/>
              </a:ext>
            </a:extLst>
          </p:cNvPr>
          <p:cNvSpPr/>
          <p:nvPr/>
        </p:nvSpPr>
        <p:spPr>
          <a:xfrm>
            <a:off x="4696248" y="7050899"/>
            <a:ext cx="39832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1" name="Connection Line">
            <a:extLst>
              <a:ext uri="{FF2B5EF4-FFF2-40B4-BE49-F238E27FC236}">
                <a16:creationId xmlns:a16="http://schemas.microsoft.com/office/drawing/2014/main" id="{C8F24B6B-133D-36E9-8ECF-238EA8456C4E}"/>
              </a:ext>
            </a:extLst>
          </p:cNvPr>
          <p:cNvSpPr/>
          <p:nvPr/>
        </p:nvSpPr>
        <p:spPr>
          <a:xfrm>
            <a:off x="5231875" y="5723333"/>
            <a:ext cx="3447583" cy="13271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5" h="21600" extrusionOk="0">
                <a:moveTo>
                  <a:pt x="20825" y="21600"/>
                </a:moveTo>
                <a:cubicBezTo>
                  <a:pt x="6144" y="20623"/>
                  <a:pt x="-775" y="13423"/>
                  <a:pt x="69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2" name="Connection Line">
            <a:extLst>
              <a:ext uri="{FF2B5EF4-FFF2-40B4-BE49-F238E27FC236}">
                <a16:creationId xmlns:a16="http://schemas.microsoft.com/office/drawing/2014/main" id="{C5048C4A-EB99-5B12-FF34-2A19DC360082}"/>
              </a:ext>
            </a:extLst>
          </p:cNvPr>
          <p:cNvSpPr/>
          <p:nvPr/>
        </p:nvSpPr>
        <p:spPr>
          <a:xfrm>
            <a:off x="4927237" y="7783431"/>
            <a:ext cx="4711625" cy="6627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6" extrusionOk="0">
                <a:moveTo>
                  <a:pt x="0" y="1990"/>
                </a:moveTo>
                <a:cubicBezTo>
                  <a:pt x="11650" y="21600"/>
                  <a:pt x="18850" y="20937"/>
                  <a:pt x="21600" y="0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5" name="Connection Line">
            <a:extLst>
              <a:ext uri="{FF2B5EF4-FFF2-40B4-BE49-F238E27FC236}">
                <a16:creationId xmlns:a16="http://schemas.microsoft.com/office/drawing/2014/main" id="{173CC56D-5DC2-A61D-5938-10A4D818FA93}"/>
              </a:ext>
            </a:extLst>
          </p:cNvPr>
          <p:cNvSpPr/>
          <p:nvPr/>
        </p:nvSpPr>
        <p:spPr>
          <a:xfrm>
            <a:off x="7365587" y="3416870"/>
            <a:ext cx="2417845" cy="4063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8206" extrusionOk="0">
                <a:moveTo>
                  <a:pt x="0" y="18206"/>
                </a:moveTo>
                <a:cubicBezTo>
                  <a:pt x="8208" y="1989"/>
                  <a:pt x="15408" y="-3394"/>
                  <a:pt x="21600" y="2056"/>
                </a:cubicBez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AF3C8BFD-91F5-FDB7-90EF-94D3D37A01DE}"/>
              </a:ext>
            </a:extLst>
          </p:cNvPr>
          <p:cNvCxnSpPr>
            <a:stCxn id="413" idx="2"/>
          </p:cNvCxnSpPr>
          <p:nvPr/>
        </p:nvCxnSpPr>
        <p:spPr>
          <a:xfrm rot="16200000" flipH="1">
            <a:off x="1576453" y="4554752"/>
            <a:ext cx="1408744" cy="792975"/>
          </a:xfrm>
          <a:prstGeom prst="curvedConnector3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Moore machines">
            <a:extLst>
              <a:ext uri="{FF2B5EF4-FFF2-40B4-BE49-F238E27FC236}">
                <a16:creationId xmlns:a16="http://schemas.microsoft.com/office/drawing/2014/main" id="{A6AA4984-9B9E-E829-2022-D18D9E5746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</p:spPr>
        <p:txBody>
          <a:bodyPr/>
          <a:lstStyle/>
          <a:p>
            <a:r>
              <a:rPr dirty="0"/>
              <a:t>Moore machines</a:t>
            </a:r>
          </a:p>
        </p:txBody>
      </p:sp>
    </p:spTree>
    <p:extLst>
      <p:ext uri="{BB962C8B-B14F-4D97-AF65-F5344CB8AC3E}">
        <p14:creationId xmlns:p14="http://schemas.microsoft.com/office/powerpoint/2010/main" val="3550929172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" grpId="0" animBg="1" advAuto="0"/>
      <p:bldP spid="410" grpId="0" animBg="1" advAuto="0"/>
      <p:bldP spid="413" grpId="0" animBg="1" advAuto="0"/>
      <p:bldP spid="414" grpId="0" animBg="1" advAuto="0"/>
      <p:bldP spid="417" grpId="0" animBg="1" advAuto="0"/>
      <p:bldP spid="420" grpId="0" animBg="1" advAuto="0"/>
      <p:bldP spid="423" grpId="0" animBg="1" advAuto="0"/>
      <p:bldP spid="430" grpId="0" animBg="1" advAuto="0"/>
      <p:bldP spid="431" grpId="0" animBg="1" advAuto="0"/>
      <p:bldP spid="432" grpId="0" animBg="1" advAuto="0"/>
      <p:bldP spid="435" grpId="0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Mealy vs Moo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Mealy vs Moore</a:t>
            </a:r>
          </a:p>
        </p:txBody>
      </p:sp>
      <p:sp>
        <p:nvSpPr>
          <p:cNvPr id="464" name="Mealy machines are a bit more complicated to design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Mealy machines are a bit more complicated to design.</a:t>
            </a:r>
          </a:p>
          <a:p>
            <a:r>
              <a:t>Moore machines tend to require more states.</a:t>
            </a:r>
          </a:p>
          <a:p>
            <a:r>
              <a:t>Outputs of Moore machines are delayed.</a:t>
            </a:r>
          </a:p>
          <a:p>
            <a:r>
              <a:t>Named after George Mealy (1927–2010) and Edward Moore (1925–2003).</a:t>
            </a:r>
          </a:p>
        </p:txBody>
      </p:sp>
      <p:sp>
        <p:nvSpPr>
          <p:cNvPr id="4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pic>
        <p:nvPicPr>
          <p:cNvPr id="466" name="Screenshot 2019-10-25 at 08.03.00.png" descr="Screenshot 2019-10-25 at 08.03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574" y="6330098"/>
            <a:ext cx="2298701" cy="2743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67" name="Screenshot 2019-10-25 at 08.03.08.png" descr="Screenshot 2019-10-25 at 08.03.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620" y="6450748"/>
            <a:ext cx="1841501" cy="25019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6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4" grpId="1" build="p" bldLvl="5" animBg="1" advAuto="0"/>
      <p:bldP spid="466" grpId="2" animBg="1" advAuto="0"/>
      <p:bldP spid="467" grpId="3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47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  <p:graphicFrame>
        <p:nvGraphicFramePr>
          <p:cNvPr id="493" name="Table 1"/>
          <p:cNvGraphicFramePr/>
          <p:nvPr/>
        </p:nvGraphicFramePr>
        <p:xfrm>
          <a:off x="6346837" y="4715933"/>
          <a:ext cx="5540097" cy="4681405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11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8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2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state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meaning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output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a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low"</a:t>
                      </a:r>
                    </a:p>
                  </a:txBody>
                  <a:tcPr marL="50800" marR="50800" marT="50800" marB="50800" anchor="ctr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b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rising"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high"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d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falling"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5D58BDCA-8CFD-A42F-71F1-2BD9DBE03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810" y="4328452"/>
            <a:ext cx="6274281" cy="505774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49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graphicFrame>
        <p:nvGraphicFramePr>
          <p:cNvPr id="519" name="Table 1"/>
          <p:cNvGraphicFramePr/>
          <p:nvPr/>
        </p:nvGraphicFramePr>
        <p:xfrm>
          <a:off x="6346837" y="4715933"/>
          <a:ext cx="5540097" cy="4681405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11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8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2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state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meaning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 b="1"/>
                        <a:t>output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00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low"</a:t>
                      </a:r>
                    </a:p>
                  </a:txBody>
                  <a:tcPr marL="50800" marR="50800" marT="50800" marB="50800" anchor="ctr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01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rising"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11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"definitely high"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62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10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"maybe falling"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20" name="Try to make the output value and the state number similar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169451"/>
            <a:ext cx="11099800" cy="2159001"/>
          </a:xfrm>
          <a:prstGeom prst="rect">
            <a:avLst/>
          </a:prstGeom>
        </p:spPr>
        <p:txBody>
          <a:bodyPr/>
          <a:lstStyle/>
          <a:p>
            <a:pPr marL="386715" indent="-386715" defTabSz="508254">
              <a:spcBef>
                <a:spcPts val="1400"/>
              </a:spcBef>
              <a:defRPr sz="2784"/>
            </a:pPr>
            <a:r>
              <a:t>Try to make the output value and the state number similar.</a:t>
            </a:r>
          </a:p>
          <a:p>
            <a:pPr marL="386715" indent="-386715" defTabSz="508254">
              <a:spcBef>
                <a:spcPts val="1400"/>
              </a:spcBef>
              <a:defRPr sz="2784"/>
            </a:pPr>
            <a:r>
              <a:t>Try to change one bit of the state number per transition.</a:t>
            </a:r>
          </a:p>
          <a:p>
            <a:pPr marL="386715" indent="-386715" defTabSz="508254">
              <a:spcBef>
                <a:spcPts val="1400"/>
              </a:spcBef>
              <a:defRPr sz="2784"/>
            </a:pPr>
            <a:r>
              <a:t>If two parts of the FSM have identical transitions, try to give the corresponding states similar numbers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E4DB5A7-5FA1-6C49-FD4F-628E5A8AF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8" y="4620363"/>
            <a:ext cx="5807425" cy="4681405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0" grpId="1" build="p" bldLvl="5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5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graphicFrame>
        <p:nvGraphicFramePr>
          <p:cNvPr id="546" name="Table 1"/>
          <p:cNvGraphicFramePr/>
          <p:nvPr/>
        </p:nvGraphicFramePr>
        <p:xfrm>
          <a:off x="6275053" y="4568097"/>
          <a:ext cx="6637733" cy="4831080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06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9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4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s[1:0]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meaning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output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out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input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next 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ns[1:0]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95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low"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rising"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high"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falling"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C333AD0D-3ACA-9533-2157-2E989367B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8" y="4620363"/>
            <a:ext cx="5807425" cy="4681405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6" grpId="1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5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graphicFrame>
        <p:nvGraphicFramePr>
          <p:cNvPr id="552" name="Table 1"/>
          <p:cNvGraphicFramePr/>
          <p:nvPr/>
        </p:nvGraphicFramePr>
        <p:xfrm>
          <a:off x="6275053" y="4568097"/>
          <a:ext cx="6637733" cy="4831080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06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9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4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s[1:0]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meaning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output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out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input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next 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ns[1:0]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95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low"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rising"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high"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falling"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53" name="assign out = s[1];"/>
          <p:cNvSpPr txBox="1"/>
          <p:nvPr/>
        </p:nvSpPr>
        <p:spPr>
          <a:xfrm>
            <a:off x="728199" y="2654299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s[1];</a:t>
            </a:r>
          </a:p>
        </p:txBody>
      </p:sp>
      <p:graphicFrame>
        <p:nvGraphicFramePr>
          <p:cNvPr id="554" name="Table 2"/>
          <p:cNvGraphicFramePr/>
          <p:nvPr/>
        </p:nvGraphicFramePr>
        <p:xfrm>
          <a:off x="567266" y="5130800"/>
          <a:ext cx="2951955" cy="4389305"/>
        </p:xfrm>
        <a:graphic>
          <a:graphicData uri="http://schemas.openxmlformats.org/drawingml/2006/table">
            <a:tbl>
              <a:tblPr firstRow="1" firstCol="1">
                <a:tableStyleId>{4A9BC294-FFE2-49D5-8D69-9E1BD2C41BD5}</a:tableStyleId>
              </a:tblPr>
              <a:tblGrid>
                <a:gridCol w="983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ns[1]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55" name="Rounded Rectangle"/>
          <p:cNvSpPr/>
          <p:nvPr/>
        </p:nvSpPr>
        <p:spPr>
          <a:xfrm>
            <a:off x="2650066" y="7001933"/>
            <a:ext cx="950914" cy="2370666"/>
          </a:xfrm>
          <a:prstGeom prst="roundRect">
            <a:avLst>
              <a:gd name="adj" fmla="val 20033"/>
            </a:avLst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defRPr>
            </a:pPr>
            <a:endParaRPr/>
          </a:p>
        </p:txBody>
      </p:sp>
      <p:sp>
        <p:nvSpPr>
          <p:cNvPr id="556" name="Rounded Rectangle"/>
          <p:cNvSpPr/>
          <p:nvPr/>
        </p:nvSpPr>
        <p:spPr>
          <a:xfrm>
            <a:off x="1618720" y="7907866"/>
            <a:ext cx="2007064" cy="55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544" y="0"/>
                </a:moveTo>
                <a:lnTo>
                  <a:pt x="4056" y="0"/>
                </a:lnTo>
                <a:cubicBezTo>
                  <a:pt x="2892" y="0"/>
                  <a:pt x="2194" y="0"/>
                  <a:pt x="1728" y="610"/>
                </a:cubicBezTo>
                <a:cubicBezTo>
                  <a:pt x="1004" y="1556"/>
                  <a:pt x="433" y="3605"/>
                  <a:pt x="170" y="6207"/>
                </a:cubicBezTo>
                <a:cubicBezTo>
                  <a:pt x="48" y="7219"/>
                  <a:pt x="0" y="9389"/>
                  <a:pt x="0" y="10800"/>
                </a:cubicBezTo>
                <a:cubicBezTo>
                  <a:pt x="0" y="12211"/>
                  <a:pt x="48" y="14381"/>
                  <a:pt x="170" y="15393"/>
                </a:cubicBezTo>
                <a:cubicBezTo>
                  <a:pt x="433" y="17995"/>
                  <a:pt x="1004" y="20044"/>
                  <a:pt x="1728" y="20990"/>
                </a:cubicBezTo>
                <a:cubicBezTo>
                  <a:pt x="2194" y="21600"/>
                  <a:pt x="2892" y="21600"/>
                  <a:pt x="4056" y="21600"/>
                </a:cubicBezTo>
                <a:lnTo>
                  <a:pt x="17544" y="21600"/>
                </a:lnTo>
                <a:cubicBezTo>
                  <a:pt x="18708" y="21600"/>
                  <a:pt x="19406" y="21600"/>
                  <a:pt x="19872" y="20990"/>
                </a:cubicBezTo>
                <a:cubicBezTo>
                  <a:pt x="20596" y="20044"/>
                  <a:pt x="21167" y="17995"/>
                  <a:pt x="21430" y="15393"/>
                </a:cubicBezTo>
                <a:cubicBezTo>
                  <a:pt x="21552" y="14381"/>
                  <a:pt x="21600" y="12211"/>
                  <a:pt x="21600" y="10800"/>
                </a:cubicBezTo>
                <a:cubicBezTo>
                  <a:pt x="21600" y="9389"/>
                  <a:pt x="21552" y="7219"/>
                  <a:pt x="21430" y="6207"/>
                </a:cubicBezTo>
                <a:cubicBezTo>
                  <a:pt x="21167" y="3605"/>
                  <a:pt x="20596" y="1556"/>
                  <a:pt x="19872" y="610"/>
                </a:cubicBezTo>
                <a:cubicBezTo>
                  <a:pt x="19406" y="0"/>
                  <a:pt x="18708" y="0"/>
                  <a:pt x="17544" y="0"/>
                </a:cubicBezTo>
                <a:close/>
              </a:path>
            </a:pathLst>
          </a:cu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defRPr>
            </a:pPr>
            <a:endParaRPr/>
          </a:p>
        </p:txBody>
      </p:sp>
      <p:sp>
        <p:nvSpPr>
          <p:cNvPr id="557" name="assign ns[1] = s[1] &amp; s[0] | in &amp; (s[0] | s[1]);"/>
          <p:cNvSpPr txBox="1"/>
          <p:nvPr/>
        </p:nvSpPr>
        <p:spPr>
          <a:xfrm>
            <a:off x="728199" y="3291416"/>
            <a:ext cx="118205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ns[1] = s[1] &amp; s[0] | in &amp; (s[0] | s[1]);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" grpId="1" animBg="1" advAuto="0"/>
      <p:bldP spid="554" grpId="2" animBg="1" advAuto="0"/>
      <p:bldP spid="555" grpId="4" animBg="1" advAuto="0"/>
      <p:bldP spid="556" grpId="3" animBg="1" advAuto="0"/>
      <p:bldP spid="557" grpId="5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Implementing the FS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Implementing the FSM</a:t>
            </a:r>
          </a:p>
        </p:txBody>
      </p:sp>
      <p:sp>
        <p:nvSpPr>
          <p:cNvPr id="5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graphicFrame>
        <p:nvGraphicFramePr>
          <p:cNvPr id="561" name="Table 1"/>
          <p:cNvGraphicFramePr/>
          <p:nvPr/>
        </p:nvGraphicFramePr>
        <p:xfrm>
          <a:off x="6275053" y="4568097"/>
          <a:ext cx="6637733" cy="4831080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06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9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4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s[1:0]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meaning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output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out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input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next 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ns[1:0]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95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low"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rising"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high"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falling"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62" name="assign out = s[1];"/>
          <p:cNvSpPr txBox="1"/>
          <p:nvPr/>
        </p:nvSpPr>
        <p:spPr>
          <a:xfrm>
            <a:off x="728199" y="2654299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s[1];</a:t>
            </a:r>
          </a:p>
        </p:txBody>
      </p:sp>
      <p:graphicFrame>
        <p:nvGraphicFramePr>
          <p:cNvPr id="563" name="Table 2"/>
          <p:cNvGraphicFramePr/>
          <p:nvPr/>
        </p:nvGraphicFramePr>
        <p:xfrm>
          <a:off x="567266" y="5130800"/>
          <a:ext cx="2951955" cy="4389305"/>
        </p:xfrm>
        <a:graphic>
          <a:graphicData uri="http://schemas.openxmlformats.org/drawingml/2006/table">
            <a:tbl>
              <a:tblPr firstRow="1" firstCol="1">
                <a:tableStyleId>{4A9BC294-FFE2-49D5-8D69-9E1BD2C41BD5}</a:tableStyleId>
              </a:tblPr>
              <a:tblGrid>
                <a:gridCol w="983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ns[0]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64" name="Rounded Rectangle"/>
          <p:cNvSpPr/>
          <p:nvPr/>
        </p:nvSpPr>
        <p:spPr>
          <a:xfrm>
            <a:off x="2650066" y="6104995"/>
            <a:ext cx="950914" cy="3267604"/>
          </a:xfrm>
          <a:prstGeom prst="roundRect">
            <a:avLst>
              <a:gd name="adj" fmla="val 20033"/>
            </a:avLst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defRPr>
            </a:pPr>
            <a:endParaRPr/>
          </a:p>
        </p:txBody>
      </p:sp>
      <p:sp>
        <p:nvSpPr>
          <p:cNvPr id="565" name="assign ns[1] = s[1] &amp; s[0] | in &amp; (s[0] | s[1]);"/>
          <p:cNvSpPr txBox="1"/>
          <p:nvPr/>
        </p:nvSpPr>
        <p:spPr>
          <a:xfrm>
            <a:off x="728199" y="3291416"/>
            <a:ext cx="118205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ns[1] = s[1] &amp; s[0] | in &amp; (s[0] | s[1]);</a:t>
            </a:r>
          </a:p>
        </p:txBody>
      </p:sp>
      <p:sp>
        <p:nvSpPr>
          <p:cNvPr id="566" name="assign ns[0] = in;"/>
          <p:cNvSpPr txBox="1"/>
          <p:nvPr/>
        </p:nvSpPr>
        <p:spPr>
          <a:xfrm>
            <a:off x="728199" y="3928533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ns[0] = in;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" grpId="1" animBg="1" advAuto="0"/>
      <p:bldP spid="564" grpId="2" animBg="1" advAuto="0"/>
      <p:bldP spid="566" grpId="3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graphicFrame>
        <p:nvGraphicFramePr>
          <p:cNvPr id="569" name="Table 1"/>
          <p:cNvGraphicFramePr/>
          <p:nvPr/>
        </p:nvGraphicFramePr>
        <p:xfrm>
          <a:off x="6275053" y="4568097"/>
          <a:ext cx="6637733" cy="4831080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06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9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4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s[1:0]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meaning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output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out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input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 b="1"/>
                      </a:pPr>
                      <a:r>
                        <a:t>next state </a:t>
                      </a:r>
                      <a:r>
                        <a:rPr sz="2300" b="0"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ns[1:0]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95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low"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rising"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"definitely high"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10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"maybe falling"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70" name="assign out = s[1];"/>
          <p:cNvSpPr txBox="1"/>
          <p:nvPr/>
        </p:nvSpPr>
        <p:spPr>
          <a:xfrm>
            <a:off x="728199" y="2654299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s[1];</a:t>
            </a:r>
          </a:p>
        </p:txBody>
      </p:sp>
      <p:graphicFrame>
        <p:nvGraphicFramePr>
          <p:cNvPr id="571" name="Table 2"/>
          <p:cNvGraphicFramePr/>
          <p:nvPr/>
        </p:nvGraphicFramePr>
        <p:xfrm>
          <a:off x="567266" y="5130800"/>
          <a:ext cx="2951955" cy="4389305"/>
        </p:xfrm>
        <a:graphic>
          <a:graphicData uri="http://schemas.openxmlformats.org/drawingml/2006/table">
            <a:tbl>
              <a:tblPr firstRow="1" firstCol="1">
                <a:tableStyleId>{4A9BC294-FFE2-49D5-8D69-9E1BD2C41BD5}</a:tableStyleId>
              </a:tblPr>
              <a:tblGrid>
                <a:gridCol w="983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3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ns[0]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in=1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s=01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s=11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861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20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s=10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72" name="Rounded Rectangle"/>
          <p:cNvSpPr/>
          <p:nvPr/>
        </p:nvSpPr>
        <p:spPr>
          <a:xfrm>
            <a:off x="2650066" y="6104995"/>
            <a:ext cx="950914" cy="3267604"/>
          </a:xfrm>
          <a:prstGeom prst="roundRect">
            <a:avLst>
              <a:gd name="adj" fmla="val 20033"/>
            </a:avLst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defRPr>
            </a:pPr>
            <a:endParaRPr/>
          </a:p>
        </p:txBody>
      </p:sp>
      <p:sp>
        <p:nvSpPr>
          <p:cNvPr id="573" name="assign ns[1] = s[1] &amp; s[0] | in &amp; (s[0] | s[1]);"/>
          <p:cNvSpPr txBox="1"/>
          <p:nvPr/>
        </p:nvSpPr>
        <p:spPr>
          <a:xfrm>
            <a:off x="728199" y="3291416"/>
            <a:ext cx="1182052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ns[1] = s[1] &amp; s[0] | in &amp; (s[0] | s[1]);</a:t>
            </a:r>
          </a:p>
        </p:txBody>
      </p:sp>
      <p:sp>
        <p:nvSpPr>
          <p:cNvPr id="574" name="assign ns[0] = in;"/>
          <p:cNvSpPr txBox="1"/>
          <p:nvPr/>
        </p:nvSpPr>
        <p:spPr>
          <a:xfrm>
            <a:off x="728199" y="3928533"/>
            <a:ext cx="450413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/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ns[0] = in;</a:t>
            </a:r>
          </a:p>
        </p:txBody>
      </p:sp>
      <p:grpSp>
        <p:nvGrpSpPr>
          <p:cNvPr id="577" name="Group"/>
          <p:cNvGrpSpPr/>
          <p:nvPr/>
        </p:nvGrpSpPr>
        <p:grpSpPr>
          <a:xfrm>
            <a:off x="2777662" y="868197"/>
            <a:ext cx="7721601" cy="1480775"/>
            <a:chOff x="0" y="0"/>
            <a:chExt cx="7721600" cy="1480773"/>
          </a:xfrm>
        </p:grpSpPr>
        <p:pic>
          <p:nvPicPr>
            <p:cNvPr id="575" name="Image" descr="Image"/>
            <p:cNvPicPr>
              <a:picLocks noChangeAspect="1"/>
            </p:cNvPicPr>
            <p:nvPr/>
          </p:nvPicPr>
          <p:blipFill>
            <a:blip r:embed="rId2"/>
            <a:srcRect b="71463"/>
            <a:stretch>
              <a:fillRect/>
            </a:stretch>
          </p:blipFill>
          <p:spPr>
            <a:xfrm>
              <a:off x="0" y="0"/>
              <a:ext cx="7721601" cy="60159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76" name="Image" descr="Image"/>
            <p:cNvPicPr>
              <a:picLocks noChangeAspect="1"/>
            </p:cNvPicPr>
            <p:nvPr/>
          </p:nvPicPr>
          <p:blipFill>
            <a:blip r:embed="rId2"/>
            <a:srcRect t="57084"/>
            <a:stretch>
              <a:fillRect/>
            </a:stretch>
          </p:blipFill>
          <p:spPr>
            <a:xfrm>
              <a:off x="0" y="576031"/>
              <a:ext cx="7721601" cy="9047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7" grpId="1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One-hot enco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One-hot encoding</a:t>
            </a:r>
          </a:p>
        </p:txBody>
      </p:sp>
      <p:sp>
        <p:nvSpPr>
          <p:cNvPr id="580" name="&quot;One-hot&quot; means &quot;exactly one bit of a binary number is 1&quot;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t>"One-hot" means "exactly one bit of a binary number is 1".</a:t>
            </a:r>
            <a:br/>
            <a:br/>
            <a:br/>
            <a:br/>
            <a:br/>
            <a:br/>
            <a:br/>
            <a:endParaRPr/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t>One-hot encoding uses more bits, but can lead to simpler logic.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b="1"/>
              <a:t>Exercise.</a:t>
            </a:r>
            <a:r>
              <a:t> Re-implement the FSM using one-hot encoding. Is the logic simpler?</a:t>
            </a:r>
          </a:p>
        </p:txBody>
      </p:sp>
      <p:sp>
        <p:nvSpPr>
          <p:cNvPr id="5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21</a:t>
            </a:fld>
            <a:endParaRPr/>
          </a:p>
        </p:txBody>
      </p:sp>
      <p:graphicFrame>
        <p:nvGraphicFramePr>
          <p:cNvPr id="582" name="Table 1"/>
          <p:cNvGraphicFramePr/>
          <p:nvPr/>
        </p:nvGraphicFramePr>
        <p:xfrm>
          <a:off x="1887006" y="3721430"/>
          <a:ext cx="9230785" cy="2856230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878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90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24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89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state</a:t>
                      </a:r>
                    </a:p>
                  </a:txBody>
                  <a:tcPr marL="50800" marR="50800" marT="50800" marB="50800" anchor="b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encoding as a binary number</a:t>
                      </a:r>
                    </a:p>
                  </a:txBody>
                  <a:tcPr marL="50800" marR="50800" marT="50800" marB="50800" anchor="b" horzOverflow="overflow"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 b="1"/>
                        <a:t>one-hot encoding</a:t>
                      </a:r>
                    </a:p>
                  </a:txBody>
                  <a:tcPr marL="50800" marR="50800" marT="50800" marB="50800" anchor="b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a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00</a:t>
                      </a:r>
                    </a:p>
                  </a:txBody>
                  <a:tcPr marL="50800" marR="50800" marT="50800" marB="50800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0001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b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01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0010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11</a:t>
                      </a:r>
                    </a:p>
                  </a:txBody>
                  <a:tcPr marL="50800" marR="50800" marT="50800" marB="50800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0100</a:t>
                      </a:r>
                    </a:p>
                  </a:txBody>
                  <a:tcPr marL="50800" marR="50800" marT="50800" marB="50800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d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10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1000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8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5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0" grpId="1" build="p" bldLvl="5" animBg="1" advAuto="0"/>
      <p:bldP spid="582" grpId="2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Automated FSM design"/>
          <p:cNvSpPr txBox="1">
            <a:spLocks noGrp="1"/>
          </p:cNvSpPr>
          <p:nvPr>
            <p:ph type="title"/>
          </p:nvPr>
        </p:nvSpPr>
        <p:spPr>
          <a:xfrm>
            <a:off x="4855333" y="320460"/>
            <a:ext cx="8149467" cy="2513545"/>
          </a:xfrm>
          <a:prstGeom prst="rect">
            <a:avLst/>
          </a:prstGeom>
        </p:spPr>
        <p:txBody>
          <a:bodyPr>
            <a:normAutofit/>
          </a:bodyPr>
          <a:lstStyle>
            <a:lvl1pPr defTabSz="566674">
              <a:defRPr sz="7760"/>
            </a:lvl1pPr>
          </a:lstStyle>
          <a:p>
            <a:r>
              <a:rPr dirty="0"/>
              <a:t>Automated FSM</a:t>
            </a:r>
            <a:r>
              <a:rPr lang="en-GB" dirty="0"/>
              <a:t> Design</a:t>
            </a:r>
            <a:endParaRPr dirty="0"/>
          </a:p>
        </p:txBody>
      </p:sp>
      <p:sp>
        <p:nvSpPr>
          <p:cNvPr id="585" name="We usually design FSMs at a higher level of abstraction."/>
          <p:cNvSpPr txBox="1">
            <a:spLocks noGrp="1"/>
          </p:cNvSpPr>
          <p:nvPr>
            <p:ph type="body" sz="quarter" idx="1"/>
          </p:nvPr>
        </p:nvSpPr>
        <p:spPr>
          <a:xfrm>
            <a:off x="5061635" y="2921770"/>
            <a:ext cx="7862234" cy="104345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dirty="0"/>
              <a:t>We usually design FSMs at a higher level of abstraction.</a:t>
            </a:r>
          </a:p>
        </p:txBody>
      </p:sp>
      <p:sp>
        <p:nvSpPr>
          <p:cNvPr id="5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sp>
        <p:nvSpPr>
          <p:cNvPr id="608" name="module denoiser (out, in, clk, rst);…"/>
          <p:cNvSpPr txBox="1"/>
          <p:nvPr/>
        </p:nvSpPr>
        <p:spPr>
          <a:xfrm>
            <a:off x="10563" y="830156"/>
            <a:ext cx="5027017" cy="872033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denoiser (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in, clk,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rst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typedef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enum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[3:0]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sA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4'b0001,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sB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4'b0010,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sC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4'b0100,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sD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4'b1000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}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state_t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state_t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sA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rst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sA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else begin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case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sA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(in)  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sB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sB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(in)  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sC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sA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sC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(!in) 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sD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sD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(in)  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sC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sA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default: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sA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end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</p:txBody>
      </p:sp>
      <p:sp>
        <p:nvSpPr>
          <p:cNvPr id="609" name="always @ *…"/>
          <p:cNvSpPr txBox="1"/>
          <p:nvPr/>
        </p:nvSpPr>
        <p:spPr>
          <a:xfrm>
            <a:off x="6314256" y="7293464"/>
            <a:ext cx="4103688" cy="225702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(s)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sC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sD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out = 1'b1;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default: out = 1'b0;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0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610" name="declare…"/>
          <p:cNvSpPr/>
          <p:nvPr/>
        </p:nvSpPr>
        <p:spPr>
          <a:xfrm>
            <a:off x="3090780" y="3419116"/>
            <a:ext cx="157437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dirty="0"/>
              <a:t>declare</a:t>
            </a:r>
          </a:p>
          <a:p>
            <a:r>
              <a:rPr dirty="0"/>
              <a:t>states</a:t>
            </a:r>
          </a:p>
        </p:txBody>
      </p:sp>
      <p:sp>
        <p:nvSpPr>
          <p:cNvPr id="613" name="calculate…"/>
          <p:cNvSpPr txBox="1"/>
          <p:nvPr/>
        </p:nvSpPr>
        <p:spPr>
          <a:xfrm>
            <a:off x="5037580" y="5228618"/>
            <a:ext cx="1975962" cy="19812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noAutofit/>
          </a:bodyPr>
          <a:lstStyle/>
          <a:p>
            <a:r>
              <a:rPr dirty="0"/>
              <a:t>calculate</a:t>
            </a:r>
          </a:p>
          <a:p>
            <a:r>
              <a:rPr dirty="0"/>
              <a:t>next state</a:t>
            </a:r>
          </a:p>
        </p:txBody>
      </p:sp>
      <p:sp>
        <p:nvSpPr>
          <p:cNvPr id="614" name="Line"/>
          <p:cNvSpPr/>
          <p:nvPr/>
        </p:nvSpPr>
        <p:spPr>
          <a:xfrm flipH="1">
            <a:off x="4665150" y="6740201"/>
            <a:ext cx="792970" cy="218506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616" name="calculate output"/>
          <p:cNvSpPr txBox="1"/>
          <p:nvPr/>
        </p:nvSpPr>
        <p:spPr>
          <a:xfrm>
            <a:off x="10677757" y="7972755"/>
            <a:ext cx="1708953" cy="10414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noAutofit/>
          </a:bodyPr>
          <a:lstStyle/>
          <a:p>
            <a:r>
              <a:rPr dirty="0"/>
              <a:t>calculate output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27C9A3-BA60-2577-1132-27C1E45B7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320" y="3867110"/>
            <a:ext cx="3665231" cy="2954568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5" grpId="1" animBg="1" advAuto="0"/>
      <p:bldP spid="608" grpId="3" animBg="1" advAuto="0"/>
      <p:bldP spid="609" grpId="4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The resul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result</a:t>
            </a:r>
          </a:p>
        </p:txBody>
      </p:sp>
      <p:sp>
        <p:nvSpPr>
          <p:cNvPr id="6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23</a:t>
            </a:fld>
            <a:endParaRPr/>
          </a:p>
        </p:txBody>
      </p:sp>
      <p:pic>
        <p:nvPicPr>
          <p:cNvPr id="62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87" y="3600450"/>
            <a:ext cx="12561198" cy="25828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" grpId="1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Example 2: puls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2: pulser</a:t>
            </a:r>
          </a:p>
        </p:txBody>
      </p:sp>
      <p:sp>
        <p:nvSpPr>
          <p:cNvPr id="627" name="Task: Whenever the input rises, output a 1-cycle pulse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004690"/>
          </a:xfrm>
          <a:prstGeom prst="rect">
            <a:avLst/>
          </a:prstGeom>
        </p:spPr>
        <p:txBody>
          <a:bodyPr/>
          <a:lstStyle/>
          <a:p>
            <a:r>
              <a:t>Task: Whenever the input rises, output a 1-cycle pulse.</a:t>
            </a:r>
          </a:p>
        </p:txBody>
      </p:sp>
      <p:sp>
        <p:nvSpPr>
          <p:cNvPr id="6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24</a:t>
            </a:fld>
            <a:endParaRPr/>
          </a:p>
        </p:txBody>
      </p:sp>
      <p:pic>
        <p:nvPicPr>
          <p:cNvPr id="62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39" y="3518444"/>
            <a:ext cx="12267322" cy="3262812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A503A4-2BD5-2110-7042-2CF4EEBA1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447" y="6975836"/>
            <a:ext cx="9812631" cy="2127936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7" grpId="1" animBg="1" advAuto="0"/>
      <p:bldP spid="629" grpId="2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Example 2: pulser"/>
          <p:cNvSpPr txBox="1">
            <a:spLocks noGrp="1"/>
          </p:cNvSpPr>
          <p:nvPr>
            <p:ph type="title"/>
          </p:nvPr>
        </p:nvSpPr>
        <p:spPr>
          <a:xfrm>
            <a:off x="5750743" y="628052"/>
            <a:ext cx="7427929" cy="21590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dirty="0"/>
              <a:t>Example 2: pulser</a:t>
            </a:r>
          </a:p>
        </p:txBody>
      </p:sp>
      <p:sp>
        <p:nvSpPr>
          <p:cNvPr id="6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25</a:t>
            </a:fld>
            <a:endParaRPr/>
          </a:p>
        </p:txBody>
      </p:sp>
      <p:sp>
        <p:nvSpPr>
          <p:cNvPr id="650" name="module pulser (out, in, clk);…"/>
          <p:cNvSpPr txBox="1"/>
          <p:nvPr/>
        </p:nvSpPr>
        <p:spPr>
          <a:xfrm>
            <a:off x="0" y="1033264"/>
            <a:ext cx="5180905" cy="872033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pulser (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out,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in, clk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typedef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enum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2'b00,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2'b01,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sWAIT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2'b10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}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state_t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state_t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sWAIT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  else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sWAIT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	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0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  out = 1'b1;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default: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1'b0;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0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651" name="declare…"/>
          <p:cNvSpPr/>
          <p:nvPr/>
        </p:nvSpPr>
        <p:spPr>
          <a:xfrm>
            <a:off x="5290933" y="3162717"/>
            <a:ext cx="157437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dirty="0"/>
              <a:t>declare</a:t>
            </a:r>
          </a:p>
          <a:p>
            <a:r>
              <a:rPr dirty="0"/>
              <a:t>states</a:t>
            </a:r>
          </a:p>
        </p:txBody>
      </p:sp>
      <p:sp>
        <p:nvSpPr>
          <p:cNvPr id="654" name="calculate…"/>
          <p:cNvSpPr txBox="1"/>
          <p:nvPr/>
        </p:nvSpPr>
        <p:spPr>
          <a:xfrm>
            <a:off x="4492972" y="4876800"/>
            <a:ext cx="3512261" cy="19812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noAutofit/>
          </a:bodyPr>
          <a:lstStyle/>
          <a:p>
            <a:r>
              <a:rPr dirty="0"/>
              <a:t>calculate</a:t>
            </a:r>
          </a:p>
          <a:p>
            <a:r>
              <a:rPr dirty="0"/>
              <a:t>next state</a:t>
            </a:r>
          </a:p>
        </p:txBody>
      </p:sp>
      <p:sp>
        <p:nvSpPr>
          <p:cNvPr id="657" name="calculate output"/>
          <p:cNvSpPr txBox="1"/>
          <p:nvPr/>
        </p:nvSpPr>
        <p:spPr>
          <a:xfrm>
            <a:off x="5290933" y="8084147"/>
            <a:ext cx="1708953" cy="10414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noAutofit/>
          </a:bodyPr>
          <a:lstStyle/>
          <a:p>
            <a:r>
              <a:rPr dirty="0"/>
              <a:t>calculate output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0FE82C-3975-29C0-0D3C-F739AC7B1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05" y="3538383"/>
            <a:ext cx="7904214" cy="171408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Example 3: de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3: delayer</a:t>
            </a:r>
          </a:p>
        </p:txBody>
      </p:sp>
      <p:sp>
        <p:nvSpPr>
          <p:cNvPr id="662" name="Task: when the 'trigger' input rises, wait for n cycles, then produce a 1-cycle pulse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163572"/>
          </a:xfrm>
          <a:prstGeom prst="rect">
            <a:avLst/>
          </a:prstGeom>
        </p:spPr>
        <p:txBody>
          <a:bodyPr/>
          <a:lstStyle/>
          <a:p>
            <a:r>
              <a:t>Task: when the 'trigger' input rises, wait for n cycles, then produce a 1-cycle pulse.</a:t>
            </a:r>
          </a:p>
        </p:txBody>
      </p:sp>
      <p:sp>
        <p:nvSpPr>
          <p:cNvPr id="6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26</a:t>
            </a:fld>
            <a:endParaRPr/>
          </a:p>
        </p:txBody>
      </p:sp>
      <p:grpSp>
        <p:nvGrpSpPr>
          <p:cNvPr id="668" name="Group"/>
          <p:cNvGrpSpPr/>
          <p:nvPr/>
        </p:nvGrpSpPr>
        <p:grpSpPr>
          <a:xfrm>
            <a:off x="1441515" y="3926416"/>
            <a:ext cx="5298343" cy="2825484"/>
            <a:chOff x="0" y="0"/>
            <a:chExt cx="5298341" cy="2825483"/>
          </a:xfrm>
        </p:grpSpPr>
        <p:sp>
          <p:nvSpPr>
            <p:cNvPr id="664" name="Rectangle"/>
            <p:cNvSpPr/>
            <p:nvPr/>
          </p:nvSpPr>
          <p:spPr>
            <a:xfrm>
              <a:off x="0" y="0"/>
              <a:ext cx="5298342" cy="282548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665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285" y="212060"/>
              <a:ext cx="5017772" cy="24013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66" name="Rectangle"/>
            <p:cNvSpPr/>
            <p:nvPr/>
          </p:nvSpPr>
          <p:spPr>
            <a:xfrm>
              <a:off x="275762" y="1970285"/>
              <a:ext cx="653389" cy="69982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67" name="Rectangle"/>
            <p:cNvSpPr/>
            <p:nvPr/>
          </p:nvSpPr>
          <p:spPr>
            <a:xfrm>
              <a:off x="3891028" y="556352"/>
              <a:ext cx="757636" cy="69982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B4D062C5-77A2-F32A-CD6E-C801DF0FC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315" y="6828695"/>
            <a:ext cx="11460038" cy="28604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715F78-C538-3CFE-7555-873DE9EA8B54}"/>
              </a:ext>
            </a:extLst>
          </p:cNvPr>
          <p:cNvSpPr txBox="1"/>
          <p:nvPr/>
        </p:nvSpPr>
        <p:spPr>
          <a:xfrm>
            <a:off x="8346831" y="4907529"/>
            <a:ext cx="3589522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Assume n&gt;0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2" grpId="1" animBg="1" advAuto="0"/>
      <p:bldP spid="668" grpId="2" animBg="1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27</a:t>
            </a:fld>
            <a:endParaRPr/>
          </a:p>
        </p:txBody>
      </p:sp>
      <p:sp>
        <p:nvSpPr>
          <p:cNvPr id="693" name="module delayer (out, in, n, clk);…"/>
          <p:cNvSpPr txBox="1"/>
          <p:nvPr/>
        </p:nvSpPr>
        <p:spPr>
          <a:xfrm>
            <a:off x="0" y="547818"/>
            <a:ext cx="4411464" cy="533479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delayer (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out,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in,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[9:0] n,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typedef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enum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2'b00,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sDELA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2'b01,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2'b11,</a:t>
            </a:r>
          </a:p>
          <a:p>
            <a:pPr algn="l">
              <a:defRPr sz="20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sWAIT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2'b10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}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state_t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state_t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[9:0] c = '0;</a:t>
            </a:r>
          </a:p>
          <a:p>
            <a:pPr algn="l">
              <a:defRPr sz="20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A386ED-D920-FABE-99C1-1369BE9593FC}"/>
              </a:ext>
            </a:extLst>
          </p:cNvPr>
          <p:cNvSpPr txBox="1"/>
          <p:nvPr/>
        </p:nvSpPr>
        <p:spPr>
          <a:xfrm>
            <a:off x="4502018" y="547818"/>
            <a:ext cx="6513922" cy="5324535"/>
          </a:xfrm>
          <a:prstGeom prst="rect">
            <a:avLst/>
          </a:prstGeom>
          <a:solidFill>
            <a:srgbClr val="E9E6C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defRPr sz="2000"/>
            </a:pP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case (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if (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if (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 == '0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sz="200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else begin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 &lt;= n - 1'b1;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sz="200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sDELA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end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sDELA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if (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 == '0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sz="200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else        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 &lt;= c - 1'b1;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if (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sz="200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sWAIT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   else   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sz="200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sWAIT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if (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!in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sz="200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default: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 &lt;= </a:t>
            </a:r>
            <a:r>
              <a:rPr lang="en-GB" sz="200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sIDLE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sz="2000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F3A237-5C92-72D1-E756-D50AC71E35C6}"/>
              </a:ext>
            </a:extLst>
          </p:cNvPr>
          <p:cNvSpPr txBox="1"/>
          <p:nvPr/>
        </p:nvSpPr>
        <p:spPr>
          <a:xfrm>
            <a:off x="8792535" y="5240035"/>
            <a:ext cx="4212265" cy="2246769"/>
          </a:xfrm>
          <a:prstGeom prst="rect">
            <a:avLst/>
          </a:prstGeom>
          <a:solidFill>
            <a:srgbClr val="E9E6C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sz="200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sHIGH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  out = 1'b1;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default: </a:t>
            </a:r>
            <a:r>
              <a:rPr lang="en-GB" sz="200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1'b0;</a:t>
            </a: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sz="2000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000"/>
            </a:pPr>
            <a:r>
              <a:rPr lang="en-GB" sz="2000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000"/>
            </a:pPr>
            <a:r>
              <a:rPr lang="en-GB" sz="2000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340D0A-6EAD-FB47-7541-A3112564B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93132"/>
            <a:ext cx="11460038" cy="286046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717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r>
              <a:t>Finite state machines (FSMs)</a:t>
            </a:r>
          </a:p>
          <a:p>
            <a:r>
              <a:t>The analogue add-on card</a:t>
            </a:r>
          </a:p>
        </p:txBody>
      </p:sp>
      <p:sp>
        <p:nvSpPr>
          <p:cNvPr id="7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28</a:t>
            </a:fld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721" name="Pulse-width modulation (PWM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Pulse-width modulation (PWM)</a:t>
            </a:r>
          </a:p>
          <a:p>
            <a:r>
              <a:t>Finite state machines (FSMs)</a:t>
            </a:r>
          </a:p>
          <a:p>
            <a:pPr>
              <a:defRPr b="1"/>
            </a:pPr>
            <a:r>
              <a:t>The analogue add-on card</a:t>
            </a:r>
          </a:p>
        </p:txBody>
      </p:sp>
      <p:sp>
        <p:nvSpPr>
          <p:cNvPr id="7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29</a:t>
            </a:fld>
            <a:endParaRPr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The analogue I/O c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analogue I/O card</a:t>
            </a:r>
          </a:p>
        </p:txBody>
      </p:sp>
      <p:sp>
        <p:nvSpPr>
          <p:cNvPr id="725" name="Provides analogue inputs and outpu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818122" cy="6286500"/>
          </a:xfrm>
          <a:prstGeom prst="rect">
            <a:avLst/>
          </a:prstGeom>
        </p:spPr>
        <p:txBody>
          <a:bodyPr/>
          <a:lstStyle/>
          <a:p>
            <a:r>
              <a:t>Provides analogue inputs and outputs.</a:t>
            </a:r>
          </a:p>
          <a:p>
            <a:r>
              <a:t>Contains an ADC, a DAC, a low-pass filter, and an op-amp.</a:t>
            </a:r>
          </a:p>
          <a:p>
            <a:r>
              <a:t>Will be used for parts 3 and 4 of the experiment.</a:t>
            </a:r>
          </a:p>
        </p:txBody>
      </p:sp>
      <p:sp>
        <p:nvSpPr>
          <p:cNvPr id="72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30</a:t>
            </a:fld>
            <a:endParaRPr/>
          </a:p>
        </p:txBody>
      </p:sp>
      <p:pic>
        <p:nvPicPr>
          <p:cNvPr id="72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283" y="4086660"/>
            <a:ext cx="4539983" cy="33074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7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5" grpId="1" build="p" bldLvl="5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Schemat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Schematic</a:t>
            </a:r>
          </a:p>
        </p:txBody>
      </p:sp>
      <p:sp>
        <p:nvSpPr>
          <p:cNvPr id="7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31</a:t>
            </a:fld>
            <a:endParaRPr/>
          </a:p>
        </p:txBody>
      </p:sp>
      <p:pic>
        <p:nvPicPr>
          <p:cNvPr id="7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81" y="2794000"/>
            <a:ext cx="11849638" cy="61375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Series-parallel interface for 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800"/>
            </a:lvl1pPr>
          </a:lstStyle>
          <a:p>
            <a:r>
              <a:t>Series-parallel interface for DAC</a:t>
            </a:r>
          </a:p>
        </p:txBody>
      </p:sp>
      <p:sp>
        <p:nvSpPr>
          <p:cNvPr id="734" name="To send a value to the DAC, 16 bits are transmitted serially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11099800" cy="2957959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t>To send a value to the DAC, 16 bits are transmitted </a:t>
            </a:r>
            <a:r>
              <a:rPr b="1"/>
              <a:t>serially</a:t>
            </a:r>
            <a:r>
              <a:t>. 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b="1"/>
              <a:t>Chip select</a:t>
            </a:r>
            <a:r>
              <a:t> (SC) going low means the start of transmission.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t>Then </a:t>
            </a:r>
            <a:r>
              <a:rPr b="1"/>
              <a:t>serial data in</a:t>
            </a:r>
            <a:r>
              <a:t> (SDI) takes the following sequence of values.</a:t>
            </a:r>
          </a:p>
        </p:txBody>
      </p:sp>
      <p:sp>
        <p:nvSpPr>
          <p:cNvPr id="7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32</a:t>
            </a:fld>
            <a:endParaRPr/>
          </a:p>
        </p:txBody>
      </p:sp>
      <p:graphicFrame>
        <p:nvGraphicFramePr>
          <p:cNvPr id="736" name="Table 1"/>
          <p:cNvGraphicFramePr/>
          <p:nvPr/>
        </p:nvGraphicFramePr>
        <p:xfrm>
          <a:off x="2895054" y="5588000"/>
          <a:ext cx="7214690" cy="3493285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977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3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5445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sz="2200" b="1">
                          <a:sym typeface="Helvetica Neue"/>
                        </a:rPr>
                        <a:t>bit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sz="2200" b="1">
                          <a:sym typeface="Helvetica Neue"/>
                        </a:rPr>
                        <a:t>name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sz="2200" b="1">
                          <a:sym typeface="Helvetica Neue"/>
                        </a:rPr>
                        <a:t>interpretation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15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/>
                      </a:pPr>
                      <a:endParaRPr/>
                    </a:p>
                  </a:txBody>
                  <a:tcPr marL="50800" marR="50800" marT="50800" marB="50800" anchor="ctr" horzOverflow="overflow"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always 0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14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BUF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2600"/>
                      </a:pPr>
                      <a:r>
                        <a:t>whether V</a:t>
                      </a:r>
                      <a:r>
                        <a:rPr baseline="-5999"/>
                        <a:t>ref</a:t>
                      </a:r>
                      <a:r>
                        <a:t> is buffered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13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¬GA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high = 1x gain, low = 2x gain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12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¬SHDN</a:t>
                      </a:r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high = normal, low = shutdown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11–2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/>
                      </a:pPr>
                      <a:endParaRPr/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the 10 bits of actual data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8950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1–0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  <a:lnT w="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600"/>
                      </a:pPr>
                      <a:endParaRPr/>
                    </a:p>
                  </a:txBody>
                  <a:tcPr marL="50800" marR="50800" marT="50800" marB="50800" anchor="ctr" horzOverflow="overflow">
                    <a:lnT w="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2600"/>
                        <a:t>these are ignored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  <a:lnT w="0">
                      <a:miter lim="400000"/>
                    </a:lnT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pi2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spi2dac</a:t>
            </a:r>
          </a:p>
        </p:txBody>
      </p:sp>
      <p:sp>
        <p:nvSpPr>
          <p:cNvPr id="7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33</a:t>
            </a:fld>
            <a:endParaRPr/>
          </a:p>
        </p:txBody>
      </p:sp>
      <p:pic>
        <p:nvPicPr>
          <p:cNvPr id="74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288" y="2590800"/>
            <a:ext cx="10314224" cy="5500920"/>
          </a:xfrm>
          <a:prstGeom prst="rect">
            <a:avLst/>
          </a:prstGeom>
          <a:ln w="12700">
            <a:miter lim="400000"/>
          </a:ln>
        </p:spPr>
      </p:pic>
      <p:sp>
        <p:nvSpPr>
          <p:cNvPr id="741" name="More on this circuit next week!"/>
          <p:cNvSpPr txBox="1">
            <a:spLocks noGrp="1"/>
          </p:cNvSpPr>
          <p:nvPr>
            <p:ph type="body" sz="quarter" idx="1"/>
          </p:nvPr>
        </p:nvSpPr>
        <p:spPr>
          <a:xfrm>
            <a:off x="952500" y="8536220"/>
            <a:ext cx="11099800" cy="58873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More on this circuit next week!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1" grpId="1" animBg="1" advAuto="0"/>
    </p:bldLst>
  </p:timing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1898</Words>
  <Application>Microsoft Macintosh PowerPoint</Application>
  <PresentationFormat>Custom</PresentationFormat>
  <Paragraphs>590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Courier</vt:lpstr>
      <vt:lpstr>Helvetica</vt:lpstr>
      <vt:lpstr>Helvetica Neue</vt:lpstr>
      <vt:lpstr>Helvetica Neue Thin</vt:lpstr>
      <vt:lpstr>White</vt:lpstr>
      <vt:lpstr>Mastering  Digital Design</vt:lpstr>
      <vt:lpstr>This lecture</vt:lpstr>
      <vt:lpstr>This lecture</vt:lpstr>
      <vt:lpstr>DAC</vt:lpstr>
      <vt:lpstr>DAC</vt:lpstr>
      <vt:lpstr>DAC via PWM</vt:lpstr>
      <vt:lpstr>PowerPoint Presentation</vt:lpstr>
      <vt:lpstr>DAC via PWM</vt:lpstr>
      <vt:lpstr>This lecture</vt:lpstr>
      <vt:lpstr>This lecture</vt:lpstr>
      <vt:lpstr>Example 1: denoiser</vt:lpstr>
      <vt:lpstr>Mealy machines</vt:lpstr>
      <vt:lpstr>Moore machines</vt:lpstr>
      <vt:lpstr>Mealy vs Moore</vt:lpstr>
      <vt:lpstr>Implementing the FSM</vt:lpstr>
      <vt:lpstr>Implementing the FSM</vt:lpstr>
      <vt:lpstr>Implementing the FSM</vt:lpstr>
      <vt:lpstr>Implementing the FSM</vt:lpstr>
      <vt:lpstr>Implementing the FSM</vt:lpstr>
      <vt:lpstr>PowerPoint Presentation</vt:lpstr>
      <vt:lpstr>One-hot encoding</vt:lpstr>
      <vt:lpstr>Automated FSM Design</vt:lpstr>
      <vt:lpstr>The result</vt:lpstr>
      <vt:lpstr>Example 2: pulser</vt:lpstr>
      <vt:lpstr>Example 2: pulser</vt:lpstr>
      <vt:lpstr>Example 3: delayer</vt:lpstr>
      <vt:lpstr>PowerPoint Presentation</vt:lpstr>
      <vt:lpstr>This lecture</vt:lpstr>
      <vt:lpstr>This lecture</vt:lpstr>
      <vt:lpstr>The analogue I/O card</vt:lpstr>
      <vt:lpstr>Schematic</vt:lpstr>
      <vt:lpstr>Series-parallel interface for DAC</vt:lpstr>
      <vt:lpstr>spi2dac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3</cp:revision>
  <dcterms:modified xsi:type="dcterms:W3CDTF">2026-09-15T12:38:07Z</dcterms:modified>
</cp:coreProperties>
</file>