
<file path=[Content_Types].xml><?xml version="1.0" encoding="utf-8"?>
<Types xmlns="http://schemas.openxmlformats.org/package/2006/content-types">
  <Default Extension="jpg" ContentType="image/jpeg"/>
  <Default Extension="org&amp;utm_campaign=index&amp;utm_content=original" ContentType="image/png"/>
  <Default Extension="png" ContentType="image/png"/>
  <Default Extension="rels" ContentType="application/vnd.openxmlformats-package.relationships+xml"/>
  <Default Extension="tif" ContentType="image/tif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charts/chart1.xml" ContentType="application/vnd.openxmlformats-officedocument.drawingml.char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3"/>
  </p:notesMasterIdLst>
  <p:sldIdLst>
    <p:sldId id="256" r:id="rId2"/>
    <p:sldId id="309" r:id="rId3"/>
    <p:sldId id="257" r:id="rId4"/>
    <p:sldId id="258" r:id="rId5"/>
    <p:sldId id="259" r:id="rId6"/>
    <p:sldId id="260" r:id="rId7"/>
    <p:sldId id="261" r:id="rId8"/>
    <p:sldId id="310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311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5" r:id="rId39"/>
    <p:sldId id="312" r:id="rId40"/>
    <p:sldId id="296" r:id="rId41"/>
    <p:sldId id="297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0"/>
    <p:sldId id="308" r:id="rId51"/>
    <p:sldId id="307" r:id="rId52"/>
  </p:sldIdLst>
  <p:sldSz cx="13004800" cy="97536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2286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4572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6858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9144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11430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13716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16002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18288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F230A"/>
    <a:srgbClr val="1676BA"/>
    <a:srgbClr val="1EB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A9BC294-FFE2-49D5-8D69-9E1BD2C41BD5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81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38100" cap="flat">
              <a:solidFill>
                <a:srgbClr val="000000"/>
              </a:solidFill>
              <a:prstDash val="solid"/>
              <a:miter lim="400000"/>
            </a:ln>
          </a:insideH>
          <a:insideV>
            <a:ln w="381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381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381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81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381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81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861"/>
    <p:restoredTop sz="94721"/>
  </p:normalViewPr>
  <p:slideViewPr>
    <p:cSldViewPr snapToGrid="0">
      <p:cViewPr varScale="1">
        <p:scale>
          <a:sx n="78" d="100"/>
          <a:sy n="78" d="100"/>
        </p:scale>
        <p:origin x="224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0"/>
  <c:style val="2"/>
  <c:chart>
    <c:title>
      <c:tx>
        <c:rich>
          <a:bodyPr rot="0"/>
          <a:lstStyle/>
          <a:p>
            <a:pPr>
              <a:defRPr sz="3400" b="0" i="0" u="none" strike="noStrike">
                <a:solidFill>
                  <a:srgbClr val="000000"/>
                </a:solidFill>
                <a:latin typeface="Helvetica"/>
              </a:defRPr>
            </a:pPr>
            <a:r>
              <a:rPr sz="3400" b="0" i="0" u="none" strike="noStrike">
                <a:solidFill>
                  <a:srgbClr val="000000"/>
                </a:solidFill>
                <a:latin typeface="Helvetica"/>
              </a:rPr>
              <a:t>Title</a:t>
            </a:r>
          </a:p>
        </c:rich>
      </c:tx>
      <c:layout>
        <c:manualLayout>
          <c:xMode val="edge"/>
          <c:yMode val="edge"/>
          <c:x val="0.239345"/>
          <c:y val="0"/>
          <c:w val="0.12750300000000001"/>
          <c:h val="0.32723000000000002"/>
        </c:manualLayout>
      </c:layout>
      <c:overlay val="1"/>
      <c:spPr>
        <a:noFill/>
        <a:effectLst/>
      </c:spPr>
    </c:title>
    <c:autoTitleDeleted val="0"/>
    <c:plotArea>
      <c:layout>
        <c:manualLayout>
          <c:layoutTarget val="inner"/>
          <c:xMode val="edge"/>
          <c:yMode val="edge"/>
          <c:x val="0.23563799999999999"/>
          <c:y val="0.32723000000000002"/>
          <c:w val="0.370556"/>
          <c:h val="0.2964100000000000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Region 1</c:v>
                </c:pt>
              </c:strCache>
            </c:strRef>
          </c:tx>
          <c:spPr>
            <a:solidFill>
              <a:schemeClr val="accent1"/>
            </a:solidFill>
            <a:ln w="12700" cap="flat">
              <a:noFill/>
              <a:miter lim="400000"/>
            </a:ln>
            <a:effectLst/>
          </c:spPr>
          <c:invertIfNegative val="0"/>
          <c:cat>
            <c:strRef>
              <c:f>Sheet1!$B$1:$E$1</c:f>
              <c:strCache>
                <c:ptCount val="4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</c:strCache>
            </c:strRef>
          </c:cat>
          <c:val>
            <c:numRef>
              <c:f>Sheet1!$B$2:$E$2</c:f>
              <c:numCache>
                <c:formatCode>General</c:formatCode>
                <c:ptCount val="4"/>
                <c:pt idx="0">
                  <c:v>17</c:v>
                </c:pt>
                <c:pt idx="1">
                  <c:v>26</c:v>
                </c:pt>
                <c:pt idx="2">
                  <c:v>53</c:v>
                </c:pt>
                <c:pt idx="3">
                  <c:v>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F95-B845-84A9-4238CA3FB8DB}"/>
            </c:ext>
          </c:extLst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Region 2</c:v>
                </c:pt>
              </c:strCache>
            </c:strRef>
          </c:tx>
          <c:spPr>
            <a:solidFill>
              <a:schemeClr val="accent3"/>
            </a:solidFill>
            <a:ln w="12700" cap="flat">
              <a:noFill/>
              <a:miter lim="400000"/>
            </a:ln>
            <a:effectLst/>
          </c:spPr>
          <c:invertIfNegative val="0"/>
          <c:cat>
            <c:strRef>
              <c:f>Sheet1!$B$1:$E$1</c:f>
              <c:strCache>
                <c:ptCount val="4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</c:strCache>
            </c:strRef>
          </c:cat>
          <c:val>
            <c:numRef>
              <c:f>Sheet1!$B$3:$E$3</c:f>
              <c:numCache>
                <c:formatCode>General</c:formatCode>
                <c:ptCount val="4"/>
                <c:pt idx="0">
                  <c:v>55</c:v>
                </c:pt>
                <c:pt idx="1">
                  <c:v>43</c:v>
                </c:pt>
                <c:pt idx="2">
                  <c:v>70</c:v>
                </c:pt>
                <c:pt idx="3">
                  <c:v>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F95-B845-84A9-4238CA3FB8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overlap val="-10"/>
        <c:axId val="2094734552"/>
        <c:axId val="2094734553"/>
      </c:barChart>
      <c:catAx>
        <c:axId val="2094734552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sz="2200" b="0" i="0" u="none" strike="noStrike">
                    <a:solidFill>
                      <a:srgbClr val="000000"/>
                    </a:solidFill>
                    <a:latin typeface="Helvetica"/>
                  </a:defRPr>
                </a:pPr>
                <a:r>
                  <a:rPr sz="2200" b="0" i="0" u="none" strike="noStrike">
                    <a:solidFill>
                      <a:srgbClr val="000000"/>
                    </a:solidFill>
                    <a:latin typeface="Helvetica"/>
                  </a:rPr>
                  <a:t>Category Axis</a:t>
                </a:r>
              </a:p>
            </c:rich>
          </c:tx>
          <c:overlay val="1"/>
        </c:title>
        <c:numFmt formatCode="General" sourceLinked="0"/>
        <c:majorTickMark val="none"/>
        <c:minorTickMark val="none"/>
        <c:tickLblPos val="low"/>
        <c:spPr>
          <a:ln w="12700" cap="flat">
            <a:solidFill>
              <a:srgbClr val="000000"/>
            </a:solidFill>
            <a:prstDash val="solid"/>
            <a:miter lim="400000"/>
          </a:ln>
        </c:spPr>
        <c:txPr>
          <a:bodyPr rot="0"/>
          <a:lstStyle/>
          <a:p>
            <a:pPr>
              <a:defRPr sz="2200" b="0" i="0" u="none" strike="noStrike">
                <a:solidFill>
                  <a:srgbClr val="000000"/>
                </a:solidFill>
                <a:latin typeface="Helvetica"/>
              </a:defRPr>
            </a:pPr>
            <a:endParaRPr lang="en-US"/>
          </a:p>
        </c:txPr>
        <c:crossAx val="2094734553"/>
        <c:crosses val="autoZero"/>
        <c:auto val="1"/>
        <c:lblAlgn val="ctr"/>
        <c:lblOffset val="100"/>
        <c:noMultiLvlLbl val="1"/>
      </c:catAx>
      <c:valAx>
        <c:axId val="2094734553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B8B8B8"/>
              </a:solidFill>
              <a:prstDash val="solid"/>
              <a:miter lim="400000"/>
            </a:ln>
          </c:spPr>
        </c:majorGridlines>
        <c:title>
          <c:tx>
            <c:rich>
              <a:bodyPr rot="-5400000"/>
              <a:lstStyle/>
              <a:p>
                <a:pPr>
                  <a:defRPr sz="2200" b="0" i="0" u="none" strike="noStrike">
                    <a:solidFill>
                      <a:srgbClr val="000000"/>
                    </a:solidFill>
                    <a:latin typeface="Helvetica"/>
                  </a:defRPr>
                </a:pPr>
                <a:r>
                  <a:rPr sz="2200" b="0" i="0" u="none" strike="noStrike">
                    <a:solidFill>
                      <a:srgbClr val="000000"/>
                    </a:solidFill>
                    <a:latin typeface="Helvetica"/>
                  </a:rPr>
                  <a:t>Value Axis</a:t>
                </a:r>
              </a:p>
            </c:rich>
          </c:tx>
          <c:overlay val="1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miter lim="400000"/>
          </a:ln>
        </c:spPr>
        <c:txPr>
          <a:bodyPr rot="0"/>
          <a:lstStyle/>
          <a:p>
            <a:pPr>
              <a:defRPr sz="2200" b="0" i="0" u="none" strike="noStrike">
                <a:solidFill>
                  <a:srgbClr val="000000"/>
                </a:solidFill>
                <a:latin typeface="Helvetica"/>
              </a:defRPr>
            </a:pPr>
            <a:endParaRPr lang="en-US"/>
          </a:p>
        </c:txPr>
        <c:crossAx val="2094734552"/>
        <c:crosses val="autoZero"/>
        <c:crossBetween val="between"/>
        <c:majorUnit val="25"/>
        <c:minorUnit val="12.5"/>
      </c:valAx>
      <c:spPr>
        <a:noFill/>
        <a:ln w="12700" cap="flat">
          <a:noFill/>
          <a:miter lim="400000"/>
        </a:ln>
        <a:effectLst/>
      </c:spPr>
    </c:plotArea>
    <c:legend>
      <c:legendPos val="r"/>
      <c:layout>
        <c:manualLayout>
          <c:xMode val="edge"/>
          <c:yMode val="edge"/>
          <c:x val="0.56615400000000005"/>
          <c:y val="0.32270199999999999"/>
          <c:w val="0.43384600000000001"/>
          <c:h val="0.32780999999999999"/>
        </c:manualLayout>
      </c:layout>
      <c:overlay val="1"/>
      <c:spPr>
        <a:noFill/>
        <a:ln w="12700" cap="flat">
          <a:noFill/>
          <a:miter lim="400000"/>
        </a:ln>
        <a:effectLst/>
      </c:spPr>
      <c:txPr>
        <a:bodyPr rot="0"/>
        <a:lstStyle/>
        <a:p>
          <a:pPr>
            <a:defRPr sz="2600" b="0" i="0" u="none" strike="noStrike">
              <a:solidFill>
                <a:srgbClr val="000000"/>
              </a:solidFill>
              <a:latin typeface="Helvetica"/>
            </a:defRPr>
          </a:pPr>
          <a:endParaRPr lang="en-US"/>
        </a:p>
      </c:txPr>
    </c:legend>
    <c:plotVisOnly val="1"/>
    <c:dispBlanksAs val="gap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Shape 59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0" name="Shape 60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1pPr>
    <a:lvl2pPr indent="228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2pPr>
    <a:lvl3pPr indent="457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3pPr>
    <a:lvl4pPr indent="685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4pPr>
    <a:lvl5pPr indent="9144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5pPr>
    <a:lvl6pPr indent="11430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6pPr>
    <a:lvl7pPr indent="1371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7pPr>
    <a:lvl8pPr indent="1600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8pPr>
    <a:lvl9pPr indent="1828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270000" y="8267700"/>
            <a:ext cx="10464800" cy="914400"/>
          </a:xfrm>
          <a:prstGeom prst="rect">
            <a:avLst/>
          </a:prstGeom>
        </p:spPr>
        <p:txBody>
          <a:bodyPr/>
          <a:lstStyle>
            <a:lvl1pPr marL="0" indent="0" algn="ctr">
              <a:spcBef>
                <a:spcPts val="0"/>
              </a:spcBef>
              <a:buSzTx/>
              <a:buNone/>
              <a:defRPr sz="2500"/>
            </a:lvl1pPr>
            <a:lvl2pPr marL="0" indent="0" algn="ctr">
              <a:spcBef>
                <a:spcPts val="0"/>
              </a:spcBef>
              <a:buSzTx/>
              <a:buNone/>
              <a:defRPr sz="2500"/>
            </a:lvl2pPr>
            <a:lvl3pPr marL="0" indent="0" algn="ctr">
              <a:spcBef>
                <a:spcPts val="0"/>
              </a:spcBef>
              <a:buSzTx/>
              <a:buNone/>
              <a:defRPr sz="2500"/>
            </a:lvl3pPr>
            <a:lvl4pPr marL="0" indent="0" algn="ctr">
              <a:spcBef>
                <a:spcPts val="0"/>
              </a:spcBef>
              <a:buSzTx/>
              <a:buNone/>
              <a:defRPr sz="2500"/>
            </a:lvl4pPr>
            <a:lvl5pPr marL="0" indent="0" algn="ctr">
              <a:spcBef>
                <a:spcPts val="0"/>
              </a:spcBef>
              <a:buSzTx/>
              <a:buNone/>
              <a:defRPr sz="25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1270000" y="1638300"/>
            <a:ext cx="10464800" cy="3302000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16" name="Sam Coward"/>
          <p:cNvSpPr txBox="1"/>
          <p:nvPr/>
        </p:nvSpPr>
        <p:spPr>
          <a:xfrm>
            <a:off x="5087289" y="5854700"/>
            <a:ext cx="2830222" cy="66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700"/>
            </a:lvl1pPr>
          </a:lstStyle>
          <a:p>
            <a:r>
              <a:t>Sam Coward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6300639" y="9296400"/>
            <a:ext cx="396749" cy="399033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000000"/>
                </a:solidFill>
                <a:latin typeface="Helvetica Neue Thin"/>
                <a:ea typeface="Helvetica Neue Thin"/>
                <a:cs typeface="Helvetica Neue Thin"/>
                <a:sym typeface="Helvetica Neue Thin"/>
              </a:defRPr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Text"/>
          <p:cNvSpPr txBox="1">
            <a:spLocks noGrp="1"/>
          </p:cNvSpPr>
          <p:nvPr>
            <p:ph type="title"/>
          </p:nvPr>
        </p:nvSpPr>
        <p:spPr>
          <a:xfrm>
            <a:off x="1270000" y="3225800"/>
            <a:ext cx="10464800" cy="3302000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3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tuf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502988" y="31749"/>
            <a:ext cx="396826" cy="40640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  <p:sp>
        <p:nvSpPr>
          <p:cNvPr id="42" name="Square"/>
          <p:cNvSpPr/>
          <p:nvPr/>
        </p:nvSpPr>
        <p:spPr>
          <a:xfrm>
            <a:off x="1155700" y="1682750"/>
            <a:ext cx="1270000" cy="12700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3" name="Square"/>
          <p:cNvSpPr/>
          <p:nvPr/>
        </p:nvSpPr>
        <p:spPr>
          <a:xfrm>
            <a:off x="3403600" y="1682750"/>
            <a:ext cx="1270000" cy="1270000"/>
          </a:xfrm>
          <a:prstGeom prst="rect">
            <a:avLst/>
          </a:prstGeom>
          <a:solidFill>
            <a:srgbClr val="9D7A2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4" name="Rectangle"/>
          <p:cNvSpPr/>
          <p:nvPr/>
        </p:nvSpPr>
        <p:spPr>
          <a:xfrm>
            <a:off x="876300" y="7512050"/>
            <a:ext cx="5867210" cy="1270000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5" name="Square"/>
          <p:cNvSpPr/>
          <p:nvPr/>
        </p:nvSpPr>
        <p:spPr>
          <a:xfrm>
            <a:off x="546100" y="876300"/>
            <a:ext cx="1270000" cy="1270000"/>
          </a:xfrm>
          <a:prstGeom prst="rect">
            <a:avLst/>
          </a:prstGeom>
          <a:solidFill>
            <a:srgbClr val="50979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6" name="Square"/>
          <p:cNvSpPr/>
          <p:nvPr/>
        </p:nvSpPr>
        <p:spPr>
          <a:xfrm>
            <a:off x="2336800" y="876300"/>
            <a:ext cx="1270000" cy="1270000"/>
          </a:xfrm>
          <a:prstGeom prst="rect">
            <a:avLst/>
          </a:prstGeom>
          <a:solidFill>
            <a:srgbClr val="0023E4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7" name="Line"/>
          <p:cNvSpPr/>
          <p:nvPr/>
        </p:nvSpPr>
        <p:spPr>
          <a:xfrm flipV="1">
            <a:off x="4889499" y="742950"/>
            <a:ext cx="1270001" cy="127000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aphicFrame>
        <p:nvGraphicFramePr>
          <p:cNvPr id="48" name="Table 1"/>
          <p:cNvGraphicFramePr/>
          <p:nvPr/>
        </p:nvGraphicFramePr>
        <p:xfrm>
          <a:off x="7124700" y="4616450"/>
          <a:ext cx="4236244" cy="3128268"/>
        </p:xfrm>
        <a:graphic>
          <a:graphicData uri="http://schemas.openxmlformats.org/drawingml/2006/table">
            <a:tbl>
              <a:tblPr firstRow="1" firstCol="1" lastRow="1">
                <a:tableStyleId>{4A9BC294-FFE2-49D5-8D69-9E1BD2C41BD5}</a:tableStyleId>
              </a:tblPr>
              <a:tblGrid>
                <a:gridCol w="21181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181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42756"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 b="1">
                          <a:latin typeface="+mn-lt"/>
                          <a:ea typeface="+mn-ea"/>
                          <a:cs typeface="+mn-cs"/>
                        </a:rPr>
                        <a:t>Corner</a:t>
                      </a:r>
                    </a:p>
                  </a:txBody>
                  <a:tcPr marL="50800" marR="50800" marT="50800" marB="50800" anchor="ctr" horzOverflow="overflow">
                    <a:lnL w="12700">
                      <a:miter lim="400000"/>
                    </a:ln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 b="1">
                          <a:latin typeface="+mn-lt"/>
                          <a:ea typeface="+mn-ea"/>
                          <a:cs typeface="+mn-cs"/>
                        </a:rPr>
                        <a:t>Head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42756"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>
                          <a:latin typeface="+mn-lt"/>
                          <a:ea typeface="+mn-ea"/>
                          <a:cs typeface="+mn-cs"/>
                        </a:rPr>
                        <a:t>Side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Cell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42756"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>
                          <a:latin typeface="+mn-lt"/>
                          <a:ea typeface="+mn-ea"/>
                          <a:cs typeface="+mn-cs"/>
                        </a:rPr>
                        <a:t>Bottom</a:t>
                      </a:r>
                    </a:p>
                  </a:txBody>
                  <a:tcPr marL="50800" marR="50800" marT="50800" marB="50800" anchor="ctr" horzOverflow="overflow">
                    <a:lnL w="12700">
                      <a:miter lim="400000"/>
                    </a:ln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>
                          <a:latin typeface="+mn-lt"/>
                          <a:ea typeface="+mn-ea"/>
                          <a:cs typeface="+mn-cs"/>
                        </a:rPr>
                        <a:t>Foot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9" name="Wickerson et al., &quot;Blah&quot;, in PLDI, 2018."/>
          <p:cNvSpPr txBox="1"/>
          <p:nvPr/>
        </p:nvSpPr>
        <p:spPr>
          <a:xfrm>
            <a:off x="1219200" y="7912099"/>
            <a:ext cx="5794872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b">
            <a:spAutoFit/>
          </a:bodyPr>
          <a:lstStyle/>
          <a:p>
            <a:pPr marL="635000" indent="-635000" algn="l">
              <a:buSzPct val="100000"/>
              <a:buAutoNum type="arabicParenBoth"/>
              <a:defRPr sz="2300">
                <a:solidFill>
                  <a:srgbClr val="6E8627"/>
                </a:solidFill>
              </a:defRPr>
            </a:pPr>
            <a:r>
              <a:t>Wickerson et al., "Blah", in </a:t>
            </a:r>
            <a:r>
              <a:rPr i="1"/>
              <a:t>PLDI</a:t>
            </a:r>
            <a:r>
              <a:t>, 2018.</a:t>
            </a:r>
          </a:p>
        </p:txBody>
      </p:sp>
      <p:sp>
        <p:nvSpPr>
          <p:cNvPr id="50" name="Square"/>
          <p:cNvSpPr/>
          <p:nvPr/>
        </p:nvSpPr>
        <p:spPr>
          <a:xfrm>
            <a:off x="5651500" y="1682750"/>
            <a:ext cx="1270000" cy="1270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1" name="Some code."/>
          <p:cNvSpPr txBox="1"/>
          <p:nvPr/>
        </p:nvSpPr>
        <p:spPr>
          <a:xfrm>
            <a:off x="8271123" y="1276349"/>
            <a:ext cx="1943398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400"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r>
              <a:t>Some code.</a:t>
            </a:r>
          </a:p>
        </p:txBody>
      </p:sp>
      <p:sp>
        <p:nvSpPr>
          <p:cNvPr id="52" name="Here is a cite.(1)"/>
          <p:cNvSpPr txBox="1"/>
          <p:nvPr/>
        </p:nvSpPr>
        <p:spPr>
          <a:xfrm>
            <a:off x="7777890" y="3111499"/>
            <a:ext cx="2929864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Here is a cite.</a:t>
            </a:r>
            <a:r>
              <a:rPr baseline="31999"/>
              <a:t>(1)</a:t>
            </a:r>
          </a:p>
        </p:txBody>
      </p:sp>
      <p:graphicFrame>
        <p:nvGraphicFramePr>
          <p:cNvPr id="53" name="Title"/>
          <p:cNvGraphicFramePr/>
          <p:nvPr/>
        </p:nvGraphicFramePr>
        <p:xfrm>
          <a:off x="278861" y="4584700"/>
          <a:ext cx="6397805" cy="260031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D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952500" y="546100"/>
            <a:ext cx="11099800" cy="2159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952500" y="2686050"/>
            <a:ext cx="11099800" cy="6286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Rectangle"/>
          <p:cNvSpPr/>
          <p:nvPr/>
        </p:nvSpPr>
        <p:spPr>
          <a:xfrm>
            <a:off x="0" y="-1"/>
            <a:ext cx="13004800" cy="4572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" name="Sam Coward"/>
          <p:cNvSpPr txBox="1"/>
          <p:nvPr/>
        </p:nvSpPr>
        <p:spPr>
          <a:xfrm>
            <a:off x="87122" y="25400"/>
            <a:ext cx="1582366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>
              <a:defRPr sz="2000">
                <a:solidFill>
                  <a:srgbClr val="FFFFFF"/>
                </a:solidFill>
              </a:defRPr>
            </a:lvl1pPr>
          </a:lstStyle>
          <a:p>
            <a:r>
              <a:t>Sam Coward</a:t>
            </a:r>
          </a:p>
        </p:txBody>
      </p:sp>
      <p:sp>
        <p:nvSpPr>
          <p:cNvPr id="6" name="Mastering Digital Design"/>
          <p:cNvSpPr txBox="1"/>
          <p:nvPr/>
        </p:nvSpPr>
        <p:spPr>
          <a:xfrm>
            <a:off x="5068837" y="25400"/>
            <a:ext cx="2867126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000">
                <a:solidFill>
                  <a:srgbClr val="FFFFFF"/>
                </a:solidFill>
              </a:defRPr>
            </a:lvl1pPr>
          </a:lstStyle>
          <a:p>
            <a:r>
              <a:t>Mastering Digital Design</a:t>
            </a:r>
          </a:p>
        </p:txBody>
      </p:sp>
      <p:sp>
        <p:nvSpPr>
          <p:cNvPr id="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502988" y="31750"/>
            <a:ext cx="396826" cy="4064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>
            <a:spAutoFit/>
          </a:bodyPr>
          <a:lstStyle>
            <a:lvl1pPr algn="r">
              <a:defRPr sz="2000"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ransition spd="med"/>
  <p:txStyles>
    <p:title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9pPr>
    </p:titleStyle>
    <p:bodyStyle>
      <a:lvl1pPr marL="444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1pPr>
      <a:lvl2pPr marL="889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2pPr>
      <a:lvl3pPr marL="1333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3pPr>
      <a:lvl4pPr marL="1778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4pPr>
      <a:lvl5pPr marL="2222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5pPr>
      <a:lvl6pPr marL="2667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6pPr>
      <a:lvl7pPr marL="3111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7pPr>
      <a:lvl8pPr marL="3556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8pPr>
      <a:lvl9pPr marL="4000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9pPr>
    </p:bodyStyle>
    <p:otherStyle>
      <a:lvl1pPr marL="0" marR="0" indent="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2286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4572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6858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9144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11430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13716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16002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18288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7" Type="http://schemas.openxmlformats.org/officeDocument/2006/relationships/image" Target="../media/image6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org&amp;utm_campaign=index&amp;utm_content=origina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astering-Digital-Design/Lab-Module" TargetMode="Externa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tif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tif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80.png"/><Relationship Id="rId4" Type="http://schemas.openxmlformats.org/officeDocument/2006/relationships/image" Target="../media/image23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Lecture 1"/>
          <p:cNvSpPr txBox="1">
            <a:spLocks noGrp="1"/>
          </p:cNvSpPr>
          <p:nvPr>
            <p:ph type="subTitle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Lecture 1</a:t>
            </a:r>
          </a:p>
        </p:txBody>
      </p:sp>
      <p:sp>
        <p:nvSpPr>
          <p:cNvPr id="63" name="Mastering  Digital Design"/>
          <p:cNvSpPr txBox="1">
            <a:spLocks noGrp="1"/>
          </p:cNvSpPr>
          <p:nvPr>
            <p:ph type="ctrTitle"/>
          </p:nvPr>
        </p:nvSpPr>
        <p:spPr>
          <a:xfrm>
            <a:off x="1270000" y="1130300"/>
            <a:ext cx="10464800" cy="33020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Mastering </a:t>
            </a:r>
            <a:br>
              <a:rPr lang="en-GB" noProof="0" dirty="0"/>
            </a:br>
            <a:r>
              <a:rPr lang="en-GB" noProof="0" dirty="0"/>
              <a:t>Digital Design</a:t>
            </a:r>
          </a:p>
        </p:txBody>
      </p:sp>
      <p:sp>
        <p:nvSpPr>
          <p:cNvPr id="64" name="with Verilog on FPGAs"/>
          <p:cNvSpPr txBox="1"/>
          <p:nvPr/>
        </p:nvSpPr>
        <p:spPr>
          <a:xfrm>
            <a:off x="3789542" y="4616449"/>
            <a:ext cx="5425716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900" b="1">
                <a:solidFill>
                  <a:srgbClr val="9D7A2D"/>
                </a:solidFill>
              </a:defRPr>
            </a:lvl1pPr>
          </a:lstStyle>
          <a:p>
            <a:r>
              <a:rPr lang="en-GB" noProof="0" dirty="0"/>
              <a:t>with Verilog on FPGAs</a:t>
            </a:r>
          </a:p>
        </p:txBody>
      </p:sp>
      <p:sp>
        <p:nvSpPr>
          <p:cNvPr id="65" name="Slides by John Wickerson"/>
          <p:cNvSpPr txBox="1"/>
          <p:nvPr/>
        </p:nvSpPr>
        <p:spPr>
          <a:xfrm>
            <a:off x="4355281" y="6537324"/>
            <a:ext cx="4040238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700"/>
            </a:lvl1pPr>
          </a:lstStyle>
          <a:p>
            <a:r>
              <a:rPr lang="en-GB" noProof="0" dirty="0"/>
              <a:t>Slides by John Wickerson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EDF7D7-55C3-4988-5742-F1ADEC87D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Before we start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869FD8-64BD-43BD-EB4F-88375EAFE7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1500" y="2450957"/>
            <a:ext cx="11480800" cy="2715509"/>
          </a:xfrm>
        </p:spPr>
        <p:txBody>
          <a:bodyPr>
            <a:normAutofit/>
          </a:bodyPr>
          <a:lstStyle/>
          <a:p>
            <a:r>
              <a:rPr lang="en-GB" dirty="0"/>
              <a:t>Please ask questions during lectures</a:t>
            </a:r>
          </a:p>
          <a:p>
            <a:r>
              <a:rPr lang="en-GB" dirty="0"/>
              <a:t>If you can’t understand me – say something I will enunciate</a:t>
            </a:r>
          </a:p>
          <a:p>
            <a:r>
              <a:rPr lang="en-GB" dirty="0"/>
              <a:t>AI usage</a:t>
            </a:r>
          </a:p>
          <a:p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54A17B-2B9C-5670-E022-E1BEF1D04183}"/>
              </a:ext>
            </a:extLst>
          </p:cNvPr>
          <p:cNvSpPr txBox="1"/>
          <p:nvPr/>
        </p:nvSpPr>
        <p:spPr>
          <a:xfrm>
            <a:off x="971550" y="6706652"/>
            <a:ext cx="1943100" cy="84125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4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Maths</a:t>
            </a:r>
          </a:p>
        </p:txBody>
      </p:sp>
      <p:pic>
        <p:nvPicPr>
          <p:cNvPr id="5" name="Picture 4" descr="Download University of Cambridge Logo in SVG Vector or PNG File Format -  Logo.wine">
            <a:extLst>
              <a:ext uri="{FF2B5EF4-FFF2-40B4-BE49-F238E27FC236}">
                <a16:creationId xmlns:a16="http://schemas.microsoft.com/office/drawing/2014/main" id="{A36798DB-1CDE-3CA0-9A75-039CD2093B3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9026"/>
          <a:stretch>
            <a:fillRect/>
          </a:stretch>
        </p:blipFill>
        <p:spPr>
          <a:xfrm>
            <a:off x="-154494" y="4473005"/>
            <a:ext cx="3886200" cy="1838816"/>
          </a:xfrm>
          <a:prstGeom prst="rect">
            <a:avLst/>
          </a:prstGeom>
        </p:spPr>
      </p:pic>
      <p:pic>
        <p:nvPicPr>
          <p:cNvPr id="7" name="Picture 6" descr="Brilliant Young Mathematician Approaches Big Blackboard Stock Photo  1101286919 | Shutterstock">
            <a:extLst>
              <a:ext uri="{FF2B5EF4-FFF2-40B4-BE49-F238E27FC236}">
                <a16:creationId xmlns:a16="http://schemas.microsoft.com/office/drawing/2014/main" id="{AC0E14FF-13AC-FA04-C5F0-8F7F5F42CCD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5133"/>
          <a:stretch>
            <a:fillRect/>
          </a:stretch>
        </p:blipFill>
        <p:spPr>
          <a:xfrm>
            <a:off x="135444" y="7547908"/>
            <a:ext cx="3750756" cy="192918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1E88925-CCCD-3B13-5017-A390FE1391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7045" y="5057259"/>
            <a:ext cx="2784021" cy="114454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1619B51-D1D5-1C7D-E21E-BCBDCD93CEB3}"/>
              </a:ext>
            </a:extLst>
          </p:cNvPr>
          <p:cNvSpPr txBox="1"/>
          <p:nvPr/>
        </p:nvSpPr>
        <p:spPr>
          <a:xfrm>
            <a:off x="3228975" y="4581691"/>
            <a:ext cx="6523264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GB" b="0" dirty="0">
                <a:effectLst/>
              </a:rPr>
              <a:t> </a:t>
            </a:r>
            <a:endParaRPr lang="en-GB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FFAC447-5888-AB53-7CC7-9C06A186D1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74050">
            <a:off x="3987318" y="7269696"/>
            <a:ext cx="4406042" cy="223744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48C635DD-35E0-4310-E340-7922A56D8447}"/>
              </a:ext>
            </a:extLst>
          </p:cNvPr>
          <p:cNvSpPr txBox="1"/>
          <p:nvPr/>
        </p:nvSpPr>
        <p:spPr>
          <a:xfrm>
            <a:off x="4698440" y="6461558"/>
            <a:ext cx="2784022" cy="84125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GB" sz="4800" dirty="0"/>
              <a:t>RTL</a:t>
            </a:r>
            <a:endParaRPr kumimoji="0" lang="en-GB" sz="4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pic>
        <p:nvPicPr>
          <p:cNvPr id="17" name="Picture 16" descr="File:Imperial College London new logo.png - Wikimedia Commons">
            <a:extLst>
              <a:ext uri="{FF2B5EF4-FFF2-40B4-BE49-F238E27FC236}">
                <a16:creationId xmlns:a16="http://schemas.microsoft.com/office/drawing/2014/main" id="{6B751090-0705-5DEF-6266-46691E63F6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17316" y="5392413"/>
            <a:ext cx="4904241" cy="538706"/>
          </a:xfrm>
          <a:prstGeom prst="rect">
            <a:avLst/>
          </a:prstGeom>
        </p:spPr>
      </p:pic>
      <p:pic>
        <p:nvPicPr>
          <p:cNvPr id="18" name="Picture 17" descr="EDA Tools For Circuit Design">
            <a:extLst>
              <a:ext uri="{FF2B5EF4-FFF2-40B4-BE49-F238E27FC236}">
                <a16:creationId xmlns:a16="http://schemas.microsoft.com/office/drawing/2014/main" id="{2756F668-1C21-65FB-F6AC-330B73632E3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48972" y="7043057"/>
            <a:ext cx="3738548" cy="260630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ACA96D4B-4312-F7B5-8DA1-CC8CEF2E0D41}"/>
              </a:ext>
            </a:extLst>
          </p:cNvPr>
          <p:cNvSpPr txBox="1"/>
          <p:nvPr/>
        </p:nvSpPr>
        <p:spPr>
          <a:xfrm>
            <a:off x="7617906" y="6201801"/>
            <a:ext cx="5009725" cy="84125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4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EDA Researc</a:t>
            </a:r>
            <a:r>
              <a:rPr lang="en-GB" sz="4800" dirty="0"/>
              <a:t>h</a:t>
            </a:r>
            <a:endParaRPr kumimoji="0" lang="en-GB" sz="4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2573921122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Module aim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Module aims</a:t>
            </a:r>
          </a:p>
        </p:txBody>
      </p:sp>
      <p:sp>
        <p:nvSpPr>
          <p:cNvPr id="68" name="To ensure that all MSc students reach a common competence level in RTL design using FPGAs in a hardware description language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To ensure that all MSc students reach a </a:t>
            </a:r>
            <a:r>
              <a:rPr lang="en-GB" b="1" noProof="0" dirty="0"/>
              <a:t>common competence level</a:t>
            </a:r>
            <a:r>
              <a:rPr lang="en-GB" noProof="0" dirty="0"/>
              <a:t> in RTL design using FPGAs in a hardware description language.</a:t>
            </a:r>
          </a:p>
          <a:p>
            <a:r>
              <a:rPr lang="en-GB" noProof="0" dirty="0"/>
              <a:t>To act as a </a:t>
            </a:r>
            <a:r>
              <a:rPr lang="en-GB" b="1" noProof="0" dirty="0"/>
              <a:t>revision exercise</a:t>
            </a:r>
            <a:r>
              <a:rPr lang="en-GB" noProof="0" dirty="0"/>
              <a:t> for those already competent in SystemVerilog and FPGAs.</a:t>
            </a:r>
          </a:p>
        </p:txBody>
      </p:sp>
      <p:sp>
        <p:nvSpPr>
          <p:cNvPr id="6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Forma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Format</a:t>
            </a:r>
          </a:p>
        </p:txBody>
      </p:sp>
      <p:sp>
        <p:nvSpPr>
          <p:cNvPr id="72" name="The lab experiment is divided into four parts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The lab experiment is divided into four parts. </a:t>
            </a:r>
          </a:p>
          <a:p>
            <a:r>
              <a:rPr lang="en-GB" noProof="0" dirty="0"/>
              <a:t>It is hoped that you will finish one part each week.</a:t>
            </a:r>
          </a:p>
          <a:p>
            <a:r>
              <a:rPr lang="en-GB" noProof="0" dirty="0"/>
              <a:t>Each part has clearly defined Learning Outcomes.</a:t>
            </a:r>
          </a:p>
          <a:p>
            <a:r>
              <a:rPr lang="en-GB" noProof="0" dirty="0"/>
              <a:t>These lectures will supplement the lab with some background information.</a:t>
            </a:r>
          </a:p>
        </p:txBody>
      </p:sp>
      <p:sp>
        <p:nvSpPr>
          <p:cNvPr id="7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rad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Grading</a:t>
            </a:r>
          </a:p>
        </p:txBody>
      </p:sp>
      <p:sp>
        <p:nvSpPr>
          <p:cNvPr id="76" name="This lab is part of the Coursework component of the MSc course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This lab is part of the Coursework component of the MSc course. </a:t>
            </a:r>
          </a:p>
          <a:p>
            <a:r>
              <a:rPr lang="en-GB" noProof="0" dirty="0"/>
              <a:t>You must pass this component, but it does not count towards your final MSc grade.</a:t>
            </a:r>
          </a:p>
        </p:txBody>
      </p:sp>
      <p:sp>
        <p:nvSpPr>
          <p:cNvPr id="7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5</a:t>
            </a:fld>
            <a:endParaRPr lang="en-GB" noProof="0" dirty="0"/>
          </a:p>
        </p:txBody>
      </p:sp>
      <p:sp>
        <p:nvSpPr>
          <p:cNvPr id="78" name="Oval"/>
          <p:cNvSpPr/>
          <p:nvPr/>
        </p:nvSpPr>
        <p:spPr>
          <a:xfrm>
            <a:off x="1938866" y="5715000"/>
            <a:ext cx="2973058" cy="257241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79" name="Oval"/>
          <p:cNvSpPr/>
          <p:nvPr/>
        </p:nvSpPr>
        <p:spPr>
          <a:xfrm>
            <a:off x="2730103" y="6004718"/>
            <a:ext cx="1557272" cy="1114294"/>
          </a:xfrm>
          <a:prstGeom prst="ellipse">
            <a:avLst/>
          </a:prstGeom>
          <a:solidFill>
            <a:srgbClr val="6E8627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80" name="Oval"/>
          <p:cNvSpPr/>
          <p:nvPr/>
        </p:nvSpPr>
        <p:spPr>
          <a:xfrm>
            <a:off x="5367866" y="5715000"/>
            <a:ext cx="2973058" cy="257241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81" name="Oval"/>
          <p:cNvSpPr/>
          <p:nvPr/>
        </p:nvSpPr>
        <p:spPr>
          <a:xfrm>
            <a:off x="8796866" y="5715000"/>
            <a:ext cx="2973058" cy="257241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82" name="Coursework"/>
          <p:cNvSpPr txBox="1"/>
          <p:nvPr/>
        </p:nvSpPr>
        <p:spPr>
          <a:xfrm>
            <a:off x="2284181" y="8310033"/>
            <a:ext cx="2282429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rPr lang="en-GB" noProof="0" dirty="0"/>
              <a:t>Coursework</a:t>
            </a:r>
          </a:p>
        </p:txBody>
      </p:sp>
      <p:sp>
        <p:nvSpPr>
          <p:cNvPr id="83" name="Exams"/>
          <p:cNvSpPr txBox="1"/>
          <p:nvPr/>
        </p:nvSpPr>
        <p:spPr>
          <a:xfrm>
            <a:off x="6176234" y="8310033"/>
            <a:ext cx="135632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rPr lang="en-GB" noProof="0" dirty="0"/>
              <a:t>Exams</a:t>
            </a:r>
          </a:p>
        </p:txBody>
      </p:sp>
      <p:sp>
        <p:nvSpPr>
          <p:cNvPr id="84" name="Project"/>
          <p:cNvSpPr txBox="1"/>
          <p:nvPr/>
        </p:nvSpPr>
        <p:spPr>
          <a:xfrm>
            <a:off x="9593825" y="8310033"/>
            <a:ext cx="137914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rPr lang="en-GB" noProof="0" dirty="0"/>
              <a:t>Project</a:t>
            </a:r>
          </a:p>
        </p:txBody>
      </p:sp>
      <p:sp>
        <p:nvSpPr>
          <p:cNvPr id="85" name="This lab"/>
          <p:cNvSpPr txBox="1"/>
          <p:nvPr/>
        </p:nvSpPr>
        <p:spPr>
          <a:xfrm>
            <a:off x="2683834" y="6269765"/>
            <a:ext cx="164981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r>
              <a:rPr lang="en-GB" noProof="0" dirty="0"/>
              <a:t>This lab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Assessmen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88" name="Assessment will be via a short oral interview. This will assess:…"/>
          <p:cNvSpPr txBox="1">
            <a:spLocks noGrp="1"/>
          </p:cNvSpPr>
          <p:nvPr>
            <p:ph type="body" idx="1"/>
          </p:nvPr>
        </p:nvSpPr>
        <p:spPr>
          <a:xfrm>
            <a:off x="587829" y="2686050"/>
            <a:ext cx="12056421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Assessment will be via a short </a:t>
            </a:r>
            <a:r>
              <a:rPr lang="en-GB" b="1" noProof="0" dirty="0"/>
              <a:t>oral interview</a:t>
            </a:r>
            <a:r>
              <a:rPr lang="en-GB" noProof="0" dirty="0"/>
              <a:t>. This will assess:</a:t>
            </a:r>
          </a:p>
          <a:p>
            <a:pPr lvl="1">
              <a:spcBef>
                <a:spcPts val="2500"/>
              </a:spcBef>
            </a:pPr>
            <a:r>
              <a:rPr lang="en-GB" noProof="0" dirty="0"/>
              <a:t>how many parts of the experiment you have completed, </a:t>
            </a:r>
          </a:p>
          <a:p>
            <a:pPr lvl="1">
              <a:spcBef>
                <a:spcPts val="2500"/>
              </a:spcBef>
            </a:pPr>
            <a:r>
              <a:rPr lang="en-GB" noProof="0" dirty="0"/>
              <a:t>the extent to which you have understood the underlying principles of digital design, and</a:t>
            </a:r>
          </a:p>
          <a:p>
            <a:pPr lvl="1">
              <a:spcBef>
                <a:spcPts val="2500"/>
              </a:spcBef>
            </a:pPr>
            <a:r>
              <a:rPr lang="en-GB" noProof="0" dirty="0"/>
              <a:t>whether you have used a logbook (electronic or paper) to help you learn through planning and reflection.</a:t>
            </a:r>
          </a:p>
          <a:p>
            <a:r>
              <a:rPr lang="en-GB" noProof="0" dirty="0"/>
              <a:t>Please have your equipment set up and ready to demo.</a:t>
            </a:r>
          </a:p>
        </p:txBody>
      </p:sp>
      <p:sp>
        <p:nvSpPr>
          <p:cNvPr id="8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6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Admi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Admin</a:t>
            </a:r>
          </a:p>
        </p:txBody>
      </p:sp>
      <p:sp>
        <p:nvSpPr>
          <p:cNvPr id="92" name="Lectures: Mondays at 1400–1600, starting 13rd Oct, for 4 weeks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GB" b="1" noProof="0" dirty="0"/>
              <a:t>Lectures (1hr): </a:t>
            </a:r>
            <a:r>
              <a:rPr lang="en-GB" noProof="0" dirty="0"/>
              <a:t>Mondays at 14:00–15:00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5</a:t>
            </a:r>
            <a:r>
              <a:rPr lang="en-GB" baseline="30000" noProof="0" dirty="0"/>
              <a:t>th</a:t>
            </a:r>
            <a:r>
              <a:rPr lang="en-GB" noProof="0" dirty="0"/>
              <a:t>, 19</a:t>
            </a:r>
            <a:r>
              <a:rPr lang="en-GB" baseline="30000" noProof="0" dirty="0"/>
              <a:t>th</a:t>
            </a:r>
            <a:r>
              <a:rPr lang="en-GB" dirty="0"/>
              <a:t>, 26</a:t>
            </a:r>
            <a:r>
              <a:rPr lang="en-GB" baseline="30000" dirty="0"/>
              <a:t>th</a:t>
            </a:r>
            <a:r>
              <a:rPr lang="en-GB" dirty="0"/>
              <a:t> </a:t>
            </a:r>
            <a:r>
              <a:rPr lang="en-GB" noProof="0" dirty="0"/>
              <a:t>October</a:t>
            </a:r>
            <a:r>
              <a:rPr lang="en-GB" dirty="0"/>
              <a:t> &amp; </a:t>
            </a:r>
            <a:r>
              <a:rPr lang="en-GB" noProof="0" dirty="0"/>
              <a:t>2</a:t>
            </a:r>
            <a:r>
              <a:rPr lang="en-GB" baseline="30000" noProof="0" dirty="0"/>
              <a:t>nd</a:t>
            </a:r>
            <a:r>
              <a:rPr lang="en-GB" noProof="0" dirty="0"/>
              <a:t> November</a:t>
            </a:r>
          </a:p>
          <a:p>
            <a:pPr marL="444500" lvl="1" indent="0">
              <a:spcBef>
                <a:spcPts val="0"/>
              </a:spcBef>
              <a:buNone/>
            </a:pPr>
            <a:endParaRPr lang="en-GB" noProof="0" dirty="0"/>
          </a:p>
          <a:p>
            <a:pPr>
              <a:spcBef>
                <a:spcPts val="0"/>
              </a:spcBef>
            </a:pPr>
            <a:r>
              <a:rPr lang="en-GB" b="1" dirty="0"/>
              <a:t>Labs (3 hrs):</a:t>
            </a:r>
            <a:r>
              <a:rPr lang="en-GB" dirty="0"/>
              <a:t> Tuesday at 9:00 – 12:00 </a:t>
            </a:r>
          </a:p>
          <a:p>
            <a:pPr lvl="1">
              <a:spcBef>
                <a:spcPts val="0"/>
              </a:spcBef>
            </a:pPr>
            <a:r>
              <a:rPr lang="en-GB" dirty="0"/>
              <a:t>6</a:t>
            </a:r>
            <a:r>
              <a:rPr lang="en-GB" baseline="30000" dirty="0"/>
              <a:t>th</a:t>
            </a:r>
            <a:r>
              <a:rPr lang="en-GB" dirty="0"/>
              <a:t>, 20</a:t>
            </a:r>
            <a:r>
              <a:rPr lang="en-GB" baseline="30000" dirty="0"/>
              <a:t>th</a:t>
            </a:r>
            <a:r>
              <a:rPr lang="en-GB" dirty="0"/>
              <a:t>, 27</a:t>
            </a:r>
            <a:r>
              <a:rPr lang="en-GB" baseline="30000" dirty="0"/>
              <a:t>th</a:t>
            </a:r>
            <a:r>
              <a:rPr lang="en-GB" dirty="0"/>
              <a:t> October &amp; 3</a:t>
            </a:r>
            <a:r>
              <a:rPr lang="en-GB" baseline="30000" dirty="0"/>
              <a:t>rd</a:t>
            </a:r>
            <a:r>
              <a:rPr lang="en-GB" dirty="0"/>
              <a:t> November</a:t>
            </a:r>
          </a:p>
          <a:p>
            <a:pPr>
              <a:spcBef>
                <a:spcPts val="2400"/>
              </a:spcBef>
            </a:pPr>
            <a:r>
              <a:rPr lang="en-GB" b="1" noProof="0" dirty="0"/>
              <a:t>Assessment: </a:t>
            </a:r>
            <a:r>
              <a:rPr lang="en-GB" noProof="0" dirty="0"/>
              <a:t>Tuesday 10</a:t>
            </a:r>
            <a:r>
              <a:rPr lang="en-GB" baseline="30000" noProof="0" dirty="0"/>
              <a:t>th</a:t>
            </a:r>
            <a:r>
              <a:rPr lang="en-GB" noProof="0" dirty="0"/>
              <a:t> November at </a:t>
            </a:r>
            <a:r>
              <a:rPr lang="en-GB" dirty="0"/>
              <a:t>9</a:t>
            </a:r>
            <a:r>
              <a:rPr lang="en-GB" noProof="0" dirty="0"/>
              <a:t>:00 to 11:00</a:t>
            </a:r>
          </a:p>
          <a:p>
            <a:r>
              <a:rPr lang="en-GB" b="1" noProof="0" dirty="0"/>
              <a:t>Course webpage:</a:t>
            </a:r>
            <a:br>
              <a:rPr lang="en-GB" noProof="0" dirty="0"/>
            </a:br>
            <a:r>
              <a:rPr lang="en-GB" u="sng" noProof="0" dirty="0">
                <a:hlinkClick r:id="rId2"/>
              </a:rPr>
              <a:t>https://github.com/Mastering-Digital-Design/Lab-Module</a:t>
            </a:r>
          </a:p>
        </p:txBody>
      </p:sp>
      <p:sp>
        <p:nvSpPr>
          <p:cNvPr id="9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7</a:t>
            </a:fld>
            <a:endParaRPr lang="en-GB" noProof="0" dirty="0"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9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" grpId="1" build="p" bldLvl="5" animBg="1" advAuto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F4033-9889-C349-22A6-E53A4B68D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Labs – by tomorrow!!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16F29D-1C3B-3510-05A9-E5C3AAE803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Pair up – and tell me who is paired up</a:t>
            </a:r>
          </a:p>
          <a:p>
            <a:r>
              <a:rPr lang="en-GB" dirty="0"/>
              <a:t>Visit Level 1 Stores and collect the following:</a:t>
            </a:r>
          </a:p>
          <a:p>
            <a:pPr lvl="1"/>
            <a:r>
              <a:rPr lang="en-GB" dirty="0"/>
              <a:t>DE1-SoC board</a:t>
            </a:r>
          </a:p>
          <a:p>
            <a:pPr lvl="1"/>
            <a:r>
              <a:rPr lang="en-GB" dirty="0"/>
              <a:t>Analogue I/O extension board (PKYC v1.0)</a:t>
            </a:r>
          </a:p>
          <a:p>
            <a:pPr lvl="1"/>
            <a:r>
              <a:rPr lang="en-GB" dirty="0"/>
              <a:t>Wired earphones (if you don’t have your own)</a:t>
            </a:r>
          </a:p>
        </p:txBody>
      </p:sp>
    </p:spTree>
    <p:extLst>
      <p:ext uri="{BB962C8B-B14F-4D97-AF65-F5344CB8AC3E}">
        <p14:creationId xmlns:p14="http://schemas.microsoft.com/office/powerpoint/2010/main" val="120646327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o do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To do</a:t>
            </a:r>
          </a:p>
        </p:txBody>
      </p:sp>
      <p:sp>
        <p:nvSpPr>
          <p:cNvPr id="96" name="Group yourselves into pairs.…"/>
          <p:cNvSpPr txBox="1">
            <a:spLocks noGrp="1"/>
          </p:cNvSpPr>
          <p:nvPr>
            <p:ph type="body" idx="1"/>
          </p:nvPr>
        </p:nvSpPr>
        <p:spPr>
          <a:xfrm>
            <a:off x="952500" y="2686050"/>
            <a:ext cx="11099800" cy="6286500"/>
          </a:xfrm>
          <a:prstGeom prst="rect">
            <a:avLst/>
          </a:prstGeom>
        </p:spPr>
        <p:txBody>
          <a:bodyPr/>
          <a:lstStyle/>
          <a:p>
            <a:pPr marL="603250" indent="-603250" defTabSz="554990">
              <a:spcBef>
                <a:spcPts val="3900"/>
              </a:spcBef>
              <a:buSzPct val="100000"/>
              <a:buAutoNum type="arabicPeriod"/>
              <a:defRPr sz="3040"/>
            </a:pPr>
            <a:r>
              <a:rPr lang="en-GB" noProof="0" dirty="0"/>
              <a:t>Group yourselves into pairs.</a:t>
            </a:r>
          </a:p>
          <a:p>
            <a:pPr marL="603250" indent="-603250" defTabSz="554990">
              <a:spcBef>
                <a:spcPts val="3900"/>
              </a:spcBef>
              <a:buSzPct val="100000"/>
              <a:buAutoNum type="arabicPeriod"/>
              <a:defRPr sz="3040"/>
            </a:pPr>
            <a:r>
              <a:rPr lang="en-GB" noProof="0" dirty="0"/>
              <a:t>Record who is in your pair in the spreadsheet on Teams.</a:t>
            </a:r>
          </a:p>
          <a:p>
            <a:pPr marL="603250" indent="-603250" defTabSz="554990">
              <a:spcBef>
                <a:spcPts val="3900"/>
              </a:spcBef>
              <a:buSzPct val="100000"/>
              <a:buAutoNum type="arabicPeriod"/>
              <a:defRPr sz="3040"/>
            </a:pPr>
            <a:r>
              <a:rPr lang="en-GB" noProof="0" dirty="0"/>
              <a:t>Collect a DE1-SoC board from Stores (Level 1 of the EEE building), one per pair. You'll need to have your college card with you.</a:t>
            </a:r>
          </a:p>
          <a:p>
            <a:pPr marL="603250" indent="-603250" defTabSz="554990">
              <a:spcBef>
                <a:spcPts val="3900"/>
              </a:spcBef>
              <a:buSzPct val="100000"/>
              <a:buAutoNum type="arabicPeriod"/>
              <a:defRPr sz="3040"/>
            </a:pPr>
            <a:r>
              <a:rPr lang="en-GB" noProof="0" dirty="0"/>
              <a:t>Do the exercises, with support from the GTAs on ??? mornings, and keep a logbook along the way.</a:t>
            </a:r>
          </a:p>
          <a:p>
            <a:pPr marL="603250" indent="-603250" defTabSz="554990">
              <a:spcBef>
                <a:spcPts val="3900"/>
              </a:spcBef>
              <a:buSzPct val="100000"/>
              <a:buAutoNum type="arabicPeriod"/>
              <a:defRPr sz="3040"/>
            </a:pPr>
            <a:r>
              <a:rPr lang="en-GB" noProof="0" dirty="0"/>
              <a:t>Come (as a pair) to your 15-minute viva (with your logbook) near the end of this term.</a:t>
            </a:r>
          </a:p>
        </p:txBody>
      </p:sp>
      <p:sp>
        <p:nvSpPr>
          <p:cNvPr id="9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16097" y="31750"/>
            <a:ext cx="283717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9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Credit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Credits</a:t>
            </a:r>
          </a:p>
        </p:txBody>
      </p:sp>
      <p:sp>
        <p:nvSpPr>
          <p:cNvPr id="100" name="This course was conceived and designed by Professor Peter Cheung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This course was conceived and designed by </a:t>
            </a:r>
            <a:r>
              <a:rPr lang="en-GB" b="1" noProof="0" dirty="0"/>
              <a:t>Professor Peter Cheung</a:t>
            </a:r>
            <a:r>
              <a:rPr lang="en-GB" noProof="0" dirty="0"/>
              <a:t>.</a:t>
            </a:r>
            <a:br>
              <a:rPr lang="en-GB" noProof="0" dirty="0"/>
            </a:br>
            <a:br>
              <a:rPr lang="en-GB" noProof="0" dirty="0"/>
            </a:br>
            <a:br>
              <a:rPr lang="en-GB" noProof="0" dirty="0"/>
            </a:br>
            <a:br>
              <a:rPr lang="en-GB" noProof="0" dirty="0"/>
            </a:br>
            <a:br>
              <a:rPr lang="en-GB" noProof="0" dirty="0"/>
            </a:br>
            <a:br>
              <a:rPr lang="en-GB" noProof="0" dirty="0"/>
            </a:br>
            <a:br>
              <a:rPr lang="en-GB" noProof="0" dirty="0"/>
            </a:br>
            <a:endParaRPr lang="en-GB" noProof="0" dirty="0"/>
          </a:p>
          <a:p>
            <a:r>
              <a:rPr lang="en-GB" noProof="0" dirty="0"/>
              <a:t>Any errors in the lectures are mine. (And please do let me know if you find any!)</a:t>
            </a:r>
          </a:p>
        </p:txBody>
      </p:sp>
      <p:sp>
        <p:nvSpPr>
          <p:cNvPr id="10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10</a:t>
            </a:fld>
            <a:endParaRPr lang="en-GB" noProof="0" dirty="0"/>
          </a:p>
        </p:txBody>
      </p:sp>
      <p:pic>
        <p:nvPicPr>
          <p:cNvPr id="102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0500" y="3784600"/>
            <a:ext cx="2463800" cy="3302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Digital Desig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Digital Design</a:t>
            </a:r>
          </a:p>
        </p:txBody>
      </p:sp>
      <p:sp>
        <p:nvSpPr>
          <p:cNvPr id="10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11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The old day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The old days</a:t>
            </a:r>
          </a:p>
        </p:txBody>
      </p:sp>
      <p:sp>
        <p:nvSpPr>
          <p:cNvPr id="108" name="Discrete logic, built from individual gates or packages containing small digital building blocks (e.g. a 1-bit adder).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5068243" cy="6286500"/>
          </a:xfrm>
          <a:prstGeom prst="rect">
            <a:avLst/>
          </a:prstGeom>
        </p:spPr>
        <p:txBody>
          <a:bodyPr/>
          <a:lstStyle/>
          <a:p>
            <a:pPr marL="422275" indent="-422275" defTabSz="554990">
              <a:spcBef>
                <a:spcPts val="3900"/>
              </a:spcBef>
              <a:defRPr sz="3040"/>
            </a:pPr>
            <a:r>
              <a:rPr lang="en-GB" b="1" noProof="0" dirty="0"/>
              <a:t>Discrete logic</a:t>
            </a:r>
            <a:r>
              <a:rPr lang="en-GB" noProof="0" dirty="0"/>
              <a:t>, built from individual gates or packages containing small digital building blocks (e.g. a 1-bit adder).</a:t>
            </a:r>
          </a:p>
          <a:p>
            <a:pPr marL="422275" indent="-422275" defTabSz="554990">
              <a:spcBef>
                <a:spcPts val="3900"/>
              </a:spcBef>
              <a:defRPr sz="3040"/>
            </a:pPr>
            <a:r>
              <a:rPr lang="en-GB" noProof="0" dirty="0"/>
              <a:t>Thanks to De Morgan, we can build </a:t>
            </a:r>
            <a:r>
              <a:rPr lang="en-GB" i="1" noProof="0" dirty="0"/>
              <a:t>anything</a:t>
            </a:r>
            <a:r>
              <a:rPr lang="en-GB" noProof="0" dirty="0"/>
              <a:t> using 2-input NAND gates!</a:t>
            </a:r>
          </a:p>
          <a:p>
            <a:pPr marL="422275" indent="-422275" defTabSz="554990">
              <a:spcBef>
                <a:spcPts val="3900"/>
              </a:spcBef>
              <a:defRPr sz="3040"/>
            </a:pPr>
            <a:r>
              <a:rPr lang="en-GB" noProof="0" dirty="0"/>
              <a:t>But this is tedious, expensive, and prone to wiring errors.</a:t>
            </a:r>
          </a:p>
        </p:txBody>
      </p:sp>
      <p:sp>
        <p:nvSpPr>
          <p:cNvPr id="10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12</a:t>
            </a:fld>
            <a:endParaRPr lang="en-GB" noProof="0" dirty="0"/>
          </a:p>
        </p:txBody>
      </p:sp>
      <p:pic>
        <p:nvPicPr>
          <p:cNvPr id="110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2074" y="5552016"/>
            <a:ext cx="5211629" cy="3465986"/>
          </a:xfrm>
          <a:prstGeom prst="rect">
            <a:avLst/>
          </a:prstGeom>
          <a:ln w="12700">
            <a:miter lim="400000"/>
          </a:ln>
        </p:spPr>
      </p:pic>
      <p:pic>
        <p:nvPicPr>
          <p:cNvPr id="111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7263" y="2750338"/>
            <a:ext cx="3659915" cy="194019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0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0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10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10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8" grpId="1" build="p" bldLvl="5" animBg="1" advAuto="0"/>
      <p:bldP spid="110" grpId="3" animBg="1" advAuto="0"/>
      <p:bldP spid="111" grpId="2" animBg="1" advAuto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Early integrated circuit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554990">
              <a:defRPr sz="7600"/>
            </a:lvl1pPr>
          </a:lstStyle>
          <a:p>
            <a:r>
              <a:rPr lang="en-GB" noProof="0" dirty="0"/>
              <a:t>Early integrated circuits</a:t>
            </a:r>
          </a:p>
        </p:txBody>
      </p:sp>
      <p:sp>
        <p:nvSpPr>
          <p:cNvPr id="114" name="Rows of gates, connected to form application-specific integrated circuits (ASICs).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4858643" cy="6286500"/>
          </a:xfrm>
          <a:prstGeom prst="rect">
            <a:avLst/>
          </a:prstGeom>
        </p:spPr>
        <p:txBody>
          <a:bodyPr/>
          <a:lstStyle/>
          <a:p>
            <a:pPr marL="408940" indent="-408940" defTabSz="537463">
              <a:spcBef>
                <a:spcPts val="3800"/>
              </a:spcBef>
              <a:defRPr sz="2944"/>
            </a:pPr>
            <a:r>
              <a:rPr lang="en-GB" noProof="0" dirty="0"/>
              <a:t>Rows of gates, connected to form </a:t>
            </a:r>
            <a:r>
              <a:rPr lang="en-GB" b="1" noProof="0" dirty="0"/>
              <a:t>application-specific integrated circuits</a:t>
            </a:r>
            <a:r>
              <a:rPr lang="en-GB" noProof="0" dirty="0"/>
              <a:t> (ASICs).</a:t>
            </a:r>
          </a:p>
          <a:p>
            <a:pPr marL="408940" indent="-408940" defTabSz="537463">
              <a:spcBef>
                <a:spcPts val="3800"/>
              </a:spcBef>
              <a:defRPr sz="2944"/>
            </a:pPr>
            <a:r>
              <a:rPr lang="en-GB" noProof="0" dirty="0"/>
              <a:t>Can be </a:t>
            </a:r>
            <a:r>
              <a:rPr lang="en-GB" b="1" noProof="0" dirty="0"/>
              <a:t>full-custom</a:t>
            </a:r>
            <a:r>
              <a:rPr lang="en-GB" noProof="0" dirty="0"/>
              <a:t> (fabricated from scratch), or </a:t>
            </a:r>
            <a:r>
              <a:rPr lang="en-GB" b="1" noProof="0" dirty="0"/>
              <a:t>semi-custom</a:t>
            </a:r>
            <a:r>
              <a:rPr lang="en-GB" noProof="0" dirty="0"/>
              <a:t> (can only adjust the wiring between rows).</a:t>
            </a:r>
          </a:p>
          <a:p>
            <a:pPr marL="408940" indent="-408940" defTabSz="537463">
              <a:spcBef>
                <a:spcPts val="3800"/>
              </a:spcBef>
              <a:defRPr sz="2944"/>
            </a:pPr>
            <a:r>
              <a:rPr lang="en-GB" noProof="0" dirty="0"/>
              <a:t>Functionality cannot be later changed.</a:t>
            </a:r>
          </a:p>
        </p:txBody>
      </p:sp>
      <p:sp>
        <p:nvSpPr>
          <p:cNvPr id="11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13</a:t>
            </a:fld>
            <a:endParaRPr lang="en-GB" noProof="0" dirty="0"/>
          </a:p>
        </p:txBody>
      </p:sp>
      <p:pic>
        <p:nvPicPr>
          <p:cNvPr id="116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5298" y="2647950"/>
            <a:ext cx="6799435" cy="581835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1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4" grpId="1" build="p" bldLvl="5" animBg="1" advAuto="0"/>
      <p:bldP spid="116" grpId="2" animBg="1" advAuto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Full-custom IC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Full-custom ICs</a:t>
            </a:r>
          </a:p>
        </p:txBody>
      </p:sp>
      <p:sp>
        <p:nvSpPr>
          <p:cNvPr id="119" name="Here is an Apple A12 processor from the iPhone XS. It has about 6.9 billion transistors.…"/>
          <p:cNvSpPr txBox="1">
            <a:spLocks noGrp="1"/>
          </p:cNvSpPr>
          <p:nvPr>
            <p:ph type="body" sz="quarter" idx="1"/>
          </p:nvPr>
        </p:nvSpPr>
        <p:spPr>
          <a:xfrm>
            <a:off x="952500" y="2686050"/>
            <a:ext cx="3434209" cy="6286500"/>
          </a:xfrm>
          <a:prstGeom prst="rect">
            <a:avLst/>
          </a:prstGeom>
        </p:spPr>
        <p:txBody>
          <a:bodyPr/>
          <a:lstStyle/>
          <a:p>
            <a:pPr marL="391159" indent="-391159" defTabSz="514095">
              <a:spcBef>
                <a:spcPts val="3600"/>
              </a:spcBef>
              <a:defRPr sz="2816"/>
            </a:pPr>
            <a:r>
              <a:rPr lang="en-GB" noProof="0" dirty="0"/>
              <a:t>Here is an </a:t>
            </a:r>
            <a:r>
              <a:rPr lang="en-GB" b="1" noProof="0" dirty="0"/>
              <a:t>Apple A12</a:t>
            </a:r>
            <a:r>
              <a:rPr lang="en-GB" noProof="0" dirty="0"/>
              <a:t> processor from the </a:t>
            </a:r>
            <a:r>
              <a:rPr lang="en-GB" b="1" noProof="0" dirty="0"/>
              <a:t>iPhone XS</a:t>
            </a:r>
            <a:r>
              <a:rPr lang="en-GB" noProof="0" dirty="0"/>
              <a:t>. It has about 6.9 billion transistors.</a:t>
            </a:r>
          </a:p>
          <a:p>
            <a:pPr marL="391159" indent="-391159" defTabSz="514095">
              <a:spcBef>
                <a:spcPts val="3600"/>
              </a:spcBef>
              <a:defRPr sz="2816"/>
            </a:pPr>
            <a:r>
              <a:rPr lang="en-GB" noProof="0" dirty="0"/>
              <a:t>Very expensive to design and manufacture, so not viable unless the market is very large.</a:t>
            </a:r>
          </a:p>
        </p:txBody>
      </p:sp>
      <p:sp>
        <p:nvSpPr>
          <p:cNvPr id="12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521715" y="31750"/>
            <a:ext cx="378099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14</a:t>
            </a:fld>
            <a:endParaRPr lang="en-GB" noProof="0" dirty="0"/>
          </a:p>
        </p:txBody>
      </p:sp>
      <p:grpSp>
        <p:nvGrpSpPr>
          <p:cNvPr id="126" name="Group"/>
          <p:cNvGrpSpPr/>
          <p:nvPr/>
        </p:nvGrpSpPr>
        <p:grpSpPr>
          <a:xfrm>
            <a:off x="5138337" y="2108199"/>
            <a:ext cx="7103434" cy="6908801"/>
            <a:chOff x="0" y="-6350"/>
            <a:chExt cx="7103433" cy="6908800"/>
          </a:xfrm>
        </p:grpSpPr>
        <p:pic>
          <p:nvPicPr>
            <p:cNvPr id="121" name="Image" descr="Image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628765"/>
              <a:ext cx="7045056" cy="599417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22" name="https://www.techinsights.com/blog/apple-iphone-xs-max-teardown"/>
            <p:cNvSpPr txBox="1"/>
            <p:nvPr/>
          </p:nvSpPr>
          <p:spPr>
            <a:xfrm>
              <a:off x="2558892" y="6623050"/>
              <a:ext cx="4544542" cy="279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 algn="l" defTabSz="457200">
                <a:defRPr sz="1200"/>
              </a:lvl1pPr>
            </a:lstStyle>
            <a:p>
              <a:r>
                <a:rPr lang="en-GB" noProof="0" dirty="0"/>
                <a:t>https://</a:t>
              </a:r>
              <a:r>
                <a:rPr lang="en-GB" noProof="0" dirty="0" err="1"/>
                <a:t>www.techinsights.com</a:t>
              </a:r>
              <a:r>
                <a:rPr lang="en-GB" noProof="0" dirty="0"/>
                <a:t>/blog/apple-</a:t>
              </a:r>
              <a:r>
                <a:rPr lang="en-GB" noProof="0" dirty="0" err="1"/>
                <a:t>iphone</a:t>
              </a:r>
              <a:r>
                <a:rPr lang="en-GB" noProof="0" dirty="0"/>
                <a:t>-</a:t>
              </a:r>
              <a:r>
                <a:rPr lang="en-GB" noProof="0" dirty="0" err="1"/>
                <a:t>xs</a:t>
              </a:r>
              <a:r>
                <a:rPr lang="en-GB" noProof="0" dirty="0"/>
                <a:t>-max-teardown</a:t>
              </a:r>
            </a:p>
          </p:txBody>
        </p:sp>
        <p:sp>
          <p:nvSpPr>
            <p:cNvPr id="123" name="~9mm"/>
            <p:cNvSpPr txBox="1"/>
            <p:nvPr/>
          </p:nvSpPr>
          <p:spPr>
            <a:xfrm>
              <a:off x="2895167" y="-6351"/>
              <a:ext cx="1254721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rPr lang="en-GB" noProof="0" dirty="0"/>
                <a:t>~9mm</a:t>
              </a:r>
            </a:p>
          </p:txBody>
        </p:sp>
        <p:sp>
          <p:nvSpPr>
            <p:cNvPr id="124" name="Line"/>
            <p:cNvSpPr/>
            <p:nvPr/>
          </p:nvSpPr>
          <p:spPr>
            <a:xfrm flipH="1" flipV="1">
              <a:off x="23815" y="321667"/>
              <a:ext cx="2930296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125" name="Line"/>
            <p:cNvSpPr/>
            <p:nvPr/>
          </p:nvSpPr>
          <p:spPr>
            <a:xfrm>
              <a:off x="4090944" y="321667"/>
              <a:ext cx="2930296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1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1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9" grpId="1" build="p" bldLvl="5" animBg="1" advAuto="0"/>
      <p:bldP spid="126" grpId="2" animBg="1" advAuto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Field-programmable  gate arrays (FPGAs)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490727">
              <a:defRPr sz="6719"/>
            </a:pPr>
            <a:r>
              <a:rPr lang="en-GB" noProof="0" dirty="0"/>
              <a:t>Field-programmable </a:t>
            </a:r>
            <a:br>
              <a:rPr lang="en-GB" noProof="0" dirty="0"/>
            </a:br>
            <a:r>
              <a:rPr lang="en-GB" noProof="0" dirty="0"/>
              <a:t>gate arrays (FPGAs)</a:t>
            </a:r>
          </a:p>
        </p:txBody>
      </p:sp>
      <p:sp>
        <p:nvSpPr>
          <p:cNvPr id="129" name="Introduced by Xilinx (now part of AMD) in 1985.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5258068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Introduced by </a:t>
            </a:r>
            <a:r>
              <a:rPr lang="en-GB" b="1" noProof="0" dirty="0"/>
              <a:t>Xilinx</a:t>
            </a:r>
            <a:r>
              <a:rPr lang="en-GB" noProof="0" dirty="0"/>
              <a:t> (now part of </a:t>
            </a:r>
            <a:r>
              <a:rPr lang="en-GB" b="1" noProof="0" dirty="0"/>
              <a:t>AMD</a:t>
            </a:r>
            <a:r>
              <a:rPr lang="en-GB" noProof="0" dirty="0"/>
              <a:t>) in 1985.</a:t>
            </a:r>
          </a:p>
          <a:p>
            <a:r>
              <a:rPr lang="en-GB" noProof="0" dirty="0"/>
              <a:t>Other manufacturers include </a:t>
            </a:r>
            <a:r>
              <a:rPr lang="en-GB" b="1" noProof="0" dirty="0"/>
              <a:t>Altera</a:t>
            </a:r>
            <a:r>
              <a:rPr lang="en-GB" noProof="0" dirty="0"/>
              <a:t>, </a:t>
            </a:r>
            <a:r>
              <a:rPr lang="en-GB" b="1" noProof="0" dirty="0"/>
              <a:t>Microsemi</a:t>
            </a:r>
            <a:r>
              <a:rPr lang="en-GB" noProof="0" dirty="0"/>
              <a:t> (now part of </a:t>
            </a:r>
            <a:r>
              <a:rPr lang="en-GB" b="1" noProof="0" dirty="0"/>
              <a:t>Microchip</a:t>
            </a:r>
            <a:r>
              <a:rPr lang="en-GB" noProof="0" dirty="0"/>
              <a:t>), and </a:t>
            </a:r>
            <a:r>
              <a:rPr lang="en-GB" b="1" noProof="0" dirty="0"/>
              <a:t>Lattice</a:t>
            </a:r>
            <a:r>
              <a:rPr lang="en-GB" noProof="0" dirty="0"/>
              <a:t>.</a:t>
            </a:r>
          </a:p>
          <a:p>
            <a:r>
              <a:rPr lang="en-GB" noProof="0" dirty="0"/>
              <a:t>Arrays of programmable logic blocks, programmable wiring in between, and flexible I/O. </a:t>
            </a:r>
          </a:p>
        </p:txBody>
      </p:sp>
      <p:sp>
        <p:nvSpPr>
          <p:cNvPr id="13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15</a:t>
            </a:fld>
            <a:endParaRPr lang="en-GB" noProof="0" dirty="0"/>
          </a:p>
        </p:txBody>
      </p:sp>
      <p:grpSp>
        <p:nvGrpSpPr>
          <p:cNvPr id="239" name="Group"/>
          <p:cNvGrpSpPr/>
          <p:nvPr/>
        </p:nvGrpSpPr>
        <p:grpSpPr>
          <a:xfrm>
            <a:off x="6376650" y="2733893"/>
            <a:ext cx="6744329" cy="6124357"/>
            <a:chOff x="0" y="-6350"/>
            <a:chExt cx="6744327" cy="6124356"/>
          </a:xfrm>
        </p:grpSpPr>
        <p:grpSp>
          <p:nvGrpSpPr>
            <p:cNvPr id="135" name="Group"/>
            <p:cNvGrpSpPr/>
            <p:nvPr/>
          </p:nvGrpSpPr>
          <p:grpSpPr>
            <a:xfrm>
              <a:off x="670775" y="1072418"/>
              <a:ext cx="558062" cy="3756556"/>
              <a:chOff x="0" y="0"/>
              <a:chExt cx="558060" cy="3756555"/>
            </a:xfrm>
          </p:grpSpPr>
          <p:sp>
            <p:nvSpPr>
              <p:cNvPr id="131" name="Line"/>
              <p:cNvSpPr/>
              <p:nvPr/>
            </p:nvSpPr>
            <p:spPr>
              <a:xfrm flipV="1">
                <a:off x="-1" y="0"/>
                <a:ext cx="2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32" name="Line"/>
              <p:cNvSpPr/>
              <p:nvPr/>
            </p:nvSpPr>
            <p:spPr>
              <a:xfrm flipV="1">
                <a:off x="186020" y="0"/>
                <a:ext cx="1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33" name="Line"/>
              <p:cNvSpPr/>
              <p:nvPr/>
            </p:nvSpPr>
            <p:spPr>
              <a:xfrm flipV="1">
                <a:off x="372040" y="0"/>
                <a:ext cx="1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34" name="Line"/>
              <p:cNvSpPr/>
              <p:nvPr/>
            </p:nvSpPr>
            <p:spPr>
              <a:xfrm flipV="1">
                <a:off x="558060" y="0"/>
                <a:ext cx="1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40" name="Group"/>
            <p:cNvGrpSpPr/>
            <p:nvPr/>
          </p:nvGrpSpPr>
          <p:grpSpPr>
            <a:xfrm>
              <a:off x="279229" y="3849773"/>
              <a:ext cx="5357239" cy="558061"/>
              <a:chOff x="0" y="0"/>
              <a:chExt cx="5357237" cy="558060"/>
            </a:xfrm>
          </p:grpSpPr>
          <p:sp>
            <p:nvSpPr>
              <p:cNvPr id="136" name="Line"/>
              <p:cNvSpPr/>
              <p:nvPr/>
            </p:nvSpPr>
            <p:spPr>
              <a:xfrm>
                <a:off x="0" y="0"/>
                <a:ext cx="5357238" cy="0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37" name="Line"/>
              <p:cNvSpPr/>
              <p:nvPr/>
            </p:nvSpPr>
            <p:spPr>
              <a:xfrm>
                <a:off x="0" y="186020"/>
                <a:ext cx="5357238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38" name="Line"/>
              <p:cNvSpPr/>
              <p:nvPr/>
            </p:nvSpPr>
            <p:spPr>
              <a:xfrm>
                <a:off x="0" y="372040"/>
                <a:ext cx="5357238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39" name="Line"/>
              <p:cNvSpPr/>
              <p:nvPr/>
            </p:nvSpPr>
            <p:spPr>
              <a:xfrm>
                <a:off x="0" y="558060"/>
                <a:ext cx="5357238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45" name="Group"/>
            <p:cNvGrpSpPr/>
            <p:nvPr/>
          </p:nvGrpSpPr>
          <p:grpSpPr>
            <a:xfrm>
              <a:off x="574461" y="3753459"/>
              <a:ext cx="750690" cy="750690"/>
              <a:chOff x="0" y="0"/>
              <a:chExt cx="750689" cy="750688"/>
            </a:xfrm>
          </p:grpSpPr>
          <p:sp>
            <p:nvSpPr>
              <p:cNvPr id="141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42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43" name="Circle"/>
              <p:cNvSpPr/>
              <p:nvPr/>
            </p:nvSpPr>
            <p:spPr>
              <a:xfrm>
                <a:off x="371607" y="37204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44" name="Circle"/>
              <p:cNvSpPr/>
              <p:nvPr/>
            </p:nvSpPr>
            <p:spPr>
              <a:xfrm>
                <a:off x="558060" y="55806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50" name="Group"/>
            <p:cNvGrpSpPr/>
            <p:nvPr/>
          </p:nvGrpSpPr>
          <p:grpSpPr>
            <a:xfrm>
              <a:off x="2213662" y="1087803"/>
              <a:ext cx="558062" cy="3725785"/>
              <a:chOff x="0" y="0"/>
              <a:chExt cx="558060" cy="3725783"/>
            </a:xfrm>
          </p:grpSpPr>
          <p:sp>
            <p:nvSpPr>
              <p:cNvPr id="146" name="Line"/>
              <p:cNvSpPr/>
              <p:nvPr/>
            </p:nvSpPr>
            <p:spPr>
              <a:xfrm flipV="1">
                <a:off x="-1" y="-1"/>
                <a:ext cx="2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47" name="Line"/>
              <p:cNvSpPr/>
              <p:nvPr/>
            </p:nvSpPr>
            <p:spPr>
              <a:xfrm flipV="1">
                <a:off x="18602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48" name="Line"/>
              <p:cNvSpPr/>
              <p:nvPr/>
            </p:nvSpPr>
            <p:spPr>
              <a:xfrm flipV="1">
                <a:off x="37204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49" name="Line"/>
              <p:cNvSpPr/>
              <p:nvPr/>
            </p:nvSpPr>
            <p:spPr>
              <a:xfrm flipV="1">
                <a:off x="55806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55" name="Group"/>
            <p:cNvGrpSpPr/>
            <p:nvPr/>
          </p:nvGrpSpPr>
          <p:grpSpPr>
            <a:xfrm>
              <a:off x="250270" y="2136805"/>
              <a:ext cx="5415159" cy="558062"/>
              <a:chOff x="0" y="0"/>
              <a:chExt cx="5415158" cy="558061"/>
            </a:xfrm>
          </p:grpSpPr>
          <p:sp>
            <p:nvSpPr>
              <p:cNvPr id="151" name="Line"/>
              <p:cNvSpPr/>
              <p:nvPr/>
            </p:nvSpPr>
            <p:spPr>
              <a:xfrm>
                <a:off x="0" y="0"/>
                <a:ext cx="5415159" cy="0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52" name="Line"/>
              <p:cNvSpPr/>
              <p:nvPr/>
            </p:nvSpPr>
            <p:spPr>
              <a:xfrm>
                <a:off x="0" y="186020"/>
                <a:ext cx="5415159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53" name="Line"/>
              <p:cNvSpPr/>
              <p:nvPr/>
            </p:nvSpPr>
            <p:spPr>
              <a:xfrm>
                <a:off x="0" y="372041"/>
                <a:ext cx="5415159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54" name="Line"/>
              <p:cNvSpPr/>
              <p:nvPr/>
            </p:nvSpPr>
            <p:spPr>
              <a:xfrm>
                <a:off x="0" y="558061"/>
                <a:ext cx="5415159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60" name="Group"/>
            <p:cNvGrpSpPr/>
            <p:nvPr/>
          </p:nvGrpSpPr>
          <p:grpSpPr>
            <a:xfrm>
              <a:off x="2117347" y="2040490"/>
              <a:ext cx="750691" cy="750690"/>
              <a:chOff x="0" y="0"/>
              <a:chExt cx="750689" cy="750688"/>
            </a:xfrm>
          </p:grpSpPr>
          <p:sp>
            <p:nvSpPr>
              <p:cNvPr id="156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57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58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59" name="Circle"/>
              <p:cNvSpPr/>
              <p:nvPr/>
            </p:nvSpPr>
            <p:spPr>
              <a:xfrm>
                <a:off x="558060" y="55806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65" name="Group"/>
            <p:cNvGrpSpPr/>
            <p:nvPr/>
          </p:nvGrpSpPr>
          <p:grpSpPr>
            <a:xfrm>
              <a:off x="3959736" y="1103189"/>
              <a:ext cx="558062" cy="3725785"/>
              <a:chOff x="0" y="0"/>
              <a:chExt cx="558060" cy="3725783"/>
            </a:xfrm>
          </p:grpSpPr>
          <p:sp>
            <p:nvSpPr>
              <p:cNvPr id="161" name="Line"/>
              <p:cNvSpPr/>
              <p:nvPr/>
            </p:nvSpPr>
            <p:spPr>
              <a:xfrm flipV="1">
                <a:off x="-1" y="-1"/>
                <a:ext cx="2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62" name="Line"/>
              <p:cNvSpPr/>
              <p:nvPr/>
            </p:nvSpPr>
            <p:spPr>
              <a:xfrm flipV="1">
                <a:off x="18602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63" name="Line"/>
              <p:cNvSpPr/>
              <p:nvPr/>
            </p:nvSpPr>
            <p:spPr>
              <a:xfrm flipV="1">
                <a:off x="37204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64" name="Line"/>
              <p:cNvSpPr/>
              <p:nvPr/>
            </p:nvSpPr>
            <p:spPr>
              <a:xfrm flipV="1">
                <a:off x="55806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70" name="Group"/>
            <p:cNvGrpSpPr/>
            <p:nvPr/>
          </p:nvGrpSpPr>
          <p:grpSpPr>
            <a:xfrm>
              <a:off x="3863422" y="3753459"/>
              <a:ext cx="750690" cy="750690"/>
              <a:chOff x="0" y="0"/>
              <a:chExt cx="750688" cy="750688"/>
            </a:xfrm>
          </p:grpSpPr>
          <p:sp>
            <p:nvSpPr>
              <p:cNvPr id="166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67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68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69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75" name="Group"/>
            <p:cNvGrpSpPr/>
            <p:nvPr/>
          </p:nvGrpSpPr>
          <p:grpSpPr>
            <a:xfrm>
              <a:off x="3863421" y="2040490"/>
              <a:ext cx="750690" cy="750690"/>
              <a:chOff x="0" y="0"/>
              <a:chExt cx="750688" cy="750688"/>
            </a:xfrm>
          </p:grpSpPr>
          <p:sp>
            <p:nvSpPr>
              <p:cNvPr id="171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72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73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74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80" name="Group"/>
            <p:cNvGrpSpPr/>
            <p:nvPr/>
          </p:nvGrpSpPr>
          <p:grpSpPr>
            <a:xfrm>
              <a:off x="2117348" y="3753459"/>
              <a:ext cx="750690" cy="750690"/>
              <a:chOff x="0" y="0"/>
              <a:chExt cx="750688" cy="750688"/>
            </a:xfrm>
          </p:grpSpPr>
          <p:sp>
            <p:nvSpPr>
              <p:cNvPr id="176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77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78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79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85" name="Group"/>
            <p:cNvGrpSpPr/>
            <p:nvPr/>
          </p:nvGrpSpPr>
          <p:grpSpPr>
            <a:xfrm>
              <a:off x="574461" y="2040490"/>
              <a:ext cx="750690" cy="750690"/>
              <a:chOff x="0" y="0"/>
              <a:chExt cx="750688" cy="750688"/>
            </a:xfrm>
          </p:grpSpPr>
          <p:sp>
            <p:nvSpPr>
              <p:cNvPr id="181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82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83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84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91" name="Group"/>
            <p:cNvGrpSpPr/>
            <p:nvPr/>
          </p:nvGrpSpPr>
          <p:grpSpPr>
            <a:xfrm rot="16200000">
              <a:off x="1102447" y="3875611"/>
              <a:ext cx="1031953" cy="192629"/>
              <a:chOff x="0" y="0"/>
              <a:chExt cx="1031952" cy="192628"/>
            </a:xfrm>
          </p:grpSpPr>
          <p:sp>
            <p:nvSpPr>
              <p:cNvPr id="186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87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88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89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90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97" name="Group"/>
            <p:cNvGrpSpPr/>
            <p:nvPr/>
          </p:nvGrpSpPr>
          <p:grpSpPr>
            <a:xfrm rot="16200000">
              <a:off x="2760931" y="3875611"/>
              <a:ext cx="1031953" cy="192629"/>
              <a:chOff x="0" y="0"/>
              <a:chExt cx="1031952" cy="192628"/>
            </a:xfrm>
          </p:grpSpPr>
          <p:sp>
            <p:nvSpPr>
              <p:cNvPr id="192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93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94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95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96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203" name="Group"/>
            <p:cNvGrpSpPr/>
            <p:nvPr/>
          </p:nvGrpSpPr>
          <p:grpSpPr>
            <a:xfrm rot="16200000">
              <a:off x="4501952" y="3875611"/>
              <a:ext cx="1031953" cy="192629"/>
              <a:chOff x="0" y="0"/>
              <a:chExt cx="1031952" cy="192628"/>
            </a:xfrm>
          </p:grpSpPr>
          <p:sp>
            <p:nvSpPr>
              <p:cNvPr id="198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99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00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01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02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209" name="Group"/>
            <p:cNvGrpSpPr/>
            <p:nvPr/>
          </p:nvGrpSpPr>
          <p:grpSpPr>
            <a:xfrm rot="16200000">
              <a:off x="1111171" y="2171004"/>
              <a:ext cx="1031953" cy="192630"/>
              <a:chOff x="0" y="0"/>
              <a:chExt cx="1031952" cy="192628"/>
            </a:xfrm>
          </p:grpSpPr>
          <p:sp>
            <p:nvSpPr>
              <p:cNvPr id="204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05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06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07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08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215" name="Group"/>
            <p:cNvGrpSpPr/>
            <p:nvPr/>
          </p:nvGrpSpPr>
          <p:grpSpPr>
            <a:xfrm rot="16200000">
              <a:off x="2745948" y="2178890"/>
              <a:ext cx="1031953" cy="192629"/>
              <a:chOff x="0" y="0"/>
              <a:chExt cx="1031952" cy="192628"/>
            </a:xfrm>
          </p:grpSpPr>
          <p:sp>
            <p:nvSpPr>
              <p:cNvPr id="210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11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12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13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14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221" name="Group"/>
            <p:cNvGrpSpPr/>
            <p:nvPr/>
          </p:nvGrpSpPr>
          <p:grpSpPr>
            <a:xfrm rot="16200000">
              <a:off x="4501952" y="2171004"/>
              <a:ext cx="1031953" cy="192630"/>
              <a:chOff x="0" y="0"/>
              <a:chExt cx="1031952" cy="192628"/>
            </a:xfrm>
          </p:grpSpPr>
          <p:sp>
            <p:nvSpPr>
              <p:cNvPr id="216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17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18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19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20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sp>
          <p:nvSpPr>
            <p:cNvPr id="222" name="Rectangle"/>
            <p:cNvSpPr/>
            <p:nvPr/>
          </p:nvSpPr>
          <p:spPr>
            <a:xfrm>
              <a:off x="1442219" y="2936611"/>
              <a:ext cx="558062" cy="656031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23" name="Rectangle"/>
            <p:cNvSpPr/>
            <p:nvPr/>
          </p:nvSpPr>
          <p:spPr>
            <a:xfrm>
              <a:off x="3086699" y="2936611"/>
              <a:ext cx="558062" cy="656031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24" name="Rectangle"/>
            <p:cNvSpPr/>
            <p:nvPr/>
          </p:nvSpPr>
          <p:spPr>
            <a:xfrm>
              <a:off x="1442219" y="1239029"/>
              <a:ext cx="558062" cy="656032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25" name="Rectangle"/>
            <p:cNvSpPr/>
            <p:nvPr/>
          </p:nvSpPr>
          <p:spPr>
            <a:xfrm>
              <a:off x="3086699" y="1239029"/>
              <a:ext cx="558062" cy="656032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26" name="Rectangle"/>
            <p:cNvSpPr/>
            <p:nvPr/>
          </p:nvSpPr>
          <p:spPr>
            <a:xfrm>
              <a:off x="4832774" y="1239029"/>
              <a:ext cx="558062" cy="656032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27" name="Rectangle"/>
            <p:cNvSpPr/>
            <p:nvPr/>
          </p:nvSpPr>
          <p:spPr>
            <a:xfrm>
              <a:off x="4839077" y="2936611"/>
              <a:ext cx="558062" cy="656031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28" name="Rectangle"/>
            <p:cNvSpPr/>
            <p:nvPr/>
          </p:nvSpPr>
          <p:spPr>
            <a:xfrm>
              <a:off x="12752" y="20404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29" name="Rectangle"/>
            <p:cNvSpPr/>
            <p:nvPr/>
          </p:nvSpPr>
          <p:spPr>
            <a:xfrm>
              <a:off x="0" y="3753458"/>
              <a:ext cx="350520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30" name="Rectangle"/>
            <p:cNvSpPr/>
            <p:nvPr/>
          </p:nvSpPr>
          <p:spPr>
            <a:xfrm rot="5400000">
              <a:off x="774546" y="45550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31" name="Rectangle"/>
            <p:cNvSpPr/>
            <p:nvPr/>
          </p:nvSpPr>
          <p:spPr>
            <a:xfrm rot="5400000">
              <a:off x="2317432" y="45550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32" name="Rectangle"/>
            <p:cNvSpPr/>
            <p:nvPr/>
          </p:nvSpPr>
          <p:spPr>
            <a:xfrm rot="5400000">
              <a:off x="4063507" y="45550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33" name="logic block"/>
            <p:cNvSpPr txBox="1"/>
            <p:nvPr/>
          </p:nvSpPr>
          <p:spPr>
            <a:xfrm>
              <a:off x="400574" y="-3394"/>
              <a:ext cx="3265047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>
              <a:lvl1pPr>
                <a:defRPr>
                  <a:solidFill>
                    <a:schemeClr val="accent5">
                      <a:hueOff val="-82419"/>
                      <a:satOff val="-9513"/>
                      <a:lumOff val="-16343"/>
                    </a:schemeClr>
                  </a:solidFill>
                </a:defRPr>
              </a:lvl1pPr>
            </a:lstStyle>
            <a:p>
              <a:r>
                <a:rPr lang="en-GB" noProof="0" dirty="0"/>
                <a:t>logic block</a:t>
              </a:r>
            </a:p>
          </p:txBody>
        </p:sp>
        <p:sp>
          <p:nvSpPr>
            <p:cNvPr id="234" name="Line"/>
            <p:cNvSpPr/>
            <p:nvPr/>
          </p:nvSpPr>
          <p:spPr>
            <a:xfrm flipH="1">
              <a:off x="1788331" y="536888"/>
              <a:ext cx="234824" cy="845946"/>
            </a:xfrm>
            <a:prstGeom prst="line">
              <a:avLst/>
            </a:prstGeom>
            <a:noFill/>
            <a:ln w="254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35" name="I/O pad"/>
            <p:cNvSpPr txBox="1"/>
            <p:nvPr/>
          </p:nvSpPr>
          <p:spPr>
            <a:xfrm>
              <a:off x="101426" y="5533806"/>
              <a:ext cx="3265047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>
              <a:lvl1pPr>
                <a:defRPr>
                  <a:solidFill>
                    <a:schemeClr val="accent5">
                      <a:hueOff val="-82419"/>
                      <a:satOff val="-9513"/>
                      <a:lumOff val="-16343"/>
                    </a:schemeClr>
                  </a:solidFill>
                </a:defRPr>
              </a:lvl1pPr>
            </a:lstStyle>
            <a:p>
              <a:r>
                <a:rPr lang="en-GB" noProof="0" dirty="0"/>
                <a:t>I/O pad</a:t>
              </a:r>
            </a:p>
          </p:txBody>
        </p:sp>
        <p:sp>
          <p:nvSpPr>
            <p:cNvPr id="236" name="Line"/>
            <p:cNvSpPr/>
            <p:nvPr/>
          </p:nvSpPr>
          <p:spPr>
            <a:xfrm flipV="1">
              <a:off x="1995022" y="5032297"/>
              <a:ext cx="394573" cy="647398"/>
            </a:xfrm>
            <a:prstGeom prst="line">
              <a:avLst/>
            </a:prstGeom>
            <a:noFill/>
            <a:ln w="254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37" name="switch block"/>
            <p:cNvSpPr txBox="1"/>
            <p:nvPr/>
          </p:nvSpPr>
          <p:spPr>
            <a:xfrm>
              <a:off x="3479281" y="-6351"/>
              <a:ext cx="3265047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>
              <a:lvl1pPr>
                <a:defRPr>
                  <a:solidFill>
                    <a:schemeClr val="accent5">
                      <a:hueOff val="-82419"/>
                      <a:satOff val="-9513"/>
                      <a:lumOff val="-16343"/>
                    </a:schemeClr>
                  </a:solidFill>
                </a:defRPr>
              </a:lvl1pPr>
            </a:lstStyle>
            <a:p>
              <a:r>
                <a:rPr lang="en-GB" noProof="0" dirty="0"/>
                <a:t>switch block</a:t>
              </a:r>
            </a:p>
          </p:txBody>
        </p:sp>
        <p:sp>
          <p:nvSpPr>
            <p:cNvPr id="238" name="Line"/>
            <p:cNvSpPr/>
            <p:nvPr/>
          </p:nvSpPr>
          <p:spPr>
            <a:xfrm flipH="1">
              <a:off x="4175186" y="606143"/>
              <a:ext cx="638893" cy="1664749"/>
            </a:xfrm>
            <a:prstGeom prst="line">
              <a:avLst/>
            </a:prstGeom>
            <a:noFill/>
            <a:ln w="254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2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9" grpId="1" build="p" bldLvl="5" animBg="1" advAuto="0"/>
      <p:bldP spid="239" grpId="2" animBg="1" advAuto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Logic block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Logic blocks</a:t>
            </a:r>
          </a:p>
        </p:txBody>
      </p:sp>
      <p:sp>
        <p:nvSpPr>
          <p:cNvPr id="242" name="Also called logic elements.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4154091" cy="6286500"/>
          </a:xfrm>
          <a:prstGeom prst="rect">
            <a:avLst/>
          </a:prstGeom>
        </p:spPr>
        <p:txBody>
          <a:bodyPr/>
          <a:lstStyle/>
          <a:p>
            <a:pPr marL="413384" indent="-413384" defTabSz="543305">
              <a:spcBef>
                <a:spcPts val="3900"/>
              </a:spcBef>
              <a:defRPr sz="2976"/>
            </a:pPr>
            <a:r>
              <a:rPr lang="en-GB" noProof="0" dirty="0"/>
              <a:t>Also called </a:t>
            </a:r>
            <a:r>
              <a:rPr lang="en-GB" i="1" noProof="0" dirty="0"/>
              <a:t>logic elements</a:t>
            </a:r>
            <a:r>
              <a:rPr lang="en-GB" noProof="0" dirty="0"/>
              <a:t>.</a:t>
            </a:r>
          </a:p>
          <a:p>
            <a:pPr marL="413384" indent="-413384" defTabSz="543305">
              <a:spcBef>
                <a:spcPts val="3900"/>
              </a:spcBef>
              <a:defRPr sz="2976"/>
            </a:pPr>
            <a:r>
              <a:rPr lang="en-GB" noProof="0" dirty="0"/>
              <a:t>Based around </a:t>
            </a:r>
            <a:r>
              <a:rPr lang="en-GB" b="1" noProof="0" dirty="0"/>
              <a:t>look-up tables</a:t>
            </a:r>
            <a:r>
              <a:rPr lang="en-GB" noProof="0" dirty="0"/>
              <a:t> (LUTs), usually with 4 inputs. </a:t>
            </a:r>
          </a:p>
          <a:p>
            <a:pPr marL="413384" indent="-413384" defTabSz="543305">
              <a:spcBef>
                <a:spcPts val="3900"/>
              </a:spcBef>
              <a:defRPr sz="2976"/>
            </a:pPr>
            <a:r>
              <a:rPr lang="en-GB" noProof="0" dirty="0"/>
              <a:t>Optional flipflop (FF) at the output.</a:t>
            </a:r>
          </a:p>
          <a:p>
            <a:pPr marL="413384" indent="-413384" defTabSz="543305">
              <a:spcBef>
                <a:spcPts val="3900"/>
              </a:spcBef>
              <a:defRPr sz="2976"/>
            </a:pPr>
            <a:r>
              <a:rPr lang="en-GB" noProof="0" dirty="0"/>
              <a:t>These can implement </a:t>
            </a:r>
            <a:r>
              <a:rPr lang="en-GB" i="1" noProof="0" dirty="0"/>
              <a:t>any</a:t>
            </a:r>
            <a:r>
              <a:rPr lang="en-GB" noProof="0" dirty="0"/>
              <a:t> 4-input Boolean function (truth table).</a:t>
            </a:r>
          </a:p>
        </p:txBody>
      </p:sp>
      <p:sp>
        <p:nvSpPr>
          <p:cNvPr id="24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16</a:t>
            </a:fld>
            <a:endParaRPr lang="en-GB" noProof="0" dirty="0"/>
          </a:p>
        </p:txBody>
      </p:sp>
      <p:grpSp>
        <p:nvGrpSpPr>
          <p:cNvPr id="270" name="Group"/>
          <p:cNvGrpSpPr/>
          <p:nvPr/>
        </p:nvGrpSpPr>
        <p:grpSpPr>
          <a:xfrm>
            <a:off x="4991054" y="2302872"/>
            <a:ext cx="8002507" cy="3753195"/>
            <a:chOff x="-24128" y="0"/>
            <a:chExt cx="8002506" cy="3753193"/>
          </a:xfrm>
        </p:grpSpPr>
        <p:sp>
          <p:nvSpPr>
            <p:cNvPr id="244" name="Rectangle"/>
            <p:cNvSpPr/>
            <p:nvPr/>
          </p:nvSpPr>
          <p:spPr>
            <a:xfrm>
              <a:off x="1597187" y="0"/>
              <a:ext cx="5450092" cy="3753194"/>
            </a:xfrm>
            <a:prstGeom prst="rect">
              <a:avLst/>
            </a:prstGeom>
            <a:solidFill>
              <a:srgbClr val="FFFFFF"/>
            </a:solidFill>
            <a:ln w="88900" cap="flat">
              <a:solidFill>
                <a:srgbClr val="6E8627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45" name="LUT"/>
            <p:cNvSpPr/>
            <p:nvPr/>
          </p:nvSpPr>
          <p:spPr>
            <a:xfrm>
              <a:off x="2376217" y="732427"/>
              <a:ext cx="1270001" cy="1270001"/>
            </a:xfrm>
            <a:prstGeom prst="rect">
              <a:avLst/>
            </a:prstGeom>
            <a:solidFill>
              <a:srgbClr val="E9E6B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>
                <a:defRPr sz="2100" b="1"/>
              </a:lvl1pPr>
            </a:lstStyle>
            <a:p>
              <a:r>
                <a:rPr lang="en-GB" noProof="0" dirty="0"/>
                <a:t>LUT</a:t>
              </a:r>
            </a:p>
          </p:txBody>
        </p:sp>
        <p:sp>
          <p:nvSpPr>
            <p:cNvPr id="246" name="FF"/>
            <p:cNvSpPr/>
            <p:nvPr/>
          </p:nvSpPr>
          <p:spPr>
            <a:xfrm>
              <a:off x="4281217" y="732427"/>
              <a:ext cx="1270001" cy="1270001"/>
            </a:xfrm>
            <a:prstGeom prst="rect">
              <a:avLst/>
            </a:prstGeom>
            <a:solidFill>
              <a:srgbClr val="E9E6B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>
                <a:defRPr sz="2100" b="1"/>
              </a:lvl1pPr>
            </a:lstStyle>
            <a:p>
              <a:r>
                <a:rPr lang="en-GB" noProof="0" dirty="0"/>
                <a:t>FF</a:t>
              </a:r>
            </a:p>
          </p:txBody>
        </p:sp>
        <p:sp>
          <p:nvSpPr>
            <p:cNvPr id="247" name="Shape"/>
            <p:cNvSpPr/>
            <p:nvPr/>
          </p:nvSpPr>
          <p:spPr>
            <a:xfrm>
              <a:off x="5936510" y="888472"/>
              <a:ext cx="841589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E9E6B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48" name="Line"/>
            <p:cNvSpPr/>
            <p:nvPr/>
          </p:nvSpPr>
          <p:spPr>
            <a:xfrm>
              <a:off x="737917" y="897527"/>
              <a:ext cx="167640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49" name="Line"/>
            <p:cNvSpPr/>
            <p:nvPr/>
          </p:nvSpPr>
          <p:spPr>
            <a:xfrm>
              <a:off x="737917" y="1202252"/>
              <a:ext cx="167640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0" name="Line"/>
            <p:cNvSpPr/>
            <p:nvPr/>
          </p:nvSpPr>
          <p:spPr>
            <a:xfrm>
              <a:off x="737917" y="1506978"/>
              <a:ext cx="167640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1" name="Line"/>
            <p:cNvSpPr/>
            <p:nvPr/>
          </p:nvSpPr>
          <p:spPr>
            <a:xfrm>
              <a:off x="737917" y="1805577"/>
              <a:ext cx="167640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2" name="Line"/>
            <p:cNvSpPr/>
            <p:nvPr/>
          </p:nvSpPr>
          <p:spPr>
            <a:xfrm flipV="1">
              <a:off x="4662217" y="1996077"/>
              <a:ext cx="1" cy="59040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3" name="Line"/>
            <p:cNvSpPr/>
            <p:nvPr/>
          </p:nvSpPr>
          <p:spPr>
            <a:xfrm flipV="1">
              <a:off x="5041655" y="1996077"/>
              <a:ext cx="1564" cy="852215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4" name="Line"/>
            <p:cNvSpPr/>
            <p:nvPr/>
          </p:nvSpPr>
          <p:spPr>
            <a:xfrm>
              <a:off x="735491" y="2573927"/>
              <a:ext cx="3934764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5" name="Line"/>
            <p:cNvSpPr/>
            <p:nvPr/>
          </p:nvSpPr>
          <p:spPr>
            <a:xfrm>
              <a:off x="735491" y="2846977"/>
              <a:ext cx="4311237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6" name="Line"/>
            <p:cNvSpPr/>
            <p:nvPr/>
          </p:nvSpPr>
          <p:spPr>
            <a:xfrm>
              <a:off x="5522713" y="1367427"/>
              <a:ext cx="671737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7" name="Line"/>
            <p:cNvSpPr/>
            <p:nvPr/>
          </p:nvSpPr>
          <p:spPr>
            <a:xfrm>
              <a:off x="3643113" y="1367427"/>
              <a:ext cx="671737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8" name="Line"/>
            <p:cNvSpPr/>
            <p:nvPr/>
          </p:nvSpPr>
          <p:spPr>
            <a:xfrm flipV="1">
              <a:off x="3891199" y="427627"/>
              <a:ext cx="1" cy="93980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9" name="Line"/>
            <p:cNvSpPr/>
            <p:nvPr/>
          </p:nvSpPr>
          <p:spPr>
            <a:xfrm flipH="1" flipV="1">
              <a:off x="3883519" y="427627"/>
              <a:ext cx="1972052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60" name="Line"/>
            <p:cNvSpPr/>
            <p:nvPr/>
          </p:nvSpPr>
          <p:spPr>
            <a:xfrm>
              <a:off x="5855570" y="427627"/>
              <a:ext cx="1" cy="742018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61" name="Line"/>
            <p:cNvSpPr/>
            <p:nvPr/>
          </p:nvSpPr>
          <p:spPr>
            <a:xfrm>
              <a:off x="5843929" y="1176852"/>
              <a:ext cx="35052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62" name="Line"/>
            <p:cNvSpPr/>
            <p:nvPr/>
          </p:nvSpPr>
          <p:spPr>
            <a:xfrm>
              <a:off x="6780013" y="1278527"/>
              <a:ext cx="671737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63" name="A"/>
            <p:cNvSpPr txBox="1"/>
            <p:nvPr/>
          </p:nvSpPr>
          <p:spPr>
            <a:xfrm>
              <a:off x="424638" y="662577"/>
              <a:ext cx="317600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rPr lang="en-GB" noProof="0" dirty="0"/>
                <a:t>A</a:t>
              </a:r>
            </a:p>
          </p:txBody>
        </p:sp>
        <p:sp>
          <p:nvSpPr>
            <p:cNvPr id="264" name="B"/>
            <p:cNvSpPr txBox="1"/>
            <p:nvPr/>
          </p:nvSpPr>
          <p:spPr>
            <a:xfrm>
              <a:off x="424638" y="967302"/>
              <a:ext cx="317600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rPr lang="en-GB" noProof="0" dirty="0"/>
                <a:t>B</a:t>
              </a:r>
            </a:p>
          </p:txBody>
        </p:sp>
        <p:sp>
          <p:nvSpPr>
            <p:cNvPr id="265" name="C"/>
            <p:cNvSpPr txBox="1"/>
            <p:nvPr/>
          </p:nvSpPr>
          <p:spPr>
            <a:xfrm>
              <a:off x="419806" y="1256302"/>
              <a:ext cx="334418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rPr lang="en-GB" noProof="0" dirty="0"/>
                <a:t>C</a:t>
              </a:r>
            </a:p>
          </p:txBody>
        </p:sp>
        <p:sp>
          <p:nvSpPr>
            <p:cNvPr id="266" name="D"/>
            <p:cNvSpPr txBox="1"/>
            <p:nvPr/>
          </p:nvSpPr>
          <p:spPr>
            <a:xfrm>
              <a:off x="416229" y="1570627"/>
              <a:ext cx="334418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rPr lang="en-GB" noProof="0" dirty="0"/>
                <a:t>D</a:t>
              </a:r>
            </a:p>
          </p:txBody>
        </p:sp>
        <p:sp>
          <p:nvSpPr>
            <p:cNvPr id="267" name="reset"/>
            <p:cNvSpPr txBox="1"/>
            <p:nvPr/>
          </p:nvSpPr>
          <p:spPr>
            <a:xfrm>
              <a:off x="9680" y="2332627"/>
              <a:ext cx="791916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rPr lang="en-GB" noProof="0" dirty="0"/>
                <a:t>reset</a:t>
              </a:r>
            </a:p>
          </p:txBody>
        </p:sp>
        <p:sp>
          <p:nvSpPr>
            <p:cNvPr id="268" name="clock"/>
            <p:cNvSpPr txBox="1"/>
            <p:nvPr/>
          </p:nvSpPr>
          <p:spPr>
            <a:xfrm>
              <a:off x="-24129" y="2599327"/>
              <a:ext cx="808734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rPr lang="en-GB" noProof="0" dirty="0"/>
                <a:t>clock</a:t>
              </a:r>
            </a:p>
          </p:txBody>
        </p:sp>
        <p:sp>
          <p:nvSpPr>
            <p:cNvPr id="269" name="out"/>
            <p:cNvSpPr txBox="1"/>
            <p:nvPr/>
          </p:nvSpPr>
          <p:spPr>
            <a:xfrm>
              <a:off x="7440364" y="1043577"/>
              <a:ext cx="538015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rPr lang="en-GB" noProof="0" dirty="0"/>
                <a:t>out</a:t>
              </a: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4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2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2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2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2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2" grpId="1" build="p" bldLvl="5" animBg="1" advAuto="0"/>
      <p:bldP spid="270" grpId="2" animBg="1" advAuto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Multiplexer (MUX)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Multiplexer (MUX)</a:t>
            </a:r>
          </a:p>
        </p:txBody>
      </p:sp>
      <p:sp>
        <p:nvSpPr>
          <p:cNvPr id="27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17</a:t>
            </a:fld>
            <a:endParaRPr lang="en-GB" noProof="0" dirty="0"/>
          </a:p>
        </p:txBody>
      </p:sp>
      <p:sp>
        <p:nvSpPr>
          <p:cNvPr id="274" name="Line"/>
          <p:cNvSpPr/>
          <p:nvPr/>
        </p:nvSpPr>
        <p:spPr>
          <a:xfrm>
            <a:off x="6525487" y="3455082"/>
            <a:ext cx="1" cy="128981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75" name="Line"/>
          <p:cNvSpPr/>
          <p:nvPr/>
        </p:nvSpPr>
        <p:spPr>
          <a:xfrm>
            <a:off x="6983336" y="5215943"/>
            <a:ext cx="706062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76" name="Line"/>
          <p:cNvSpPr/>
          <p:nvPr/>
        </p:nvSpPr>
        <p:spPr>
          <a:xfrm>
            <a:off x="5315403" y="4797678"/>
            <a:ext cx="70606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77" name="Line"/>
          <p:cNvSpPr/>
          <p:nvPr/>
        </p:nvSpPr>
        <p:spPr>
          <a:xfrm>
            <a:off x="5315403" y="5661278"/>
            <a:ext cx="70606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78" name="MUX"/>
          <p:cNvSpPr/>
          <p:nvPr/>
        </p:nvSpPr>
        <p:spPr>
          <a:xfrm>
            <a:off x="5808193" y="4151866"/>
            <a:ext cx="1434588" cy="21296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37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79" name="in3"/>
          <p:cNvSpPr txBox="1"/>
          <p:nvPr/>
        </p:nvSpPr>
        <p:spPr>
          <a:xfrm>
            <a:off x="6197172" y="2957801"/>
            <a:ext cx="65663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rPr lang="en-GB" noProof="0" dirty="0"/>
              <a:t>in3</a:t>
            </a:r>
          </a:p>
        </p:txBody>
      </p:sp>
      <p:sp>
        <p:nvSpPr>
          <p:cNvPr id="280" name="in1"/>
          <p:cNvSpPr txBox="1"/>
          <p:nvPr/>
        </p:nvSpPr>
        <p:spPr>
          <a:xfrm>
            <a:off x="4633151" y="4505578"/>
            <a:ext cx="65663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rPr lang="en-GB" noProof="0" dirty="0"/>
              <a:t>in1</a:t>
            </a:r>
          </a:p>
        </p:txBody>
      </p:sp>
      <p:sp>
        <p:nvSpPr>
          <p:cNvPr id="281" name="in2"/>
          <p:cNvSpPr txBox="1"/>
          <p:nvPr/>
        </p:nvSpPr>
        <p:spPr>
          <a:xfrm>
            <a:off x="4633151" y="5369178"/>
            <a:ext cx="65663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rPr lang="en-GB" noProof="0" dirty="0"/>
              <a:t>in2</a:t>
            </a:r>
          </a:p>
        </p:txBody>
      </p:sp>
      <p:sp>
        <p:nvSpPr>
          <p:cNvPr id="282" name="out"/>
          <p:cNvSpPr txBox="1"/>
          <p:nvPr/>
        </p:nvSpPr>
        <p:spPr>
          <a:xfrm>
            <a:off x="7749881" y="4923843"/>
            <a:ext cx="67925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rPr lang="en-GB" noProof="0" dirty="0"/>
              <a:t>out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Rectangle"/>
          <p:cNvSpPr/>
          <p:nvPr/>
        </p:nvSpPr>
        <p:spPr>
          <a:xfrm>
            <a:off x="6833185" y="2768992"/>
            <a:ext cx="5346701" cy="663581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85" name="Line"/>
          <p:cNvSpPr/>
          <p:nvPr/>
        </p:nvSpPr>
        <p:spPr>
          <a:xfrm>
            <a:off x="11543153" y="2636352"/>
            <a:ext cx="1" cy="33475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86" name="Line"/>
          <p:cNvSpPr/>
          <p:nvPr/>
        </p:nvSpPr>
        <p:spPr>
          <a:xfrm flipH="1">
            <a:off x="10433684" y="2638956"/>
            <a:ext cx="1" cy="490448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87" name="Line"/>
          <p:cNvSpPr/>
          <p:nvPr/>
        </p:nvSpPr>
        <p:spPr>
          <a:xfrm flipH="1">
            <a:off x="9402772" y="2635874"/>
            <a:ext cx="1" cy="605136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88" name="Line"/>
          <p:cNvSpPr/>
          <p:nvPr/>
        </p:nvSpPr>
        <p:spPr>
          <a:xfrm flipH="1">
            <a:off x="8263408" y="2636352"/>
            <a:ext cx="1" cy="605136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89" name="Logic block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Logic blocks</a:t>
            </a:r>
          </a:p>
        </p:txBody>
      </p:sp>
      <p:sp>
        <p:nvSpPr>
          <p:cNvPr id="29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18</a:t>
            </a:fld>
            <a:endParaRPr lang="en-GB" noProof="0" dirty="0"/>
          </a:p>
        </p:txBody>
      </p:sp>
      <p:sp>
        <p:nvSpPr>
          <p:cNvPr id="291" name="MUX"/>
          <p:cNvSpPr/>
          <p:nvPr/>
        </p:nvSpPr>
        <p:spPr>
          <a:xfrm>
            <a:off x="7981652" y="3005534"/>
            <a:ext cx="563514" cy="6545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2" name="MUX"/>
          <p:cNvSpPr/>
          <p:nvPr/>
        </p:nvSpPr>
        <p:spPr>
          <a:xfrm>
            <a:off x="7981652" y="3792934"/>
            <a:ext cx="563514" cy="6545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3" name="MUX"/>
          <p:cNvSpPr/>
          <p:nvPr/>
        </p:nvSpPr>
        <p:spPr>
          <a:xfrm>
            <a:off x="7981652" y="45803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4" name="MUX"/>
          <p:cNvSpPr/>
          <p:nvPr/>
        </p:nvSpPr>
        <p:spPr>
          <a:xfrm>
            <a:off x="7981652" y="53677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5" name="MUX"/>
          <p:cNvSpPr/>
          <p:nvPr/>
        </p:nvSpPr>
        <p:spPr>
          <a:xfrm>
            <a:off x="7981652" y="61551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6" name="MUX"/>
          <p:cNvSpPr/>
          <p:nvPr/>
        </p:nvSpPr>
        <p:spPr>
          <a:xfrm>
            <a:off x="7981652" y="69425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7" name="MUX"/>
          <p:cNvSpPr/>
          <p:nvPr/>
        </p:nvSpPr>
        <p:spPr>
          <a:xfrm>
            <a:off x="7981652" y="77299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8" name="MUX"/>
          <p:cNvSpPr/>
          <p:nvPr/>
        </p:nvSpPr>
        <p:spPr>
          <a:xfrm>
            <a:off x="7981652" y="85173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9" name="Rectangle"/>
          <p:cNvSpPr/>
          <p:nvPr/>
        </p:nvSpPr>
        <p:spPr>
          <a:xfrm>
            <a:off x="7137400" y="2956456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0</a:t>
            </a:r>
          </a:p>
        </p:txBody>
      </p:sp>
      <p:sp>
        <p:nvSpPr>
          <p:cNvPr id="300" name="Rectangle"/>
          <p:cNvSpPr/>
          <p:nvPr/>
        </p:nvSpPr>
        <p:spPr>
          <a:xfrm>
            <a:off x="7137400" y="3337455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01" name="Rectangle"/>
          <p:cNvSpPr/>
          <p:nvPr/>
        </p:nvSpPr>
        <p:spPr>
          <a:xfrm>
            <a:off x="7137400" y="3744999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02" name="Rectangle"/>
          <p:cNvSpPr/>
          <p:nvPr/>
        </p:nvSpPr>
        <p:spPr>
          <a:xfrm>
            <a:off x="7137400" y="4125999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0</a:t>
            </a:r>
          </a:p>
        </p:txBody>
      </p:sp>
      <p:sp>
        <p:nvSpPr>
          <p:cNvPr id="303" name="Rectangle"/>
          <p:cNvSpPr/>
          <p:nvPr/>
        </p:nvSpPr>
        <p:spPr>
          <a:xfrm>
            <a:off x="7137400" y="4526049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0</a:t>
            </a:r>
          </a:p>
        </p:txBody>
      </p:sp>
      <p:sp>
        <p:nvSpPr>
          <p:cNvPr id="304" name="Rectangle"/>
          <p:cNvSpPr/>
          <p:nvPr/>
        </p:nvSpPr>
        <p:spPr>
          <a:xfrm>
            <a:off x="7137400" y="4907049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0</a:t>
            </a:r>
          </a:p>
        </p:txBody>
      </p:sp>
      <p:sp>
        <p:nvSpPr>
          <p:cNvPr id="305" name="Rectangle"/>
          <p:cNvSpPr/>
          <p:nvPr/>
        </p:nvSpPr>
        <p:spPr>
          <a:xfrm>
            <a:off x="7137400" y="5314592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06" name="Rectangle"/>
          <p:cNvSpPr/>
          <p:nvPr/>
        </p:nvSpPr>
        <p:spPr>
          <a:xfrm>
            <a:off x="7137400" y="5695592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07" name="Rectangle"/>
          <p:cNvSpPr/>
          <p:nvPr/>
        </p:nvSpPr>
        <p:spPr>
          <a:xfrm>
            <a:off x="7137400" y="6095642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0</a:t>
            </a:r>
          </a:p>
        </p:txBody>
      </p:sp>
      <p:sp>
        <p:nvSpPr>
          <p:cNvPr id="308" name="Rectangle"/>
          <p:cNvSpPr/>
          <p:nvPr/>
        </p:nvSpPr>
        <p:spPr>
          <a:xfrm>
            <a:off x="7137400" y="6476642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09" name="Rectangle"/>
          <p:cNvSpPr/>
          <p:nvPr/>
        </p:nvSpPr>
        <p:spPr>
          <a:xfrm>
            <a:off x="7137400" y="6884185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10" name="Rectangle"/>
          <p:cNvSpPr/>
          <p:nvPr/>
        </p:nvSpPr>
        <p:spPr>
          <a:xfrm>
            <a:off x="7137400" y="7265185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11" name="Rectangle"/>
          <p:cNvSpPr/>
          <p:nvPr/>
        </p:nvSpPr>
        <p:spPr>
          <a:xfrm>
            <a:off x="7137400" y="7665235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12" name="Rectangle"/>
          <p:cNvSpPr/>
          <p:nvPr/>
        </p:nvSpPr>
        <p:spPr>
          <a:xfrm>
            <a:off x="7137400" y="8046235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0</a:t>
            </a:r>
          </a:p>
        </p:txBody>
      </p:sp>
      <p:sp>
        <p:nvSpPr>
          <p:cNvPr id="313" name="Rectangle"/>
          <p:cNvSpPr/>
          <p:nvPr/>
        </p:nvSpPr>
        <p:spPr>
          <a:xfrm>
            <a:off x="7137400" y="8453779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0</a:t>
            </a:r>
          </a:p>
        </p:txBody>
      </p:sp>
      <p:sp>
        <p:nvSpPr>
          <p:cNvPr id="314" name="Rectangle"/>
          <p:cNvSpPr/>
          <p:nvPr/>
        </p:nvSpPr>
        <p:spPr>
          <a:xfrm>
            <a:off x="7137400" y="8834779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15" name="MUX"/>
          <p:cNvSpPr/>
          <p:nvPr/>
        </p:nvSpPr>
        <p:spPr>
          <a:xfrm>
            <a:off x="9064297" y="3424634"/>
            <a:ext cx="563514" cy="6545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316" name="MUX"/>
          <p:cNvSpPr/>
          <p:nvPr/>
        </p:nvSpPr>
        <p:spPr>
          <a:xfrm>
            <a:off x="9064297" y="5012134"/>
            <a:ext cx="563514" cy="6545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317" name="MUX"/>
          <p:cNvSpPr/>
          <p:nvPr/>
        </p:nvSpPr>
        <p:spPr>
          <a:xfrm>
            <a:off x="9064297" y="65107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318" name="MUX"/>
          <p:cNvSpPr/>
          <p:nvPr/>
        </p:nvSpPr>
        <p:spPr>
          <a:xfrm>
            <a:off x="9064297" y="81871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319" name="MUX"/>
          <p:cNvSpPr/>
          <p:nvPr/>
        </p:nvSpPr>
        <p:spPr>
          <a:xfrm>
            <a:off x="10169197" y="4250134"/>
            <a:ext cx="563514" cy="6545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320" name="MUX"/>
          <p:cNvSpPr/>
          <p:nvPr/>
        </p:nvSpPr>
        <p:spPr>
          <a:xfrm>
            <a:off x="10169197" y="73743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321" name="MUX"/>
          <p:cNvSpPr/>
          <p:nvPr/>
        </p:nvSpPr>
        <p:spPr>
          <a:xfrm>
            <a:off x="11261397" y="57868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322" name="Line"/>
          <p:cNvSpPr/>
          <p:nvPr/>
        </p:nvSpPr>
        <p:spPr>
          <a:xfrm>
            <a:off x="7465466" y="3133313"/>
            <a:ext cx="518420" cy="1151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23" name="Line"/>
          <p:cNvSpPr/>
          <p:nvPr/>
        </p:nvSpPr>
        <p:spPr>
          <a:xfrm>
            <a:off x="7465466" y="3455109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24" name="Line"/>
          <p:cNvSpPr/>
          <p:nvPr/>
        </p:nvSpPr>
        <p:spPr>
          <a:xfrm>
            <a:off x="7465466" y="3912445"/>
            <a:ext cx="518420" cy="1151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25" name="Line"/>
          <p:cNvSpPr/>
          <p:nvPr/>
        </p:nvSpPr>
        <p:spPr>
          <a:xfrm>
            <a:off x="7465466" y="4234241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26" name="Line"/>
          <p:cNvSpPr/>
          <p:nvPr/>
        </p:nvSpPr>
        <p:spPr>
          <a:xfrm>
            <a:off x="7465466" y="4699845"/>
            <a:ext cx="518420" cy="1151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27" name="Line"/>
          <p:cNvSpPr/>
          <p:nvPr/>
        </p:nvSpPr>
        <p:spPr>
          <a:xfrm>
            <a:off x="7465466" y="5021641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28" name="Line"/>
          <p:cNvSpPr/>
          <p:nvPr/>
        </p:nvSpPr>
        <p:spPr>
          <a:xfrm>
            <a:off x="7465466" y="5487245"/>
            <a:ext cx="518420" cy="1151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29" name="Line"/>
          <p:cNvSpPr/>
          <p:nvPr/>
        </p:nvSpPr>
        <p:spPr>
          <a:xfrm>
            <a:off x="7465466" y="5809041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0" name="Line"/>
          <p:cNvSpPr/>
          <p:nvPr/>
        </p:nvSpPr>
        <p:spPr>
          <a:xfrm>
            <a:off x="7465466" y="6274646"/>
            <a:ext cx="518420" cy="1151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1" name="Line"/>
          <p:cNvSpPr/>
          <p:nvPr/>
        </p:nvSpPr>
        <p:spPr>
          <a:xfrm>
            <a:off x="7465466" y="6596442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2" name="Line"/>
          <p:cNvSpPr/>
          <p:nvPr/>
        </p:nvSpPr>
        <p:spPr>
          <a:xfrm>
            <a:off x="7465466" y="7053777"/>
            <a:ext cx="518420" cy="1151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3" name="Line"/>
          <p:cNvSpPr/>
          <p:nvPr/>
        </p:nvSpPr>
        <p:spPr>
          <a:xfrm>
            <a:off x="7465466" y="7375574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4" name="Line"/>
          <p:cNvSpPr/>
          <p:nvPr/>
        </p:nvSpPr>
        <p:spPr>
          <a:xfrm>
            <a:off x="7465466" y="7841177"/>
            <a:ext cx="518420" cy="1151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5" name="Line"/>
          <p:cNvSpPr/>
          <p:nvPr/>
        </p:nvSpPr>
        <p:spPr>
          <a:xfrm>
            <a:off x="7465466" y="8162974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6" name="Line"/>
          <p:cNvSpPr/>
          <p:nvPr/>
        </p:nvSpPr>
        <p:spPr>
          <a:xfrm>
            <a:off x="7465466" y="8628577"/>
            <a:ext cx="518420" cy="1151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7" name="Line"/>
          <p:cNvSpPr/>
          <p:nvPr/>
        </p:nvSpPr>
        <p:spPr>
          <a:xfrm>
            <a:off x="7465466" y="8950374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8" name="Line"/>
          <p:cNvSpPr/>
          <p:nvPr/>
        </p:nvSpPr>
        <p:spPr>
          <a:xfrm>
            <a:off x="8532266" y="3350857"/>
            <a:ext cx="518420" cy="30111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9" name="Line"/>
          <p:cNvSpPr/>
          <p:nvPr/>
        </p:nvSpPr>
        <p:spPr>
          <a:xfrm>
            <a:off x="8532266" y="3856742"/>
            <a:ext cx="518420" cy="2982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0" name="Line"/>
          <p:cNvSpPr/>
          <p:nvPr/>
        </p:nvSpPr>
        <p:spPr>
          <a:xfrm>
            <a:off x="8532266" y="4898660"/>
            <a:ext cx="518420" cy="30111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1" name="Line"/>
          <p:cNvSpPr/>
          <p:nvPr/>
        </p:nvSpPr>
        <p:spPr>
          <a:xfrm>
            <a:off x="8532266" y="5404545"/>
            <a:ext cx="518420" cy="2982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2" name="Line"/>
          <p:cNvSpPr/>
          <p:nvPr/>
        </p:nvSpPr>
        <p:spPr>
          <a:xfrm>
            <a:off x="8532266" y="6511505"/>
            <a:ext cx="518420" cy="30111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3" name="Line"/>
          <p:cNvSpPr/>
          <p:nvPr/>
        </p:nvSpPr>
        <p:spPr>
          <a:xfrm>
            <a:off x="8532266" y="7017391"/>
            <a:ext cx="518420" cy="2982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4" name="Line"/>
          <p:cNvSpPr/>
          <p:nvPr/>
        </p:nvSpPr>
        <p:spPr>
          <a:xfrm>
            <a:off x="8532266" y="8085973"/>
            <a:ext cx="518420" cy="30111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5" name="Line"/>
          <p:cNvSpPr/>
          <p:nvPr/>
        </p:nvSpPr>
        <p:spPr>
          <a:xfrm>
            <a:off x="8532266" y="8591859"/>
            <a:ext cx="518420" cy="2982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6" name="Line"/>
          <p:cNvSpPr/>
          <p:nvPr/>
        </p:nvSpPr>
        <p:spPr>
          <a:xfrm>
            <a:off x="9637166" y="3746994"/>
            <a:ext cx="518420" cy="6622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7" name="Line"/>
          <p:cNvSpPr/>
          <p:nvPr/>
        </p:nvSpPr>
        <p:spPr>
          <a:xfrm>
            <a:off x="9637166" y="4739400"/>
            <a:ext cx="518420" cy="6196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8" name="Line"/>
          <p:cNvSpPr/>
          <p:nvPr/>
        </p:nvSpPr>
        <p:spPr>
          <a:xfrm>
            <a:off x="9628991" y="6895028"/>
            <a:ext cx="518419" cy="6622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9" name="Line"/>
          <p:cNvSpPr/>
          <p:nvPr/>
        </p:nvSpPr>
        <p:spPr>
          <a:xfrm>
            <a:off x="9628991" y="7887434"/>
            <a:ext cx="518419" cy="6196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50" name="Line"/>
          <p:cNvSpPr/>
          <p:nvPr/>
        </p:nvSpPr>
        <p:spPr>
          <a:xfrm>
            <a:off x="10733623" y="4592211"/>
            <a:ext cx="518419" cy="137752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51" name="Line"/>
          <p:cNvSpPr/>
          <p:nvPr/>
        </p:nvSpPr>
        <p:spPr>
          <a:xfrm>
            <a:off x="10733623" y="6299935"/>
            <a:ext cx="518419" cy="141165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52" name="Line"/>
          <p:cNvSpPr/>
          <p:nvPr/>
        </p:nvSpPr>
        <p:spPr>
          <a:xfrm>
            <a:off x="11836400" y="6133265"/>
            <a:ext cx="70606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53" name="D"/>
          <p:cNvSpPr txBox="1"/>
          <p:nvPr/>
        </p:nvSpPr>
        <p:spPr>
          <a:xfrm>
            <a:off x="8105371" y="2271370"/>
            <a:ext cx="316075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/>
            </a:lvl1pPr>
          </a:lstStyle>
          <a:p>
            <a:r>
              <a:rPr lang="en-GB" noProof="0" dirty="0"/>
              <a:t>D</a:t>
            </a:r>
          </a:p>
        </p:txBody>
      </p:sp>
      <p:sp>
        <p:nvSpPr>
          <p:cNvPr id="354" name="C"/>
          <p:cNvSpPr txBox="1"/>
          <p:nvPr/>
        </p:nvSpPr>
        <p:spPr>
          <a:xfrm>
            <a:off x="9244735" y="2271370"/>
            <a:ext cx="316075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/>
            </a:lvl1pPr>
          </a:lstStyle>
          <a:p>
            <a:r>
              <a:rPr lang="en-GB" noProof="0" dirty="0"/>
              <a:t>C</a:t>
            </a:r>
          </a:p>
        </p:txBody>
      </p:sp>
      <p:sp>
        <p:nvSpPr>
          <p:cNvPr id="355" name="B"/>
          <p:cNvSpPr txBox="1"/>
          <p:nvPr/>
        </p:nvSpPr>
        <p:spPr>
          <a:xfrm>
            <a:off x="10275647" y="2271370"/>
            <a:ext cx="316075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/>
            </a:lvl1pPr>
          </a:lstStyle>
          <a:p>
            <a:r>
              <a:rPr lang="en-GB" noProof="0" dirty="0"/>
              <a:t>B</a:t>
            </a:r>
          </a:p>
        </p:txBody>
      </p:sp>
      <p:sp>
        <p:nvSpPr>
          <p:cNvPr id="356" name="A"/>
          <p:cNvSpPr txBox="1"/>
          <p:nvPr/>
        </p:nvSpPr>
        <p:spPr>
          <a:xfrm>
            <a:off x="11385117" y="2271370"/>
            <a:ext cx="316075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/>
            </a:lvl1pPr>
          </a:lstStyle>
          <a:p>
            <a:r>
              <a:rPr lang="en-GB" noProof="0" dirty="0"/>
              <a:t>A</a:t>
            </a:r>
          </a:p>
        </p:txBody>
      </p:sp>
      <p:sp>
        <p:nvSpPr>
          <p:cNvPr id="357" name="X"/>
          <p:cNvSpPr txBox="1"/>
          <p:nvPr/>
        </p:nvSpPr>
        <p:spPr>
          <a:xfrm>
            <a:off x="12507114" y="5917365"/>
            <a:ext cx="300658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/>
            </a:lvl1pPr>
          </a:lstStyle>
          <a:p>
            <a:r>
              <a:rPr lang="en-GB" noProof="0" dirty="0"/>
              <a:t>X</a:t>
            </a:r>
          </a:p>
        </p:txBody>
      </p:sp>
      <p:graphicFrame>
        <p:nvGraphicFramePr>
          <p:cNvPr id="358" name="Table 1"/>
          <p:cNvGraphicFramePr/>
          <p:nvPr>
            <p:extLst>
              <p:ext uri="{D42A27DB-BD31-4B8C-83A1-F6EECF244321}">
                <p14:modId xmlns:p14="http://schemas.microsoft.com/office/powerpoint/2010/main" val="248043170"/>
              </p:ext>
            </p:extLst>
          </p:nvPr>
        </p:nvGraphicFramePr>
        <p:xfrm>
          <a:off x="1063754" y="2544849"/>
          <a:ext cx="5334000" cy="6725952"/>
        </p:xfrm>
        <a:graphic>
          <a:graphicData uri="http://schemas.openxmlformats.org/drawingml/2006/table">
            <a:tbl>
              <a:tblPr firstRow="1">
                <a:tableStyleId>{4A9BC294-FFE2-49D5-8D69-9E1BD2C41BD5}</a:tableStyleId>
              </a:tblPr>
              <a:tblGrid>
                <a:gridCol w="1066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3067"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2200" b="1" noProof="0" dirty="0">
                          <a:latin typeface="+mn-lt"/>
                          <a:ea typeface="+mn-ea"/>
                          <a:cs typeface="+mn-cs"/>
                        </a:rPr>
                        <a:t>A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2200" b="1" noProof="0" dirty="0">
                          <a:latin typeface="+mn-lt"/>
                          <a:ea typeface="+mn-ea"/>
                          <a:cs typeface="+mn-cs"/>
                        </a:rPr>
                        <a:t>B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2200" b="1" noProof="0" dirty="0">
                          <a:latin typeface="+mn-lt"/>
                          <a:ea typeface="+mn-ea"/>
                          <a:cs typeface="+mn-cs"/>
                        </a:rPr>
                        <a:t>C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2200" b="1" noProof="0" dirty="0">
                          <a:latin typeface="+mn-lt"/>
                          <a:ea typeface="+mn-ea"/>
                          <a:cs typeface="+mn-cs"/>
                        </a:rPr>
                        <a:t>D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2200" b="1" noProof="0" dirty="0"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361" name="4-LUT"/>
          <p:cNvSpPr txBox="1"/>
          <p:nvPr/>
        </p:nvSpPr>
        <p:spPr>
          <a:xfrm>
            <a:off x="10884230" y="8752229"/>
            <a:ext cx="1243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>
                <a:solidFill>
                  <a:srgbClr val="9D7A2D"/>
                </a:solidFill>
              </a:defRPr>
            </a:lvl1pPr>
          </a:lstStyle>
          <a:p>
            <a:r>
              <a:rPr lang="en-GB" noProof="0" dirty="0"/>
              <a:t>4-LUT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" fill="hold"/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1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" fill="hold"/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1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" fill="hold"/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1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7" fill="hold"/>
                                        <p:tgtEl>
                                          <p:spTgt spid="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1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0" fill="hold"/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3" fill="hold"/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1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6" fill="hold"/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1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9" fill="hold"/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1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2" fill="hold"/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1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5" fill="hold"/>
                                        <p:tgtEl>
                                          <p:spTgt spid="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1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8" fill="hold"/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grpId="2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1" fill="hold"/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2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4" fill="hold"/>
                                        <p:tgtEl>
                                          <p:spTgt spid="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" presetClass="entr" presetSubtype="0" fill="hold" grpId="2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7" fill="hold"/>
                                        <p:tgtEl>
                                          <p:spTgt spid="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2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0" fill="hold"/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grpId="2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3" fill="hold"/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2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6" fill="hold"/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" presetClass="entr" presetSubtype="0" fill="hold" grpId="2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9" fill="hold"/>
                                        <p:tgtEl>
                                          <p:spTgt spid="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2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2" fill="hold"/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" presetClass="entr" presetSubtype="0" fill="hold" grpId="2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5" fill="hold"/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2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8" fill="hold"/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" presetClass="entr" presetSubtype="0" fill="hold" grpId="3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1" fill="hold"/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3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4" fill="hold"/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" presetClass="entr" presetSubtype="0" fill="hold" grpId="3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7" fill="hold"/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ntr" presetSubtype="0" fill="hold" grpId="3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0" fill="hold"/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" presetClass="entr" presetSubtype="0" fill="hold" grpId="3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3" fill="hold"/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3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6" fill="hold"/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" presetClass="entr" presetSubtype="0" fill="hold" grpId="3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9" fill="hold"/>
                                        <p:tgtEl>
                                          <p:spTgt spid="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ntr" presetSubtype="0" fill="hold" grpId="3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2" fill="hold"/>
                                        <p:tgtEl>
                                          <p:spTgt spid="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1" presetClass="entr" presetSubtype="0" fill="hold" grpId="3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5" fill="hold"/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3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8" fill="hold"/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" presetClass="entr" presetSubtype="0" fill="hold" grpId="4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1" fill="hold"/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" presetClass="entr" presetSubtype="0" fill="hold" grpId="4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4" fill="hold"/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1" presetClass="entr" presetSubtype="0" fill="hold" grpId="4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7" fill="hold"/>
                                        <p:tgtEl>
                                          <p:spTgt spid="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4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0" fill="hold"/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" presetClass="entr" presetSubtype="0" fill="hold" grpId="4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3" fill="hold"/>
                                        <p:tgtEl>
                                          <p:spTgt spid="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" presetClass="entr" presetSubtype="0" fill="hold" grpId="4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6" fill="hold"/>
                                        <p:tgtEl>
                                          <p:spTgt spid="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0"/>
                            </p:stCondLst>
                            <p:childTnLst>
                              <p:par>
                                <p:cTn id="138" presetID="1" presetClass="entr" presetSubtype="0" fill="hold" grpId="4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9" fill="hold"/>
                                        <p:tgtEl>
                                          <p:spTgt spid="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grpId="4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2" fill="hold"/>
                                        <p:tgtEl>
                                          <p:spTgt spid="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1" presetClass="entr" presetSubtype="0" fill="hold" grpId="4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5" fill="hold"/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1" presetClass="entr" presetSubtype="0" fill="hold" grpId="4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8" fill="hold"/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9" fill="hold">
                            <p:stCondLst>
                              <p:cond delay="0"/>
                            </p:stCondLst>
                            <p:childTnLst>
                              <p:par>
                                <p:cTn id="150" presetID="1" presetClass="entr" presetSubtype="0" fill="hold" grpId="5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1" fill="hold"/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ntr" presetSubtype="0" fill="hold" grpId="5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4" fill="hold"/>
                                        <p:tgtEl>
                                          <p:spTgt spid="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5" fill="hold">
                            <p:stCondLst>
                              <p:cond delay="0"/>
                            </p:stCondLst>
                            <p:childTnLst>
                              <p:par>
                                <p:cTn id="156" presetID="1" presetClass="entr" presetSubtype="0" fill="hold" grpId="5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7" fill="hold"/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8" fill="hold">
                            <p:stCondLst>
                              <p:cond delay="0"/>
                            </p:stCondLst>
                            <p:childTnLst>
                              <p:par>
                                <p:cTn id="159" presetID="1" presetClass="entr" presetSubtype="0" fill="hold" grpId="5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0" fill="hold"/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62" presetID="1" presetClass="entr" presetSubtype="0" fill="hold" grpId="5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3" fill="hold"/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ntr" presetSubtype="0" fill="hold" grpId="5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6" fill="hold"/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8" presetID="1" presetClass="entr" presetSubtype="0" fill="hold" grpId="5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9" fill="hold"/>
                                        <p:tgtEl>
                                          <p:spTgt spid="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0" fill="hold">
                            <p:stCondLst>
                              <p:cond delay="0"/>
                            </p:stCondLst>
                            <p:childTnLst>
                              <p:par>
                                <p:cTn id="171" presetID="1" presetClass="entr" presetSubtype="0" fill="hold" grpId="5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2" fill="hold"/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1" presetClass="entr" presetSubtype="0" fill="hold" grpId="5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5" fill="hold"/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1" presetClass="entr" presetSubtype="0" fill="hold" grpId="5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8" fill="hold"/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9" fill="hold">
                            <p:stCondLst>
                              <p:cond delay="0"/>
                            </p:stCondLst>
                            <p:childTnLst>
                              <p:par>
                                <p:cTn id="180" presetID="1" presetClass="entr" presetSubtype="0" fill="hold" grpId="6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1" fill="hold"/>
                                        <p:tgtEl>
                                          <p:spTgt spid="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" presetClass="entr" presetSubtype="0" fill="hold" grpId="6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4" fill="hold"/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5" fill="hold">
                            <p:stCondLst>
                              <p:cond delay="0"/>
                            </p:stCondLst>
                            <p:childTnLst>
                              <p:par>
                                <p:cTn id="186" presetID="1" presetClass="entr" presetSubtype="0" fill="hold" grpId="6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7" fill="hold"/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8" fill="hold">
                            <p:stCondLst>
                              <p:cond delay="0"/>
                            </p:stCondLst>
                            <p:childTnLst>
                              <p:par>
                                <p:cTn id="189" presetID="1" presetClass="entr" presetSubtype="0" fill="hold" grpId="6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0" fill="hold"/>
                                        <p:tgtEl>
                                          <p:spTgt spid="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1" fill="hold">
                            <p:stCondLst>
                              <p:cond delay="0"/>
                            </p:stCondLst>
                            <p:childTnLst>
                              <p:par>
                                <p:cTn id="192" presetID="1" presetClass="entr" presetSubtype="0" fill="hold" grpId="6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3" fill="hold"/>
                                        <p:tgtEl>
                                          <p:spTgt spid="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4" fill="hold">
                            <p:stCondLst>
                              <p:cond delay="0"/>
                            </p:stCondLst>
                            <p:childTnLst>
                              <p:par>
                                <p:cTn id="195" presetID="1" presetClass="entr" presetSubtype="0" fill="hold" grpId="6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6" fill="hold"/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0"/>
                            </p:stCondLst>
                            <p:childTnLst>
                              <p:par>
                                <p:cTn id="198" presetID="1" presetClass="entr" presetSubtype="0" fill="hold" grpId="6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9" fill="hold"/>
                                        <p:tgtEl>
                                          <p:spTgt spid="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0" fill="hold">
                            <p:stCondLst>
                              <p:cond delay="0"/>
                            </p:stCondLst>
                            <p:childTnLst>
                              <p:par>
                                <p:cTn id="201" presetID="1" presetClass="entr" presetSubtype="0" fill="hold" grpId="6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2" fill="hold"/>
                                        <p:tgtEl>
                                          <p:spTgt spid="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3" fill="hold">
                            <p:stCondLst>
                              <p:cond delay="0"/>
                            </p:stCondLst>
                            <p:childTnLst>
                              <p:par>
                                <p:cTn id="204" presetID="1" presetClass="entr" presetSubtype="0" fill="hold" grpId="6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5" fill="hold"/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6" fill="hold">
                            <p:stCondLst>
                              <p:cond delay="0"/>
                            </p:stCondLst>
                            <p:childTnLst>
                              <p:par>
                                <p:cTn id="207" presetID="1" presetClass="entr" presetSubtype="0" fill="hold" grpId="6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8" fill="hold"/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9" fill="hold">
                            <p:stCondLst>
                              <p:cond delay="0"/>
                            </p:stCondLst>
                            <p:childTnLst>
                              <p:par>
                                <p:cTn id="210" presetID="1" presetClass="entr" presetSubtype="0" fill="hold" grpId="7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1" fill="hold"/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2" fill="hold">
                            <p:stCondLst>
                              <p:cond delay="0"/>
                            </p:stCondLst>
                            <p:childTnLst>
                              <p:par>
                                <p:cTn id="213" presetID="1" presetClass="entr" presetSubtype="0" fill="hold" grpId="7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4" fill="hold"/>
                                        <p:tgtEl>
                                          <p:spTgt spid="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5" fill="hold">
                            <p:stCondLst>
                              <p:cond delay="0"/>
                            </p:stCondLst>
                            <p:childTnLst>
                              <p:par>
                                <p:cTn id="216" presetID="1" presetClass="entr" presetSubtype="0" fill="hold" grpId="7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7" fill="hold"/>
                                        <p:tgtEl>
                                          <p:spTgt spid="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8" fill="hold">
                            <p:stCondLst>
                              <p:cond delay="0"/>
                            </p:stCondLst>
                            <p:childTnLst>
                              <p:par>
                                <p:cTn id="219" presetID="1" presetClass="entr" presetSubtype="0" fill="hold" grpId="7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0" fill="hold"/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1" fill="hold">
                            <p:stCondLst>
                              <p:cond delay="0"/>
                            </p:stCondLst>
                            <p:childTnLst>
                              <p:par>
                                <p:cTn id="222" presetID="1" presetClass="entr" presetSubtype="0" fill="hold" grpId="7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3" fill="hold"/>
                                        <p:tgtEl>
                                          <p:spTgt spid="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4" fill="hold">
                      <p:stCondLst>
                        <p:cond delay="indefinite"/>
                      </p:stCondLst>
                      <p:childTnLst>
                        <p:par>
                          <p:cTn id="225" fill="hold">
                            <p:stCondLst>
                              <p:cond delay="0"/>
                            </p:stCondLst>
                            <p:childTnLst>
                              <p:par>
                                <p:cTn id="226" presetID="1" presetClass="entr" presetSubtype="0" fill="hold" grpId="7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7" fill="hold"/>
                                        <p:tgtEl>
                                          <p:spTgt spid="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4" grpId="7" animBg="1" advAuto="0"/>
      <p:bldP spid="285" grpId="23" animBg="1" advAuto="0"/>
      <p:bldP spid="286" grpId="33" animBg="1" advAuto="0"/>
      <p:bldP spid="287" grpId="38" animBg="1" advAuto="0"/>
      <p:bldP spid="288" grpId="39" animBg="1" advAuto="0"/>
      <p:bldP spid="291" grpId="9" animBg="1" advAuto="0"/>
      <p:bldP spid="292" grpId="17" animBg="1" advAuto="0"/>
      <p:bldP spid="293" grpId="25" animBg="1" advAuto="0"/>
      <p:bldP spid="294" grpId="35" animBg="1" advAuto="0"/>
      <p:bldP spid="295" grpId="46" animBg="1" advAuto="0"/>
      <p:bldP spid="296" grpId="55" animBg="1" advAuto="0"/>
      <p:bldP spid="297" grpId="62" animBg="1" advAuto="0"/>
      <p:bldP spid="298" grpId="70" animBg="1" advAuto="0"/>
      <p:bldP spid="299" grpId="8" animBg="1" advAuto="0"/>
      <p:bldP spid="300" grpId="11" animBg="1" advAuto="0"/>
      <p:bldP spid="301" grpId="15" animBg="1" advAuto="0"/>
      <p:bldP spid="302" grpId="20" animBg="1" advAuto="0"/>
      <p:bldP spid="303" grpId="24" animBg="1" advAuto="0"/>
      <p:bldP spid="304" grpId="30" animBg="1" advAuto="0"/>
      <p:bldP spid="305" grpId="34" animBg="1" advAuto="0"/>
      <p:bldP spid="306" grpId="40" animBg="1" advAuto="0"/>
      <p:bldP spid="307" grpId="43" animBg="1" advAuto="0"/>
      <p:bldP spid="308" grpId="49" animBg="1" advAuto="0"/>
      <p:bldP spid="309" grpId="53" animBg="1" advAuto="0"/>
      <p:bldP spid="310" grpId="58" animBg="1" advAuto="0"/>
      <p:bldP spid="311" grpId="61" animBg="1" advAuto="0"/>
      <p:bldP spid="312" grpId="65" animBg="1" advAuto="0"/>
      <p:bldP spid="313" grpId="69" animBg="1" advAuto="0"/>
      <p:bldP spid="314" grpId="73" animBg="1" advAuto="0"/>
      <p:bldP spid="315" grpId="13" animBg="1" advAuto="0"/>
      <p:bldP spid="316" grpId="31" animBg="1" advAuto="0"/>
      <p:bldP spid="317" grpId="50" animBg="1" advAuto="0"/>
      <p:bldP spid="318" grpId="68" animBg="1" advAuto="0"/>
      <p:bldP spid="319" grpId="22" animBg="1" advAuto="0"/>
      <p:bldP spid="320" grpId="59" animBg="1" advAuto="0"/>
      <p:bldP spid="321" grpId="41" animBg="1" advAuto="0"/>
      <p:bldP spid="322" grpId="10" animBg="1" advAuto="0"/>
      <p:bldP spid="323" grpId="14" animBg="1" advAuto="0"/>
      <p:bldP spid="324" grpId="19" animBg="1" advAuto="0"/>
      <p:bldP spid="325" grpId="21" animBg="1" advAuto="0"/>
      <p:bldP spid="326" grpId="27" animBg="1" advAuto="0"/>
      <p:bldP spid="327" grpId="32" animBg="1" advAuto="0"/>
      <p:bldP spid="328" grpId="37" animBg="1" advAuto="0"/>
      <p:bldP spid="329" grpId="42" animBg="1" advAuto="0"/>
      <p:bldP spid="330" grpId="47" animBg="1" advAuto="0"/>
      <p:bldP spid="331" grpId="52" animBg="1" advAuto="0"/>
      <p:bldP spid="332" grpId="57" animBg="1" advAuto="0"/>
      <p:bldP spid="333" grpId="60" animBg="1" advAuto="0"/>
      <p:bldP spid="334" grpId="63" animBg="1" advAuto="0"/>
      <p:bldP spid="335" grpId="67" animBg="1" advAuto="0"/>
      <p:bldP spid="336" grpId="72" animBg="1" advAuto="0"/>
      <p:bldP spid="337" grpId="74" animBg="1" advAuto="0"/>
      <p:bldP spid="338" grpId="12" animBg="1" advAuto="0"/>
      <p:bldP spid="339" grpId="18" animBg="1" advAuto="0"/>
      <p:bldP spid="340" grpId="29" animBg="1" advAuto="0"/>
      <p:bldP spid="341" grpId="36" animBg="1" advAuto="0"/>
      <p:bldP spid="342" grpId="51" animBg="1" advAuto="0"/>
      <p:bldP spid="343" grpId="56" animBg="1" advAuto="0"/>
      <p:bldP spid="344" grpId="66" animBg="1" advAuto="0"/>
      <p:bldP spid="345" grpId="71" animBg="1" advAuto="0"/>
      <p:bldP spid="346" grpId="16" animBg="1" advAuto="0"/>
      <p:bldP spid="347" grpId="28" animBg="1" advAuto="0"/>
      <p:bldP spid="348" grpId="54" animBg="1" advAuto="0"/>
      <p:bldP spid="349" grpId="64" animBg="1" advAuto="0"/>
      <p:bldP spid="350" grpId="26" animBg="1" advAuto="0"/>
      <p:bldP spid="351" grpId="48" animBg="1" advAuto="0"/>
      <p:bldP spid="352" grpId="44" animBg="1" advAuto="0"/>
      <p:bldP spid="353" grpId="3" animBg="1" advAuto="0"/>
      <p:bldP spid="354" grpId="4" animBg="1" advAuto="0"/>
      <p:bldP spid="355" grpId="5" animBg="1" advAuto="0"/>
      <p:bldP spid="356" grpId="6" animBg="1" advAuto="0"/>
      <p:bldP spid="357" grpId="45" animBg="1" advAuto="0"/>
      <p:bldP spid="358" grpId="1" animBg="1" advAuto="0"/>
      <p:bldP spid="361" grpId="76" animBg="1" advAuto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Field-programmable  gate arrays (FPGAs)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490727">
              <a:defRPr sz="6719"/>
            </a:pPr>
            <a:r>
              <a:rPr lang="en-GB" noProof="0" dirty="0"/>
              <a:t>Field-programmable </a:t>
            </a:r>
            <a:br>
              <a:rPr lang="en-GB" noProof="0" dirty="0"/>
            </a:br>
            <a:r>
              <a:rPr lang="en-GB" noProof="0" dirty="0"/>
              <a:t>gate arrays (FPGAs)</a:t>
            </a:r>
          </a:p>
        </p:txBody>
      </p:sp>
      <p:sp>
        <p:nvSpPr>
          <p:cNvPr id="36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19</a:t>
            </a:fld>
            <a:endParaRPr lang="en-GB" noProof="0" dirty="0"/>
          </a:p>
        </p:txBody>
      </p:sp>
      <p:grpSp>
        <p:nvGrpSpPr>
          <p:cNvPr id="473" name="Group"/>
          <p:cNvGrpSpPr/>
          <p:nvPr/>
        </p:nvGrpSpPr>
        <p:grpSpPr>
          <a:xfrm>
            <a:off x="6376650" y="2733893"/>
            <a:ext cx="6744329" cy="6124357"/>
            <a:chOff x="0" y="-6350"/>
            <a:chExt cx="6744327" cy="6124356"/>
          </a:xfrm>
        </p:grpSpPr>
        <p:grpSp>
          <p:nvGrpSpPr>
            <p:cNvPr id="369" name="Group"/>
            <p:cNvGrpSpPr/>
            <p:nvPr/>
          </p:nvGrpSpPr>
          <p:grpSpPr>
            <a:xfrm>
              <a:off x="670775" y="1072418"/>
              <a:ext cx="558062" cy="3756556"/>
              <a:chOff x="0" y="0"/>
              <a:chExt cx="558060" cy="3756555"/>
            </a:xfrm>
          </p:grpSpPr>
          <p:sp>
            <p:nvSpPr>
              <p:cNvPr id="365" name="Line"/>
              <p:cNvSpPr/>
              <p:nvPr/>
            </p:nvSpPr>
            <p:spPr>
              <a:xfrm flipV="1">
                <a:off x="-1" y="0"/>
                <a:ext cx="2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66" name="Line"/>
              <p:cNvSpPr/>
              <p:nvPr/>
            </p:nvSpPr>
            <p:spPr>
              <a:xfrm flipV="1">
                <a:off x="186020" y="0"/>
                <a:ext cx="1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67" name="Line"/>
              <p:cNvSpPr/>
              <p:nvPr/>
            </p:nvSpPr>
            <p:spPr>
              <a:xfrm flipV="1">
                <a:off x="372040" y="0"/>
                <a:ext cx="1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68" name="Line"/>
              <p:cNvSpPr/>
              <p:nvPr/>
            </p:nvSpPr>
            <p:spPr>
              <a:xfrm flipV="1">
                <a:off x="558060" y="0"/>
                <a:ext cx="1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374" name="Group"/>
            <p:cNvGrpSpPr/>
            <p:nvPr/>
          </p:nvGrpSpPr>
          <p:grpSpPr>
            <a:xfrm>
              <a:off x="279229" y="3849773"/>
              <a:ext cx="5357239" cy="558061"/>
              <a:chOff x="0" y="0"/>
              <a:chExt cx="5357237" cy="558060"/>
            </a:xfrm>
          </p:grpSpPr>
          <p:sp>
            <p:nvSpPr>
              <p:cNvPr id="370" name="Line"/>
              <p:cNvSpPr/>
              <p:nvPr/>
            </p:nvSpPr>
            <p:spPr>
              <a:xfrm>
                <a:off x="0" y="0"/>
                <a:ext cx="5357238" cy="0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71" name="Line"/>
              <p:cNvSpPr/>
              <p:nvPr/>
            </p:nvSpPr>
            <p:spPr>
              <a:xfrm>
                <a:off x="0" y="186020"/>
                <a:ext cx="5357238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72" name="Line"/>
              <p:cNvSpPr/>
              <p:nvPr/>
            </p:nvSpPr>
            <p:spPr>
              <a:xfrm>
                <a:off x="0" y="372040"/>
                <a:ext cx="5357238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73" name="Line"/>
              <p:cNvSpPr/>
              <p:nvPr/>
            </p:nvSpPr>
            <p:spPr>
              <a:xfrm>
                <a:off x="0" y="558060"/>
                <a:ext cx="5357238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379" name="Group"/>
            <p:cNvGrpSpPr/>
            <p:nvPr/>
          </p:nvGrpSpPr>
          <p:grpSpPr>
            <a:xfrm>
              <a:off x="574461" y="3753459"/>
              <a:ext cx="750690" cy="750690"/>
              <a:chOff x="0" y="0"/>
              <a:chExt cx="750689" cy="750688"/>
            </a:xfrm>
          </p:grpSpPr>
          <p:sp>
            <p:nvSpPr>
              <p:cNvPr id="375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76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77" name="Circle"/>
              <p:cNvSpPr/>
              <p:nvPr/>
            </p:nvSpPr>
            <p:spPr>
              <a:xfrm>
                <a:off x="371607" y="37204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78" name="Circle"/>
              <p:cNvSpPr/>
              <p:nvPr/>
            </p:nvSpPr>
            <p:spPr>
              <a:xfrm>
                <a:off x="558060" y="55806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384" name="Group"/>
            <p:cNvGrpSpPr/>
            <p:nvPr/>
          </p:nvGrpSpPr>
          <p:grpSpPr>
            <a:xfrm>
              <a:off x="2213662" y="1087803"/>
              <a:ext cx="558062" cy="3725785"/>
              <a:chOff x="0" y="0"/>
              <a:chExt cx="558060" cy="3725783"/>
            </a:xfrm>
          </p:grpSpPr>
          <p:sp>
            <p:nvSpPr>
              <p:cNvPr id="380" name="Line"/>
              <p:cNvSpPr/>
              <p:nvPr/>
            </p:nvSpPr>
            <p:spPr>
              <a:xfrm flipV="1">
                <a:off x="-1" y="-1"/>
                <a:ext cx="2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81" name="Line"/>
              <p:cNvSpPr/>
              <p:nvPr/>
            </p:nvSpPr>
            <p:spPr>
              <a:xfrm flipV="1">
                <a:off x="18602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82" name="Line"/>
              <p:cNvSpPr/>
              <p:nvPr/>
            </p:nvSpPr>
            <p:spPr>
              <a:xfrm flipV="1">
                <a:off x="37204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83" name="Line"/>
              <p:cNvSpPr/>
              <p:nvPr/>
            </p:nvSpPr>
            <p:spPr>
              <a:xfrm flipV="1">
                <a:off x="55806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389" name="Group"/>
            <p:cNvGrpSpPr/>
            <p:nvPr/>
          </p:nvGrpSpPr>
          <p:grpSpPr>
            <a:xfrm>
              <a:off x="250270" y="2136805"/>
              <a:ext cx="5415159" cy="558062"/>
              <a:chOff x="0" y="0"/>
              <a:chExt cx="5415158" cy="558061"/>
            </a:xfrm>
          </p:grpSpPr>
          <p:sp>
            <p:nvSpPr>
              <p:cNvPr id="385" name="Line"/>
              <p:cNvSpPr/>
              <p:nvPr/>
            </p:nvSpPr>
            <p:spPr>
              <a:xfrm>
                <a:off x="0" y="0"/>
                <a:ext cx="5415159" cy="0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86" name="Line"/>
              <p:cNvSpPr/>
              <p:nvPr/>
            </p:nvSpPr>
            <p:spPr>
              <a:xfrm>
                <a:off x="0" y="186020"/>
                <a:ext cx="5415159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87" name="Line"/>
              <p:cNvSpPr/>
              <p:nvPr/>
            </p:nvSpPr>
            <p:spPr>
              <a:xfrm>
                <a:off x="0" y="372041"/>
                <a:ext cx="5415159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88" name="Line"/>
              <p:cNvSpPr/>
              <p:nvPr/>
            </p:nvSpPr>
            <p:spPr>
              <a:xfrm>
                <a:off x="0" y="558061"/>
                <a:ext cx="5415159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394" name="Group"/>
            <p:cNvGrpSpPr/>
            <p:nvPr/>
          </p:nvGrpSpPr>
          <p:grpSpPr>
            <a:xfrm>
              <a:off x="2117347" y="2040490"/>
              <a:ext cx="750691" cy="750690"/>
              <a:chOff x="0" y="0"/>
              <a:chExt cx="750689" cy="750688"/>
            </a:xfrm>
          </p:grpSpPr>
          <p:sp>
            <p:nvSpPr>
              <p:cNvPr id="390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91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92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93" name="Circle"/>
              <p:cNvSpPr/>
              <p:nvPr/>
            </p:nvSpPr>
            <p:spPr>
              <a:xfrm>
                <a:off x="558060" y="55806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399" name="Group"/>
            <p:cNvGrpSpPr/>
            <p:nvPr/>
          </p:nvGrpSpPr>
          <p:grpSpPr>
            <a:xfrm>
              <a:off x="3959736" y="1103189"/>
              <a:ext cx="558062" cy="3725785"/>
              <a:chOff x="0" y="0"/>
              <a:chExt cx="558060" cy="3725783"/>
            </a:xfrm>
          </p:grpSpPr>
          <p:sp>
            <p:nvSpPr>
              <p:cNvPr id="395" name="Line"/>
              <p:cNvSpPr/>
              <p:nvPr/>
            </p:nvSpPr>
            <p:spPr>
              <a:xfrm flipV="1">
                <a:off x="-1" y="-1"/>
                <a:ext cx="2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96" name="Line"/>
              <p:cNvSpPr/>
              <p:nvPr/>
            </p:nvSpPr>
            <p:spPr>
              <a:xfrm flipV="1">
                <a:off x="18602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97" name="Line"/>
              <p:cNvSpPr/>
              <p:nvPr/>
            </p:nvSpPr>
            <p:spPr>
              <a:xfrm flipV="1">
                <a:off x="37204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98" name="Line"/>
              <p:cNvSpPr/>
              <p:nvPr/>
            </p:nvSpPr>
            <p:spPr>
              <a:xfrm flipV="1">
                <a:off x="55806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04" name="Group"/>
            <p:cNvGrpSpPr/>
            <p:nvPr/>
          </p:nvGrpSpPr>
          <p:grpSpPr>
            <a:xfrm>
              <a:off x="3863422" y="3753459"/>
              <a:ext cx="750690" cy="750690"/>
              <a:chOff x="0" y="0"/>
              <a:chExt cx="750688" cy="750688"/>
            </a:xfrm>
          </p:grpSpPr>
          <p:sp>
            <p:nvSpPr>
              <p:cNvPr id="400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01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02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03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09" name="Group"/>
            <p:cNvGrpSpPr/>
            <p:nvPr/>
          </p:nvGrpSpPr>
          <p:grpSpPr>
            <a:xfrm>
              <a:off x="3863421" y="2040490"/>
              <a:ext cx="750690" cy="750690"/>
              <a:chOff x="0" y="0"/>
              <a:chExt cx="750688" cy="750688"/>
            </a:xfrm>
          </p:grpSpPr>
          <p:sp>
            <p:nvSpPr>
              <p:cNvPr id="405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06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07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08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14" name="Group"/>
            <p:cNvGrpSpPr/>
            <p:nvPr/>
          </p:nvGrpSpPr>
          <p:grpSpPr>
            <a:xfrm>
              <a:off x="2117348" y="3753459"/>
              <a:ext cx="750690" cy="750690"/>
              <a:chOff x="0" y="0"/>
              <a:chExt cx="750688" cy="750688"/>
            </a:xfrm>
          </p:grpSpPr>
          <p:sp>
            <p:nvSpPr>
              <p:cNvPr id="410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11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12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13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19" name="Group"/>
            <p:cNvGrpSpPr/>
            <p:nvPr/>
          </p:nvGrpSpPr>
          <p:grpSpPr>
            <a:xfrm>
              <a:off x="574461" y="2040490"/>
              <a:ext cx="750690" cy="750690"/>
              <a:chOff x="0" y="0"/>
              <a:chExt cx="750688" cy="750688"/>
            </a:xfrm>
          </p:grpSpPr>
          <p:sp>
            <p:nvSpPr>
              <p:cNvPr id="415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16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17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18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25" name="Group"/>
            <p:cNvGrpSpPr/>
            <p:nvPr/>
          </p:nvGrpSpPr>
          <p:grpSpPr>
            <a:xfrm rot="16200000">
              <a:off x="1102447" y="3875611"/>
              <a:ext cx="1031953" cy="192629"/>
              <a:chOff x="0" y="0"/>
              <a:chExt cx="1031952" cy="192628"/>
            </a:xfrm>
          </p:grpSpPr>
          <p:sp>
            <p:nvSpPr>
              <p:cNvPr id="420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21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22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23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24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31" name="Group"/>
            <p:cNvGrpSpPr/>
            <p:nvPr/>
          </p:nvGrpSpPr>
          <p:grpSpPr>
            <a:xfrm rot="16200000">
              <a:off x="2760931" y="3875611"/>
              <a:ext cx="1031953" cy="192629"/>
              <a:chOff x="0" y="0"/>
              <a:chExt cx="1031952" cy="192628"/>
            </a:xfrm>
          </p:grpSpPr>
          <p:sp>
            <p:nvSpPr>
              <p:cNvPr id="426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27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28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29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30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37" name="Group"/>
            <p:cNvGrpSpPr/>
            <p:nvPr/>
          </p:nvGrpSpPr>
          <p:grpSpPr>
            <a:xfrm rot="16200000">
              <a:off x="4501952" y="3875611"/>
              <a:ext cx="1031953" cy="192629"/>
              <a:chOff x="0" y="0"/>
              <a:chExt cx="1031952" cy="192628"/>
            </a:xfrm>
          </p:grpSpPr>
          <p:sp>
            <p:nvSpPr>
              <p:cNvPr id="432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33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34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35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36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43" name="Group"/>
            <p:cNvGrpSpPr/>
            <p:nvPr/>
          </p:nvGrpSpPr>
          <p:grpSpPr>
            <a:xfrm rot="16200000">
              <a:off x="1111171" y="2171004"/>
              <a:ext cx="1031953" cy="192630"/>
              <a:chOff x="0" y="0"/>
              <a:chExt cx="1031952" cy="192628"/>
            </a:xfrm>
          </p:grpSpPr>
          <p:sp>
            <p:nvSpPr>
              <p:cNvPr id="438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39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40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41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42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49" name="Group"/>
            <p:cNvGrpSpPr/>
            <p:nvPr/>
          </p:nvGrpSpPr>
          <p:grpSpPr>
            <a:xfrm rot="16200000">
              <a:off x="2745948" y="2178890"/>
              <a:ext cx="1031953" cy="192629"/>
              <a:chOff x="0" y="0"/>
              <a:chExt cx="1031952" cy="192628"/>
            </a:xfrm>
          </p:grpSpPr>
          <p:sp>
            <p:nvSpPr>
              <p:cNvPr id="444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45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46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47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48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55" name="Group"/>
            <p:cNvGrpSpPr/>
            <p:nvPr/>
          </p:nvGrpSpPr>
          <p:grpSpPr>
            <a:xfrm rot="16200000">
              <a:off x="4501952" y="2171004"/>
              <a:ext cx="1031953" cy="192630"/>
              <a:chOff x="0" y="0"/>
              <a:chExt cx="1031952" cy="192628"/>
            </a:xfrm>
          </p:grpSpPr>
          <p:sp>
            <p:nvSpPr>
              <p:cNvPr id="450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51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52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53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54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sp>
          <p:nvSpPr>
            <p:cNvPr id="456" name="Rectangle"/>
            <p:cNvSpPr/>
            <p:nvPr/>
          </p:nvSpPr>
          <p:spPr>
            <a:xfrm>
              <a:off x="1442219" y="2936611"/>
              <a:ext cx="558062" cy="656031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57" name="Rectangle"/>
            <p:cNvSpPr/>
            <p:nvPr/>
          </p:nvSpPr>
          <p:spPr>
            <a:xfrm>
              <a:off x="3086699" y="2936611"/>
              <a:ext cx="558062" cy="656031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58" name="Rectangle"/>
            <p:cNvSpPr/>
            <p:nvPr/>
          </p:nvSpPr>
          <p:spPr>
            <a:xfrm>
              <a:off x="1442219" y="1239029"/>
              <a:ext cx="558062" cy="656032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59" name="Rectangle"/>
            <p:cNvSpPr/>
            <p:nvPr/>
          </p:nvSpPr>
          <p:spPr>
            <a:xfrm>
              <a:off x="3086699" y="1239029"/>
              <a:ext cx="558062" cy="656032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0" name="Rectangle"/>
            <p:cNvSpPr/>
            <p:nvPr/>
          </p:nvSpPr>
          <p:spPr>
            <a:xfrm>
              <a:off x="4832774" y="1239029"/>
              <a:ext cx="558062" cy="656032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1" name="Rectangle"/>
            <p:cNvSpPr/>
            <p:nvPr/>
          </p:nvSpPr>
          <p:spPr>
            <a:xfrm>
              <a:off x="4839077" y="2936611"/>
              <a:ext cx="558062" cy="656031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2" name="Rectangle"/>
            <p:cNvSpPr/>
            <p:nvPr/>
          </p:nvSpPr>
          <p:spPr>
            <a:xfrm>
              <a:off x="12752" y="20404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3" name="Rectangle"/>
            <p:cNvSpPr/>
            <p:nvPr/>
          </p:nvSpPr>
          <p:spPr>
            <a:xfrm>
              <a:off x="0" y="3753458"/>
              <a:ext cx="350520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4" name="Rectangle"/>
            <p:cNvSpPr/>
            <p:nvPr/>
          </p:nvSpPr>
          <p:spPr>
            <a:xfrm rot="5400000">
              <a:off x="774546" y="45550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5" name="Rectangle"/>
            <p:cNvSpPr/>
            <p:nvPr/>
          </p:nvSpPr>
          <p:spPr>
            <a:xfrm rot="5400000">
              <a:off x="2317432" y="45550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6" name="Rectangle"/>
            <p:cNvSpPr/>
            <p:nvPr/>
          </p:nvSpPr>
          <p:spPr>
            <a:xfrm rot="5400000">
              <a:off x="4063507" y="45550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7" name="logic block"/>
            <p:cNvSpPr txBox="1"/>
            <p:nvPr/>
          </p:nvSpPr>
          <p:spPr>
            <a:xfrm>
              <a:off x="400574" y="-3394"/>
              <a:ext cx="3265047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>
              <a:lvl1pPr>
                <a:defRPr>
                  <a:solidFill>
                    <a:schemeClr val="accent5">
                      <a:hueOff val="-82419"/>
                      <a:satOff val="-9513"/>
                      <a:lumOff val="-16343"/>
                    </a:schemeClr>
                  </a:solidFill>
                </a:defRPr>
              </a:lvl1pPr>
            </a:lstStyle>
            <a:p>
              <a:r>
                <a:rPr lang="en-GB" noProof="0" dirty="0"/>
                <a:t>logic block</a:t>
              </a:r>
            </a:p>
          </p:txBody>
        </p:sp>
        <p:sp>
          <p:nvSpPr>
            <p:cNvPr id="468" name="Line"/>
            <p:cNvSpPr/>
            <p:nvPr/>
          </p:nvSpPr>
          <p:spPr>
            <a:xfrm flipH="1">
              <a:off x="1788331" y="536888"/>
              <a:ext cx="234824" cy="845946"/>
            </a:xfrm>
            <a:prstGeom prst="line">
              <a:avLst/>
            </a:prstGeom>
            <a:noFill/>
            <a:ln w="254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9" name="I/O pad"/>
            <p:cNvSpPr txBox="1"/>
            <p:nvPr/>
          </p:nvSpPr>
          <p:spPr>
            <a:xfrm>
              <a:off x="101426" y="5533806"/>
              <a:ext cx="3265047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>
              <a:lvl1pPr>
                <a:defRPr>
                  <a:solidFill>
                    <a:schemeClr val="accent5">
                      <a:hueOff val="-82419"/>
                      <a:satOff val="-9513"/>
                      <a:lumOff val="-16343"/>
                    </a:schemeClr>
                  </a:solidFill>
                </a:defRPr>
              </a:lvl1pPr>
            </a:lstStyle>
            <a:p>
              <a:r>
                <a:rPr lang="en-GB" noProof="0" dirty="0"/>
                <a:t>I/O pad</a:t>
              </a:r>
            </a:p>
          </p:txBody>
        </p:sp>
        <p:sp>
          <p:nvSpPr>
            <p:cNvPr id="470" name="Line"/>
            <p:cNvSpPr/>
            <p:nvPr/>
          </p:nvSpPr>
          <p:spPr>
            <a:xfrm flipV="1">
              <a:off x="1995022" y="5032297"/>
              <a:ext cx="394573" cy="647398"/>
            </a:xfrm>
            <a:prstGeom prst="line">
              <a:avLst/>
            </a:prstGeom>
            <a:noFill/>
            <a:ln w="254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71" name="switch block"/>
            <p:cNvSpPr txBox="1"/>
            <p:nvPr/>
          </p:nvSpPr>
          <p:spPr>
            <a:xfrm>
              <a:off x="3479281" y="-6351"/>
              <a:ext cx="3265047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>
              <a:lvl1pPr>
                <a:defRPr>
                  <a:solidFill>
                    <a:schemeClr val="accent5">
                      <a:hueOff val="-82419"/>
                      <a:satOff val="-9513"/>
                      <a:lumOff val="-16343"/>
                    </a:schemeClr>
                  </a:solidFill>
                </a:defRPr>
              </a:lvl1pPr>
            </a:lstStyle>
            <a:p>
              <a:r>
                <a:rPr lang="en-GB" noProof="0" dirty="0"/>
                <a:t>switch block</a:t>
              </a:r>
            </a:p>
          </p:txBody>
        </p:sp>
        <p:sp>
          <p:nvSpPr>
            <p:cNvPr id="472" name="Line"/>
            <p:cNvSpPr/>
            <p:nvPr/>
          </p:nvSpPr>
          <p:spPr>
            <a:xfrm flipH="1">
              <a:off x="4175186" y="606143"/>
              <a:ext cx="638893" cy="1664749"/>
            </a:xfrm>
            <a:prstGeom prst="line">
              <a:avLst/>
            </a:prstGeom>
            <a:noFill/>
            <a:ln w="254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sp>
        <p:nvSpPr>
          <p:cNvPr id="474" name="Introduced by Xilinx (now part of AMD) in 1985.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5258068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Introduced by </a:t>
            </a:r>
            <a:r>
              <a:rPr lang="en-GB" b="1" noProof="0" dirty="0"/>
              <a:t>Xilinx</a:t>
            </a:r>
            <a:r>
              <a:rPr lang="en-GB" noProof="0" dirty="0"/>
              <a:t> (now part of </a:t>
            </a:r>
            <a:r>
              <a:rPr lang="en-GB" b="1" noProof="0" dirty="0"/>
              <a:t>AMD</a:t>
            </a:r>
            <a:r>
              <a:rPr lang="en-GB" noProof="0" dirty="0"/>
              <a:t>) in 1985.</a:t>
            </a:r>
          </a:p>
          <a:p>
            <a:r>
              <a:rPr lang="en-GB" noProof="0" dirty="0"/>
              <a:t>Other manufacturers include </a:t>
            </a:r>
            <a:r>
              <a:rPr lang="en-GB" b="1" noProof="0" dirty="0"/>
              <a:t>Altera</a:t>
            </a:r>
            <a:r>
              <a:rPr lang="en-GB" noProof="0" dirty="0"/>
              <a:t>, and </a:t>
            </a:r>
            <a:r>
              <a:rPr lang="en-GB" b="1" noProof="0" dirty="0"/>
              <a:t>Lattice</a:t>
            </a:r>
            <a:r>
              <a:rPr lang="en-GB" noProof="0" dirty="0"/>
              <a:t>.</a:t>
            </a:r>
          </a:p>
          <a:p>
            <a:r>
              <a:rPr lang="en-GB" noProof="0" dirty="0"/>
              <a:t>Arrays of programmable logic blocks, programmable wiring in between, and flexible I/O. </a:t>
            </a:r>
          </a:p>
        </p:txBody>
      </p:sp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Programmable rout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Programmable routing</a:t>
            </a:r>
          </a:p>
        </p:txBody>
      </p:sp>
      <p:sp>
        <p:nvSpPr>
          <p:cNvPr id="47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20</a:t>
            </a:fld>
            <a:endParaRPr lang="en-GB" noProof="0" dirty="0"/>
          </a:p>
        </p:txBody>
      </p:sp>
      <p:sp>
        <p:nvSpPr>
          <p:cNvPr id="478" name="Line"/>
          <p:cNvSpPr/>
          <p:nvPr/>
        </p:nvSpPr>
        <p:spPr>
          <a:xfrm flipV="1">
            <a:off x="2419350" y="3319246"/>
            <a:ext cx="1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79" name="Line"/>
          <p:cNvSpPr/>
          <p:nvPr/>
        </p:nvSpPr>
        <p:spPr>
          <a:xfrm flipV="1">
            <a:off x="2978150" y="3319246"/>
            <a:ext cx="1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0" name="Line"/>
          <p:cNvSpPr/>
          <p:nvPr/>
        </p:nvSpPr>
        <p:spPr>
          <a:xfrm flipV="1">
            <a:off x="3536950" y="3319246"/>
            <a:ext cx="0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1" name="Line"/>
          <p:cNvSpPr/>
          <p:nvPr/>
        </p:nvSpPr>
        <p:spPr>
          <a:xfrm flipV="1">
            <a:off x="4095750" y="3319246"/>
            <a:ext cx="0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2" name="Line"/>
          <p:cNvSpPr/>
          <p:nvPr/>
        </p:nvSpPr>
        <p:spPr>
          <a:xfrm>
            <a:off x="1243157" y="45843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3" name="Line"/>
          <p:cNvSpPr/>
          <p:nvPr/>
        </p:nvSpPr>
        <p:spPr>
          <a:xfrm>
            <a:off x="1243157" y="51431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4" name="Line"/>
          <p:cNvSpPr/>
          <p:nvPr/>
        </p:nvSpPr>
        <p:spPr>
          <a:xfrm>
            <a:off x="1243157" y="57019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5" name="Line"/>
          <p:cNvSpPr/>
          <p:nvPr/>
        </p:nvSpPr>
        <p:spPr>
          <a:xfrm>
            <a:off x="1243157" y="62607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6" name="Circle"/>
          <p:cNvSpPr/>
          <p:nvPr/>
        </p:nvSpPr>
        <p:spPr>
          <a:xfrm>
            <a:off x="2130024" y="42950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7" name="Circle"/>
          <p:cNvSpPr/>
          <p:nvPr/>
        </p:nvSpPr>
        <p:spPr>
          <a:xfrm>
            <a:off x="2688824" y="48411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8" name="Circle"/>
          <p:cNvSpPr/>
          <p:nvPr/>
        </p:nvSpPr>
        <p:spPr>
          <a:xfrm>
            <a:off x="3246325" y="54126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9" name="Circle"/>
          <p:cNvSpPr/>
          <p:nvPr/>
        </p:nvSpPr>
        <p:spPr>
          <a:xfrm>
            <a:off x="3806424" y="59714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90" name="Circle"/>
          <p:cNvSpPr/>
          <p:nvPr/>
        </p:nvSpPr>
        <p:spPr>
          <a:xfrm>
            <a:off x="7359819" y="3311985"/>
            <a:ext cx="4063661" cy="4063661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91" name="Line"/>
          <p:cNvSpPr/>
          <p:nvPr/>
        </p:nvSpPr>
        <p:spPr>
          <a:xfrm flipV="1">
            <a:off x="9391650" y="2961122"/>
            <a:ext cx="0" cy="490797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92" name="Line"/>
          <p:cNvSpPr/>
          <p:nvPr/>
        </p:nvSpPr>
        <p:spPr>
          <a:xfrm>
            <a:off x="6731843" y="5343814"/>
            <a:ext cx="5136307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93" name="Line"/>
          <p:cNvSpPr/>
          <p:nvPr/>
        </p:nvSpPr>
        <p:spPr>
          <a:xfrm flipV="1">
            <a:off x="8209517" y="4168369"/>
            <a:ext cx="1177190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94" name="Line"/>
          <p:cNvSpPr/>
          <p:nvPr/>
        </p:nvSpPr>
        <p:spPr>
          <a:xfrm flipV="1">
            <a:off x="9397876" y="5349469"/>
            <a:ext cx="1177191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95" name="Line"/>
          <p:cNvSpPr/>
          <p:nvPr/>
        </p:nvSpPr>
        <p:spPr>
          <a:xfrm flipH="1" flipV="1">
            <a:off x="9397876" y="4168369"/>
            <a:ext cx="1177191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96" name="Line"/>
          <p:cNvSpPr/>
          <p:nvPr/>
        </p:nvSpPr>
        <p:spPr>
          <a:xfrm flipH="1" flipV="1">
            <a:off x="8222217" y="5349469"/>
            <a:ext cx="1177190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grpSp>
        <p:nvGrpSpPr>
          <p:cNvPr id="499" name="Group"/>
          <p:cNvGrpSpPr/>
          <p:nvPr/>
        </p:nvGrpSpPr>
        <p:grpSpPr>
          <a:xfrm rot="10800000" flipH="1">
            <a:off x="9664379" y="5316897"/>
            <a:ext cx="569722" cy="219814"/>
            <a:chOff x="0" y="0"/>
            <a:chExt cx="569721" cy="219813"/>
          </a:xfrm>
        </p:grpSpPr>
        <p:sp>
          <p:nvSpPr>
            <p:cNvPr id="497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98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02" name="Group"/>
          <p:cNvGrpSpPr/>
          <p:nvPr/>
        </p:nvGrpSpPr>
        <p:grpSpPr>
          <a:xfrm rot="18900000">
            <a:off x="8406138" y="4633672"/>
            <a:ext cx="569722" cy="219815"/>
            <a:chOff x="0" y="0"/>
            <a:chExt cx="569721" cy="219813"/>
          </a:xfrm>
        </p:grpSpPr>
        <p:sp>
          <p:nvSpPr>
            <p:cNvPr id="500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01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05" name="Group"/>
          <p:cNvGrpSpPr/>
          <p:nvPr/>
        </p:nvGrpSpPr>
        <p:grpSpPr>
          <a:xfrm rot="2700000">
            <a:off x="9714996" y="4551317"/>
            <a:ext cx="569722" cy="219814"/>
            <a:chOff x="0" y="0"/>
            <a:chExt cx="569721" cy="219813"/>
          </a:xfrm>
        </p:grpSpPr>
        <p:sp>
          <p:nvSpPr>
            <p:cNvPr id="503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04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08" name="Group"/>
          <p:cNvGrpSpPr/>
          <p:nvPr/>
        </p:nvGrpSpPr>
        <p:grpSpPr>
          <a:xfrm rot="8100000">
            <a:off x="9789825" y="5849968"/>
            <a:ext cx="569722" cy="219815"/>
            <a:chOff x="0" y="0"/>
            <a:chExt cx="569721" cy="219813"/>
          </a:xfrm>
        </p:grpSpPr>
        <p:sp>
          <p:nvSpPr>
            <p:cNvPr id="506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07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11" name="Group"/>
          <p:cNvGrpSpPr/>
          <p:nvPr/>
        </p:nvGrpSpPr>
        <p:grpSpPr>
          <a:xfrm rot="13500000">
            <a:off x="8493060" y="5899399"/>
            <a:ext cx="569722" cy="219814"/>
            <a:chOff x="0" y="0"/>
            <a:chExt cx="569721" cy="219813"/>
          </a:xfrm>
        </p:grpSpPr>
        <p:sp>
          <p:nvSpPr>
            <p:cNvPr id="509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10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14" name="Group"/>
          <p:cNvGrpSpPr/>
          <p:nvPr/>
        </p:nvGrpSpPr>
        <p:grpSpPr>
          <a:xfrm rot="5400000">
            <a:off x="9030589" y="4767861"/>
            <a:ext cx="569722" cy="219815"/>
            <a:chOff x="0" y="0"/>
            <a:chExt cx="569721" cy="219813"/>
          </a:xfrm>
        </p:grpSpPr>
        <p:sp>
          <p:nvSpPr>
            <p:cNvPr id="512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13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sp>
        <p:nvSpPr>
          <p:cNvPr id="515" name="Line"/>
          <p:cNvSpPr/>
          <p:nvPr/>
        </p:nvSpPr>
        <p:spPr>
          <a:xfrm flipH="1" flipV="1">
            <a:off x="8293870" y="4189851"/>
            <a:ext cx="448913" cy="448912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16" name="Line"/>
          <p:cNvSpPr/>
          <p:nvPr/>
        </p:nvSpPr>
        <p:spPr>
          <a:xfrm flipV="1">
            <a:off x="9971087" y="4068577"/>
            <a:ext cx="569292" cy="56929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17" name="Line"/>
          <p:cNvSpPr/>
          <p:nvPr/>
        </p:nvSpPr>
        <p:spPr>
          <a:xfrm flipH="1">
            <a:off x="8869526" y="4801082"/>
            <a:ext cx="430062" cy="30038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18" name="Line"/>
          <p:cNvSpPr/>
          <p:nvPr/>
        </p:nvSpPr>
        <p:spPr>
          <a:xfrm flipV="1">
            <a:off x="9679354" y="5435238"/>
            <a:ext cx="255461" cy="45720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19" name="Line"/>
          <p:cNvSpPr/>
          <p:nvPr/>
        </p:nvSpPr>
        <p:spPr>
          <a:xfrm>
            <a:off x="10068262" y="5962532"/>
            <a:ext cx="326365" cy="56715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0" name="Line"/>
          <p:cNvSpPr/>
          <p:nvPr/>
        </p:nvSpPr>
        <p:spPr>
          <a:xfrm flipH="1">
            <a:off x="8439074" y="6013605"/>
            <a:ext cx="309764" cy="49777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1" name="Rectangle"/>
          <p:cNvSpPr/>
          <p:nvPr/>
        </p:nvSpPr>
        <p:spPr>
          <a:xfrm>
            <a:off x="8207410" y="3968469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2" name="Rectangle"/>
          <p:cNvSpPr/>
          <p:nvPr/>
        </p:nvSpPr>
        <p:spPr>
          <a:xfrm>
            <a:off x="10202633" y="3977843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3" name="Rectangle"/>
          <p:cNvSpPr/>
          <p:nvPr/>
        </p:nvSpPr>
        <p:spPr>
          <a:xfrm>
            <a:off x="8666846" y="4850472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4" name="Rectangle"/>
          <p:cNvSpPr/>
          <p:nvPr/>
        </p:nvSpPr>
        <p:spPr>
          <a:xfrm>
            <a:off x="9457066" y="5691622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5" name="Rectangle"/>
          <p:cNvSpPr/>
          <p:nvPr/>
        </p:nvSpPr>
        <p:spPr>
          <a:xfrm>
            <a:off x="10171806" y="6350860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6" name="Rectangle"/>
          <p:cNvSpPr/>
          <p:nvPr/>
        </p:nvSpPr>
        <p:spPr>
          <a:xfrm>
            <a:off x="8255545" y="6345639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7" name="0"/>
          <p:cNvSpPr txBox="1"/>
          <p:nvPr/>
        </p:nvSpPr>
        <p:spPr>
          <a:xfrm>
            <a:off x="8224531" y="3920693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28" name="1"/>
          <p:cNvSpPr txBox="1"/>
          <p:nvPr/>
        </p:nvSpPr>
        <p:spPr>
          <a:xfrm>
            <a:off x="8270346" y="6284336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1</a:t>
            </a:r>
          </a:p>
        </p:txBody>
      </p:sp>
      <p:sp>
        <p:nvSpPr>
          <p:cNvPr id="529" name="1"/>
          <p:cNvSpPr txBox="1"/>
          <p:nvPr/>
        </p:nvSpPr>
        <p:spPr>
          <a:xfrm>
            <a:off x="8678073" y="4793322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1</a:t>
            </a:r>
          </a:p>
        </p:txBody>
      </p:sp>
      <p:sp>
        <p:nvSpPr>
          <p:cNvPr id="530" name="0"/>
          <p:cNvSpPr txBox="1"/>
          <p:nvPr/>
        </p:nvSpPr>
        <p:spPr>
          <a:xfrm>
            <a:off x="9474187" y="5634472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31" name="0"/>
          <p:cNvSpPr txBox="1"/>
          <p:nvPr/>
        </p:nvSpPr>
        <p:spPr>
          <a:xfrm>
            <a:off x="10222075" y="3914343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32" name="0"/>
          <p:cNvSpPr txBox="1"/>
          <p:nvPr/>
        </p:nvSpPr>
        <p:spPr>
          <a:xfrm>
            <a:off x="10188926" y="6288489"/>
            <a:ext cx="290880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33" name="Circle"/>
          <p:cNvSpPr/>
          <p:nvPr/>
        </p:nvSpPr>
        <p:spPr>
          <a:xfrm>
            <a:off x="8994622" y="6116282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34" name="Circle"/>
          <p:cNvSpPr/>
          <p:nvPr/>
        </p:nvSpPr>
        <p:spPr>
          <a:xfrm>
            <a:off x="10177977" y="5666572"/>
            <a:ext cx="70736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35" name="Circle"/>
          <p:cNvSpPr/>
          <p:nvPr/>
        </p:nvSpPr>
        <p:spPr>
          <a:xfrm>
            <a:off x="9703230" y="4478623"/>
            <a:ext cx="70736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36" name="Circle"/>
          <p:cNvSpPr/>
          <p:nvPr/>
        </p:nvSpPr>
        <p:spPr>
          <a:xfrm>
            <a:off x="8510521" y="4967049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37" name="Circle"/>
          <p:cNvSpPr/>
          <p:nvPr/>
        </p:nvSpPr>
        <p:spPr>
          <a:xfrm>
            <a:off x="9356283" y="5107772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38" name="Circle"/>
          <p:cNvSpPr/>
          <p:nvPr/>
        </p:nvSpPr>
        <p:spPr>
          <a:xfrm>
            <a:off x="9631292" y="5303168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39" name="Circle"/>
          <p:cNvSpPr/>
          <p:nvPr/>
        </p:nvSpPr>
        <p:spPr>
          <a:xfrm>
            <a:off x="8583989" y="5717733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0" name="Circle"/>
          <p:cNvSpPr/>
          <p:nvPr/>
        </p:nvSpPr>
        <p:spPr>
          <a:xfrm>
            <a:off x="9784441" y="6090882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1" name="Circle"/>
          <p:cNvSpPr/>
          <p:nvPr/>
        </p:nvSpPr>
        <p:spPr>
          <a:xfrm>
            <a:off x="10208777" y="5314619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2" name="Circle"/>
          <p:cNvSpPr/>
          <p:nvPr/>
        </p:nvSpPr>
        <p:spPr>
          <a:xfrm>
            <a:off x="10115877" y="4882201"/>
            <a:ext cx="70735" cy="70736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3" name="Circle"/>
          <p:cNvSpPr/>
          <p:nvPr/>
        </p:nvSpPr>
        <p:spPr>
          <a:xfrm>
            <a:off x="9355604" y="4554315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4" name="Circle"/>
          <p:cNvSpPr/>
          <p:nvPr/>
        </p:nvSpPr>
        <p:spPr>
          <a:xfrm>
            <a:off x="8915424" y="4567015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5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5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5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5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5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" fill="hold"/>
                                        <p:tgtEl>
                                          <p:spTgt spid="5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5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1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3" fill="hold"/>
                                        <p:tgtEl>
                                          <p:spTgt spid="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1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6" fill="hold"/>
                                        <p:tgtEl>
                                          <p:spTgt spid="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1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9" fill="hold"/>
                                        <p:tgtEl>
                                          <p:spTgt spid="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1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2" fill="hold"/>
                                        <p:tgtEl>
                                          <p:spTgt spid="5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grpId="1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5" fill="hold"/>
                                        <p:tgtEl>
                                          <p:spTgt spid="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1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8" fill="hold"/>
                                        <p:tgtEl>
                                          <p:spTgt spid="5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1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1" fill="hold"/>
                                        <p:tgtEl>
                                          <p:spTgt spid="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1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4" fill="hold"/>
                                        <p:tgtEl>
                                          <p:spTgt spid="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1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7" fill="hold"/>
                                        <p:tgtEl>
                                          <p:spTgt spid="5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1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0" fill="hold"/>
                                        <p:tgtEl>
                                          <p:spTgt spid="5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grpId="2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3" fill="hold"/>
                                        <p:tgtEl>
                                          <p:spTgt spid="5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2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6" fill="hold"/>
                                        <p:tgtEl>
                                          <p:spTgt spid="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" presetClass="entr" presetSubtype="0" fill="hold" grpId="2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9" fill="hold"/>
                                        <p:tgtEl>
                                          <p:spTgt spid="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2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2" fill="hold"/>
                                        <p:tgtEl>
                                          <p:spTgt spid="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" presetClass="entr" presetSubtype="0" fill="hold" grpId="2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5" fill="hold"/>
                                        <p:tgtEl>
                                          <p:spTgt spid="5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2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8" fill="hold"/>
                                        <p:tgtEl>
                                          <p:spTgt spid="5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" presetClass="entr" presetSubtype="0" fill="hold" grpId="2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1" fill="hold"/>
                                        <p:tgtEl>
                                          <p:spTgt spid="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grpId="2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4" fill="hold"/>
                                        <p:tgtEl>
                                          <p:spTgt spid="5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" presetClass="entr" presetSubtype="0" fill="hold" grpId="2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7" fill="hold"/>
                                        <p:tgtEl>
                                          <p:spTgt spid="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2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0" fill="hold"/>
                                        <p:tgtEl>
                                          <p:spTgt spid="5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grpId="3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3" fill="hold"/>
                                        <p:tgtEl>
                                          <p:spTgt spid="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grpId="3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6" fill="hold"/>
                                        <p:tgtEl>
                                          <p:spTgt spid="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" presetClass="entr" presetSubtype="0" fill="hold" grpId="3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9" fill="hold"/>
                                        <p:tgtEl>
                                          <p:spTgt spid="5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3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2" fill="hold"/>
                                        <p:tgtEl>
                                          <p:spTgt spid="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" presetClass="entr" presetSubtype="0" fill="hold" grpId="3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5" fill="hold"/>
                                        <p:tgtEl>
                                          <p:spTgt spid="5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" presetClass="entr" presetSubtype="0" fill="hold" grpId="3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8" fill="hold"/>
                                        <p:tgtEl>
                                          <p:spTgt spid="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" presetClass="entr" presetSubtype="0" fill="hold" grpId="3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1" fill="hold"/>
                                        <p:tgtEl>
                                          <p:spTgt spid="5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3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4" fill="hold"/>
                                        <p:tgtEl>
                                          <p:spTgt spid="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38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8" fill="hold"/>
                                        <p:tgtEl>
                                          <p:spTgt spid="5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" presetClass="entr" presetSubtype="0" fill="hold" grpId="3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1" fill="hold"/>
                                        <p:tgtEl>
                                          <p:spTgt spid="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" presetClass="entr" presetSubtype="0" fill="hold" grpId="4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4" fill="hold"/>
                                        <p:tgtEl>
                                          <p:spTgt spid="5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1" presetClass="entr" presetSubtype="0" fill="hold" grpId="4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7" fill="hold"/>
                                        <p:tgtEl>
                                          <p:spTgt spid="5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4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0" fill="hold"/>
                                        <p:tgtEl>
                                          <p:spTgt spid="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" presetClass="entr" presetSubtype="0" fill="hold" grpId="4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3" fill="hold"/>
                                        <p:tgtEl>
                                          <p:spTgt spid="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0" grpId="1" animBg="1" advAuto="0"/>
      <p:bldP spid="491" grpId="23" animBg="1" advAuto="0"/>
      <p:bldP spid="492" grpId="22" animBg="1" advAuto="0"/>
      <p:bldP spid="493" grpId="11" animBg="1" advAuto="0"/>
      <p:bldP spid="494" grpId="31" animBg="1" advAuto="0"/>
      <p:bldP spid="495" grpId="12" animBg="1" advAuto="0"/>
      <p:bldP spid="496" grpId="30" animBg="1" advAuto="0"/>
      <p:bldP spid="499" grpId="21" animBg="1" advAuto="0"/>
      <p:bldP spid="502" grpId="10" animBg="1" advAuto="0"/>
      <p:bldP spid="505" grpId="7" animBg="1" advAuto="0"/>
      <p:bldP spid="508" grpId="28" animBg="1" advAuto="0"/>
      <p:bldP spid="511" grpId="29" animBg="1" advAuto="0"/>
      <p:bldP spid="514" grpId="13" animBg="1" advAuto="0"/>
      <p:bldP spid="515" grpId="5" animBg="1" advAuto="0"/>
      <p:bldP spid="516" grpId="4" animBg="1" advAuto="0"/>
      <p:bldP spid="517" grpId="16" animBg="1" advAuto="0"/>
      <p:bldP spid="518" grpId="24" animBg="1" advAuto="0"/>
      <p:bldP spid="519" grpId="34" animBg="1" advAuto="0"/>
      <p:bldP spid="520" grpId="35" animBg="1" advAuto="0"/>
      <p:bldP spid="521" grpId="2" animBg="1" advAuto="0"/>
      <p:bldP spid="522" grpId="3" animBg="1" advAuto="0"/>
      <p:bldP spid="523" grpId="14" animBg="1" advAuto="0"/>
      <p:bldP spid="524" grpId="26" animBg="1" advAuto="0"/>
      <p:bldP spid="525" grpId="37" animBg="1" advAuto="0"/>
      <p:bldP spid="526" grpId="36" animBg="1" advAuto="0"/>
      <p:bldP spid="527" grpId="39" animBg="1" advAuto="0"/>
      <p:bldP spid="528" grpId="42" animBg="1" advAuto="0"/>
      <p:bldP spid="529" grpId="40" animBg="1" advAuto="0"/>
      <p:bldP spid="530" grpId="41" animBg="1" advAuto="0"/>
      <p:bldP spid="531" grpId="38" animBg="1" advAuto="0"/>
      <p:bldP spid="532" grpId="43" animBg="1" advAuto="0"/>
      <p:bldP spid="533" grpId="33" animBg="1" advAuto="0"/>
      <p:bldP spid="534" grpId="25" animBg="1" advAuto="0"/>
      <p:bldP spid="535" grpId="6" animBg="1" advAuto="0"/>
      <p:bldP spid="536" grpId="17" animBg="1" advAuto="0"/>
      <p:bldP spid="537" grpId="18" animBg="1" advAuto="0"/>
      <p:bldP spid="538" grpId="19" animBg="1" advAuto="0"/>
      <p:bldP spid="539" grpId="27" animBg="1" advAuto="0"/>
      <p:bldP spid="540" grpId="32" animBg="1" advAuto="0"/>
      <p:bldP spid="541" grpId="20" animBg="1" advAuto="0"/>
      <p:bldP spid="542" grpId="15" animBg="1" advAuto="0"/>
      <p:bldP spid="543" grpId="8" animBg="1" advAuto="0"/>
      <p:bldP spid="544" grpId="9" animBg="1" advAuto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Circle"/>
          <p:cNvSpPr/>
          <p:nvPr/>
        </p:nvSpPr>
        <p:spPr>
          <a:xfrm>
            <a:off x="7359819" y="3311985"/>
            <a:ext cx="4063661" cy="4063661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7" name="Line"/>
          <p:cNvSpPr/>
          <p:nvPr/>
        </p:nvSpPr>
        <p:spPr>
          <a:xfrm flipH="1">
            <a:off x="8953617" y="4741978"/>
            <a:ext cx="430062" cy="300382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8" name="Line"/>
          <p:cNvSpPr/>
          <p:nvPr/>
        </p:nvSpPr>
        <p:spPr>
          <a:xfrm flipH="1">
            <a:off x="8489874" y="5927800"/>
            <a:ext cx="309764" cy="49777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9" name="Programmable rout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Programmable routing</a:t>
            </a:r>
          </a:p>
        </p:txBody>
      </p:sp>
      <p:sp>
        <p:nvSpPr>
          <p:cNvPr id="55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21</a:t>
            </a:fld>
            <a:endParaRPr lang="en-GB" noProof="0" dirty="0"/>
          </a:p>
        </p:txBody>
      </p:sp>
      <p:sp>
        <p:nvSpPr>
          <p:cNvPr id="551" name="Line"/>
          <p:cNvSpPr/>
          <p:nvPr/>
        </p:nvSpPr>
        <p:spPr>
          <a:xfrm flipV="1">
            <a:off x="2419350" y="3319246"/>
            <a:ext cx="1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2" name="Line"/>
          <p:cNvSpPr/>
          <p:nvPr/>
        </p:nvSpPr>
        <p:spPr>
          <a:xfrm flipV="1">
            <a:off x="2978150" y="3319246"/>
            <a:ext cx="1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3" name="Line"/>
          <p:cNvSpPr/>
          <p:nvPr/>
        </p:nvSpPr>
        <p:spPr>
          <a:xfrm flipV="1">
            <a:off x="3536950" y="3319246"/>
            <a:ext cx="0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4" name="Line"/>
          <p:cNvSpPr/>
          <p:nvPr/>
        </p:nvSpPr>
        <p:spPr>
          <a:xfrm flipV="1">
            <a:off x="4095750" y="3319246"/>
            <a:ext cx="0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5" name="Line"/>
          <p:cNvSpPr/>
          <p:nvPr/>
        </p:nvSpPr>
        <p:spPr>
          <a:xfrm>
            <a:off x="1243157" y="45843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6" name="Line"/>
          <p:cNvSpPr/>
          <p:nvPr/>
        </p:nvSpPr>
        <p:spPr>
          <a:xfrm>
            <a:off x="1243157" y="51431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7" name="Line"/>
          <p:cNvSpPr/>
          <p:nvPr/>
        </p:nvSpPr>
        <p:spPr>
          <a:xfrm>
            <a:off x="1243157" y="57019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8" name="Line"/>
          <p:cNvSpPr/>
          <p:nvPr/>
        </p:nvSpPr>
        <p:spPr>
          <a:xfrm>
            <a:off x="1243157" y="62607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9" name="Line"/>
          <p:cNvSpPr/>
          <p:nvPr/>
        </p:nvSpPr>
        <p:spPr>
          <a:xfrm flipV="1">
            <a:off x="9391650" y="2961122"/>
            <a:ext cx="0" cy="490797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0" name="Line"/>
          <p:cNvSpPr/>
          <p:nvPr/>
        </p:nvSpPr>
        <p:spPr>
          <a:xfrm>
            <a:off x="6731843" y="5343814"/>
            <a:ext cx="5136307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1" name="Line"/>
          <p:cNvSpPr/>
          <p:nvPr/>
        </p:nvSpPr>
        <p:spPr>
          <a:xfrm flipV="1">
            <a:off x="8209517" y="4168369"/>
            <a:ext cx="1177190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2" name="Line"/>
          <p:cNvSpPr/>
          <p:nvPr/>
        </p:nvSpPr>
        <p:spPr>
          <a:xfrm flipV="1">
            <a:off x="9397876" y="5349469"/>
            <a:ext cx="1177191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3" name="Line"/>
          <p:cNvSpPr/>
          <p:nvPr/>
        </p:nvSpPr>
        <p:spPr>
          <a:xfrm flipH="1" flipV="1">
            <a:off x="9397876" y="4168369"/>
            <a:ext cx="1177191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4" name="Line"/>
          <p:cNvSpPr/>
          <p:nvPr/>
        </p:nvSpPr>
        <p:spPr>
          <a:xfrm flipH="1" flipV="1">
            <a:off x="8222217" y="5349469"/>
            <a:ext cx="1177190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5" name="Circle"/>
          <p:cNvSpPr/>
          <p:nvPr/>
        </p:nvSpPr>
        <p:spPr>
          <a:xfrm>
            <a:off x="2130024" y="42950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6" name="Circle"/>
          <p:cNvSpPr/>
          <p:nvPr/>
        </p:nvSpPr>
        <p:spPr>
          <a:xfrm>
            <a:off x="2688824" y="48411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7" name="Circle"/>
          <p:cNvSpPr/>
          <p:nvPr/>
        </p:nvSpPr>
        <p:spPr>
          <a:xfrm>
            <a:off x="3246325" y="54126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8" name="Circle"/>
          <p:cNvSpPr/>
          <p:nvPr/>
        </p:nvSpPr>
        <p:spPr>
          <a:xfrm>
            <a:off x="3806424" y="59714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grpSp>
        <p:nvGrpSpPr>
          <p:cNvPr id="571" name="Group"/>
          <p:cNvGrpSpPr/>
          <p:nvPr/>
        </p:nvGrpSpPr>
        <p:grpSpPr>
          <a:xfrm rot="10800000" flipH="1">
            <a:off x="9664379" y="5316897"/>
            <a:ext cx="569722" cy="219814"/>
            <a:chOff x="0" y="0"/>
            <a:chExt cx="569721" cy="219813"/>
          </a:xfrm>
        </p:grpSpPr>
        <p:sp>
          <p:nvSpPr>
            <p:cNvPr id="569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70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74" name="Group"/>
          <p:cNvGrpSpPr/>
          <p:nvPr/>
        </p:nvGrpSpPr>
        <p:grpSpPr>
          <a:xfrm rot="18900000">
            <a:off x="8406138" y="4633672"/>
            <a:ext cx="569722" cy="219815"/>
            <a:chOff x="0" y="0"/>
            <a:chExt cx="569721" cy="219813"/>
          </a:xfrm>
        </p:grpSpPr>
        <p:sp>
          <p:nvSpPr>
            <p:cNvPr id="572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73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77" name="Group"/>
          <p:cNvGrpSpPr/>
          <p:nvPr/>
        </p:nvGrpSpPr>
        <p:grpSpPr>
          <a:xfrm rot="2700000">
            <a:off x="9714996" y="4551317"/>
            <a:ext cx="569722" cy="219814"/>
            <a:chOff x="0" y="0"/>
            <a:chExt cx="569721" cy="219813"/>
          </a:xfrm>
        </p:grpSpPr>
        <p:sp>
          <p:nvSpPr>
            <p:cNvPr id="575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76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80" name="Group"/>
          <p:cNvGrpSpPr/>
          <p:nvPr/>
        </p:nvGrpSpPr>
        <p:grpSpPr>
          <a:xfrm rot="8100000">
            <a:off x="9789825" y="5849968"/>
            <a:ext cx="569722" cy="219815"/>
            <a:chOff x="0" y="0"/>
            <a:chExt cx="569721" cy="219813"/>
          </a:xfrm>
        </p:grpSpPr>
        <p:sp>
          <p:nvSpPr>
            <p:cNvPr id="578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79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sp>
        <p:nvSpPr>
          <p:cNvPr id="581" name="Line"/>
          <p:cNvSpPr/>
          <p:nvPr/>
        </p:nvSpPr>
        <p:spPr>
          <a:xfrm flipH="1" flipV="1">
            <a:off x="8293870" y="4189851"/>
            <a:ext cx="448913" cy="448912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2" name="Line"/>
          <p:cNvSpPr/>
          <p:nvPr/>
        </p:nvSpPr>
        <p:spPr>
          <a:xfrm flipV="1">
            <a:off x="9971087" y="4068577"/>
            <a:ext cx="569292" cy="56929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3" name="Line"/>
          <p:cNvSpPr/>
          <p:nvPr/>
        </p:nvSpPr>
        <p:spPr>
          <a:xfrm flipV="1">
            <a:off x="9679354" y="5435238"/>
            <a:ext cx="255461" cy="45720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4" name="Line"/>
          <p:cNvSpPr/>
          <p:nvPr/>
        </p:nvSpPr>
        <p:spPr>
          <a:xfrm>
            <a:off x="10068262" y="5962532"/>
            <a:ext cx="326365" cy="56715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5" name="Rectangle"/>
          <p:cNvSpPr/>
          <p:nvPr/>
        </p:nvSpPr>
        <p:spPr>
          <a:xfrm>
            <a:off x="8207410" y="3968469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6" name="Rectangle"/>
          <p:cNvSpPr/>
          <p:nvPr/>
        </p:nvSpPr>
        <p:spPr>
          <a:xfrm>
            <a:off x="10202633" y="3977843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7" name="Rectangle"/>
          <p:cNvSpPr/>
          <p:nvPr/>
        </p:nvSpPr>
        <p:spPr>
          <a:xfrm>
            <a:off x="8666846" y="4850472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8" name="Rectangle"/>
          <p:cNvSpPr/>
          <p:nvPr/>
        </p:nvSpPr>
        <p:spPr>
          <a:xfrm>
            <a:off x="9457066" y="5691622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9" name="Rectangle"/>
          <p:cNvSpPr/>
          <p:nvPr/>
        </p:nvSpPr>
        <p:spPr>
          <a:xfrm>
            <a:off x="10171806" y="6350860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90" name="Rectangle"/>
          <p:cNvSpPr/>
          <p:nvPr/>
        </p:nvSpPr>
        <p:spPr>
          <a:xfrm>
            <a:off x="8255545" y="6345639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91" name="0"/>
          <p:cNvSpPr txBox="1"/>
          <p:nvPr/>
        </p:nvSpPr>
        <p:spPr>
          <a:xfrm>
            <a:off x="8224531" y="3920693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92" name="1"/>
          <p:cNvSpPr txBox="1"/>
          <p:nvPr/>
        </p:nvSpPr>
        <p:spPr>
          <a:xfrm>
            <a:off x="8270346" y="6284336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1</a:t>
            </a:r>
          </a:p>
        </p:txBody>
      </p:sp>
      <p:sp>
        <p:nvSpPr>
          <p:cNvPr id="593" name="1"/>
          <p:cNvSpPr txBox="1"/>
          <p:nvPr/>
        </p:nvSpPr>
        <p:spPr>
          <a:xfrm>
            <a:off x="8678073" y="4793322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1</a:t>
            </a:r>
          </a:p>
        </p:txBody>
      </p:sp>
      <p:sp>
        <p:nvSpPr>
          <p:cNvPr id="594" name="0"/>
          <p:cNvSpPr txBox="1"/>
          <p:nvPr/>
        </p:nvSpPr>
        <p:spPr>
          <a:xfrm>
            <a:off x="9474187" y="5634472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95" name="0"/>
          <p:cNvSpPr txBox="1"/>
          <p:nvPr/>
        </p:nvSpPr>
        <p:spPr>
          <a:xfrm>
            <a:off x="10222075" y="3914343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96" name="0"/>
          <p:cNvSpPr txBox="1"/>
          <p:nvPr/>
        </p:nvSpPr>
        <p:spPr>
          <a:xfrm>
            <a:off x="10188926" y="6288489"/>
            <a:ext cx="290880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97" name="Circle"/>
          <p:cNvSpPr/>
          <p:nvPr/>
        </p:nvSpPr>
        <p:spPr>
          <a:xfrm>
            <a:off x="8994622" y="6116282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98" name="Circle"/>
          <p:cNvSpPr/>
          <p:nvPr/>
        </p:nvSpPr>
        <p:spPr>
          <a:xfrm>
            <a:off x="10177977" y="5666572"/>
            <a:ext cx="70736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99" name="Circle"/>
          <p:cNvSpPr/>
          <p:nvPr/>
        </p:nvSpPr>
        <p:spPr>
          <a:xfrm>
            <a:off x="9703230" y="4478623"/>
            <a:ext cx="70736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0" name="Circle"/>
          <p:cNvSpPr/>
          <p:nvPr/>
        </p:nvSpPr>
        <p:spPr>
          <a:xfrm>
            <a:off x="8510521" y="4967049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1" name="Circle"/>
          <p:cNvSpPr/>
          <p:nvPr/>
        </p:nvSpPr>
        <p:spPr>
          <a:xfrm>
            <a:off x="9356283" y="5107772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2" name="Circle"/>
          <p:cNvSpPr/>
          <p:nvPr/>
        </p:nvSpPr>
        <p:spPr>
          <a:xfrm>
            <a:off x="9631292" y="5303168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3" name="Circle"/>
          <p:cNvSpPr/>
          <p:nvPr/>
        </p:nvSpPr>
        <p:spPr>
          <a:xfrm>
            <a:off x="8583989" y="5717733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4" name="Circle"/>
          <p:cNvSpPr/>
          <p:nvPr/>
        </p:nvSpPr>
        <p:spPr>
          <a:xfrm>
            <a:off x="9784441" y="6090882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5" name="Circle"/>
          <p:cNvSpPr/>
          <p:nvPr/>
        </p:nvSpPr>
        <p:spPr>
          <a:xfrm>
            <a:off x="10208777" y="5314619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6" name="Circle"/>
          <p:cNvSpPr/>
          <p:nvPr/>
        </p:nvSpPr>
        <p:spPr>
          <a:xfrm>
            <a:off x="10115877" y="4882201"/>
            <a:ext cx="70735" cy="70736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7" name="Circle"/>
          <p:cNvSpPr/>
          <p:nvPr/>
        </p:nvSpPr>
        <p:spPr>
          <a:xfrm>
            <a:off x="9355604" y="4554315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8" name="Circle"/>
          <p:cNvSpPr/>
          <p:nvPr/>
        </p:nvSpPr>
        <p:spPr>
          <a:xfrm>
            <a:off x="8915424" y="4567015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grpSp>
        <p:nvGrpSpPr>
          <p:cNvPr id="612" name="Group"/>
          <p:cNvGrpSpPr/>
          <p:nvPr/>
        </p:nvGrpSpPr>
        <p:grpSpPr>
          <a:xfrm>
            <a:off x="6731843" y="2961122"/>
            <a:ext cx="2672507" cy="4907971"/>
            <a:chOff x="0" y="0"/>
            <a:chExt cx="2672506" cy="4907970"/>
          </a:xfrm>
        </p:grpSpPr>
        <p:sp>
          <p:nvSpPr>
            <p:cNvPr id="609" name="Line"/>
            <p:cNvSpPr/>
            <p:nvPr/>
          </p:nvSpPr>
          <p:spPr>
            <a:xfrm flipV="1">
              <a:off x="2672506" y="0"/>
              <a:ext cx="1" cy="4907971"/>
            </a:xfrm>
            <a:prstGeom prst="line">
              <a:avLst/>
            </a:prstGeom>
            <a:noFill/>
            <a:ln w="88900" cap="flat">
              <a:solidFill>
                <a:srgbClr val="FF40FF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610" name="Line"/>
            <p:cNvSpPr/>
            <p:nvPr/>
          </p:nvSpPr>
          <p:spPr>
            <a:xfrm flipH="1" flipV="1">
              <a:off x="1490374" y="2388347"/>
              <a:ext cx="1177190" cy="1177190"/>
            </a:xfrm>
            <a:prstGeom prst="line">
              <a:avLst/>
            </a:prstGeom>
            <a:noFill/>
            <a:ln w="101600" cap="flat">
              <a:solidFill>
                <a:srgbClr val="FF40FF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611" name="Line"/>
            <p:cNvSpPr/>
            <p:nvPr/>
          </p:nvSpPr>
          <p:spPr>
            <a:xfrm>
              <a:off x="0" y="2382692"/>
              <a:ext cx="1529301" cy="1"/>
            </a:xfrm>
            <a:prstGeom prst="line">
              <a:avLst/>
            </a:prstGeom>
            <a:noFill/>
            <a:ln w="76200" cap="flat">
              <a:solidFill>
                <a:srgbClr val="FF40FF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sp>
        <p:nvSpPr>
          <p:cNvPr id="613" name="Line"/>
          <p:cNvSpPr/>
          <p:nvPr/>
        </p:nvSpPr>
        <p:spPr>
          <a:xfrm flipV="1">
            <a:off x="2419350" y="3319246"/>
            <a:ext cx="1" cy="4206586"/>
          </a:xfrm>
          <a:prstGeom prst="line">
            <a:avLst/>
          </a:prstGeom>
          <a:ln w="76200">
            <a:solidFill>
              <a:srgbClr val="FF2600"/>
            </a:solidFill>
            <a:miter lim="400000"/>
            <a:headEnd type="triangle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14" name="Line"/>
          <p:cNvSpPr/>
          <p:nvPr/>
        </p:nvSpPr>
        <p:spPr>
          <a:xfrm rot="16200000">
            <a:off x="3305200" y="2992196"/>
            <a:ext cx="1820337" cy="247443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151" y="1094"/>
                </a:lnTo>
                <a:lnTo>
                  <a:pt x="1993" y="64"/>
                </a:lnTo>
                <a:lnTo>
                  <a:pt x="21600" y="0"/>
                </a:lnTo>
              </a:path>
            </a:pathLst>
          </a:custGeom>
          <a:ln w="76200">
            <a:solidFill>
              <a:srgbClr val="00F900"/>
            </a:solidFill>
            <a:miter lim="400000"/>
            <a:headEnd type="triangle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15" name="Line"/>
          <p:cNvSpPr/>
          <p:nvPr/>
        </p:nvSpPr>
        <p:spPr>
          <a:xfrm rot="16200000">
            <a:off x="1485409" y="5474291"/>
            <a:ext cx="1807676" cy="22954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0119" y="21574"/>
                </a:lnTo>
                <a:lnTo>
                  <a:pt x="21435" y="20573"/>
                </a:lnTo>
                <a:lnTo>
                  <a:pt x="21600" y="0"/>
                </a:lnTo>
              </a:path>
            </a:pathLst>
          </a:custGeom>
          <a:ln w="76200">
            <a:solidFill>
              <a:srgbClr val="FF40FF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16" name="Line"/>
          <p:cNvSpPr/>
          <p:nvPr/>
        </p:nvSpPr>
        <p:spPr>
          <a:xfrm flipV="1">
            <a:off x="3536950" y="3319246"/>
            <a:ext cx="0" cy="4206586"/>
          </a:xfrm>
          <a:prstGeom prst="line">
            <a:avLst/>
          </a:prstGeom>
          <a:ln w="76200">
            <a:solidFill>
              <a:srgbClr val="FF40FF"/>
            </a:solidFill>
            <a:miter lim="400000"/>
            <a:headEnd type="triangle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17" name="Line"/>
          <p:cNvSpPr/>
          <p:nvPr/>
        </p:nvSpPr>
        <p:spPr>
          <a:xfrm rot="10800000">
            <a:off x="1233538" y="3312685"/>
            <a:ext cx="2865666" cy="29456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123" y="877"/>
                </a:lnTo>
                <a:lnTo>
                  <a:pt x="1299" y="0"/>
                </a:lnTo>
                <a:lnTo>
                  <a:pt x="21600" y="60"/>
                </a:lnTo>
              </a:path>
            </a:pathLst>
          </a:custGeom>
          <a:ln w="76200">
            <a:solidFill>
              <a:srgbClr val="00FDFF"/>
            </a:solidFill>
            <a:miter lim="400000"/>
            <a:headEnd type="triangle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6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" fill="hold"/>
                                        <p:tgtEl>
                                          <p:spTgt spid="6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2" grpId="1" animBg="1" advAuto="0"/>
      <p:bldP spid="613" grpId="6" animBg="1" advAuto="0"/>
      <p:bldP spid="614" grpId="4" animBg="1" advAuto="0"/>
      <p:bldP spid="615" grpId="3" animBg="1" advAuto="0"/>
      <p:bldP spid="616" grpId="2" animBg="1" advAuto="0"/>
      <p:bldP spid="617" grpId="5" animBg="1" advAuto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E06673-A395-265F-F875-6F2156AB9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Question?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CDC100-067A-523A-4B4F-33C8275C55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870198" y="2705099"/>
            <a:ext cx="751117" cy="1902279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A</a:t>
            </a:r>
          </a:p>
          <a:p>
            <a:pPr marL="0" indent="0">
              <a:buNone/>
            </a:pPr>
            <a:r>
              <a:rPr lang="en-GB" dirty="0"/>
              <a:t>B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C0B441F7-C7E0-E0A5-D91D-3A35B257CD51}"/>
              </a:ext>
            </a:extLst>
          </p:cNvPr>
          <p:cNvSpPr txBox="1">
            <a:spLocks/>
          </p:cNvSpPr>
          <p:nvPr/>
        </p:nvSpPr>
        <p:spPr>
          <a:xfrm>
            <a:off x="9674680" y="2705097"/>
            <a:ext cx="919844" cy="19022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>
            <a:lvl1pPr marL="444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8890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1333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17780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2222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26670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3111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35560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4000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pPr marL="0" indent="0" hangingPunct="1">
              <a:buFontTx/>
              <a:buNone/>
            </a:pPr>
            <a:r>
              <a:rPr lang="en-GB" dirty="0"/>
              <a:t>X</a:t>
            </a:r>
          </a:p>
          <a:p>
            <a:pPr marL="0" indent="0" hangingPunct="1">
              <a:buFontTx/>
              <a:buNone/>
            </a:pPr>
            <a:r>
              <a:rPr lang="en-GB" dirty="0"/>
              <a:t>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319C87-898A-783D-7750-F5DA6A03CEDF}"/>
              </a:ext>
            </a:extLst>
          </p:cNvPr>
          <p:cNvSpPr/>
          <p:nvPr/>
        </p:nvSpPr>
        <p:spPr>
          <a:xfrm>
            <a:off x="4175578" y="2705098"/>
            <a:ext cx="4653643" cy="167096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no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21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Draw Your Circuit Here?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DDDD723-65FA-FE65-D6F6-A2CF746148F8}"/>
              </a:ext>
            </a:extLst>
          </p:cNvPr>
          <p:cNvCxnSpPr>
            <a:cxnSpLocks/>
          </p:cNvCxnSpPr>
          <p:nvPr/>
        </p:nvCxnSpPr>
        <p:spPr>
          <a:xfrm>
            <a:off x="3424463" y="3004457"/>
            <a:ext cx="751115" cy="0"/>
          </a:xfrm>
          <a:prstGeom prst="straightConnector1">
            <a:avLst/>
          </a:prstGeom>
          <a:noFill/>
          <a:ln w="38100" cap="flat">
            <a:solidFill>
              <a:srgbClr val="000000"/>
            </a:solidFill>
            <a:prstDash val="solid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DFA696E-7AA9-D02F-A705-226B7BE3FB08}"/>
              </a:ext>
            </a:extLst>
          </p:cNvPr>
          <p:cNvCxnSpPr>
            <a:cxnSpLocks/>
          </p:cNvCxnSpPr>
          <p:nvPr/>
        </p:nvCxnSpPr>
        <p:spPr>
          <a:xfrm>
            <a:off x="3424462" y="4022271"/>
            <a:ext cx="751115" cy="0"/>
          </a:xfrm>
          <a:prstGeom prst="straightConnector1">
            <a:avLst/>
          </a:prstGeom>
          <a:noFill/>
          <a:ln w="38100" cap="flat">
            <a:solidFill>
              <a:srgbClr val="000000"/>
            </a:solidFill>
            <a:prstDash val="solid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C4CB5DA-8EA7-F7FB-C15F-CBEB77D9405B}"/>
              </a:ext>
            </a:extLst>
          </p:cNvPr>
          <p:cNvCxnSpPr>
            <a:cxnSpLocks/>
          </p:cNvCxnSpPr>
          <p:nvPr/>
        </p:nvCxnSpPr>
        <p:spPr>
          <a:xfrm>
            <a:off x="8829221" y="2928257"/>
            <a:ext cx="751115" cy="0"/>
          </a:xfrm>
          <a:prstGeom prst="straightConnector1">
            <a:avLst/>
          </a:prstGeom>
          <a:noFill/>
          <a:ln w="38100" cap="flat">
            <a:solidFill>
              <a:srgbClr val="000000"/>
            </a:solidFill>
            <a:prstDash val="solid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C67E291-BAFE-7118-C610-0A088DB03085}"/>
              </a:ext>
            </a:extLst>
          </p:cNvPr>
          <p:cNvCxnSpPr>
            <a:cxnSpLocks/>
          </p:cNvCxnSpPr>
          <p:nvPr/>
        </p:nvCxnSpPr>
        <p:spPr>
          <a:xfrm>
            <a:off x="8829220" y="4022271"/>
            <a:ext cx="751115" cy="0"/>
          </a:xfrm>
          <a:prstGeom prst="straightConnector1">
            <a:avLst/>
          </a:prstGeom>
          <a:noFill/>
          <a:ln w="38100" cap="flat">
            <a:solidFill>
              <a:srgbClr val="000000"/>
            </a:solidFill>
            <a:prstDash val="solid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3D2C890D-2A80-6217-C2DF-7C194BDD8AD3}"/>
              </a:ext>
            </a:extLst>
          </p:cNvPr>
          <p:cNvSpPr txBox="1">
            <a:spLocks/>
          </p:cNvSpPr>
          <p:nvPr/>
        </p:nvSpPr>
        <p:spPr>
          <a:xfrm>
            <a:off x="5798454" y="4876800"/>
            <a:ext cx="1778003" cy="6712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>
            <a:lvl1pPr marL="444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8890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1333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17780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2222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26670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3111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35560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4000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pPr marL="0" indent="0" hangingPunct="1">
              <a:buFontTx/>
              <a:buNone/>
            </a:pPr>
            <a:r>
              <a:rPr lang="en-GB" dirty="0"/>
              <a:t>C		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B9C31F2-2C71-E8E3-FD94-DB56B7EA03F7}"/>
              </a:ext>
            </a:extLst>
          </p:cNvPr>
          <p:cNvCxnSpPr>
            <a:cxnSpLocks/>
          </p:cNvCxnSpPr>
          <p:nvPr/>
        </p:nvCxnSpPr>
        <p:spPr>
          <a:xfrm flipV="1">
            <a:off x="5960834" y="4376058"/>
            <a:ext cx="0" cy="500742"/>
          </a:xfrm>
          <a:prstGeom prst="straightConnector1">
            <a:avLst/>
          </a:prstGeom>
          <a:noFill/>
          <a:ln w="38100" cap="flat">
            <a:solidFill>
              <a:srgbClr val="000000"/>
            </a:solidFill>
            <a:prstDash val="solid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4D3AAAA-657B-06E2-8152-938C334DAFB6}"/>
              </a:ext>
            </a:extLst>
          </p:cNvPr>
          <p:cNvCxnSpPr>
            <a:cxnSpLocks/>
          </p:cNvCxnSpPr>
          <p:nvPr/>
        </p:nvCxnSpPr>
        <p:spPr>
          <a:xfrm flipV="1">
            <a:off x="7141934" y="4376058"/>
            <a:ext cx="0" cy="500742"/>
          </a:xfrm>
          <a:prstGeom prst="straightConnector1">
            <a:avLst/>
          </a:prstGeom>
          <a:noFill/>
          <a:ln w="38100" cap="flat">
            <a:solidFill>
              <a:srgbClr val="000000"/>
            </a:solidFill>
            <a:prstDash val="solid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FBD70C1C-0F3B-D2F4-0C13-5FF2DB0C1849}"/>
              </a:ext>
            </a:extLst>
          </p:cNvPr>
          <p:cNvSpPr txBox="1">
            <a:spLocks/>
          </p:cNvSpPr>
          <p:nvPr/>
        </p:nvSpPr>
        <p:spPr>
          <a:xfrm>
            <a:off x="952500" y="5763988"/>
            <a:ext cx="11310256" cy="3443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>
            <a:lvl1pPr marL="444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8890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1333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17780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2222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26670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3111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35560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4000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pPr marL="0" indent="0" hangingPunct="1">
              <a:buFontTx/>
              <a:buNone/>
            </a:pPr>
            <a:r>
              <a:rPr lang="en-GB" dirty="0"/>
              <a:t>1. Can you draw a circuit using MUX’s, so that I can output any of the following four combinations? </a:t>
            </a:r>
          </a:p>
          <a:p>
            <a:pPr marL="0" indent="0" algn="ctr" hangingPunct="1">
              <a:buFontTx/>
              <a:buNone/>
            </a:pPr>
            <a:r>
              <a:rPr lang="en-GB" dirty="0"/>
              <a:t>X,Y = {A,A}, {A,B}, {B,A}, {B,B} </a:t>
            </a:r>
          </a:p>
          <a:p>
            <a:pPr marL="0" indent="0" hangingPunct="1">
              <a:buFontTx/>
              <a:buNone/>
            </a:pPr>
            <a:r>
              <a:rPr lang="en-GB" dirty="0"/>
              <a:t>2. What if I remove D?</a:t>
            </a:r>
          </a:p>
        </p:txBody>
      </p:sp>
    </p:spTree>
    <p:extLst>
      <p:ext uri="{BB962C8B-B14F-4D97-AF65-F5344CB8AC3E}">
        <p14:creationId xmlns:p14="http://schemas.microsoft.com/office/powerpoint/2010/main" val="383522013"/>
      </p:ext>
    </p:extLst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Configuring an FPGA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Configuring an FPGA</a:t>
            </a:r>
          </a:p>
        </p:txBody>
      </p:sp>
      <p:sp>
        <p:nvSpPr>
          <p:cNvPr id="620" name="All these configuration registers are set by passing the FPGA a configuration bitstream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All these configuration registers are set by passing the FPGA a </a:t>
            </a:r>
            <a:r>
              <a:rPr lang="en-GB" b="1" noProof="0" dirty="0"/>
              <a:t>configuration</a:t>
            </a:r>
            <a:r>
              <a:rPr lang="en-GB" noProof="0" dirty="0"/>
              <a:t> </a:t>
            </a:r>
            <a:r>
              <a:rPr lang="en-GB" b="1" noProof="0" dirty="0"/>
              <a:t>bitstream</a:t>
            </a:r>
            <a:r>
              <a:rPr lang="en-GB" noProof="0" dirty="0"/>
              <a:t>.</a:t>
            </a:r>
          </a:p>
          <a:p>
            <a:r>
              <a:rPr lang="en-GB" noProof="0" dirty="0"/>
              <a:t>Powering up the board puts the FPGA chip into a "waiting" mode (LEDs flashing). You then send the board the bitstream of your design via the USB port.</a:t>
            </a:r>
          </a:p>
        </p:txBody>
      </p:sp>
      <p:sp>
        <p:nvSpPr>
          <p:cNvPr id="62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23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The Altera Cyclone V FPGA uses a more complex FPGA logic blocks called Adaptive Logic Modules (ALMs).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The Altera </a:t>
            </a:r>
            <a:r>
              <a:rPr lang="en-GB" b="1" noProof="0" dirty="0"/>
              <a:t>Cyclone V</a:t>
            </a:r>
            <a:r>
              <a:rPr lang="en-GB" noProof="0" dirty="0"/>
              <a:t> FPGA uses a more complex FPGA logic blocks called Adaptive Logic Modules (ALMs).</a:t>
            </a:r>
          </a:p>
        </p:txBody>
      </p:sp>
      <p:sp>
        <p:nvSpPr>
          <p:cNvPr id="62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24</a:t>
            </a:fld>
            <a:endParaRPr lang="en-GB" noProof="0" dirty="0"/>
          </a:p>
        </p:txBody>
      </p:sp>
      <p:pic>
        <p:nvPicPr>
          <p:cNvPr id="625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1950" y="3943350"/>
            <a:ext cx="6862335" cy="5174107"/>
          </a:xfrm>
          <a:prstGeom prst="rect">
            <a:avLst/>
          </a:prstGeom>
          <a:ln w="12700">
            <a:miter lim="400000"/>
          </a:ln>
        </p:spPr>
      </p:pic>
      <p:sp>
        <p:nvSpPr>
          <p:cNvPr id="626" name="The device we use (5CSEMA5F31C6N) has 32000 ALMs. That's roughly equivalent to 85000 4-LUTs, or about 2000 32-bit binary adders.…"/>
          <p:cNvSpPr txBox="1"/>
          <p:nvPr/>
        </p:nvSpPr>
        <p:spPr>
          <a:xfrm>
            <a:off x="968348" y="3746500"/>
            <a:ext cx="4331399" cy="594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marL="444500" indent="-444500" algn="l">
              <a:spcBef>
                <a:spcPts val="4200"/>
              </a:spcBef>
              <a:buSzPct val="145000"/>
              <a:buChar char="•"/>
            </a:pPr>
            <a:r>
              <a:rPr lang="en-GB" noProof="0" dirty="0"/>
              <a:t>The device we use (5CSEMA5F31C6N) has 32000 ALMs. That's roughly equivalent to 85000 4-LUTs, or about 2000 32-bit binary adders.</a:t>
            </a:r>
          </a:p>
          <a:p>
            <a:pPr marL="444500" indent="-444500" algn="l">
              <a:spcBef>
                <a:spcPts val="4200"/>
              </a:spcBef>
              <a:buSzPct val="145000"/>
              <a:buChar char="•"/>
            </a:pPr>
            <a:r>
              <a:rPr lang="en-GB" noProof="0" dirty="0"/>
              <a:t>Not that this particularly matters for FPGA </a:t>
            </a:r>
            <a:r>
              <a:rPr lang="en-GB" i="1" noProof="0" dirty="0"/>
              <a:t>users</a:t>
            </a:r>
            <a:r>
              <a:rPr lang="en-GB" noProof="0" dirty="0"/>
              <a:t>.</a:t>
            </a:r>
          </a:p>
        </p:txBody>
      </p:sp>
      <p:sp>
        <p:nvSpPr>
          <p:cNvPr id="627" name="Cyclone V FPGA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Cyclone V FPGA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6" grpId="1" animBg="1" advAuto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Cyclone V FPGA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Cyclone V FPGA</a:t>
            </a:r>
          </a:p>
        </p:txBody>
      </p:sp>
      <p:sp>
        <p:nvSpPr>
          <p:cNvPr id="63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25</a:t>
            </a:fld>
            <a:endParaRPr lang="en-GB" noProof="0" dirty="0"/>
          </a:p>
        </p:txBody>
      </p:sp>
      <p:pic>
        <p:nvPicPr>
          <p:cNvPr id="631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2111" y="4232745"/>
            <a:ext cx="9720578" cy="5216616"/>
          </a:xfrm>
          <a:prstGeom prst="rect">
            <a:avLst/>
          </a:prstGeom>
          <a:ln w="12700">
            <a:miter lim="400000"/>
          </a:ln>
        </p:spPr>
      </p:pic>
      <p:sp>
        <p:nvSpPr>
          <p:cNvPr id="632" name="The Cyclone V also has 4MB of embedded memory, 87 DSP blocks (for multiply-accumulate), a 2-core ARM processor, and hard logic for interfacing with PCIe and external memory."/>
          <p:cNvSpPr txBox="1">
            <a:spLocks noGrp="1"/>
          </p:cNvSpPr>
          <p:nvPr>
            <p:ph type="body" idx="1"/>
          </p:nvPr>
        </p:nvSpPr>
        <p:spPr>
          <a:xfrm>
            <a:off x="952500" y="2448055"/>
            <a:ext cx="11711315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The Cyclone V also has 4MB of embedded memory, 87 DSP blocks (for multiply-accumulate), a 2-core ARM processor, and hard logic for interfacing with PCIe and external memory.</a:t>
            </a:r>
          </a:p>
        </p:txBody>
      </p:sp>
    </p:spTree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The DE1-SoC board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The DE1-SoC board</a:t>
            </a:r>
          </a:p>
        </p:txBody>
      </p:sp>
      <p:sp>
        <p:nvSpPr>
          <p:cNvPr id="635" name="Everything you need to test basic designs involving switches, 7-segment displays, and even VGA output."/>
          <p:cNvSpPr txBox="1">
            <a:spLocks noGrp="1"/>
          </p:cNvSpPr>
          <p:nvPr>
            <p:ph type="body" sz="quarter" idx="1"/>
          </p:nvPr>
        </p:nvSpPr>
        <p:spPr>
          <a:xfrm>
            <a:off x="457200" y="2686050"/>
            <a:ext cx="4497934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Everything you need to test basic designs involving switches, 7-segment displays, and even VGA output.</a:t>
            </a:r>
          </a:p>
        </p:txBody>
      </p:sp>
      <p:sp>
        <p:nvSpPr>
          <p:cNvPr id="63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26</a:t>
            </a:fld>
            <a:endParaRPr lang="en-GB" noProof="0" dirty="0"/>
          </a:p>
        </p:txBody>
      </p:sp>
      <p:pic>
        <p:nvPicPr>
          <p:cNvPr id="637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5867400"/>
            <a:ext cx="4340020" cy="3379839"/>
          </a:xfrm>
          <a:prstGeom prst="rect">
            <a:avLst/>
          </a:prstGeom>
          <a:ln w="12700">
            <a:miter lim="400000"/>
          </a:ln>
        </p:spPr>
      </p:pic>
      <p:pic>
        <p:nvPicPr>
          <p:cNvPr id="638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277" y="2374900"/>
            <a:ext cx="7650553" cy="62865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Add-on board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Add-on board</a:t>
            </a:r>
          </a:p>
        </p:txBody>
      </p:sp>
      <p:sp>
        <p:nvSpPr>
          <p:cNvPr id="641" name="Provides analogue inputs (from microphone) and outputs (to headphone jack).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6275090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Provides analogue inputs (from microphone) and outputs (to headphone jack).</a:t>
            </a:r>
          </a:p>
          <a:p>
            <a:r>
              <a:rPr lang="en-GB" noProof="0" dirty="0"/>
              <a:t>Will feature in the third and fourth parts of the lab – you can ignore it for now.</a:t>
            </a:r>
          </a:p>
        </p:txBody>
      </p:sp>
      <p:sp>
        <p:nvSpPr>
          <p:cNvPr id="64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27</a:t>
            </a:fld>
            <a:endParaRPr lang="en-GB" noProof="0" dirty="0"/>
          </a:p>
        </p:txBody>
      </p:sp>
      <p:pic>
        <p:nvPicPr>
          <p:cNvPr id="643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9401" y="2444750"/>
            <a:ext cx="4418949" cy="67691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Design Tool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Design Tools</a:t>
            </a:r>
          </a:p>
        </p:txBody>
      </p:sp>
      <p:sp>
        <p:nvSpPr>
          <p:cNvPr id="646" name="We use Altera Quartus II to design for FPGA.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6787258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We use </a:t>
            </a:r>
            <a:r>
              <a:rPr lang="en-GB" b="1" noProof="0" dirty="0"/>
              <a:t>Altera Quartus II</a:t>
            </a:r>
            <a:r>
              <a:rPr lang="en-GB" noProof="0" dirty="0"/>
              <a:t> to design for FPGA.</a:t>
            </a:r>
          </a:p>
          <a:p>
            <a:r>
              <a:rPr lang="en-GB" noProof="0" dirty="0"/>
              <a:t>Features include: design entry, compilation from HDL, synthesis, simulation, timing analysis, power analysis, project management.</a:t>
            </a:r>
          </a:p>
          <a:p>
            <a:r>
              <a:rPr lang="en-GB" noProof="0" dirty="0"/>
              <a:t>The software is installed on all the PCs in the department.</a:t>
            </a:r>
          </a:p>
        </p:txBody>
      </p:sp>
      <p:sp>
        <p:nvSpPr>
          <p:cNvPr id="64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28</a:t>
            </a:fld>
            <a:endParaRPr lang="en-GB" noProof="0" dirty="0"/>
          </a:p>
        </p:txBody>
      </p:sp>
      <p:pic>
        <p:nvPicPr>
          <p:cNvPr id="648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7777" y="2385197"/>
            <a:ext cx="3751324" cy="688820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Verilo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SystemVerilog</a:t>
            </a:r>
          </a:p>
        </p:txBody>
      </p:sp>
      <p:sp>
        <p:nvSpPr>
          <p:cNvPr id="65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29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Verilo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SystemVerilog</a:t>
            </a:r>
          </a:p>
        </p:txBody>
      </p:sp>
      <p:sp>
        <p:nvSpPr>
          <p:cNvPr id="654" name="A hardware description language based on C syntax.…"/>
          <p:cNvSpPr txBox="1">
            <a:spLocks noGrp="1"/>
          </p:cNvSpPr>
          <p:nvPr>
            <p:ph type="body" idx="1"/>
          </p:nvPr>
        </p:nvSpPr>
        <p:spPr>
          <a:xfrm>
            <a:off x="952500" y="2686050"/>
            <a:ext cx="11349284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A </a:t>
            </a:r>
            <a:r>
              <a:rPr lang="en-GB" b="1" noProof="0" dirty="0"/>
              <a:t>hardware description language</a:t>
            </a:r>
            <a:r>
              <a:rPr lang="en-GB" noProof="0" dirty="0"/>
              <a:t> based on C syntax.</a:t>
            </a:r>
          </a:p>
          <a:p>
            <a:r>
              <a:rPr lang="en-GB" noProof="0" dirty="0"/>
              <a:t>An extension of Verilog (early 2000’s) – types + verification</a:t>
            </a:r>
          </a:p>
          <a:p>
            <a:r>
              <a:rPr lang="en-GB" noProof="0" dirty="0"/>
              <a:t>Description can be at </a:t>
            </a:r>
            <a:r>
              <a:rPr lang="en-GB" b="1" noProof="0" dirty="0"/>
              <a:t>behavioural level</a:t>
            </a:r>
            <a:r>
              <a:rPr lang="en-GB" noProof="0" dirty="0"/>
              <a:t>, </a:t>
            </a:r>
            <a:r>
              <a:rPr lang="en-GB" b="1" noProof="0" dirty="0"/>
              <a:t>register-transfer level</a:t>
            </a:r>
            <a:r>
              <a:rPr lang="en-GB" noProof="0" dirty="0"/>
              <a:t> (RTL), or </a:t>
            </a:r>
            <a:r>
              <a:rPr lang="en-GB" b="1" noProof="0" dirty="0"/>
              <a:t>gate level</a:t>
            </a:r>
            <a:r>
              <a:rPr lang="en-GB" noProof="0" dirty="0"/>
              <a:t>.</a:t>
            </a:r>
          </a:p>
          <a:p>
            <a:r>
              <a:rPr lang="en-GB" noProof="0" dirty="0"/>
              <a:t>Closest competitor, VHDL. </a:t>
            </a:r>
          </a:p>
          <a:p>
            <a:r>
              <a:rPr lang="en-GB" noProof="0" dirty="0"/>
              <a:t>Other HDLs include Chisel and </a:t>
            </a:r>
            <a:r>
              <a:rPr lang="en-GB" noProof="0" dirty="0" err="1"/>
              <a:t>Bluespec</a:t>
            </a:r>
            <a:r>
              <a:rPr lang="en-GB" noProof="0" dirty="0"/>
              <a:t>.</a:t>
            </a:r>
          </a:p>
        </p:txBody>
      </p:sp>
      <p:sp>
        <p:nvSpPr>
          <p:cNvPr id="65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30</a:t>
            </a:fld>
            <a:endParaRPr lang="en-GB" noProof="0" dirty="0"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65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65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4" grpId="1" build="p" bldLvl="5" animBg="1" advAuto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Schematic vs HD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Schematic vs HDL</a:t>
            </a:r>
          </a:p>
        </p:txBody>
      </p:sp>
      <p:sp>
        <p:nvSpPr>
          <p:cNvPr id="658" name="Schematics: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5203429" cy="6286500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  <a:defRPr b="1"/>
            </a:pPr>
            <a:r>
              <a:rPr lang="en-GB" noProof="0" dirty="0"/>
              <a:t>Schematics:</a:t>
            </a:r>
          </a:p>
          <a:p>
            <a:pPr>
              <a:buChar char="✓"/>
            </a:pPr>
            <a:r>
              <a:rPr lang="en-GB" noProof="0" dirty="0"/>
              <a:t>Provide overview</a:t>
            </a:r>
          </a:p>
          <a:p>
            <a:pPr>
              <a:buChar char="✓"/>
            </a:pPr>
            <a:r>
              <a:rPr lang="en-GB" noProof="0" dirty="0"/>
              <a:t>Direct connection to hardware</a:t>
            </a:r>
          </a:p>
          <a:p>
            <a:pPr>
              <a:buChar char="✓"/>
            </a:pPr>
            <a:r>
              <a:rPr lang="en-GB" noProof="0" dirty="0"/>
              <a:t>No programming needed</a:t>
            </a:r>
          </a:p>
        </p:txBody>
      </p:sp>
      <p:sp>
        <p:nvSpPr>
          <p:cNvPr id="65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31</a:t>
            </a:fld>
            <a:endParaRPr lang="en-GB" noProof="0" dirty="0"/>
          </a:p>
        </p:txBody>
      </p:sp>
      <p:sp>
        <p:nvSpPr>
          <p:cNvPr id="660" name="HDL:…"/>
          <p:cNvSpPr txBox="1"/>
          <p:nvPr/>
        </p:nvSpPr>
        <p:spPr>
          <a:xfrm>
            <a:off x="7006166" y="2686050"/>
            <a:ext cx="5203430" cy="6286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/>
          <a:p>
            <a:pPr algn="l">
              <a:spcBef>
                <a:spcPts val="4200"/>
              </a:spcBef>
              <a:defRPr b="1"/>
            </a:pPr>
            <a:r>
              <a:rPr lang="en-GB" noProof="0" dirty="0"/>
              <a:t>HDL:</a:t>
            </a:r>
          </a:p>
          <a:p>
            <a:pPr marL="444500" indent="-444500" algn="l">
              <a:spcBef>
                <a:spcPts val="4200"/>
              </a:spcBef>
              <a:buSzPct val="145000"/>
              <a:buChar char="✓"/>
            </a:pPr>
            <a:r>
              <a:rPr lang="en-GB" noProof="0" dirty="0"/>
              <a:t>Flexible and </a:t>
            </a:r>
            <a:r>
              <a:rPr lang="en-GB" noProof="0" dirty="0" err="1"/>
              <a:t>parameterisable</a:t>
            </a:r>
            <a:endParaRPr lang="en-GB" noProof="0" dirty="0"/>
          </a:p>
          <a:p>
            <a:pPr marL="444500" indent="-444500" algn="l">
              <a:spcBef>
                <a:spcPts val="4200"/>
              </a:spcBef>
              <a:buSzPct val="145000"/>
              <a:buChar char="✓"/>
            </a:pPr>
            <a:r>
              <a:rPr lang="en-GB" noProof="0" dirty="0"/>
              <a:t>Simple textual format</a:t>
            </a:r>
          </a:p>
          <a:p>
            <a:pPr marL="444500" indent="-444500" algn="l">
              <a:spcBef>
                <a:spcPts val="4200"/>
              </a:spcBef>
              <a:buSzPct val="145000"/>
              <a:buChar char="✓"/>
            </a:pPr>
            <a:r>
              <a:rPr lang="en-GB" noProof="0" dirty="0"/>
              <a:t>Connection to high-level languages</a:t>
            </a:r>
          </a:p>
        </p:txBody>
      </p:sp>
    </p:spTree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Verilog modules"/>
          <p:cNvSpPr txBox="1">
            <a:spLocks noGrp="1"/>
          </p:cNvSpPr>
          <p:nvPr>
            <p:ph type="title"/>
          </p:nvPr>
        </p:nvSpPr>
        <p:spPr>
          <a:xfrm>
            <a:off x="727155" y="534908"/>
            <a:ext cx="11550489" cy="2159000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r>
              <a:rPr lang="en-GB" noProof="0" dirty="0"/>
              <a:t>SystemVerilog modules</a:t>
            </a:r>
          </a:p>
        </p:txBody>
      </p:sp>
      <p:sp>
        <p:nvSpPr>
          <p:cNvPr id="663" name="A Verilog design consists of many interconnected modules.…"/>
          <p:cNvSpPr txBox="1">
            <a:spLocks noGrp="1"/>
          </p:cNvSpPr>
          <p:nvPr>
            <p:ph type="body" idx="1"/>
          </p:nvPr>
        </p:nvSpPr>
        <p:spPr>
          <a:xfrm>
            <a:off x="952499" y="2305949"/>
            <a:ext cx="11603057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A SystemVerilog design consists of many interconnected </a:t>
            </a:r>
            <a:r>
              <a:rPr lang="en-GB" b="1" noProof="0" dirty="0"/>
              <a:t>modules</a:t>
            </a:r>
            <a:r>
              <a:rPr lang="en-GB" noProof="0" dirty="0"/>
              <a:t>. </a:t>
            </a:r>
          </a:p>
          <a:p>
            <a:r>
              <a:rPr lang="en-GB" noProof="0" dirty="0"/>
              <a:t>A module contains computations, assignments, and other modules.</a:t>
            </a:r>
          </a:p>
        </p:txBody>
      </p:sp>
      <p:sp>
        <p:nvSpPr>
          <p:cNvPr id="66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32</a:t>
            </a:fld>
            <a:endParaRPr lang="en-GB" noProof="0" dirty="0"/>
          </a:p>
        </p:txBody>
      </p:sp>
      <p:pic>
        <p:nvPicPr>
          <p:cNvPr id="665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248" y="4826274"/>
            <a:ext cx="3388294" cy="2447101"/>
          </a:xfrm>
          <a:prstGeom prst="rect">
            <a:avLst/>
          </a:prstGeom>
          <a:ln w="12700">
            <a:miter lim="400000"/>
          </a:ln>
        </p:spPr>
      </p:pic>
      <p:graphicFrame>
        <p:nvGraphicFramePr>
          <p:cNvPr id="666" name="Table 1"/>
          <p:cNvGraphicFramePr/>
          <p:nvPr>
            <p:extLst>
              <p:ext uri="{D42A27DB-BD31-4B8C-83A1-F6EECF244321}">
                <p14:modId xmlns:p14="http://schemas.microsoft.com/office/powerpoint/2010/main" val="2809524358"/>
              </p:ext>
            </p:extLst>
          </p:nvPr>
        </p:nvGraphicFramePr>
        <p:xfrm>
          <a:off x="4187954" y="4627649"/>
          <a:ext cx="2875293" cy="4871672"/>
        </p:xfrm>
        <a:graphic>
          <a:graphicData uri="http://schemas.openxmlformats.org/drawingml/2006/table">
            <a:tbl>
              <a:tblPr firstRow="1">
                <a:tableStyleId>{4A9BC294-FFE2-49D5-8D69-9E1BD2C41BD5}</a:tableStyleId>
              </a:tblPr>
              <a:tblGrid>
                <a:gridCol w="503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7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7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786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3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83842"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1500" b="1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1500" b="1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1500" b="1" noProof="0" dirty="0" err="1">
                          <a:latin typeface="Arial"/>
                          <a:ea typeface="Arial"/>
                          <a:cs typeface="Arial"/>
                          <a:sym typeface="Arial"/>
                        </a:rPr>
                        <a:t>sel</a:t>
                      </a:r>
                      <a:endParaRPr lang="en-GB" sz="1500" b="1" noProof="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1500" b="1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out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1500" b="1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outbar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667" name="// Function: 2-to-1 multiplexer…"/>
          <p:cNvSpPr txBox="1"/>
          <p:nvPr/>
        </p:nvSpPr>
        <p:spPr>
          <a:xfrm>
            <a:off x="7357889" y="5370938"/>
            <a:ext cx="5079917" cy="3041858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i="1" noProof="0" dirty="0">
                <a:solidFill>
                  <a:schemeClr val="accent3">
                    <a:hueOff val="362282"/>
                    <a:satOff val="31803"/>
                    <a:lumOff val="-18242"/>
                  </a:schemeClr>
                </a:solidFill>
              </a:rPr>
              <a:t>// Function: 2-to-1 multiplexer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module mux2to1 (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output logic out, outbar,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a, b, </a:t>
            </a:r>
            <a:r>
              <a:rPr lang="en-GB" sz="2400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endParaRPr lang="en-GB" sz="2400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assign out = </a:t>
            </a:r>
            <a:r>
              <a:rPr lang="en-GB" sz="2400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? a : b;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assign outbar = ~out;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endmodule</a:t>
            </a:r>
            <a:endParaRPr lang="en-GB" sz="2400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6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5" grpId="1" animBg="1" advAuto="0"/>
      <p:bldP spid="666" grpId="2" animBg="1" advAuto="0"/>
      <p:bldP spid="667" grpId="3" animBg="1" advAuto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// Function: 2-to-1 multiplexer…">
            <a:extLst>
              <a:ext uri="{FF2B5EF4-FFF2-40B4-BE49-F238E27FC236}">
                <a16:creationId xmlns:a16="http://schemas.microsoft.com/office/drawing/2014/main" id="{20C6593F-275F-0EFC-D5F3-41FE21679C4E}"/>
              </a:ext>
            </a:extLst>
          </p:cNvPr>
          <p:cNvSpPr txBox="1"/>
          <p:nvPr/>
        </p:nvSpPr>
        <p:spPr>
          <a:xfrm>
            <a:off x="7357889" y="5370938"/>
            <a:ext cx="5079917" cy="3041858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i="1" noProof="0" dirty="0">
                <a:solidFill>
                  <a:schemeClr val="accent3">
                    <a:hueOff val="362282"/>
                    <a:satOff val="31803"/>
                    <a:lumOff val="-18242"/>
                  </a:schemeClr>
                </a:solidFill>
              </a:rPr>
              <a:t>// Function: 2-to-1 multiplexer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module mux2to1 (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output logic out, outbar,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a, b, </a:t>
            </a:r>
            <a:r>
              <a:rPr lang="en-GB" sz="2400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endParaRPr lang="en-GB" sz="2400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assign out = </a:t>
            </a:r>
            <a:r>
              <a:rPr lang="en-GB" sz="2400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? a : b;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assign outbar = ~out;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endmodule</a:t>
            </a:r>
            <a:endParaRPr lang="en-GB" sz="2400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670" name="Verilog syntax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Verilog syntax</a:t>
            </a:r>
          </a:p>
        </p:txBody>
      </p:sp>
      <p:sp>
        <p:nvSpPr>
          <p:cNvPr id="67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33</a:t>
            </a:fld>
            <a:endParaRPr lang="en-GB" noProof="0" dirty="0"/>
          </a:p>
        </p:txBody>
      </p:sp>
      <p:grpSp>
        <p:nvGrpSpPr>
          <p:cNvPr id="674" name="Group"/>
          <p:cNvGrpSpPr/>
          <p:nvPr/>
        </p:nvGrpSpPr>
        <p:grpSpPr>
          <a:xfrm>
            <a:off x="346791" y="2502105"/>
            <a:ext cx="7373692" cy="3948798"/>
            <a:chOff x="0" y="-88470"/>
            <a:chExt cx="7457077" cy="3753126"/>
          </a:xfrm>
        </p:grpSpPr>
        <p:sp>
          <p:nvSpPr>
            <p:cNvPr id="672" name="Specify port as input/output/inout"/>
            <p:cNvSpPr txBox="1"/>
            <p:nvPr/>
          </p:nvSpPr>
          <p:spPr>
            <a:xfrm>
              <a:off x="0" y="-88470"/>
              <a:ext cx="4395790" cy="108747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rPr lang="en-GB" noProof="0" dirty="0"/>
                <a:t>Specify port as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input</a:t>
              </a:r>
              <a:r>
                <a:rPr lang="en-GB" noProof="0" dirty="0"/>
                <a:t>/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output</a:t>
              </a:r>
              <a:r>
                <a:rPr lang="en-GB" noProof="0" dirty="0"/>
                <a:t>/</a:t>
              </a:r>
              <a:r>
                <a:rPr lang="en-GB" noProof="0" dirty="0" err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inout</a:t>
              </a:r>
              <a:endPara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endParaRPr>
            </a:p>
          </p:txBody>
        </p:sp>
        <p:sp>
          <p:nvSpPr>
            <p:cNvPr id="673" name="Line"/>
            <p:cNvSpPr/>
            <p:nvPr/>
          </p:nvSpPr>
          <p:spPr>
            <a:xfrm>
              <a:off x="3701302" y="914979"/>
              <a:ext cx="3755775" cy="2749677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677" name="Group"/>
          <p:cNvGrpSpPr/>
          <p:nvPr/>
        </p:nvGrpSpPr>
        <p:grpSpPr>
          <a:xfrm>
            <a:off x="406057" y="4785560"/>
            <a:ext cx="7515906" cy="2563289"/>
            <a:chOff x="0" y="-260349"/>
            <a:chExt cx="7515904" cy="2563288"/>
          </a:xfrm>
        </p:grpSpPr>
        <p:sp>
          <p:nvSpPr>
            <p:cNvPr id="675" name="Express module's behaviour. Each statement executes in parallel. Order doesn't matter."/>
            <p:cNvSpPr txBox="1"/>
            <p:nvPr/>
          </p:nvSpPr>
          <p:spPr>
            <a:xfrm>
              <a:off x="0" y="-260350"/>
              <a:ext cx="5280535" cy="2032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rPr lang="en-GB" noProof="0" dirty="0"/>
                <a:t>Express module's behaviour. Each statement executes in parallel. Order doesn't matter.</a:t>
              </a:r>
            </a:p>
          </p:txBody>
        </p:sp>
        <p:sp>
          <p:nvSpPr>
            <p:cNvPr id="676" name="Line"/>
            <p:cNvSpPr/>
            <p:nvPr/>
          </p:nvSpPr>
          <p:spPr>
            <a:xfrm>
              <a:off x="5372940" y="1154366"/>
              <a:ext cx="2142965" cy="1148573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680" name="Group"/>
          <p:cNvGrpSpPr/>
          <p:nvPr/>
        </p:nvGrpSpPr>
        <p:grpSpPr>
          <a:xfrm>
            <a:off x="5215124" y="2543074"/>
            <a:ext cx="3265048" cy="3290543"/>
            <a:chOff x="0" y="-15975"/>
            <a:chExt cx="3265047" cy="3290542"/>
          </a:xfrm>
        </p:grpSpPr>
        <p:sp>
          <p:nvSpPr>
            <p:cNvPr id="678" name="Declare module, list its ports, terminate with ;"/>
            <p:cNvSpPr txBox="1"/>
            <p:nvPr/>
          </p:nvSpPr>
          <p:spPr>
            <a:xfrm>
              <a:off x="0" y="-15975"/>
              <a:ext cx="3265047" cy="155595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rPr lang="en-GB" noProof="0" dirty="0"/>
                <a:t>Declare module, list its ports, terminate with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;</a:t>
              </a:r>
            </a:p>
          </p:txBody>
        </p:sp>
        <p:sp>
          <p:nvSpPr>
            <p:cNvPr id="679" name="Line"/>
            <p:cNvSpPr/>
            <p:nvPr/>
          </p:nvSpPr>
          <p:spPr>
            <a:xfrm>
              <a:off x="2149381" y="1525819"/>
              <a:ext cx="488213" cy="1748748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683" name="Group"/>
          <p:cNvGrpSpPr/>
          <p:nvPr/>
        </p:nvGrpSpPr>
        <p:grpSpPr>
          <a:xfrm>
            <a:off x="8705589" y="2777311"/>
            <a:ext cx="3780733" cy="2535742"/>
            <a:chOff x="-186462" y="-16688"/>
            <a:chExt cx="3780731" cy="2535740"/>
          </a:xfrm>
        </p:grpSpPr>
        <p:sp>
          <p:nvSpPr>
            <p:cNvPr id="681" name="Comments can also use /* ... */"/>
            <p:cNvSpPr txBox="1"/>
            <p:nvPr/>
          </p:nvSpPr>
          <p:spPr>
            <a:xfrm>
              <a:off x="-186462" y="-16688"/>
              <a:ext cx="3780731" cy="108747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rPr lang="en-GB" noProof="0" dirty="0"/>
                <a:t>Comments can also use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/* ... */</a:t>
              </a:r>
            </a:p>
          </p:txBody>
        </p:sp>
        <p:sp>
          <p:nvSpPr>
            <p:cNvPr id="682" name="Line"/>
            <p:cNvSpPr/>
            <p:nvPr/>
          </p:nvSpPr>
          <p:spPr>
            <a:xfrm flipH="1">
              <a:off x="1458436" y="1143084"/>
              <a:ext cx="571853" cy="1375968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686" name="Group"/>
          <p:cNvGrpSpPr/>
          <p:nvPr/>
        </p:nvGrpSpPr>
        <p:grpSpPr>
          <a:xfrm>
            <a:off x="5579191" y="8138111"/>
            <a:ext cx="7007603" cy="1459791"/>
            <a:chOff x="0" y="0"/>
            <a:chExt cx="7007602" cy="1459789"/>
          </a:xfrm>
        </p:grpSpPr>
        <p:sp>
          <p:nvSpPr>
            <p:cNvPr id="684" name="Other operators include: &amp;, |, +, -, *"/>
            <p:cNvSpPr txBox="1"/>
            <p:nvPr/>
          </p:nvSpPr>
          <p:spPr>
            <a:xfrm>
              <a:off x="0" y="869041"/>
              <a:ext cx="7007603" cy="59074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rPr lang="en-GB" noProof="0" dirty="0"/>
                <a:t>Other operators include: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&amp;</a:t>
              </a:r>
              <a:r>
                <a:rPr lang="en-GB" noProof="0" dirty="0"/>
                <a:t>,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|</a:t>
              </a:r>
              <a:r>
                <a:rPr lang="en-GB" noProof="0" dirty="0"/>
                <a:t>,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+</a:t>
              </a:r>
              <a:r>
                <a:rPr lang="en-GB" noProof="0" dirty="0"/>
                <a:t>,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-</a:t>
              </a:r>
              <a:r>
                <a:rPr lang="en-GB" noProof="0" dirty="0"/>
                <a:t>,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*</a:t>
              </a:r>
            </a:p>
          </p:txBody>
        </p:sp>
        <p:sp>
          <p:nvSpPr>
            <p:cNvPr id="685" name="Line"/>
            <p:cNvSpPr/>
            <p:nvPr/>
          </p:nvSpPr>
          <p:spPr>
            <a:xfrm flipV="1">
              <a:off x="4831067" y="-1"/>
              <a:ext cx="568172" cy="791190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689" name="Group"/>
          <p:cNvGrpSpPr/>
          <p:nvPr/>
        </p:nvGrpSpPr>
        <p:grpSpPr>
          <a:xfrm>
            <a:off x="406057" y="8025824"/>
            <a:ext cx="7253440" cy="537384"/>
            <a:chOff x="0" y="967109"/>
            <a:chExt cx="7253438" cy="537382"/>
          </a:xfrm>
        </p:grpSpPr>
        <p:sp>
          <p:nvSpPr>
            <p:cNvPr id="687" name="This is continuous assignment. Output responds to changes in input immediately."/>
            <p:cNvSpPr/>
            <p:nvPr/>
          </p:nvSpPr>
          <p:spPr>
            <a:xfrm>
              <a:off x="0" y="1016000"/>
              <a:ext cx="5280535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rPr lang="en-GB" noProof="0" dirty="0"/>
                <a:t>This is continuous assignment. Output responds to changes in input </a:t>
              </a:r>
              <a:r>
                <a:rPr lang="en-GB" b="1" noProof="0" dirty="0"/>
                <a:t>immediately</a:t>
              </a:r>
              <a:r>
                <a:rPr lang="en-GB" noProof="0" dirty="0"/>
                <a:t>.</a:t>
              </a:r>
            </a:p>
          </p:txBody>
        </p:sp>
        <p:sp>
          <p:nvSpPr>
            <p:cNvPr id="688" name="Line"/>
            <p:cNvSpPr/>
            <p:nvPr/>
          </p:nvSpPr>
          <p:spPr>
            <a:xfrm flipV="1">
              <a:off x="4785704" y="967109"/>
              <a:ext cx="2467735" cy="537384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6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6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6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6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6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 advAuto="0"/>
      <p:bldP spid="674" grpId="3" animBg="1" advAuto="0"/>
      <p:bldP spid="677" grpId="4" animBg="1" advAuto="0"/>
      <p:bldP spid="680" grpId="2" animBg="1" advAuto="0"/>
      <p:bldP spid="683" grpId="1" animBg="1" advAuto="0"/>
      <p:bldP spid="686" grpId="6" animBg="1" advAuto="0"/>
      <p:bldP spid="689" grpId="5" animBg="1" advAuto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ate-level descrip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Gate-level description</a:t>
            </a:r>
          </a:p>
        </p:txBody>
      </p:sp>
      <p:sp>
        <p:nvSpPr>
          <p:cNvPr id="692" name="Built-in logic gates include: and, nand, or, nor, xor, xnor, not, buf."/>
          <p:cNvSpPr txBox="1">
            <a:spLocks noGrp="1"/>
          </p:cNvSpPr>
          <p:nvPr>
            <p:ph type="body" sz="quarter" idx="1"/>
          </p:nvPr>
        </p:nvSpPr>
        <p:spPr>
          <a:xfrm>
            <a:off x="952500" y="2686050"/>
            <a:ext cx="11099800" cy="1416315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Built-in logic gates include: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and</a:t>
            </a:r>
            <a:r>
              <a:rPr lang="en-GB" noProof="0" dirty="0"/>
              <a:t>, </a:t>
            </a:r>
            <a:r>
              <a:rPr lang="en-GB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nand</a:t>
            </a:r>
            <a:r>
              <a:rPr lang="en-GB" noProof="0" dirty="0"/>
              <a:t>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or</a:t>
            </a:r>
            <a:r>
              <a:rPr lang="en-GB" noProof="0" dirty="0"/>
              <a:t>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nor</a:t>
            </a:r>
            <a:r>
              <a:rPr lang="en-GB" noProof="0" dirty="0"/>
              <a:t>, </a:t>
            </a:r>
            <a:r>
              <a:rPr lang="en-GB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xor</a:t>
            </a:r>
            <a:r>
              <a:rPr lang="en-GB" noProof="0" dirty="0"/>
              <a:t>, </a:t>
            </a:r>
            <a:r>
              <a:rPr lang="en-GB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xnor</a:t>
            </a:r>
            <a:r>
              <a:rPr lang="en-GB" noProof="0" dirty="0"/>
              <a:t>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not</a:t>
            </a:r>
            <a:r>
              <a:rPr lang="en-GB" noProof="0" dirty="0"/>
              <a:t>, </a:t>
            </a:r>
            <a:r>
              <a:rPr lang="en-GB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buf</a:t>
            </a:r>
            <a:r>
              <a:rPr lang="en-GB" noProof="0" dirty="0"/>
              <a:t>.</a:t>
            </a:r>
          </a:p>
        </p:txBody>
      </p:sp>
      <p:sp>
        <p:nvSpPr>
          <p:cNvPr id="69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34</a:t>
            </a:fld>
            <a:endParaRPr lang="en-GB" noProof="0" dirty="0"/>
          </a:p>
        </p:txBody>
      </p:sp>
      <p:grpSp>
        <p:nvGrpSpPr>
          <p:cNvPr id="700" name="Group"/>
          <p:cNvGrpSpPr/>
          <p:nvPr/>
        </p:nvGrpSpPr>
        <p:grpSpPr>
          <a:xfrm>
            <a:off x="7027333" y="4161366"/>
            <a:ext cx="5668257" cy="2500702"/>
            <a:chOff x="0" y="0"/>
            <a:chExt cx="5668255" cy="2500701"/>
          </a:xfrm>
        </p:grpSpPr>
        <p:pic>
          <p:nvPicPr>
            <p:cNvPr id="694" name="Image" descr="Image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5668256" cy="25007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695" name="a1"/>
            <p:cNvSpPr txBox="1"/>
            <p:nvPr/>
          </p:nvSpPr>
          <p:spPr>
            <a:xfrm>
              <a:off x="1428718" y="118533"/>
              <a:ext cx="495364" cy="482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5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a1</a:t>
              </a:r>
            </a:p>
          </p:txBody>
        </p:sp>
        <p:sp>
          <p:nvSpPr>
            <p:cNvPr id="696" name="a2"/>
            <p:cNvSpPr txBox="1"/>
            <p:nvPr/>
          </p:nvSpPr>
          <p:spPr>
            <a:xfrm>
              <a:off x="1428718" y="1938866"/>
              <a:ext cx="495364" cy="482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5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a2</a:t>
              </a:r>
            </a:p>
          </p:txBody>
        </p:sp>
        <p:sp>
          <p:nvSpPr>
            <p:cNvPr id="697" name="o1"/>
            <p:cNvSpPr txBox="1"/>
            <p:nvPr/>
          </p:nvSpPr>
          <p:spPr>
            <a:xfrm>
              <a:off x="3134752" y="1047150"/>
              <a:ext cx="495363" cy="482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5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o1</a:t>
              </a:r>
            </a:p>
          </p:txBody>
        </p:sp>
        <p:sp>
          <p:nvSpPr>
            <p:cNvPr id="698" name="i1"/>
            <p:cNvSpPr txBox="1"/>
            <p:nvPr/>
          </p:nvSpPr>
          <p:spPr>
            <a:xfrm>
              <a:off x="852985" y="1169917"/>
              <a:ext cx="495363" cy="482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5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i1</a:t>
              </a:r>
            </a:p>
          </p:txBody>
        </p:sp>
        <p:sp>
          <p:nvSpPr>
            <p:cNvPr id="699" name="i2"/>
            <p:cNvSpPr txBox="1"/>
            <p:nvPr/>
          </p:nvSpPr>
          <p:spPr>
            <a:xfrm>
              <a:off x="4044918" y="1938866"/>
              <a:ext cx="495364" cy="482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5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i2</a:t>
              </a:r>
            </a:p>
          </p:txBody>
        </p:sp>
      </p:grpSp>
      <p:sp>
        <p:nvSpPr>
          <p:cNvPr id="701" name="In practice, &quot;gate-level description&quot; depends on what primitives are provided by your target chip."/>
          <p:cNvSpPr txBox="1"/>
          <p:nvPr/>
        </p:nvSpPr>
        <p:spPr>
          <a:xfrm>
            <a:off x="6737415" y="7042802"/>
            <a:ext cx="6052763" cy="32126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>
            <a:lvl1pPr marL="444500" indent="-444500" algn="l">
              <a:spcBef>
                <a:spcPts val="4200"/>
              </a:spcBef>
              <a:buSzPct val="145000"/>
              <a:buChar char="•"/>
            </a:lvl1pPr>
          </a:lstStyle>
          <a:p>
            <a:r>
              <a:rPr lang="en-GB" noProof="0" dirty="0"/>
              <a:t>In practice, "gate-level description" depends on what primitives are provided by your target chip.</a:t>
            </a:r>
          </a:p>
        </p:txBody>
      </p:sp>
      <p:sp>
        <p:nvSpPr>
          <p:cNvPr id="702" name="// Function: 2-to-1 multiplexer as gates…"/>
          <p:cNvSpPr txBox="1"/>
          <p:nvPr/>
        </p:nvSpPr>
        <p:spPr>
          <a:xfrm>
            <a:off x="736956" y="4208941"/>
            <a:ext cx="5107167" cy="4519186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i="1" noProof="0" dirty="0">
                <a:solidFill>
                  <a:schemeClr val="accent3">
                    <a:hueOff val="362282"/>
                    <a:satOff val="31803"/>
                    <a:lumOff val="-18242"/>
                  </a:schemeClr>
                </a:solidFill>
              </a:rPr>
              <a:t>// Function: 2-to-1 multiplexer as gates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module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mux_gate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(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a, b,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output logic out, outbar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logic out1, out2,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selb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not i1 (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selb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,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and a1 (out1, a,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and a2 (out2, b,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selb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or  o1 (out, out1, out2);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not i2 (outbar, out);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endmodule</a:t>
            </a:r>
            <a:endParaRPr lang="en-GB" sz="2400" b="1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7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7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7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2" grpId="1" animBg="1" advAuto="0"/>
      <p:bldP spid="700" grpId="3" animBg="1" advAuto="0"/>
      <p:bldP spid="701" grpId="4" animBg="1" advAuto="0"/>
      <p:bldP spid="702" grpId="2" animBg="1" advAuto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module mux2to1 (out, outbar,…"/>
          <p:cNvSpPr txBox="1"/>
          <p:nvPr/>
        </p:nvSpPr>
        <p:spPr>
          <a:xfrm>
            <a:off x="694276" y="3917022"/>
            <a:ext cx="4257576" cy="3180358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module mux2to1 (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a, b, </a:t>
            </a:r>
            <a:r>
              <a:rPr lang="en-GB" sz="20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output logic out, outbar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lang="en-GB" sz="20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always_comb</a:t>
            </a: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begin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if (</a:t>
            </a:r>
            <a:r>
              <a:rPr lang="en-GB" sz="20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 out = a;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else     out = b;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outbar = ~out;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end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endmodule</a:t>
            </a:r>
            <a:endParaRPr lang="en-GB" sz="2000" b="1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705" name="Always block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Combinational blocks</a:t>
            </a:r>
          </a:p>
        </p:txBody>
      </p:sp>
      <p:sp>
        <p:nvSpPr>
          <p:cNvPr id="706" name="Verilog provides always blocks for defining sequential logic."/>
          <p:cNvSpPr txBox="1">
            <a:spLocks noGrp="1"/>
          </p:cNvSpPr>
          <p:nvPr>
            <p:ph type="body" sz="quarter" idx="1"/>
          </p:nvPr>
        </p:nvSpPr>
        <p:spPr>
          <a:xfrm>
            <a:off x="952499" y="2686050"/>
            <a:ext cx="11267087" cy="917279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422275" indent="-422275" defTabSz="554990">
              <a:spcBef>
                <a:spcPts val="3900"/>
              </a:spcBef>
              <a:defRPr sz="3040"/>
            </a:pPr>
            <a:r>
              <a:rPr lang="en-GB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always_comb</a:t>
            </a:r>
            <a:r>
              <a:rPr lang="en-GB" noProof="0" dirty="0"/>
              <a:t> blocks define </a:t>
            </a:r>
            <a:r>
              <a:rPr lang="en-GB" b="1" noProof="0" dirty="0"/>
              <a:t>combinational </a:t>
            </a:r>
            <a:r>
              <a:rPr lang="en-GB" noProof="0" dirty="0"/>
              <a:t>logic – no “state”</a:t>
            </a:r>
          </a:p>
        </p:txBody>
      </p:sp>
      <p:sp>
        <p:nvSpPr>
          <p:cNvPr id="70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35</a:t>
            </a:fld>
            <a:endParaRPr lang="en-GB" noProof="0" dirty="0"/>
          </a:p>
        </p:txBody>
      </p:sp>
      <p:sp>
        <p:nvSpPr>
          <p:cNvPr id="709" name="Executed in sequence (order matters!)"/>
          <p:cNvSpPr txBox="1"/>
          <p:nvPr/>
        </p:nvSpPr>
        <p:spPr>
          <a:xfrm>
            <a:off x="857395" y="7478115"/>
            <a:ext cx="10008296" cy="157992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numCol="1" anchor="ctr">
            <a:spAutoFit/>
          </a:bodyPr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GB" noProof="0" dirty="0"/>
              <a:t>Blocking assignments (=)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GB" dirty="0"/>
              <a:t>Statements run in order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GB" noProof="0" dirty="0"/>
              <a:t>Incomplete assignments leads to unintended latch</a:t>
            </a:r>
          </a:p>
        </p:txBody>
      </p:sp>
      <p:sp>
        <p:nvSpPr>
          <p:cNvPr id="711" name="Can also contain case and for"/>
          <p:cNvSpPr txBox="1"/>
          <p:nvPr/>
        </p:nvSpPr>
        <p:spPr>
          <a:xfrm>
            <a:off x="8210606" y="5628669"/>
            <a:ext cx="3888167" cy="108747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numCol="1" anchor="ctr">
            <a:spAutoFit/>
          </a:bodyPr>
          <a:lstStyle/>
          <a:p>
            <a:r>
              <a:rPr lang="en-GB" noProof="0" dirty="0"/>
              <a:t>Can also contain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case</a:t>
            </a:r>
            <a:r>
              <a:rPr lang="en-GB" noProof="0" dirty="0"/>
              <a:t> and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for</a:t>
            </a:r>
          </a:p>
        </p:txBody>
      </p:sp>
      <p:sp>
        <p:nvSpPr>
          <p:cNvPr id="712" name="Line"/>
          <p:cNvSpPr/>
          <p:nvPr/>
        </p:nvSpPr>
        <p:spPr>
          <a:xfrm flipH="1" flipV="1">
            <a:off x="4140769" y="5912285"/>
            <a:ext cx="4257578" cy="300388"/>
          </a:xfrm>
          <a:prstGeom prst="lin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  <a:tailEnd type="triangle" w="med" len="med"/>
          </a:ln>
          <a:effectLst/>
        </p:spPr>
        <p:txBody>
          <a:bodyPr wrap="square" lIns="50800" tIns="50800" rIns="50800" bIns="50800" numCol="1" anchor="ctr">
            <a:noAutofit/>
          </a:bodyPr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714" name="Sensitivity list"/>
          <p:cNvSpPr txBox="1"/>
          <p:nvPr/>
        </p:nvSpPr>
        <p:spPr>
          <a:xfrm>
            <a:off x="7870776" y="4555281"/>
            <a:ext cx="4632212" cy="59503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numCol="1" anchor="ctr">
            <a:spAutoFit/>
          </a:bodyPr>
          <a:lstStyle/>
          <a:p>
            <a:r>
              <a:rPr lang="en-GB" noProof="0" dirty="0"/>
              <a:t>Automatic sensitivity list</a:t>
            </a:r>
          </a:p>
        </p:txBody>
      </p:sp>
      <p:sp>
        <p:nvSpPr>
          <p:cNvPr id="715" name="Line"/>
          <p:cNvSpPr/>
          <p:nvPr/>
        </p:nvSpPr>
        <p:spPr>
          <a:xfrm flipH="1">
            <a:off x="3732755" y="4876801"/>
            <a:ext cx="4257577" cy="437644"/>
          </a:xfrm>
          <a:prstGeom prst="lin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  <a:tailEnd type="triangle" w="med" len="med"/>
          </a:ln>
          <a:effectLst/>
        </p:spPr>
        <p:txBody>
          <a:bodyPr wrap="square" lIns="50800" tIns="50800" rIns="50800" bIns="50800" numCol="1" anchor="ctr">
            <a:noAutofit/>
          </a:bodyPr>
          <a:lstStyle/>
          <a:p>
            <a:pPr>
              <a:defRPr sz="2100" b="1"/>
            </a:pPr>
            <a:endParaRPr lang="en-GB" noProof="0" dirty="0"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4" grpId="2" animBg="1" advAuto="0"/>
      <p:bldP spid="706" grpId="1" animBg="1" advAuto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Always block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 err="1"/>
              <a:t>always_comb</a:t>
            </a:r>
            <a:r>
              <a:rPr lang="en-GB" noProof="0" dirty="0"/>
              <a:t> blocks</a:t>
            </a:r>
          </a:p>
        </p:txBody>
      </p:sp>
      <p:sp>
        <p:nvSpPr>
          <p:cNvPr id="722" name="Can mix procedural and continuous assignments.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Can mix procedural and continuous assignments. </a:t>
            </a:r>
          </a:p>
        </p:txBody>
      </p:sp>
      <p:sp>
        <p:nvSpPr>
          <p:cNvPr id="72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36</a:t>
            </a:fld>
            <a:endParaRPr lang="en-GB" noProof="0" dirty="0"/>
          </a:p>
        </p:txBody>
      </p:sp>
      <p:sp>
        <p:nvSpPr>
          <p:cNvPr id="724" name="module mux2to1 (out, outbar,…"/>
          <p:cNvSpPr txBox="1"/>
          <p:nvPr/>
        </p:nvSpPr>
        <p:spPr>
          <a:xfrm>
            <a:off x="669223" y="4942944"/>
            <a:ext cx="5079917" cy="379591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module mux2to1 (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a, b,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output logic out, outbar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always_comb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begin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if (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 out = a;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else     out = b;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outbar = ~out;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end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endmodule</a:t>
            </a:r>
            <a:endParaRPr lang="en-GB" sz="2400" b="1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725" name="module mux2to1 (out, outbar,…"/>
          <p:cNvSpPr txBox="1"/>
          <p:nvPr/>
        </p:nvSpPr>
        <p:spPr>
          <a:xfrm>
            <a:off x="6993822" y="4942944"/>
            <a:ext cx="5079917" cy="379591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module mux2to1 (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a, b,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output logic out, outbar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always_comb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begin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if (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 out = a;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else     out = b;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end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assign outbar = ~out;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endmodule</a:t>
            </a:r>
            <a:endParaRPr lang="en-GB" sz="2400" b="1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3" name="Equals 2">
            <a:extLst>
              <a:ext uri="{FF2B5EF4-FFF2-40B4-BE49-F238E27FC236}">
                <a16:creationId xmlns:a16="http://schemas.microsoft.com/office/drawing/2014/main" id="{9182E54C-27F2-38E3-C59A-C343B572E964}"/>
              </a:ext>
            </a:extLst>
          </p:cNvPr>
          <p:cNvSpPr/>
          <p:nvPr/>
        </p:nvSpPr>
        <p:spPr>
          <a:xfrm>
            <a:off x="5661611" y="6230795"/>
            <a:ext cx="1419740" cy="871985"/>
          </a:xfrm>
          <a:prstGeom prst="mathEqual">
            <a:avLst/>
          </a:prstGeom>
          <a:solidFill>
            <a:srgbClr val="6E8627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2100" b="1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</p:spTree>
  </p:cSld>
  <p:clrMapOvr>
    <a:masterClrMapping/>
  </p:clrMapOvr>
  <p:transition spd="med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Numerical constant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Numerical constants</a:t>
            </a:r>
          </a:p>
        </p:txBody>
      </p:sp>
      <p:sp>
        <p:nvSpPr>
          <p:cNvPr id="728" name="Format is &lt;size&gt;'&lt;signedness&gt;&lt;base&gt;&lt;number&gt;…"/>
          <p:cNvSpPr txBox="1">
            <a:spLocks noGrp="1"/>
          </p:cNvSpPr>
          <p:nvPr>
            <p:ph type="body" idx="1"/>
          </p:nvPr>
        </p:nvSpPr>
        <p:spPr>
          <a:xfrm>
            <a:off x="601249" y="2435528"/>
            <a:ext cx="12012461" cy="6958993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GB" noProof="0" dirty="0"/>
              <a:t>Format is </a:t>
            </a:r>
            <a:r>
              <a:rPr lang="en-GB" i="1" noProof="0" dirty="0"/>
              <a:t>&lt;size&gt;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'</a:t>
            </a:r>
            <a:r>
              <a:rPr lang="en-GB" i="1" noProof="0" dirty="0"/>
              <a:t>&lt;</a:t>
            </a:r>
            <a:r>
              <a:rPr lang="en-GB" i="1" noProof="0" dirty="0" err="1"/>
              <a:t>signedness</a:t>
            </a:r>
            <a:r>
              <a:rPr lang="en-GB" i="1" noProof="0" dirty="0"/>
              <a:t>&gt;&lt;base&gt;&lt;number&gt;</a:t>
            </a:r>
          </a:p>
          <a:p>
            <a:r>
              <a:rPr lang="en-GB" i="1" noProof="0" dirty="0"/>
              <a:t>&lt;size&gt;</a:t>
            </a:r>
            <a:r>
              <a:rPr lang="en-GB" noProof="0" dirty="0"/>
              <a:t> defaults to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32</a:t>
            </a:r>
            <a:r>
              <a:rPr lang="en-GB" noProof="0" dirty="0"/>
              <a:t>.</a:t>
            </a:r>
          </a:p>
          <a:p>
            <a:r>
              <a:rPr lang="en-GB" i="1" noProof="0" dirty="0"/>
              <a:t>&lt;base&gt;</a:t>
            </a:r>
            <a:r>
              <a:rPr lang="en-GB" noProof="0" dirty="0"/>
              <a:t> is either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b</a:t>
            </a:r>
            <a:r>
              <a:rPr lang="en-GB" noProof="0" dirty="0"/>
              <a:t> (binary=2),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</a:t>
            </a:r>
            <a:r>
              <a:rPr lang="en-GB" noProof="0" dirty="0"/>
              <a:t> (octal=8),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d</a:t>
            </a:r>
            <a:r>
              <a:rPr lang="en-GB" noProof="0" dirty="0"/>
              <a:t> (decimal=10), or</a:t>
            </a:r>
            <a:br>
              <a:rPr lang="en-GB" noProof="0" dirty="0"/>
            </a:b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h</a:t>
            </a:r>
            <a:r>
              <a:rPr lang="en-GB" noProof="0" dirty="0"/>
              <a:t> (hexadecimal=16). Decimal is the default.</a:t>
            </a:r>
          </a:p>
          <a:p>
            <a:r>
              <a:rPr lang="en-GB" i="1" noProof="0" dirty="0"/>
              <a:t>&lt;</a:t>
            </a:r>
            <a:r>
              <a:rPr lang="en-GB" i="1" noProof="0" dirty="0" err="1"/>
              <a:t>signedness</a:t>
            </a:r>
            <a:r>
              <a:rPr lang="en-GB" i="1" noProof="0" dirty="0"/>
              <a:t>&gt;</a:t>
            </a:r>
            <a:r>
              <a:rPr lang="en-GB" noProof="0" dirty="0"/>
              <a:t> is either blank (unsigned, default) or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</a:t>
            </a:r>
            <a:r>
              <a:rPr lang="en-GB" noProof="0" dirty="0"/>
              <a:t> (signed).</a:t>
            </a:r>
          </a:p>
          <a:p>
            <a:r>
              <a:rPr lang="en-GB" noProof="0" dirty="0"/>
              <a:t>Examples: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2'b10</a:t>
            </a:r>
            <a:r>
              <a:rPr lang="en-GB" noProof="0" dirty="0"/>
              <a:t>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'b10</a:t>
            </a:r>
            <a:r>
              <a:rPr lang="en-GB" noProof="0" dirty="0"/>
              <a:t>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31</a:t>
            </a:r>
            <a:r>
              <a:rPr lang="en-GB" noProof="0" dirty="0"/>
              <a:t>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8'hAf</a:t>
            </a:r>
            <a:r>
              <a:rPr lang="en-GB" noProof="0" dirty="0"/>
              <a:t>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2'sb10</a:t>
            </a:r>
          </a:p>
          <a:p>
            <a:pPr marL="0" indent="0">
              <a:spcBef>
                <a:spcPts val="0"/>
              </a:spcBef>
              <a:buNone/>
              <a:defRPr sz="27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GB" dirty="0">
              <a:ea typeface="Arial"/>
              <a:cs typeface="Arial"/>
            </a:endParaRPr>
          </a:p>
          <a:p>
            <a:pPr marL="0" indent="0">
              <a:spcBef>
                <a:spcPts val="0"/>
              </a:spcBef>
              <a:buNone/>
              <a:defRPr sz="27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lang="en-GB" dirty="0">
                <a:latin typeface="Courier New" panose="02070309020205020404" pitchFamily="49" charset="0"/>
                <a:ea typeface="Arial"/>
                <a:cs typeface="Courier New" panose="02070309020205020404" pitchFamily="49" charset="0"/>
              </a:rPr>
              <a:t>logic [7:0] zeros = '0;    // 00000000</a:t>
            </a:r>
          </a:p>
          <a:p>
            <a:pPr marL="0" indent="0">
              <a:spcBef>
                <a:spcPts val="0"/>
              </a:spcBef>
              <a:buNone/>
              <a:defRPr sz="27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lang="en-GB" dirty="0">
                <a:latin typeface="Courier New" panose="02070309020205020404" pitchFamily="49" charset="0"/>
                <a:ea typeface="Arial"/>
                <a:cs typeface="Courier New" panose="02070309020205020404" pitchFamily="49" charset="0"/>
              </a:rPr>
              <a:t>logic [7:0] ones  = '1;    // 11111111</a:t>
            </a:r>
          </a:p>
          <a:p>
            <a:pPr marL="0" indent="0">
              <a:spcBef>
                <a:spcPts val="0"/>
              </a:spcBef>
              <a:buNone/>
              <a:defRPr sz="27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GB" dirty="0">
              <a:latin typeface="Arial"/>
              <a:ea typeface="Arial"/>
              <a:cs typeface="Arial"/>
            </a:endParaRPr>
          </a:p>
        </p:txBody>
      </p:sp>
      <p:sp>
        <p:nvSpPr>
          <p:cNvPr id="72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37</a:t>
            </a:fld>
            <a:endParaRPr lang="en-GB" noProof="0" dirty="0"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28" grpId="0" build="p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Aside: signed numbe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566674">
              <a:defRPr sz="7760"/>
            </a:lvl1pPr>
          </a:lstStyle>
          <a:p>
            <a:r>
              <a:rPr lang="en-GB" noProof="0" dirty="0"/>
              <a:t>Aside: signed numbers</a:t>
            </a:r>
          </a:p>
        </p:txBody>
      </p:sp>
      <p:sp>
        <p:nvSpPr>
          <p:cNvPr id="75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38</a:t>
            </a:fld>
            <a:endParaRPr lang="en-GB" noProof="0" dirty="0"/>
          </a:p>
        </p:txBody>
      </p:sp>
      <p:grpSp>
        <p:nvGrpSpPr>
          <p:cNvPr id="760" name="Group"/>
          <p:cNvGrpSpPr/>
          <p:nvPr/>
        </p:nvGrpSpPr>
        <p:grpSpPr>
          <a:xfrm>
            <a:off x="721353" y="2258310"/>
            <a:ext cx="2780311" cy="6637269"/>
            <a:chOff x="-88206" y="-6351"/>
            <a:chExt cx="2780309" cy="6637267"/>
          </a:xfrm>
        </p:grpSpPr>
        <p:graphicFrame>
          <p:nvGraphicFramePr>
            <p:cNvPr id="758" name="Table 1"/>
            <p:cNvGraphicFramePr/>
            <p:nvPr>
              <p:extLst>
                <p:ext uri="{D42A27DB-BD31-4B8C-83A1-F6EECF244321}">
                  <p14:modId xmlns:p14="http://schemas.microsoft.com/office/powerpoint/2010/main" val="4224147502"/>
                </p:ext>
              </p:extLst>
            </p:nvPr>
          </p:nvGraphicFramePr>
          <p:xfrm>
            <a:off x="444826" y="777597"/>
            <a:ext cx="1714241" cy="5853319"/>
          </p:xfrm>
          <a:graphic>
            <a:graphicData uri="http://schemas.openxmlformats.org/drawingml/2006/table">
              <a:tbl>
                <a:tblPr firstRow="1">
                  <a:tableStyleId>{4A9BC294-FFE2-49D5-8D69-9E1BD2C41BD5}</a:tableStyleId>
                </a:tblPr>
                <a:tblGrid>
                  <a:gridCol w="22860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799842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</a:tblGrid>
                <a:tr h="344313"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8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value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6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6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7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7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8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8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9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9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6"/>
                    </a:ext>
                  </a:extLst>
                </a:tr>
              </a:tbl>
            </a:graphicData>
          </a:graphic>
        </p:graphicFrame>
        <p:sp>
          <p:nvSpPr>
            <p:cNvPr id="759" name="4-bit unsigned:"/>
            <p:cNvSpPr txBox="1"/>
            <p:nvPr/>
          </p:nvSpPr>
          <p:spPr>
            <a:xfrm>
              <a:off x="-88206" y="-6351"/>
              <a:ext cx="2780309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rPr lang="en-GB" noProof="0" dirty="0"/>
                <a:t>4-bit unsigned:</a:t>
              </a:r>
            </a:p>
          </p:txBody>
        </p:sp>
      </p:grpSp>
      <p:grpSp>
        <p:nvGrpSpPr>
          <p:cNvPr id="763" name="Group"/>
          <p:cNvGrpSpPr/>
          <p:nvPr/>
        </p:nvGrpSpPr>
        <p:grpSpPr>
          <a:xfrm>
            <a:off x="4507903" y="2258310"/>
            <a:ext cx="3988994" cy="6637269"/>
            <a:chOff x="-139899" y="-6351"/>
            <a:chExt cx="3988992" cy="6637267"/>
          </a:xfrm>
        </p:grpSpPr>
        <p:graphicFrame>
          <p:nvGraphicFramePr>
            <p:cNvPr id="761" name="Table 1-1"/>
            <p:cNvGraphicFramePr/>
            <p:nvPr>
              <p:extLst>
                <p:ext uri="{D42A27DB-BD31-4B8C-83A1-F6EECF244321}">
                  <p14:modId xmlns:p14="http://schemas.microsoft.com/office/powerpoint/2010/main" val="2079973650"/>
                </p:ext>
              </p:extLst>
            </p:nvPr>
          </p:nvGraphicFramePr>
          <p:xfrm>
            <a:off x="997475" y="777597"/>
            <a:ext cx="1714241" cy="5853319"/>
          </p:xfrm>
          <a:graphic>
            <a:graphicData uri="http://schemas.openxmlformats.org/drawingml/2006/table">
              <a:tbl>
                <a:tblPr firstRow="1">
                  <a:tableStyleId>{4A9BC294-FFE2-49D5-8D69-9E1BD2C41BD5}</a:tableStyleId>
                </a:tblPr>
                <a:tblGrid>
                  <a:gridCol w="22860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799842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</a:tblGrid>
                <a:tr h="344313"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s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value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6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6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7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7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8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9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-6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-7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6"/>
                    </a:ext>
                  </a:extLst>
                </a:tr>
              </a:tbl>
            </a:graphicData>
          </a:graphic>
        </p:graphicFrame>
        <p:sp>
          <p:nvSpPr>
            <p:cNvPr id="762" name="sign + 3-bit unsigned:"/>
            <p:cNvSpPr txBox="1"/>
            <p:nvPr/>
          </p:nvSpPr>
          <p:spPr>
            <a:xfrm>
              <a:off x="-139899" y="-6351"/>
              <a:ext cx="3988992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rPr lang="en-GB" noProof="0" dirty="0"/>
                <a:t>sign + 3-bit unsigned:</a:t>
              </a:r>
            </a:p>
          </p:txBody>
        </p:sp>
      </p:grpSp>
      <p:grpSp>
        <p:nvGrpSpPr>
          <p:cNvPr id="766" name="Group"/>
          <p:cNvGrpSpPr/>
          <p:nvPr/>
        </p:nvGrpSpPr>
        <p:grpSpPr>
          <a:xfrm>
            <a:off x="8917646" y="2258310"/>
            <a:ext cx="3963990" cy="6637269"/>
            <a:chOff x="-146646" y="-6351"/>
            <a:chExt cx="3963989" cy="6637267"/>
          </a:xfrm>
        </p:grpSpPr>
        <p:graphicFrame>
          <p:nvGraphicFramePr>
            <p:cNvPr id="764" name="Table 1-1-1"/>
            <p:cNvGraphicFramePr/>
            <p:nvPr>
              <p:extLst>
                <p:ext uri="{D42A27DB-BD31-4B8C-83A1-F6EECF244321}">
                  <p14:modId xmlns:p14="http://schemas.microsoft.com/office/powerpoint/2010/main" val="3571436405"/>
                </p:ext>
              </p:extLst>
            </p:nvPr>
          </p:nvGraphicFramePr>
          <p:xfrm>
            <a:off x="978227" y="777597"/>
            <a:ext cx="1809492" cy="5853319"/>
          </p:xfrm>
          <a:graphic>
            <a:graphicData uri="http://schemas.openxmlformats.org/drawingml/2006/table">
              <a:tbl>
                <a:tblPr firstRow="1">
                  <a:tableStyleId>{4A9BC294-FFE2-49D5-8D69-9E1BD2C41BD5}</a:tableStyleId>
                </a:tblPr>
                <a:tblGrid>
                  <a:gridCol w="32385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799842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</a:tblGrid>
                <a:tr h="344313"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-8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value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6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6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7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7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8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-8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9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-7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-6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6"/>
                    </a:ext>
                  </a:extLst>
                </a:tr>
              </a:tbl>
            </a:graphicData>
          </a:graphic>
        </p:graphicFrame>
        <p:sp>
          <p:nvSpPr>
            <p:cNvPr id="765" name="4-bit 2's complement:"/>
            <p:cNvSpPr txBox="1"/>
            <p:nvPr/>
          </p:nvSpPr>
          <p:spPr>
            <a:xfrm>
              <a:off x="-146646" y="-6351"/>
              <a:ext cx="3963989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rPr lang="en-GB" noProof="0" dirty="0"/>
                <a:t>4-bit 2's complement:</a:t>
              </a: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7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7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0" grpId="1" animBg="1" advAuto="0"/>
      <p:bldP spid="763" grpId="2" animBg="1" advAuto="0"/>
      <p:bldP spid="766" grpId="3" animBg="1" advAuto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62566-8F62-A194-81C4-930625CC4E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Aside: signed numbers">
            <a:extLst>
              <a:ext uri="{FF2B5EF4-FFF2-40B4-BE49-F238E27FC236}">
                <a16:creationId xmlns:a16="http://schemas.microsoft.com/office/drawing/2014/main" id="{6877CF23-45B2-3F20-263A-A4D0347B9B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566674">
              <a:defRPr sz="7760"/>
            </a:lvl1pPr>
          </a:lstStyle>
          <a:p>
            <a:r>
              <a:rPr lang="en-GB" dirty="0"/>
              <a:t>Question?</a:t>
            </a:r>
            <a:endParaRPr lang="en-GB" noProof="0" dirty="0"/>
          </a:p>
        </p:txBody>
      </p:sp>
      <p:sp>
        <p:nvSpPr>
          <p:cNvPr id="757" name="Slide Number">
            <a:extLst>
              <a:ext uri="{FF2B5EF4-FFF2-40B4-BE49-F238E27FC236}">
                <a16:creationId xmlns:a16="http://schemas.microsoft.com/office/drawing/2014/main" id="{A26858A5-6B0A-551A-E836-D526EB90B43B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39</a:t>
            </a:fld>
            <a:endParaRPr lang="en-GB" noProof="0" dirty="0"/>
          </a:p>
        </p:txBody>
      </p:sp>
      <p:grpSp>
        <p:nvGrpSpPr>
          <p:cNvPr id="763" name="Group">
            <a:extLst>
              <a:ext uri="{FF2B5EF4-FFF2-40B4-BE49-F238E27FC236}">
                <a16:creationId xmlns:a16="http://schemas.microsoft.com/office/drawing/2014/main" id="{EFF1C625-C615-9652-391F-1A8A3377F8F6}"/>
              </a:ext>
            </a:extLst>
          </p:cNvPr>
          <p:cNvGrpSpPr/>
          <p:nvPr/>
        </p:nvGrpSpPr>
        <p:grpSpPr>
          <a:xfrm>
            <a:off x="4724529" y="2258310"/>
            <a:ext cx="3988994" cy="6637269"/>
            <a:chOff x="-139899" y="-6351"/>
            <a:chExt cx="3988992" cy="6637267"/>
          </a:xfrm>
        </p:grpSpPr>
        <p:graphicFrame>
          <p:nvGraphicFramePr>
            <p:cNvPr id="761" name="Table 1-1">
              <a:extLst>
                <a:ext uri="{FF2B5EF4-FFF2-40B4-BE49-F238E27FC236}">
                  <a16:creationId xmlns:a16="http://schemas.microsoft.com/office/drawing/2014/main" id="{84EDAE7B-BFCE-EC9D-F0C3-7A1D44580967}"/>
                </a:ext>
              </a:extLst>
            </p:cNvPr>
            <p:cNvGraphicFramePr/>
            <p:nvPr/>
          </p:nvGraphicFramePr>
          <p:xfrm>
            <a:off x="997475" y="777597"/>
            <a:ext cx="1714241" cy="5853319"/>
          </p:xfrm>
          <a:graphic>
            <a:graphicData uri="http://schemas.openxmlformats.org/drawingml/2006/table">
              <a:tbl>
                <a:tblPr firstRow="1">
                  <a:tableStyleId>{4A9BC294-FFE2-49D5-8D69-9E1BD2C41BD5}</a:tableStyleId>
                </a:tblPr>
                <a:tblGrid>
                  <a:gridCol w="22860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799842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</a:tblGrid>
                <a:tr h="344313"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s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value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6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6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7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7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8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9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-6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-7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6"/>
                    </a:ext>
                  </a:extLst>
                </a:tr>
              </a:tbl>
            </a:graphicData>
          </a:graphic>
        </p:graphicFrame>
        <p:sp>
          <p:nvSpPr>
            <p:cNvPr id="762" name="sign + 3-bit unsigned:">
              <a:extLst>
                <a:ext uri="{FF2B5EF4-FFF2-40B4-BE49-F238E27FC236}">
                  <a16:creationId xmlns:a16="http://schemas.microsoft.com/office/drawing/2014/main" id="{C55DEE19-C295-12F9-B12D-F9EFC1CE4149}"/>
                </a:ext>
              </a:extLst>
            </p:cNvPr>
            <p:cNvSpPr txBox="1"/>
            <p:nvPr/>
          </p:nvSpPr>
          <p:spPr>
            <a:xfrm>
              <a:off x="-139899" y="-6351"/>
              <a:ext cx="3988992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rPr lang="en-GB" noProof="0" dirty="0"/>
                <a:t>sign + 3-bit unsigned:</a:t>
              </a:r>
            </a:p>
          </p:txBody>
        </p:sp>
      </p:grpSp>
      <p:grpSp>
        <p:nvGrpSpPr>
          <p:cNvPr id="766" name="Group">
            <a:extLst>
              <a:ext uri="{FF2B5EF4-FFF2-40B4-BE49-F238E27FC236}">
                <a16:creationId xmlns:a16="http://schemas.microsoft.com/office/drawing/2014/main" id="{664A7FFA-7ED5-86C1-C111-96D5C1739342}"/>
              </a:ext>
            </a:extLst>
          </p:cNvPr>
          <p:cNvGrpSpPr/>
          <p:nvPr/>
        </p:nvGrpSpPr>
        <p:grpSpPr>
          <a:xfrm>
            <a:off x="8917646" y="2258310"/>
            <a:ext cx="3963990" cy="6637269"/>
            <a:chOff x="-146646" y="-6351"/>
            <a:chExt cx="3963989" cy="6637267"/>
          </a:xfrm>
        </p:grpSpPr>
        <p:graphicFrame>
          <p:nvGraphicFramePr>
            <p:cNvPr id="764" name="Table 1-1-1">
              <a:extLst>
                <a:ext uri="{FF2B5EF4-FFF2-40B4-BE49-F238E27FC236}">
                  <a16:creationId xmlns:a16="http://schemas.microsoft.com/office/drawing/2014/main" id="{CEC769B6-D70F-0B85-7DC0-DDE3562B13CE}"/>
                </a:ext>
              </a:extLst>
            </p:cNvPr>
            <p:cNvGraphicFramePr/>
            <p:nvPr/>
          </p:nvGraphicFramePr>
          <p:xfrm>
            <a:off x="978227" y="777597"/>
            <a:ext cx="1809492" cy="5853319"/>
          </p:xfrm>
          <a:graphic>
            <a:graphicData uri="http://schemas.openxmlformats.org/drawingml/2006/table">
              <a:tbl>
                <a:tblPr firstRow="1">
                  <a:tableStyleId>{4A9BC294-FFE2-49D5-8D69-9E1BD2C41BD5}</a:tableStyleId>
                </a:tblPr>
                <a:tblGrid>
                  <a:gridCol w="32385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799842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</a:tblGrid>
                <a:tr h="344313"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-8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value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6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6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7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7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8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-8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9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-7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-6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6"/>
                    </a:ext>
                  </a:extLst>
                </a:tr>
              </a:tbl>
            </a:graphicData>
          </a:graphic>
        </p:graphicFrame>
        <p:sp>
          <p:nvSpPr>
            <p:cNvPr id="765" name="4-bit 2's complement:">
              <a:extLst>
                <a:ext uri="{FF2B5EF4-FFF2-40B4-BE49-F238E27FC236}">
                  <a16:creationId xmlns:a16="http://schemas.microsoft.com/office/drawing/2014/main" id="{8D741E7A-8F53-0F4E-3223-CF1050D4F717}"/>
                </a:ext>
              </a:extLst>
            </p:cNvPr>
            <p:cNvSpPr txBox="1"/>
            <p:nvPr/>
          </p:nvSpPr>
          <p:spPr>
            <a:xfrm>
              <a:off x="-146646" y="-6351"/>
              <a:ext cx="3963989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rPr lang="en-GB" noProof="0" dirty="0"/>
                <a:t>4-bit 2's complement: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F51779B6-543D-53D4-9569-81112141051A}"/>
              </a:ext>
            </a:extLst>
          </p:cNvPr>
          <p:cNvSpPr txBox="1"/>
          <p:nvPr/>
        </p:nvSpPr>
        <p:spPr>
          <a:xfrm>
            <a:off x="0" y="5331170"/>
            <a:ext cx="5714947" cy="157992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514350" marR="0" indent="-51435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</a:pPr>
            <a:r>
              <a:rPr kumimoji="0" lang="en-GB" sz="32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Why do we usually prefer 2’s complement?</a:t>
            </a:r>
          </a:p>
          <a:p>
            <a:pPr marL="514350" marR="0" indent="-51435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</a:pPr>
            <a:r>
              <a:rPr kumimoji="0" lang="en-GB" sz="32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Why can’t we represent +8?</a:t>
            </a:r>
          </a:p>
        </p:txBody>
      </p:sp>
    </p:spTree>
    <p:extLst>
      <p:ext uri="{BB962C8B-B14F-4D97-AF65-F5344CB8AC3E}">
        <p14:creationId xmlns:p14="http://schemas.microsoft.com/office/powerpoint/2010/main" val="3497837507"/>
      </p:ext>
    </p:extLst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7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3" grpId="0" animBg="1" advAuto="0"/>
      <p:bldP spid="766" grpId="0" animBg="1" advAuto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Bus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Buses</a:t>
            </a:r>
          </a:p>
        </p:txBody>
      </p:sp>
      <p:sp>
        <p:nvSpPr>
          <p:cNvPr id="769" name="Concatenate wires into a bus using {...} syntax. E.g.:   input [15:0] x;   output [15:0] y;   assign y = { x[7:0], x[15:8] };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Concatenate wires into a </a:t>
            </a:r>
            <a:r>
              <a:rPr lang="en-GB" b="1" noProof="0" dirty="0"/>
              <a:t>bus</a:t>
            </a:r>
            <a:r>
              <a:rPr lang="en-GB" noProof="0" dirty="0"/>
              <a:t> using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{...}</a:t>
            </a:r>
            <a:r>
              <a:rPr lang="en-GB" noProof="0" dirty="0"/>
              <a:t> syntax. E.g.:</a:t>
            </a:r>
            <a:br>
              <a:rPr lang="en-GB" noProof="0" dirty="0"/>
            </a:b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input  logic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[15:0] x;</a:t>
            </a:r>
            <a:b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</a:b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output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logic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[15:0] y;</a:t>
            </a:r>
            <a:b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</a:b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assign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y = { x[7:0], x[15:8] };</a:t>
            </a:r>
          </a:p>
          <a:p>
            <a:r>
              <a:rPr lang="en-GB" noProof="0" dirty="0"/>
              <a:t>An 8-bit multiplexer:</a:t>
            </a:r>
          </a:p>
        </p:txBody>
      </p:sp>
      <p:sp>
        <p:nvSpPr>
          <p:cNvPr id="77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40</a:t>
            </a:fld>
            <a:endParaRPr lang="en-GB" noProof="0" dirty="0"/>
          </a:p>
        </p:txBody>
      </p:sp>
      <p:pic>
        <p:nvPicPr>
          <p:cNvPr id="771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525" y="6112538"/>
            <a:ext cx="4779741" cy="3105209"/>
          </a:xfrm>
          <a:prstGeom prst="rect">
            <a:avLst/>
          </a:prstGeom>
          <a:ln w="12700">
            <a:miter lim="400000"/>
          </a:ln>
        </p:spPr>
      </p:pic>
      <p:sp>
        <p:nvSpPr>
          <p:cNvPr id="772" name="module mux2to1 (out, outbar,…"/>
          <p:cNvSpPr txBox="1"/>
          <p:nvPr/>
        </p:nvSpPr>
        <p:spPr>
          <a:xfrm>
            <a:off x="6515412" y="5052504"/>
            <a:ext cx="6185989" cy="4165243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module mux2to1 (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[7:0] a, b,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output logic [7:0] out, outbar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always_comb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begin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if (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 out = a;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else     out = b;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end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assign outbar = ~out;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endmodule</a:t>
            </a:r>
            <a:endParaRPr lang="en-GB" sz="2400" b="1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6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7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7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7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7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9" grpId="1" build="p" bldLvl="5" animBg="1" advAuto="0"/>
      <p:bldP spid="771" grpId="2" animBg="1" advAuto="0"/>
      <p:bldP spid="772" grpId="3" animBg="1" advAuto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Case statement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Case statements</a:t>
            </a:r>
          </a:p>
        </p:txBody>
      </p:sp>
      <p:sp>
        <p:nvSpPr>
          <p:cNvPr id="77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41</a:t>
            </a:fld>
            <a:endParaRPr lang="en-GB" noProof="0" dirty="0"/>
          </a:p>
        </p:txBody>
      </p:sp>
      <p:sp>
        <p:nvSpPr>
          <p:cNvPr id="779" name="always @ (a or b or sel)…"/>
          <p:cNvSpPr txBox="1"/>
          <p:nvPr/>
        </p:nvSpPr>
        <p:spPr>
          <a:xfrm>
            <a:off x="1448156" y="5252151"/>
            <a:ext cx="3452868" cy="1518364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b="1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always_comb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begin</a:t>
            </a:r>
            <a:endParaRPr lang="en-GB" noProof="0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if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</a:t>
            </a:r>
            <a:r>
              <a:rPr lang="en-GB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sel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 out = a;</a:t>
            </a:r>
          </a:p>
          <a:p>
            <a:pPr algn="l">
              <a:defRPr sz="2300"/>
            </a:pP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else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out = b;</a:t>
            </a:r>
          </a:p>
          <a:p>
            <a:pPr algn="l">
              <a:defRPr sz="23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</a:t>
            </a:r>
          </a:p>
        </p:txBody>
      </p:sp>
      <p:sp>
        <p:nvSpPr>
          <p:cNvPr id="780" name="always @ (a or b or sel)…"/>
          <p:cNvSpPr txBox="1"/>
          <p:nvPr/>
        </p:nvSpPr>
        <p:spPr>
          <a:xfrm>
            <a:off x="7133472" y="4967870"/>
            <a:ext cx="3276538" cy="2226250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b="1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always_comb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begin</a:t>
            </a:r>
          </a:p>
          <a:p>
            <a:pPr algn="l">
              <a:defRPr sz="23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case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</a:t>
            </a:r>
            <a:r>
              <a:rPr lang="en-GB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sel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</a:t>
            </a:r>
          </a:p>
          <a:p>
            <a:pPr algn="l">
              <a:defRPr sz="2300"/>
            </a:pP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1'b0: out = b;</a:t>
            </a:r>
          </a:p>
          <a:p>
            <a:pPr algn="l">
              <a:defRPr sz="2300"/>
            </a:pP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1'b1: out = a;</a:t>
            </a:r>
          </a:p>
          <a:p>
            <a:pPr algn="l">
              <a:defRPr sz="2300"/>
            </a:pP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endcase</a:t>
            </a:r>
            <a:endParaRPr lang="en-GB" noProof="0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</a:t>
            </a:r>
          </a:p>
        </p:txBody>
      </p:sp>
      <p:sp>
        <p:nvSpPr>
          <p:cNvPr id="781" name="Arrow"/>
          <p:cNvSpPr/>
          <p:nvPr/>
        </p:nvSpPr>
        <p:spPr>
          <a:xfrm>
            <a:off x="5871328" y="5586547"/>
            <a:ext cx="1262144" cy="1210882"/>
          </a:xfrm>
          <a:prstGeom prst="rightArrow">
            <a:avLst>
              <a:gd name="adj1" fmla="val 32000"/>
              <a:gd name="adj2" fmla="val 67125"/>
            </a:avLst>
          </a:prstGeom>
          <a:solidFill>
            <a:srgbClr val="6E8627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</p:spTree>
  </p:cSld>
  <p:clrMapOvr>
    <a:masterClrMapping/>
  </p:clrMapOvr>
  <p:transition spd="med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Putting it all togeth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Putting it all together</a:t>
            </a:r>
          </a:p>
        </p:txBody>
      </p:sp>
      <p:sp>
        <p:nvSpPr>
          <p:cNvPr id="78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42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7-seg decod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7-seg decoder</a:t>
            </a:r>
          </a:p>
        </p:txBody>
      </p:sp>
      <p:sp>
        <p:nvSpPr>
          <p:cNvPr id="78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43</a:t>
            </a:fld>
            <a:endParaRPr lang="en-GB" noProof="0" dirty="0"/>
          </a:p>
        </p:txBody>
      </p:sp>
      <p:pic>
        <p:nvPicPr>
          <p:cNvPr id="788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2436283"/>
            <a:ext cx="4755329" cy="1571144"/>
          </a:xfrm>
          <a:prstGeom prst="rect">
            <a:avLst/>
          </a:prstGeom>
          <a:ln w="12700">
            <a:miter lim="400000"/>
          </a:ln>
        </p:spPr>
      </p:pic>
      <p:pic>
        <p:nvPicPr>
          <p:cNvPr id="789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7766" y="2476500"/>
            <a:ext cx="6995936" cy="3548663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792" name="Group"/>
          <p:cNvGrpSpPr/>
          <p:nvPr/>
        </p:nvGrpSpPr>
        <p:grpSpPr>
          <a:xfrm>
            <a:off x="683683" y="5010150"/>
            <a:ext cx="4873863" cy="2693016"/>
            <a:chOff x="0" y="0"/>
            <a:chExt cx="4873861" cy="2693015"/>
          </a:xfrm>
        </p:grpSpPr>
        <p:pic>
          <p:nvPicPr>
            <p:cNvPr id="790" name="Image" descr="Image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0" y="0"/>
              <a:ext cx="4873862" cy="269301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791" name="Rectangle"/>
            <p:cNvSpPr/>
            <p:nvPr/>
          </p:nvSpPr>
          <p:spPr>
            <a:xfrm>
              <a:off x="1263769" y="813107"/>
              <a:ext cx="3504573" cy="1798083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7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7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88" grpId="1" animBg="1" advAuto="0"/>
      <p:bldP spid="789" grpId="2" animBg="1" advAuto="0"/>
      <p:bldP spid="792" grpId="3" animBg="1" advAuto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7-seg decod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7-seg decoder</a:t>
            </a:r>
          </a:p>
        </p:txBody>
      </p:sp>
      <p:sp>
        <p:nvSpPr>
          <p:cNvPr id="79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44</a:t>
            </a:fld>
            <a:endParaRPr lang="en-GB" noProof="0" dirty="0"/>
          </a:p>
        </p:txBody>
      </p:sp>
      <p:pic>
        <p:nvPicPr>
          <p:cNvPr id="796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2436283"/>
            <a:ext cx="4755329" cy="1571144"/>
          </a:xfrm>
          <a:prstGeom prst="rect">
            <a:avLst/>
          </a:prstGeom>
          <a:ln w="12700">
            <a:miter lim="400000"/>
          </a:ln>
        </p:spPr>
      </p:pic>
      <p:pic>
        <p:nvPicPr>
          <p:cNvPr id="797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7766" y="2476500"/>
            <a:ext cx="6995936" cy="3548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798" name="Image" descr="Imag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682" y="4381827"/>
            <a:ext cx="4873863" cy="2693016"/>
          </a:xfrm>
          <a:prstGeom prst="rect">
            <a:avLst/>
          </a:prstGeom>
          <a:ln w="12700">
            <a:miter lim="400000"/>
          </a:ln>
        </p:spPr>
      </p:pic>
      <p:sp>
        <p:nvSpPr>
          <p:cNvPr id="799" name="Rounded Rectangle"/>
          <p:cNvSpPr/>
          <p:nvPr/>
        </p:nvSpPr>
        <p:spPr>
          <a:xfrm>
            <a:off x="1969888" y="5171211"/>
            <a:ext cx="820077" cy="9441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225" y="0"/>
                </a:moveTo>
                <a:lnTo>
                  <a:pt x="6375" y="0"/>
                </a:lnTo>
                <a:cubicBezTo>
                  <a:pt x="4505" y="0"/>
                  <a:pt x="3382" y="0"/>
                  <a:pt x="2634" y="271"/>
                </a:cubicBezTo>
                <a:cubicBezTo>
                  <a:pt x="1555" y="612"/>
                  <a:pt x="705" y="1351"/>
                  <a:pt x="312" y="2288"/>
                </a:cubicBezTo>
                <a:cubicBezTo>
                  <a:pt x="0" y="2938"/>
                  <a:pt x="0" y="3913"/>
                  <a:pt x="0" y="5538"/>
                </a:cubicBezTo>
                <a:lnTo>
                  <a:pt x="0" y="16062"/>
                </a:lnTo>
                <a:cubicBezTo>
                  <a:pt x="0" y="17687"/>
                  <a:pt x="0" y="18662"/>
                  <a:pt x="312" y="19312"/>
                </a:cubicBezTo>
                <a:cubicBezTo>
                  <a:pt x="705" y="20249"/>
                  <a:pt x="1555" y="20988"/>
                  <a:pt x="2634" y="21329"/>
                </a:cubicBezTo>
                <a:cubicBezTo>
                  <a:pt x="3382" y="21600"/>
                  <a:pt x="4505" y="21600"/>
                  <a:pt x="6375" y="21600"/>
                </a:cubicBezTo>
                <a:lnTo>
                  <a:pt x="15225" y="21600"/>
                </a:lnTo>
                <a:cubicBezTo>
                  <a:pt x="17095" y="21600"/>
                  <a:pt x="18218" y="21600"/>
                  <a:pt x="18966" y="21329"/>
                </a:cubicBezTo>
                <a:cubicBezTo>
                  <a:pt x="20045" y="20988"/>
                  <a:pt x="20895" y="20249"/>
                  <a:pt x="21288" y="19312"/>
                </a:cubicBezTo>
                <a:cubicBezTo>
                  <a:pt x="21600" y="18662"/>
                  <a:pt x="21600" y="17687"/>
                  <a:pt x="21600" y="16062"/>
                </a:cubicBezTo>
                <a:lnTo>
                  <a:pt x="21600" y="5538"/>
                </a:lnTo>
                <a:cubicBezTo>
                  <a:pt x="21600" y="3913"/>
                  <a:pt x="21600" y="2938"/>
                  <a:pt x="21288" y="2288"/>
                </a:cubicBezTo>
                <a:cubicBezTo>
                  <a:pt x="20895" y="1351"/>
                  <a:pt x="20045" y="612"/>
                  <a:pt x="18966" y="271"/>
                </a:cubicBezTo>
                <a:cubicBezTo>
                  <a:pt x="18218" y="0"/>
                  <a:pt x="17095" y="0"/>
                  <a:pt x="15225" y="0"/>
                </a:cubicBezTo>
                <a:close/>
              </a:path>
            </a:pathLst>
          </a:custGeom>
          <a:ln w="508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800" name="Rounded Rectangle"/>
          <p:cNvSpPr/>
          <p:nvPr/>
        </p:nvSpPr>
        <p:spPr>
          <a:xfrm>
            <a:off x="3669042" y="5169756"/>
            <a:ext cx="931797" cy="49298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989" y="0"/>
                </a:moveTo>
                <a:lnTo>
                  <a:pt x="5611" y="0"/>
                </a:lnTo>
                <a:cubicBezTo>
                  <a:pt x="3964" y="0"/>
                  <a:pt x="2977" y="0"/>
                  <a:pt x="2318" y="520"/>
                </a:cubicBezTo>
                <a:cubicBezTo>
                  <a:pt x="1368" y="1173"/>
                  <a:pt x="621" y="2587"/>
                  <a:pt x="275" y="4381"/>
                </a:cubicBezTo>
                <a:cubicBezTo>
                  <a:pt x="0" y="5626"/>
                  <a:pt x="0" y="7493"/>
                  <a:pt x="0" y="10606"/>
                </a:cubicBezTo>
                <a:lnTo>
                  <a:pt x="0" y="10994"/>
                </a:lnTo>
                <a:cubicBezTo>
                  <a:pt x="0" y="14107"/>
                  <a:pt x="0" y="15974"/>
                  <a:pt x="275" y="17219"/>
                </a:cubicBezTo>
                <a:cubicBezTo>
                  <a:pt x="621" y="19013"/>
                  <a:pt x="1368" y="20427"/>
                  <a:pt x="2318" y="21080"/>
                </a:cubicBezTo>
                <a:cubicBezTo>
                  <a:pt x="2977" y="21600"/>
                  <a:pt x="3964" y="21600"/>
                  <a:pt x="5611" y="21600"/>
                </a:cubicBezTo>
                <a:lnTo>
                  <a:pt x="15989" y="21600"/>
                </a:lnTo>
                <a:cubicBezTo>
                  <a:pt x="17636" y="21600"/>
                  <a:pt x="18623" y="21600"/>
                  <a:pt x="19282" y="21080"/>
                </a:cubicBezTo>
                <a:cubicBezTo>
                  <a:pt x="20232" y="20427"/>
                  <a:pt x="20979" y="19013"/>
                  <a:pt x="21325" y="17219"/>
                </a:cubicBezTo>
                <a:cubicBezTo>
                  <a:pt x="21600" y="15974"/>
                  <a:pt x="21600" y="14107"/>
                  <a:pt x="21600" y="10994"/>
                </a:cubicBezTo>
                <a:lnTo>
                  <a:pt x="21600" y="10606"/>
                </a:lnTo>
                <a:cubicBezTo>
                  <a:pt x="21600" y="7493"/>
                  <a:pt x="21600" y="5626"/>
                  <a:pt x="21325" y="4381"/>
                </a:cubicBezTo>
                <a:cubicBezTo>
                  <a:pt x="20979" y="2587"/>
                  <a:pt x="20232" y="1173"/>
                  <a:pt x="19282" y="520"/>
                </a:cubicBezTo>
                <a:cubicBezTo>
                  <a:pt x="18623" y="0"/>
                  <a:pt x="17636" y="0"/>
                  <a:pt x="15989" y="0"/>
                </a:cubicBezTo>
                <a:close/>
              </a:path>
            </a:pathLst>
          </a:custGeom>
          <a:ln w="50800">
            <a:solidFill>
              <a:schemeClr val="accent3">
                <a:hueOff val="362282"/>
                <a:satOff val="31803"/>
                <a:lumOff val="-18242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801" name="Rounded Rectangle"/>
          <p:cNvSpPr/>
          <p:nvPr/>
        </p:nvSpPr>
        <p:spPr>
          <a:xfrm>
            <a:off x="2784275" y="6078335"/>
            <a:ext cx="931797" cy="49298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989" y="0"/>
                </a:moveTo>
                <a:lnTo>
                  <a:pt x="5611" y="0"/>
                </a:lnTo>
                <a:cubicBezTo>
                  <a:pt x="3964" y="0"/>
                  <a:pt x="2977" y="0"/>
                  <a:pt x="2318" y="520"/>
                </a:cubicBezTo>
                <a:cubicBezTo>
                  <a:pt x="1368" y="1173"/>
                  <a:pt x="621" y="2587"/>
                  <a:pt x="275" y="4381"/>
                </a:cubicBezTo>
                <a:cubicBezTo>
                  <a:pt x="0" y="5626"/>
                  <a:pt x="0" y="7493"/>
                  <a:pt x="0" y="10606"/>
                </a:cubicBezTo>
                <a:lnTo>
                  <a:pt x="0" y="10994"/>
                </a:lnTo>
                <a:cubicBezTo>
                  <a:pt x="0" y="14107"/>
                  <a:pt x="0" y="15974"/>
                  <a:pt x="275" y="17219"/>
                </a:cubicBezTo>
                <a:cubicBezTo>
                  <a:pt x="621" y="19013"/>
                  <a:pt x="1368" y="20427"/>
                  <a:pt x="2318" y="21080"/>
                </a:cubicBezTo>
                <a:cubicBezTo>
                  <a:pt x="2977" y="21600"/>
                  <a:pt x="3964" y="21600"/>
                  <a:pt x="5611" y="21600"/>
                </a:cubicBezTo>
                <a:lnTo>
                  <a:pt x="15989" y="21600"/>
                </a:lnTo>
                <a:cubicBezTo>
                  <a:pt x="17636" y="21600"/>
                  <a:pt x="18623" y="21600"/>
                  <a:pt x="19282" y="21080"/>
                </a:cubicBezTo>
                <a:cubicBezTo>
                  <a:pt x="20232" y="20427"/>
                  <a:pt x="20979" y="19013"/>
                  <a:pt x="21325" y="17219"/>
                </a:cubicBezTo>
                <a:cubicBezTo>
                  <a:pt x="21600" y="15974"/>
                  <a:pt x="21600" y="14107"/>
                  <a:pt x="21600" y="10994"/>
                </a:cubicBezTo>
                <a:lnTo>
                  <a:pt x="21600" y="10606"/>
                </a:lnTo>
                <a:cubicBezTo>
                  <a:pt x="21600" y="7493"/>
                  <a:pt x="21600" y="5626"/>
                  <a:pt x="21325" y="4381"/>
                </a:cubicBezTo>
                <a:cubicBezTo>
                  <a:pt x="20979" y="2587"/>
                  <a:pt x="20232" y="1173"/>
                  <a:pt x="19282" y="520"/>
                </a:cubicBezTo>
                <a:cubicBezTo>
                  <a:pt x="18623" y="0"/>
                  <a:pt x="17636" y="0"/>
                  <a:pt x="15989" y="0"/>
                </a:cubicBezTo>
                <a:close/>
              </a:path>
            </a:pathLst>
          </a:custGeom>
          <a:ln w="50800">
            <a:solidFill>
              <a:schemeClr val="accent1">
                <a:lumOff val="-13575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3636109-56ED-53C9-4C0C-FDDBFED19A42}"/>
                  </a:ext>
                </a:extLst>
              </p:cNvPr>
              <p:cNvSpPr txBox="1"/>
              <p:nvPr/>
            </p:nvSpPr>
            <p:spPr>
              <a:xfrm>
                <a:off x="28829" y="7796366"/>
                <a:ext cx="12870985" cy="565283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sp3d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50800" tIns="50800" rIns="50800" bIns="50800" numCol="1" spcCol="38100" rtlCol="0" anchor="ctr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kumimoji="0" lang="en-GB" sz="3000" b="0" i="1" u="none" strike="noStrike" cap="none" spc="0" normalizeH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FillTx/>
                          <a:latin typeface="Cambria Math" panose="02040503050406030204" pitchFamily="18" charset="0"/>
                          <a:sym typeface="Helvetica"/>
                        </a:rPr>
                        <m:t>𝑜𝑢𝑡</m:t>
                      </m:r>
                      <m:r>
                        <a:rPr kumimoji="0" lang="en-GB" sz="3000" b="0" i="1" u="none" strike="noStrike" cap="none" spc="0" normalizeH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FillTx/>
                          <a:latin typeface="Cambria Math" panose="02040503050406030204" pitchFamily="18" charset="0"/>
                          <a:sym typeface="Helvetica"/>
                        </a:rPr>
                        <m:t>6=</m:t>
                      </m:r>
                      <m:d>
                        <m:dPr>
                          <m:ctrlPr>
                            <a:rPr kumimoji="0" lang="en-GB" sz="3000" b="0" i="1" u="none" strike="noStrike" cap="none" spc="0" normalizeH="0" smtClean="0">
                              <a:ln>
                                <a:noFill/>
                              </a:ln>
                              <a:solidFill>
                                <a:srgbClr val="EF230A"/>
                              </a:solidFill>
                              <a:effectLst/>
                              <a:uFillTx/>
                              <a:latin typeface="Cambria Math" panose="02040503050406030204" pitchFamily="18" charset="0"/>
                              <a:sym typeface="Helvetica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kumimoji="0" lang="en-GB" sz="3000" b="0" i="1" u="none" strike="noStrike" cap="none" spc="0" normalizeH="0" smtClean="0">
                                  <a:ln>
                                    <a:noFill/>
                                  </a:ln>
                                  <a:solidFill>
                                    <a:srgbClr val="EF230A"/>
                                  </a:solidFill>
                                  <a:effectLst/>
                                  <a:uFillTx/>
                                  <a:latin typeface="Cambria Math" panose="02040503050406030204" pitchFamily="18" charset="0"/>
                                  <a:sym typeface="Helvetica"/>
                                </a:rPr>
                              </m:ctrlPr>
                            </m:accPr>
                            <m:e>
                              <m:r>
                                <a:rPr kumimoji="0" lang="en-GB" sz="3000" b="0" i="1" u="none" strike="noStrike" cap="none" spc="0" normalizeH="0" smtClean="0">
                                  <a:ln>
                                    <a:noFill/>
                                  </a:ln>
                                  <a:solidFill>
                                    <a:srgbClr val="EF230A"/>
                                  </a:solidFill>
                                  <a:effectLst/>
                                  <a:uFillTx/>
                                  <a:latin typeface="Cambria Math" panose="02040503050406030204" pitchFamily="18" charset="0"/>
                                  <a:sym typeface="Helvetica"/>
                                </a:rPr>
                                <m:t>𝑖𝑛</m:t>
                              </m:r>
                              <m:r>
                                <a:rPr kumimoji="0" lang="en-GB" sz="3000" b="0" i="1" u="none" strike="noStrike" cap="none" spc="0" normalizeH="0" smtClean="0">
                                  <a:ln>
                                    <a:noFill/>
                                  </a:ln>
                                  <a:solidFill>
                                    <a:srgbClr val="EF230A"/>
                                  </a:solidFill>
                                  <a:effectLst/>
                                  <a:uFillTx/>
                                  <a:latin typeface="Cambria Math" panose="02040503050406030204" pitchFamily="18" charset="0"/>
                                  <a:sym typeface="Helvetica"/>
                                </a:rPr>
                                <m:t>3</m:t>
                              </m:r>
                            </m:e>
                          </m:acc>
                          <m:r>
                            <a:rPr kumimoji="0" lang="en-GB" sz="3000" b="0" i="1" u="none" strike="noStrike" cap="none" spc="0" normalizeH="0" smtClean="0">
                              <a:ln>
                                <a:noFill/>
                              </a:ln>
                              <a:solidFill>
                                <a:srgbClr val="EF230A"/>
                              </a:solidFill>
                              <a:effectLst/>
                              <a:uFillTx/>
                              <a:latin typeface="Cambria Math" panose="02040503050406030204" pitchFamily="18" charset="0"/>
                              <a:sym typeface="Helvetica"/>
                            </a:rPr>
                            <m:t>∧</m:t>
                          </m:r>
                          <m:acc>
                            <m:accPr>
                              <m:chr m:val="̅"/>
                              <m:ctrlPr>
                                <a:rPr lang="en-GB" sz="3000" i="1">
                                  <a:solidFill>
                                    <a:srgbClr val="EF230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3000" i="1">
                                  <a:solidFill>
                                    <a:srgbClr val="EF230A"/>
                                  </a:solidFill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  <m:r>
                                <a:rPr lang="en-GB" sz="3000" b="0" i="1" smtClean="0">
                                  <a:solidFill>
                                    <a:srgbClr val="EF230A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acc>
                          <m:r>
                            <a:rPr lang="en-GB" sz="3000" b="0" i="1" smtClean="0">
                              <a:solidFill>
                                <a:srgbClr val="EF230A"/>
                              </a:solidFill>
                              <a:latin typeface="Cambria Math" panose="02040503050406030204" pitchFamily="18" charset="0"/>
                            </a:rPr>
                            <m:t>∧</m:t>
                          </m:r>
                          <m:acc>
                            <m:accPr>
                              <m:chr m:val="̅"/>
                              <m:ctrlPr>
                                <a:rPr lang="en-GB" sz="3000" i="1">
                                  <a:solidFill>
                                    <a:srgbClr val="EF230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3000" i="1">
                                  <a:solidFill>
                                    <a:srgbClr val="EF230A"/>
                                  </a:solidFill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  <m:r>
                                <a:rPr lang="en-GB" sz="3000" b="0" i="1" smtClean="0">
                                  <a:solidFill>
                                    <a:srgbClr val="EF230A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acc>
                        </m:e>
                      </m:d>
                      <m:r>
                        <a:rPr lang="en-GB" sz="3000" b="0" i="1" smtClean="0">
                          <a:latin typeface="Cambria Math" panose="02040503050406030204" pitchFamily="18" charset="0"/>
                        </a:rPr>
                        <m:t>∨</m:t>
                      </m:r>
                      <m:d>
                        <m:dPr>
                          <m:ctrlPr>
                            <a:rPr lang="en-GB" sz="3000" b="0" i="1" smtClean="0">
                              <a:solidFill>
                                <a:srgbClr val="1EB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smtClean="0">
                              <a:solidFill>
                                <a:srgbClr val="1EB000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en-GB" sz="3000" b="0" i="1" smtClean="0">
                              <a:solidFill>
                                <a:srgbClr val="1EB000"/>
                              </a:solidFill>
                              <a:latin typeface="Cambria Math" panose="02040503050406030204" pitchFamily="18" charset="0"/>
                            </a:rPr>
                            <m:t>3∧</m:t>
                          </m:r>
                          <m:r>
                            <a:rPr lang="en-GB" sz="3000" b="0" i="1" smtClean="0">
                              <a:solidFill>
                                <a:srgbClr val="1EB000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en-GB" sz="3000" b="0" i="1" smtClean="0">
                              <a:solidFill>
                                <a:srgbClr val="1EB000"/>
                              </a:solidFill>
                              <a:latin typeface="Cambria Math" panose="02040503050406030204" pitchFamily="18" charset="0"/>
                            </a:rPr>
                            <m:t>2∧</m:t>
                          </m:r>
                          <m:acc>
                            <m:accPr>
                              <m:chr m:val="̅"/>
                              <m:ctrlPr>
                                <a:rPr lang="en-GB" sz="3000" i="1">
                                  <a:solidFill>
                                    <a:srgbClr val="1EB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3000" i="1">
                                  <a:solidFill>
                                    <a:srgbClr val="1EB000"/>
                                  </a:solidFill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  <m:r>
                                <a:rPr lang="en-GB" sz="3000" b="0" i="1" smtClean="0">
                                  <a:solidFill>
                                    <a:srgbClr val="1EB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acc>
                          <m:r>
                            <a:rPr lang="en-GB" sz="3000" b="0" i="1" smtClean="0">
                              <a:solidFill>
                                <a:srgbClr val="1EB000"/>
                              </a:solidFill>
                              <a:latin typeface="Cambria Math" panose="02040503050406030204" pitchFamily="18" charset="0"/>
                            </a:rPr>
                            <m:t>∧</m:t>
                          </m:r>
                          <m:acc>
                            <m:accPr>
                              <m:chr m:val="̅"/>
                              <m:ctrlPr>
                                <a:rPr lang="en-GB" sz="3000" i="1">
                                  <a:solidFill>
                                    <a:srgbClr val="1EB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3000" i="1">
                                  <a:solidFill>
                                    <a:srgbClr val="1EB000"/>
                                  </a:solidFill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  <m:r>
                                <a:rPr lang="en-GB" sz="3000" b="0" i="1" smtClean="0">
                                  <a:solidFill>
                                    <a:srgbClr val="1EB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acc>
                        </m:e>
                      </m:d>
                      <m:r>
                        <a:rPr lang="en-GB" sz="3000" b="0" i="1" smtClean="0">
                          <a:latin typeface="Cambria Math" panose="02040503050406030204" pitchFamily="18" charset="0"/>
                        </a:rPr>
                        <m:t>∨</m:t>
                      </m:r>
                      <m:d>
                        <m:dPr>
                          <m:ctrlPr>
                            <a:rPr lang="en-GB" sz="3000" i="1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GB" sz="3000" i="1">
                                  <a:solidFill>
                                    <a:srgbClr val="1676B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3000" i="1">
                                  <a:solidFill>
                                    <a:srgbClr val="1676BA"/>
                                  </a:solidFill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  <m:r>
                                <a:rPr lang="en-GB" sz="3000" i="1">
                                  <a:solidFill>
                                    <a:srgbClr val="1676BA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acc>
                          <m:r>
                            <a:rPr lang="en-GB" sz="3000" b="0" i="1" smtClean="0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  <m:t>∧</m:t>
                          </m:r>
                          <m:r>
                            <a:rPr lang="en-GB" sz="3000" b="0" i="1" smtClean="0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en-GB" sz="3000" b="0" i="1" smtClean="0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  <m:t>2∧</m:t>
                          </m:r>
                          <m:r>
                            <a:rPr lang="en-GB" sz="3000" b="0" i="1" smtClean="0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en-GB" sz="3000" b="0" i="1" smtClean="0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  <m:t>1∧</m:t>
                          </m:r>
                          <m:r>
                            <a:rPr lang="en-GB" sz="3000" b="0" i="1" smtClean="0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en-GB" sz="3000" b="0" i="1" smtClean="0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kumimoji="0" lang="en-GB" sz="3000" b="0" i="0" u="none" strike="noStrike" cap="none" spc="0" normalizeH="0" dirty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sym typeface="Helvetica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3636109-56ED-53C9-4C0C-FDDBFED19A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29" y="7796366"/>
                <a:ext cx="12870985" cy="56528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2700" cap="flat">
                <a:noFill/>
                <a:miter lim="400000"/>
              </a:ln>
              <a:effectLst/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8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8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99" grpId="1" animBg="1" advAuto="0"/>
      <p:bldP spid="800" grpId="3" animBg="1" advAuto="0"/>
      <p:bldP spid="801" grpId="2" animBg="1" advAuto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First attemp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First attempt</a:t>
            </a:r>
          </a:p>
        </p:txBody>
      </p:sp>
      <p:sp>
        <p:nvSpPr>
          <p:cNvPr id="81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45</a:t>
            </a:fld>
            <a:endParaRPr lang="en-GB" noProof="0" dirty="0"/>
          </a:p>
        </p:txBody>
      </p:sp>
      <p:sp>
        <p:nvSpPr>
          <p:cNvPr id="813" name="Draw a schematic: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Draw a schematic:</a:t>
            </a:r>
          </a:p>
        </p:txBody>
      </p:sp>
      <p:pic>
        <p:nvPicPr>
          <p:cNvPr id="814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7366" y="3296639"/>
            <a:ext cx="7990068" cy="604653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8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4" grpId="1" animBg="1" advAuto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Gate-level description: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Gate-level description:</a:t>
            </a:r>
          </a:p>
        </p:txBody>
      </p:sp>
      <p:sp>
        <p:nvSpPr>
          <p:cNvPr id="817" name="Second attemp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Second attempt</a:t>
            </a:r>
          </a:p>
        </p:txBody>
      </p:sp>
      <p:sp>
        <p:nvSpPr>
          <p:cNvPr id="81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46</a:t>
            </a:fld>
            <a:endParaRPr lang="en-GB" noProof="0" dirty="0"/>
          </a:p>
        </p:txBody>
      </p:sp>
      <p:pic>
        <p:nvPicPr>
          <p:cNvPr id="819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9283" y="2458941"/>
            <a:ext cx="5787749" cy="4835718"/>
          </a:xfrm>
          <a:prstGeom prst="rect">
            <a:avLst/>
          </a:prstGeom>
          <a:ln w="12700">
            <a:miter lim="400000"/>
          </a:ln>
        </p:spPr>
      </p:pic>
      <p:sp>
        <p:nvSpPr>
          <p:cNvPr id="820" name="Arrow"/>
          <p:cNvSpPr/>
          <p:nvPr/>
        </p:nvSpPr>
        <p:spPr>
          <a:xfrm rot="8159187">
            <a:off x="2916876" y="5564473"/>
            <a:ext cx="3225035" cy="1270001"/>
          </a:xfrm>
          <a:prstGeom prst="rightArrow">
            <a:avLst>
              <a:gd name="adj1" fmla="val 32000"/>
              <a:gd name="adj2" fmla="val 64000"/>
            </a:avLst>
          </a:prstGeom>
          <a:solidFill>
            <a:srgbClr val="6E8627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821" name="and AND1 (A, ~in[3], ~in[2] ~in[1]);…"/>
          <p:cNvSpPr txBox="1"/>
          <p:nvPr/>
        </p:nvSpPr>
        <p:spPr>
          <a:xfrm>
            <a:off x="793309" y="7580130"/>
            <a:ext cx="6996281" cy="137160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and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AND1 (A, ~in[3], ~in[2] ~in[1]);</a:t>
            </a:r>
          </a:p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and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AND2 (B, ~in[3], in[2], in[1], in[0]);</a:t>
            </a:r>
          </a:p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and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AND3 (C, in[3], in[2], ~in[1], ~in[0]);</a:t>
            </a:r>
          </a:p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or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OR1 (out[6], A, B, C);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8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8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8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9" grpId="1" animBg="1" advAuto="0"/>
      <p:bldP spid="820" grpId="2" animBg="1" advAuto="0"/>
      <p:bldP spid="821" grpId="3" animBg="1" advAuto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Third attemp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Third attempt</a:t>
            </a:r>
          </a:p>
        </p:txBody>
      </p:sp>
      <p:sp>
        <p:nvSpPr>
          <p:cNvPr id="824" name="Use continuous assignment: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Use continuous assignment:</a:t>
            </a:r>
          </a:p>
        </p:txBody>
      </p:sp>
      <p:sp>
        <p:nvSpPr>
          <p:cNvPr id="82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47</a:t>
            </a:fld>
            <a:endParaRPr lang="en-GB" noProof="0" dirty="0"/>
          </a:p>
        </p:txBody>
      </p:sp>
      <p:sp>
        <p:nvSpPr>
          <p:cNvPr id="829" name="and AND1 (A, ~in[3], ~in[2] ~in[1]);…"/>
          <p:cNvSpPr txBox="1"/>
          <p:nvPr/>
        </p:nvSpPr>
        <p:spPr>
          <a:xfrm>
            <a:off x="948402" y="3737280"/>
            <a:ext cx="6996281" cy="137160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and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AND1 (A, ~in[3], ~in[2] ~in[1]);</a:t>
            </a:r>
          </a:p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and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AND2 (B, ~in[3], in[2], in[1], in[0]);</a:t>
            </a:r>
          </a:p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and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AND3 (C, in[3], in[2], ~in[1], ~in[0]);</a:t>
            </a:r>
          </a:p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or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OR1 (out[6], A, B, C);</a:t>
            </a:r>
          </a:p>
        </p:txBody>
      </p:sp>
      <p:sp>
        <p:nvSpPr>
          <p:cNvPr id="3" name="SV_37">
            <a:extLst>
              <a:ext uri="{FF2B5EF4-FFF2-40B4-BE49-F238E27FC236}">
                <a16:creationId xmlns:a16="http://schemas.microsoft.com/office/drawing/2014/main" id="{79199ADC-70EA-9A77-B357-5110C8FE533F}"/>
              </a:ext>
            </a:extLst>
          </p:cNvPr>
          <p:cNvSpPr>
            <a:spLocks noGrp="1"/>
          </p:cNvSpPr>
          <p:nvPr/>
        </p:nvSpPr>
        <p:spPr>
          <a:xfrm>
            <a:off x="948402" y="7539851"/>
            <a:ext cx="10620375" cy="1258461"/>
          </a:xfrm>
          <a:prstGeom prst="rect">
            <a:avLst/>
          </a:prstGeom>
          <a:solidFill>
            <a:srgbClr val="E9E8C1"/>
          </a:solidFill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217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sz="2175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assign out[6] = (~in[3] &amp; ~in[2] &amp; ~in[1])</a:t>
            </a:r>
          </a:p>
          <a:p>
            <a:pPr algn="l">
              <a:defRPr sz="217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sz="2175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          | (~in[3] &amp;  in[2] &amp;  in[1] &amp;  in[0])</a:t>
            </a:r>
          </a:p>
          <a:p>
            <a:pPr algn="l">
              <a:defRPr sz="217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sz="2175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          | ( in[3] &amp;  in[2] &amp; ~in[1] &amp; ~in[0]);</a:t>
            </a:r>
          </a:p>
        </p:txBody>
      </p:sp>
      <p:sp>
        <p:nvSpPr>
          <p:cNvPr id="4" name="Right Arrow 3">
            <a:extLst>
              <a:ext uri="{FF2B5EF4-FFF2-40B4-BE49-F238E27FC236}">
                <a16:creationId xmlns:a16="http://schemas.microsoft.com/office/drawing/2014/main" id="{ED3F9EBA-7355-81CA-FB4C-5255EEBB8D1C}"/>
              </a:ext>
            </a:extLst>
          </p:cNvPr>
          <p:cNvSpPr/>
          <p:nvPr/>
        </p:nvSpPr>
        <p:spPr>
          <a:xfrm rot="5400000">
            <a:off x="4169811" y="5613701"/>
            <a:ext cx="1782573" cy="1092819"/>
          </a:xfrm>
          <a:prstGeom prst="rightArrow">
            <a:avLst/>
          </a:prstGeom>
          <a:solidFill>
            <a:srgbClr val="6E8627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2100" b="1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 xmlns:m="http://schemas.openxmlformats.org/officeDocument/2006/math" xmlns:a14="http://schemas.microsoft.com/office/drawing/2010/main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48</a:t>
            </a:fld>
            <a:endParaRPr lang="en-GB" noProof="0" dirty="0"/>
          </a:p>
        </p:txBody>
      </p:sp>
      <p:pic>
        <p:nvPicPr>
          <p:cNvPr id="832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127" y="1103769"/>
            <a:ext cx="12265274" cy="817053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Fourth attemp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Fourth attempt</a:t>
            </a:r>
          </a:p>
        </p:txBody>
      </p:sp>
      <p:sp>
        <p:nvSpPr>
          <p:cNvPr id="83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49</a:t>
            </a:fld>
            <a:endParaRPr lang="en-GB" noProof="0" dirty="0"/>
          </a:p>
        </p:txBody>
      </p:sp>
      <p:pic>
        <p:nvPicPr>
          <p:cNvPr id="837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2850" y="2451100"/>
            <a:ext cx="3611600" cy="6890333"/>
          </a:xfrm>
          <a:prstGeom prst="rect">
            <a:avLst/>
          </a:prstGeom>
          <a:ln w="12700">
            <a:miter lim="400000"/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034F546-DFD2-3AE4-6634-14FB24B862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300" y="2705100"/>
            <a:ext cx="7772400" cy="6155917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AC4A8-1512-90E0-8EA5-FC385C180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5259" y="546100"/>
            <a:ext cx="12054467" cy="2159000"/>
          </a:xfrm>
        </p:spPr>
        <p:txBody>
          <a:bodyPr>
            <a:normAutofit/>
          </a:bodyPr>
          <a:lstStyle/>
          <a:p>
            <a:r>
              <a:rPr lang="en-GB" dirty="0"/>
              <a:t>SystemVerilog to FPGA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3009EB5-EF5C-C787-B87A-24FDEEAF0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722" y="2705100"/>
            <a:ext cx="7518400" cy="61341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B76B37E-CE67-CA71-A855-93131CC412F3}"/>
              </a:ext>
            </a:extLst>
          </p:cNvPr>
          <p:cNvSpPr txBox="1"/>
          <p:nvPr/>
        </p:nvSpPr>
        <p:spPr>
          <a:xfrm>
            <a:off x="223024" y="3919648"/>
            <a:ext cx="2642839" cy="10259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2000" b="1" i="0" u="sng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Elaboration:</a:t>
            </a:r>
            <a:r>
              <a:rPr kumimoji="0" lang="en-GB" sz="20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 check syntax, instantiate modules etc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2C68CB-F0C5-0CD5-D1AF-F7709A9C973F}"/>
              </a:ext>
            </a:extLst>
          </p:cNvPr>
          <p:cNvSpPr txBox="1"/>
          <p:nvPr/>
        </p:nvSpPr>
        <p:spPr>
          <a:xfrm>
            <a:off x="223023" y="6591609"/>
            <a:ext cx="3010831" cy="10259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2000" b="1" i="0" u="sng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Synthesis:</a:t>
            </a:r>
            <a:r>
              <a:rPr kumimoji="0" lang="en-GB" sz="2000" i="0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 map to gates, logic optimisation, infer registers, much more…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7E40ED-2BC9-2995-0D6F-3673772C0C68}"/>
              </a:ext>
            </a:extLst>
          </p:cNvPr>
          <p:cNvSpPr txBox="1"/>
          <p:nvPr/>
        </p:nvSpPr>
        <p:spPr>
          <a:xfrm>
            <a:off x="9510131" y="3777173"/>
            <a:ext cx="3585738" cy="133369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2000" b="1" i="0" u="sng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Place &amp; Route:</a:t>
            </a:r>
            <a:r>
              <a:rPr kumimoji="0" lang="en-GB" sz="2000" i="0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 fix gate locations and wire them up, assign to FPGA-specific blocks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FFA071-45C4-4540-1F18-20E01A9D8461}"/>
              </a:ext>
            </a:extLst>
          </p:cNvPr>
          <p:cNvSpPr txBox="1"/>
          <p:nvPr/>
        </p:nvSpPr>
        <p:spPr>
          <a:xfrm>
            <a:off x="9419062" y="6462074"/>
            <a:ext cx="3585738" cy="10259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2000" b="1" i="0" u="sng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Assembler:</a:t>
            </a:r>
            <a:r>
              <a:rPr kumimoji="0" lang="en-GB" sz="2000" i="0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 produce </a:t>
            </a:r>
            <a:r>
              <a:rPr kumimoji="0" lang="en-GB" sz="2000" i="0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bitpattern</a:t>
            </a:r>
            <a:r>
              <a:rPr kumimoji="0" lang="en-GB" sz="2000" i="0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 to configure the FPGA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3807EB-628A-F60D-FFA1-A03DDEF56B8F}"/>
              </a:ext>
            </a:extLst>
          </p:cNvPr>
          <p:cNvSpPr txBox="1"/>
          <p:nvPr/>
        </p:nvSpPr>
        <p:spPr>
          <a:xfrm rot="16200000">
            <a:off x="4338442" y="5566965"/>
            <a:ext cx="3010831" cy="41036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2000" b="1" i="0" u="sng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Technology Mapping</a:t>
            </a:r>
            <a:endParaRPr kumimoji="0" lang="en-GB" sz="2000" i="0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0" name="Terminator 9">
            <a:extLst>
              <a:ext uri="{FF2B5EF4-FFF2-40B4-BE49-F238E27FC236}">
                <a16:creationId xmlns:a16="http://schemas.microsoft.com/office/drawing/2014/main" id="{8E141E00-231C-FA4C-137D-5103A92BC5E9}"/>
              </a:ext>
            </a:extLst>
          </p:cNvPr>
          <p:cNvSpPr/>
          <p:nvPr/>
        </p:nvSpPr>
        <p:spPr>
          <a:xfrm>
            <a:off x="2359722" y="8608804"/>
            <a:ext cx="2252546" cy="598696"/>
          </a:xfrm>
          <a:prstGeom prst="flowChartTerminator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21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AND/OR/XOR</a:t>
            </a:r>
          </a:p>
        </p:txBody>
      </p:sp>
      <p:sp>
        <p:nvSpPr>
          <p:cNvPr id="11" name="Terminator 10">
            <a:extLst>
              <a:ext uri="{FF2B5EF4-FFF2-40B4-BE49-F238E27FC236}">
                <a16:creationId xmlns:a16="http://schemas.microsoft.com/office/drawing/2014/main" id="{02246CFA-F8E4-BD82-70F9-EB111E56993C}"/>
              </a:ext>
            </a:extLst>
          </p:cNvPr>
          <p:cNvSpPr/>
          <p:nvPr/>
        </p:nvSpPr>
        <p:spPr>
          <a:xfrm>
            <a:off x="7625576" y="2343092"/>
            <a:ext cx="2252546" cy="598696"/>
          </a:xfrm>
          <a:prstGeom prst="flowChartTerminator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21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LUTs/DSPs</a:t>
            </a:r>
          </a:p>
        </p:txBody>
      </p:sp>
    </p:spTree>
    <p:extLst>
      <p:ext uri="{BB962C8B-B14F-4D97-AF65-F5344CB8AC3E}">
        <p14:creationId xmlns:p14="http://schemas.microsoft.com/office/powerpoint/2010/main" val="982191443"/>
      </p:ext>
    </p:extLst>
  </p:cSld>
  <p:clrMapOvr>
    <a:masterClrMapping/>
  </p:clrMapOvr>
  <p:transition spd="med"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Lab group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Lab groups</a:t>
            </a:r>
          </a:p>
        </p:txBody>
      </p:sp>
      <p:sp>
        <p:nvSpPr>
          <p:cNvPr id="844" name="Andreas Michaelides + Jinzhao Han…"/>
          <p:cNvSpPr txBox="1">
            <a:spLocks noGrp="1"/>
          </p:cNvSpPr>
          <p:nvPr>
            <p:ph type="body" sz="half" idx="1"/>
          </p:nvPr>
        </p:nvSpPr>
        <p:spPr>
          <a:xfrm>
            <a:off x="3125456" y="2597150"/>
            <a:ext cx="6753888" cy="6286500"/>
          </a:xfrm>
          <a:prstGeom prst="rect">
            <a:avLst/>
          </a:prstGeom>
        </p:spPr>
        <p:txBody>
          <a:bodyPr/>
          <a:lstStyle/>
          <a:p>
            <a:pPr marL="590550" indent="-590550" defTabSz="543305">
              <a:spcBef>
                <a:spcPts val="0"/>
              </a:spcBef>
              <a:buSzPct val="100000"/>
              <a:buAutoNum type="arabicPeriod"/>
              <a:defRPr sz="2976"/>
            </a:pPr>
            <a:endParaRPr lang="en-GB" noProof="0" dirty="0"/>
          </a:p>
        </p:txBody>
      </p:sp>
      <p:sp>
        <p:nvSpPr>
          <p:cNvPr id="84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16097" y="31750"/>
            <a:ext cx="283717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51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6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6E8627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100" b="1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6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6E8627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100" b="1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1511</TotalTime>
  <Words>3006</Words>
  <Application>Microsoft Macintosh PowerPoint</Application>
  <PresentationFormat>Custom</PresentationFormat>
  <Paragraphs>1000</Paragraphs>
  <Slides>51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9" baseType="lpstr">
      <vt:lpstr>Arial</vt:lpstr>
      <vt:lpstr>Cambria Math</vt:lpstr>
      <vt:lpstr>Courier</vt:lpstr>
      <vt:lpstr>Courier New</vt:lpstr>
      <vt:lpstr>Helvetica</vt:lpstr>
      <vt:lpstr>Helvetica Neue</vt:lpstr>
      <vt:lpstr>Helvetica Neue Thin</vt:lpstr>
      <vt:lpstr>White</vt:lpstr>
      <vt:lpstr>Mastering  Digital Design</vt:lpstr>
      <vt:lpstr>Before we start</vt:lpstr>
      <vt:lpstr>Module aims</vt:lpstr>
      <vt:lpstr>Format</vt:lpstr>
      <vt:lpstr>Grading</vt:lpstr>
      <vt:lpstr>Assessment</vt:lpstr>
      <vt:lpstr>Admin</vt:lpstr>
      <vt:lpstr>Labs – by tomorrow!!</vt:lpstr>
      <vt:lpstr>To do</vt:lpstr>
      <vt:lpstr>Credits</vt:lpstr>
      <vt:lpstr>Digital Design</vt:lpstr>
      <vt:lpstr>The old days</vt:lpstr>
      <vt:lpstr>Early integrated circuits</vt:lpstr>
      <vt:lpstr>Full-custom ICs</vt:lpstr>
      <vt:lpstr>Field-programmable  gate arrays (FPGAs)</vt:lpstr>
      <vt:lpstr>Logic blocks</vt:lpstr>
      <vt:lpstr>Multiplexer (MUX)</vt:lpstr>
      <vt:lpstr>Logic blocks</vt:lpstr>
      <vt:lpstr>Field-programmable  gate arrays (FPGAs)</vt:lpstr>
      <vt:lpstr>Programmable routing</vt:lpstr>
      <vt:lpstr>Programmable routing</vt:lpstr>
      <vt:lpstr>Question?</vt:lpstr>
      <vt:lpstr>Configuring an FPGA</vt:lpstr>
      <vt:lpstr>Cyclone V FPGA</vt:lpstr>
      <vt:lpstr>Cyclone V FPGA</vt:lpstr>
      <vt:lpstr>The DE1-SoC board</vt:lpstr>
      <vt:lpstr>Add-on board</vt:lpstr>
      <vt:lpstr>Design Tools</vt:lpstr>
      <vt:lpstr>SystemVerilog</vt:lpstr>
      <vt:lpstr>SystemVerilog</vt:lpstr>
      <vt:lpstr>Schematic vs HDL</vt:lpstr>
      <vt:lpstr>SystemVerilog modules</vt:lpstr>
      <vt:lpstr>Verilog syntax</vt:lpstr>
      <vt:lpstr>Gate-level description</vt:lpstr>
      <vt:lpstr>Combinational blocks</vt:lpstr>
      <vt:lpstr>always_comb blocks</vt:lpstr>
      <vt:lpstr>Numerical constants</vt:lpstr>
      <vt:lpstr>Aside: signed numbers</vt:lpstr>
      <vt:lpstr>Question?</vt:lpstr>
      <vt:lpstr>Buses</vt:lpstr>
      <vt:lpstr>Case statements</vt:lpstr>
      <vt:lpstr>Putting it all together</vt:lpstr>
      <vt:lpstr>7-seg decoder</vt:lpstr>
      <vt:lpstr>7-seg decoder</vt:lpstr>
      <vt:lpstr>First attempt</vt:lpstr>
      <vt:lpstr>Second attempt</vt:lpstr>
      <vt:lpstr>Third attempt</vt:lpstr>
      <vt:lpstr>PowerPoint Presentation</vt:lpstr>
      <vt:lpstr>Fourth attempt</vt:lpstr>
      <vt:lpstr>SystemVerilog to FPGA </vt:lpstr>
      <vt:lpstr>Lab groups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Coward, Samuel R</cp:lastModifiedBy>
  <cp:revision>16</cp:revision>
  <dcterms:modified xsi:type="dcterms:W3CDTF">2026-10-01T09:48:10Z</dcterms:modified>
</cp:coreProperties>
</file>