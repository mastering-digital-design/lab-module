
<file path=[Content_Types].xml><?xml version="1.0" encoding="utf-8"?>
<Types xmlns="http://schemas.openxmlformats.org/package/2006/content-types">
  <Default Extension="jpg" ContentType="image/jpeg"/>
  <Default Extension="org&amp;utm_campaign=index&amp;utm_content=original" ContentType="image/png"/>
  <Default Extension="png" ContentType="image/png"/>
  <Default Extension="rels" ContentType="application/vnd.openxmlformats-package.relationships+xml"/>
  <Default Extension="tif" ContentType="image/ti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charts/chart1.xml" ContentType="application/vnd.openxmlformats-officedocument.drawingml.char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3"/>
  </p:notesMasterIdLst>
  <p:sldIdLst>
    <p:sldId id="256" r:id="rId2"/>
    <p:sldId id="309" r:id="rId3"/>
    <p:sldId id="257" r:id="rId4"/>
    <p:sldId id="258" r:id="rId5"/>
    <p:sldId id="259" r:id="rId6"/>
    <p:sldId id="260" r:id="rId7"/>
    <p:sldId id="261" r:id="rId8"/>
    <p:sldId id="310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311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5" r:id="rId39"/>
    <p:sldId id="312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8" r:id="rId51"/>
    <p:sldId id="307" r:id="rId52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1pPr>
    <a:lvl2pPr marL="0" marR="0" indent="228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2pPr>
    <a:lvl3pPr marL="0" marR="0" indent="457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3pPr>
    <a:lvl4pPr marL="0" marR="0" indent="685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4pPr>
    <a:lvl5pPr marL="0" marR="0" indent="9144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5pPr>
    <a:lvl6pPr marL="0" marR="0" indent="11430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6pPr>
    <a:lvl7pPr marL="0" marR="0" indent="1371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7pPr>
    <a:lvl8pPr marL="0" marR="0" indent="1600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8pPr>
    <a:lvl9pPr marL="0" marR="0" indent="1828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230A"/>
    <a:srgbClr val="1676BA"/>
    <a:srgbClr val="1EB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A9BC294-FFE2-49D5-8D69-9E1BD2C41BD5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381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38100" cap="flat">
              <a:solidFill>
                <a:srgbClr val="000000"/>
              </a:solidFill>
              <a:prstDash val="solid"/>
              <a:miter lim="400000"/>
            </a:ln>
          </a:insideH>
          <a:insideV>
            <a:ln w="381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381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381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381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381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381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849"/>
    <p:restoredTop sz="94744"/>
  </p:normalViewPr>
  <p:slideViewPr>
    <p:cSldViewPr snapToGrid="0">
      <p:cViewPr varScale="1">
        <p:scale>
          <a:sx n="83" d="100"/>
          <a:sy n="83" d="100"/>
        </p:scale>
        <p:origin x="2400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0"/>
  <c:style val="2"/>
  <c:chart>
    <c:title>
      <c:tx>
        <c:rich>
          <a:bodyPr rot="0"/>
          <a:lstStyle/>
          <a:p>
            <a:pPr>
              <a:defRPr sz="3400" b="0" i="0" u="none" strike="noStrike">
                <a:solidFill>
                  <a:srgbClr val="000000"/>
                </a:solidFill>
                <a:latin typeface="Helvetica"/>
              </a:defRPr>
            </a:pPr>
            <a:r>
              <a:rPr sz="3400" b="0" i="0" u="none" strike="noStrike">
                <a:solidFill>
                  <a:srgbClr val="000000"/>
                </a:solidFill>
                <a:latin typeface="Helvetica"/>
              </a:rPr>
              <a:t>Title</a:t>
            </a:r>
          </a:p>
        </c:rich>
      </c:tx>
      <c:layout>
        <c:manualLayout>
          <c:xMode val="edge"/>
          <c:yMode val="edge"/>
          <c:x val="0.239345"/>
          <c:y val="0"/>
          <c:w val="0.12750300000000001"/>
          <c:h val="0.32723000000000002"/>
        </c:manualLayout>
      </c:layout>
      <c:overlay val="1"/>
      <c:spPr>
        <a:noFill/>
        <a:effectLst/>
      </c:spPr>
    </c:title>
    <c:autoTitleDeleted val="0"/>
    <c:plotArea>
      <c:layout>
        <c:manualLayout>
          <c:layoutTarget val="inner"/>
          <c:xMode val="edge"/>
          <c:yMode val="edge"/>
          <c:x val="0.23563799999999999"/>
          <c:y val="0.32723000000000002"/>
          <c:w val="0.370556"/>
          <c:h val="0.2964100000000000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Region 1</c:v>
                </c:pt>
              </c:strCache>
            </c:strRef>
          </c:tx>
          <c:spPr>
            <a:solidFill>
              <a:schemeClr val="accent1"/>
            </a:solidFill>
            <a:ln w="12700" cap="flat">
              <a:noFill/>
              <a:miter lim="400000"/>
            </a:ln>
            <a:effectLst/>
          </c:spPr>
          <c:invertIfNegative val="0"/>
          <c:cat>
            <c:strRef>
              <c:f>Sheet1!$B$1:$E$1</c:f>
              <c:strCache>
                <c:ptCount val="4"/>
                <c:pt idx="0">
                  <c:v>April</c:v>
                </c:pt>
                <c:pt idx="1">
                  <c:v>May</c:v>
                </c:pt>
                <c:pt idx="2">
                  <c:v>June</c:v>
                </c:pt>
                <c:pt idx="3">
                  <c:v>July</c:v>
                </c:pt>
              </c:strCache>
            </c:strRef>
          </c:cat>
          <c:val>
            <c:numRef>
              <c:f>Sheet1!$B$2:$E$2</c:f>
              <c:numCache>
                <c:formatCode>General</c:formatCode>
                <c:ptCount val="4"/>
                <c:pt idx="0">
                  <c:v>17</c:v>
                </c:pt>
                <c:pt idx="1">
                  <c:v>26</c:v>
                </c:pt>
                <c:pt idx="2">
                  <c:v>53</c:v>
                </c:pt>
                <c:pt idx="3">
                  <c:v>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F95-B845-84A9-4238CA3FB8DB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Region 2</c:v>
                </c:pt>
              </c:strCache>
            </c:strRef>
          </c:tx>
          <c:spPr>
            <a:solidFill>
              <a:schemeClr val="accent3"/>
            </a:solidFill>
            <a:ln w="12700" cap="flat">
              <a:noFill/>
              <a:miter lim="400000"/>
            </a:ln>
            <a:effectLst/>
          </c:spPr>
          <c:invertIfNegative val="0"/>
          <c:cat>
            <c:strRef>
              <c:f>Sheet1!$B$1:$E$1</c:f>
              <c:strCache>
                <c:ptCount val="4"/>
                <c:pt idx="0">
                  <c:v>April</c:v>
                </c:pt>
                <c:pt idx="1">
                  <c:v>May</c:v>
                </c:pt>
                <c:pt idx="2">
                  <c:v>June</c:v>
                </c:pt>
                <c:pt idx="3">
                  <c:v>July</c:v>
                </c:pt>
              </c:strCache>
            </c:strRef>
          </c:cat>
          <c:val>
            <c:numRef>
              <c:f>Sheet1!$B$3:$E$3</c:f>
              <c:numCache>
                <c:formatCode>General</c:formatCode>
                <c:ptCount val="4"/>
                <c:pt idx="0">
                  <c:v>55</c:v>
                </c:pt>
                <c:pt idx="1">
                  <c:v>43</c:v>
                </c:pt>
                <c:pt idx="2">
                  <c:v>70</c:v>
                </c:pt>
                <c:pt idx="3">
                  <c:v>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F95-B845-84A9-4238CA3FB8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overlap val="-10"/>
        <c:axId val="2094734552"/>
        <c:axId val="2094734553"/>
      </c:barChart>
      <c:catAx>
        <c:axId val="2094734552"/>
        <c:scaling>
          <c:orientation val="minMax"/>
        </c:scaling>
        <c:delete val="0"/>
        <c:axPos val="b"/>
        <c:title>
          <c:tx>
            <c:rich>
              <a:bodyPr rot="0"/>
              <a:lstStyle/>
              <a:p>
                <a:pPr>
                  <a:defRPr sz="2200" b="0" i="0" u="none" strike="noStrike">
                    <a:solidFill>
                      <a:srgbClr val="000000"/>
                    </a:solidFill>
                    <a:latin typeface="Helvetica"/>
                  </a:defRPr>
                </a:pPr>
                <a:r>
                  <a:rPr sz="2200" b="0" i="0" u="none" strike="noStrike">
                    <a:solidFill>
                      <a:srgbClr val="000000"/>
                    </a:solidFill>
                    <a:latin typeface="Helvetica"/>
                  </a:rPr>
                  <a:t>Category Axis</a:t>
                </a:r>
              </a:p>
            </c:rich>
          </c:tx>
          <c:overlay val="1"/>
        </c:title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000000"/>
            </a:solidFill>
            <a:prstDash val="solid"/>
            <a:miter lim="400000"/>
          </a:ln>
        </c:spPr>
        <c:txPr>
          <a:bodyPr rot="0"/>
          <a:lstStyle/>
          <a:p>
            <a:pPr>
              <a:defRPr sz="2200" b="0" i="0" u="none" strike="noStrike">
                <a:solidFill>
                  <a:srgbClr val="000000"/>
                </a:solidFill>
                <a:latin typeface="Helvetica"/>
              </a:defRPr>
            </a:pPr>
            <a:endParaRPr lang="en-US"/>
          </a:p>
        </c:txPr>
        <c:crossAx val="2094734553"/>
        <c:crosses val="autoZero"/>
        <c:auto val="1"/>
        <c:lblAlgn val="ctr"/>
        <c:lblOffset val="100"/>
        <c:noMultiLvlLbl val="1"/>
      </c:catAx>
      <c:valAx>
        <c:axId val="2094734553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B8B8B8"/>
              </a:solidFill>
              <a:prstDash val="solid"/>
              <a:miter lim="400000"/>
            </a:ln>
          </c:spPr>
        </c:majorGridlines>
        <c:title>
          <c:tx>
            <c:rich>
              <a:bodyPr rot="-5400000"/>
              <a:lstStyle/>
              <a:p>
                <a:pPr>
                  <a:defRPr sz="2200" b="0" i="0" u="none" strike="noStrike">
                    <a:solidFill>
                      <a:srgbClr val="000000"/>
                    </a:solidFill>
                    <a:latin typeface="Helvetica"/>
                  </a:defRPr>
                </a:pPr>
                <a:r>
                  <a:rPr sz="2200" b="0" i="0" u="none" strike="noStrike">
                    <a:solidFill>
                      <a:srgbClr val="000000"/>
                    </a:solidFill>
                    <a:latin typeface="Helvetica"/>
                  </a:rPr>
                  <a:t>Value Axis</a:t>
                </a:r>
              </a:p>
            </c:rich>
          </c:tx>
          <c:overlay val="1"/>
        </c:title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miter lim="400000"/>
          </a:ln>
        </c:spPr>
        <c:txPr>
          <a:bodyPr rot="0"/>
          <a:lstStyle/>
          <a:p>
            <a:pPr>
              <a:defRPr sz="2200" b="0" i="0" u="none" strike="noStrike">
                <a:solidFill>
                  <a:srgbClr val="000000"/>
                </a:solidFill>
                <a:latin typeface="Helvetica"/>
              </a:defRPr>
            </a:pPr>
            <a:endParaRPr lang="en-US"/>
          </a:p>
        </c:txPr>
        <c:crossAx val="2094734552"/>
        <c:crosses val="autoZero"/>
        <c:crossBetween val="between"/>
        <c:majorUnit val="25"/>
        <c:minorUnit val="12.5"/>
      </c:valAx>
      <c:spPr>
        <a:noFill/>
        <a:ln w="12700" cap="flat">
          <a:noFill/>
          <a:miter lim="400000"/>
        </a:ln>
        <a:effectLst/>
      </c:spPr>
    </c:plotArea>
    <c:legend>
      <c:legendPos val="r"/>
      <c:layout>
        <c:manualLayout>
          <c:xMode val="edge"/>
          <c:yMode val="edge"/>
          <c:x val="0.56615400000000005"/>
          <c:y val="0.32270199999999999"/>
          <c:w val="0.43384600000000001"/>
          <c:h val="0.32780999999999999"/>
        </c:manualLayout>
      </c:layout>
      <c:overlay val="1"/>
      <c:spPr>
        <a:noFill/>
        <a:ln w="12700" cap="flat">
          <a:noFill/>
          <a:miter lim="400000"/>
        </a:ln>
        <a:effectLst/>
      </c:spPr>
      <c:txPr>
        <a:bodyPr rot="0"/>
        <a:lstStyle/>
        <a:p>
          <a:pPr>
            <a:defRPr sz="2600" b="0" i="0" u="none" strike="noStrike">
              <a:solidFill>
                <a:srgbClr val="000000"/>
              </a:solidFill>
              <a:latin typeface="Helvetica"/>
            </a:defRPr>
          </a:pPr>
          <a:endParaRPr lang="en-US"/>
        </a:p>
      </c:txPr>
    </c:legend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hape 59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0" name="Shape 6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270000" y="8267700"/>
            <a:ext cx="10464800" cy="914400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SzTx/>
              <a:buNone/>
              <a:defRPr sz="2500"/>
            </a:lvl1pPr>
            <a:lvl2pPr marL="0" indent="0" algn="ctr">
              <a:spcBef>
                <a:spcPts val="0"/>
              </a:spcBef>
              <a:buSzTx/>
              <a:buNone/>
              <a:defRPr sz="2500"/>
            </a:lvl2pPr>
            <a:lvl3pPr marL="0" indent="0" algn="ctr">
              <a:spcBef>
                <a:spcPts val="0"/>
              </a:spcBef>
              <a:buSzTx/>
              <a:buNone/>
              <a:defRPr sz="2500"/>
            </a:lvl3pPr>
            <a:lvl4pPr marL="0" indent="0" algn="ctr">
              <a:spcBef>
                <a:spcPts val="0"/>
              </a:spcBef>
              <a:buSzTx/>
              <a:buNone/>
              <a:defRPr sz="2500"/>
            </a:lvl4pPr>
            <a:lvl5pPr marL="0" indent="0" algn="ctr">
              <a:spcBef>
                <a:spcPts val="0"/>
              </a:spcBef>
              <a:buSzTx/>
              <a:buNone/>
              <a:defRPr sz="25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5" name="Title Text"/>
          <p:cNvSpPr txBox="1">
            <a:spLocks noGrp="1"/>
          </p:cNvSpPr>
          <p:nvPr>
            <p:ph type="title"/>
          </p:nvPr>
        </p:nvSpPr>
        <p:spPr>
          <a:xfrm>
            <a:off x="1270000" y="1638300"/>
            <a:ext cx="10464800" cy="3302000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16" name="Sam Coward"/>
          <p:cNvSpPr txBox="1"/>
          <p:nvPr/>
        </p:nvSpPr>
        <p:spPr>
          <a:xfrm>
            <a:off x="5087289" y="5854700"/>
            <a:ext cx="2830222" cy="660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700"/>
            </a:lvl1pPr>
          </a:lstStyle>
          <a:p>
            <a:r>
              <a:t>Sam Coward</a:t>
            </a:r>
          </a:p>
        </p:txBody>
      </p:sp>
      <p:sp>
        <p:nvSpPr>
          <p:cNvPr id="1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300639" y="9296400"/>
            <a:ext cx="396749" cy="399033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000000"/>
                </a:solidFill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Text"/>
          <p:cNvSpPr txBox="1">
            <a:spLocks noGrp="1"/>
          </p:cNvSpPr>
          <p:nvPr>
            <p:ph type="title"/>
          </p:nvPr>
        </p:nvSpPr>
        <p:spPr>
          <a:xfrm>
            <a:off x="1270000" y="3225800"/>
            <a:ext cx="10464800" cy="33020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3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tuf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502988" y="31749"/>
            <a:ext cx="396826" cy="4064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  <p:sp>
        <p:nvSpPr>
          <p:cNvPr id="42" name="Square"/>
          <p:cNvSpPr/>
          <p:nvPr/>
        </p:nvSpPr>
        <p:spPr>
          <a:xfrm>
            <a:off x="1155700" y="1682750"/>
            <a:ext cx="1270000" cy="1270000"/>
          </a:xfrm>
          <a:prstGeom prst="rect">
            <a:avLst/>
          </a:prstGeom>
          <a:solidFill>
            <a:srgbClr val="6E8627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43" name="Square"/>
          <p:cNvSpPr/>
          <p:nvPr/>
        </p:nvSpPr>
        <p:spPr>
          <a:xfrm>
            <a:off x="3403600" y="1682750"/>
            <a:ext cx="1270000" cy="1270000"/>
          </a:xfrm>
          <a:prstGeom prst="rect">
            <a:avLst/>
          </a:prstGeom>
          <a:solidFill>
            <a:srgbClr val="9D7A2D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44" name="Rectangle"/>
          <p:cNvSpPr/>
          <p:nvPr/>
        </p:nvSpPr>
        <p:spPr>
          <a:xfrm>
            <a:off x="876300" y="7512050"/>
            <a:ext cx="5867210" cy="1270000"/>
          </a:xfrm>
          <a:prstGeom prst="rect">
            <a:avLst/>
          </a:prstGeom>
          <a:solidFill>
            <a:srgbClr val="E9E6B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45" name="Square"/>
          <p:cNvSpPr/>
          <p:nvPr/>
        </p:nvSpPr>
        <p:spPr>
          <a:xfrm>
            <a:off x="546100" y="876300"/>
            <a:ext cx="1270000" cy="1270000"/>
          </a:xfrm>
          <a:prstGeom prst="rect">
            <a:avLst/>
          </a:prstGeom>
          <a:solidFill>
            <a:srgbClr val="50979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46" name="Square"/>
          <p:cNvSpPr/>
          <p:nvPr/>
        </p:nvSpPr>
        <p:spPr>
          <a:xfrm>
            <a:off x="2336800" y="876300"/>
            <a:ext cx="1270000" cy="1270000"/>
          </a:xfrm>
          <a:prstGeom prst="rect">
            <a:avLst/>
          </a:prstGeom>
          <a:solidFill>
            <a:srgbClr val="0023E4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47" name="Line"/>
          <p:cNvSpPr/>
          <p:nvPr/>
        </p:nvSpPr>
        <p:spPr>
          <a:xfrm flipV="1">
            <a:off x="4889499" y="742950"/>
            <a:ext cx="1270001" cy="1270000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graphicFrame>
        <p:nvGraphicFramePr>
          <p:cNvPr id="48" name="Table 1"/>
          <p:cNvGraphicFramePr/>
          <p:nvPr/>
        </p:nvGraphicFramePr>
        <p:xfrm>
          <a:off x="7124700" y="4616450"/>
          <a:ext cx="4236244" cy="3128268"/>
        </p:xfrm>
        <a:graphic>
          <a:graphicData uri="http://schemas.openxmlformats.org/drawingml/2006/table">
            <a:tbl>
              <a:tblPr firstRow="1" firstCol="1" lastRow="1">
                <a:tableStyleId>{4A9BC294-FFE2-49D5-8D69-9E1BD2C41BD5}</a:tableStyleId>
              </a:tblPr>
              <a:tblGrid>
                <a:gridCol w="21181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81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42756">
                <a:tc>
                  <a:txBody>
                    <a:bodyPr/>
                    <a:lstStyle/>
                    <a:p>
                      <a:pPr algn="l">
                        <a:spcBef>
                          <a:spcPts val="4200"/>
                        </a:spcBef>
                        <a:defRPr sz="1800" b="0"/>
                      </a:pPr>
                      <a:r>
                        <a:rPr sz="3200" b="1">
                          <a:latin typeface="+mn-lt"/>
                          <a:ea typeface="+mn-ea"/>
                          <a:cs typeface="+mn-cs"/>
                        </a:rPr>
                        <a:t>Corner</a:t>
                      </a:r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200"/>
                        </a:spcBef>
                        <a:defRPr sz="1800" b="0"/>
                      </a:pPr>
                      <a:r>
                        <a:rPr sz="3200" b="1">
                          <a:latin typeface="+mn-lt"/>
                          <a:ea typeface="+mn-ea"/>
                          <a:cs typeface="+mn-cs"/>
                        </a:rPr>
                        <a:t>Head</a:t>
                      </a:r>
                    </a:p>
                  </a:txBody>
                  <a:tcPr marL="50800" marR="50800" marT="50800" marB="50800" anchor="ctr" horzOverflow="overflow">
                    <a:lnR w="12700"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42756">
                <a:tc>
                  <a:txBody>
                    <a:bodyPr/>
                    <a:lstStyle/>
                    <a:p>
                      <a:pPr algn="l">
                        <a:spcBef>
                          <a:spcPts val="4200"/>
                        </a:spcBef>
                        <a:defRPr sz="1800" b="0"/>
                      </a:pPr>
                      <a:r>
                        <a:rPr sz="3200">
                          <a:latin typeface="+mn-lt"/>
                          <a:ea typeface="+mn-ea"/>
                          <a:cs typeface="+mn-cs"/>
                        </a:rPr>
                        <a:t>Side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200"/>
                        </a:spcBef>
                        <a:defRPr sz="1800"/>
                      </a:pPr>
                      <a:r>
                        <a:rPr sz="3200"/>
                        <a:t>Cell</a:t>
                      </a:r>
                    </a:p>
                  </a:txBody>
                  <a:tcPr marL="50800" marR="50800" marT="50800" marB="50800" anchor="ctr" horzOverflow="overflow">
                    <a:lnR w="12700"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2756">
                <a:tc>
                  <a:txBody>
                    <a:bodyPr/>
                    <a:lstStyle/>
                    <a:p>
                      <a:pPr algn="l">
                        <a:spcBef>
                          <a:spcPts val="4200"/>
                        </a:spcBef>
                        <a:defRPr sz="1800" b="0"/>
                      </a:pPr>
                      <a:r>
                        <a:rPr sz="3200">
                          <a:latin typeface="+mn-lt"/>
                          <a:ea typeface="+mn-ea"/>
                          <a:cs typeface="+mn-cs"/>
                        </a:rPr>
                        <a:t>Bottom</a:t>
                      </a:r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200"/>
                        </a:spcBef>
                        <a:defRPr sz="1800" b="0"/>
                      </a:pPr>
                      <a:r>
                        <a:rPr sz="3200">
                          <a:latin typeface="+mn-lt"/>
                          <a:ea typeface="+mn-ea"/>
                          <a:cs typeface="+mn-cs"/>
                        </a:rPr>
                        <a:t>Foot</a:t>
                      </a:r>
                    </a:p>
                  </a:txBody>
                  <a:tcPr marL="50800" marR="50800" marT="50800" marB="50800" anchor="ctr" horzOverflow="overflow">
                    <a:lnR w="12700"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9" name="Wickerson et al., &quot;Blah&quot;, in PLDI, 2018."/>
          <p:cNvSpPr txBox="1"/>
          <p:nvPr/>
        </p:nvSpPr>
        <p:spPr>
          <a:xfrm>
            <a:off x="1219200" y="7912099"/>
            <a:ext cx="5794872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b">
            <a:spAutoFit/>
          </a:bodyPr>
          <a:lstStyle/>
          <a:p>
            <a:pPr marL="635000" indent="-635000" algn="l">
              <a:buSzPct val="100000"/>
              <a:buAutoNum type="arabicParenBoth"/>
              <a:defRPr sz="2300">
                <a:solidFill>
                  <a:srgbClr val="6E8627"/>
                </a:solidFill>
              </a:defRPr>
            </a:pPr>
            <a:r>
              <a:t>Wickerson et al., "Blah", in </a:t>
            </a:r>
            <a:r>
              <a:rPr i="1"/>
              <a:t>PLDI</a:t>
            </a:r>
            <a:r>
              <a:t>, 2018.</a:t>
            </a:r>
          </a:p>
        </p:txBody>
      </p:sp>
      <p:sp>
        <p:nvSpPr>
          <p:cNvPr id="50" name="Square"/>
          <p:cNvSpPr/>
          <p:nvPr/>
        </p:nvSpPr>
        <p:spPr>
          <a:xfrm>
            <a:off x="5651500" y="1682750"/>
            <a:ext cx="1270000" cy="1270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51" name="Some code."/>
          <p:cNvSpPr txBox="1"/>
          <p:nvPr/>
        </p:nvSpPr>
        <p:spPr>
          <a:xfrm>
            <a:off x="8271123" y="1276349"/>
            <a:ext cx="1943398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r>
              <a:t>Some code.</a:t>
            </a:r>
          </a:p>
        </p:txBody>
      </p:sp>
      <p:sp>
        <p:nvSpPr>
          <p:cNvPr id="52" name="Here is a cite.(1)"/>
          <p:cNvSpPr txBox="1"/>
          <p:nvPr/>
        </p:nvSpPr>
        <p:spPr>
          <a:xfrm>
            <a:off x="7777890" y="3111499"/>
            <a:ext cx="2929864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Here is a cite.</a:t>
            </a:r>
            <a:r>
              <a:rPr baseline="31999"/>
              <a:t>(1)</a:t>
            </a:r>
          </a:p>
        </p:txBody>
      </p:sp>
      <p:graphicFrame>
        <p:nvGraphicFramePr>
          <p:cNvPr id="53" name="Title"/>
          <p:cNvGraphicFramePr/>
          <p:nvPr/>
        </p:nvGraphicFramePr>
        <p:xfrm>
          <a:off x="278861" y="4584700"/>
          <a:ext cx="6397805" cy="26003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952500" y="546100"/>
            <a:ext cx="11099800" cy="2159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952500" y="2686050"/>
            <a:ext cx="11099800" cy="628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Rectangle"/>
          <p:cNvSpPr/>
          <p:nvPr/>
        </p:nvSpPr>
        <p:spPr>
          <a:xfrm>
            <a:off x="0" y="-1"/>
            <a:ext cx="13004800" cy="457201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5" name="Sam Coward"/>
          <p:cNvSpPr txBox="1"/>
          <p:nvPr/>
        </p:nvSpPr>
        <p:spPr>
          <a:xfrm>
            <a:off x="87122" y="25400"/>
            <a:ext cx="1582366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sz="2000">
                <a:solidFill>
                  <a:srgbClr val="FFFFFF"/>
                </a:solidFill>
              </a:defRPr>
            </a:lvl1pPr>
          </a:lstStyle>
          <a:p>
            <a:r>
              <a:t>Sam Coward</a:t>
            </a:r>
          </a:p>
        </p:txBody>
      </p:sp>
      <p:sp>
        <p:nvSpPr>
          <p:cNvPr id="6" name="Mastering Digital Design"/>
          <p:cNvSpPr txBox="1"/>
          <p:nvPr/>
        </p:nvSpPr>
        <p:spPr>
          <a:xfrm>
            <a:off x="5068837" y="25400"/>
            <a:ext cx="2867126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r>
              <a:t>Mastering Digital Design</a:t>
            </a:r>
          </a:p>
        </p:txBody>
      </p:sp>
      <p:sp>
        <p:nvSpPr>
          <p:cNvPr id="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502988" y="31750"/>
            <a:ext cx="396826" cy="4064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algn="r">
              <a:defRPr sz="2000"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ransition spd="med"/>
  <p:txStyles>
    <p:title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1" i="0" u="none" strike="noStrike" cap="none" spc="0" baseline="0">
          <a:solidFill>
            <a:srgbClr val="9D7A2D"/>
          </a:solidFill>
          <a:uFillTx/>
          <a:latin typeface="+mn-lt"/>
          <a:ea typeface="+mn-ea"/>
          <a:cs typeface="+mn-cs"/>
          <a:sym typeface="Helvetica"/>
        </a:defRPr>
      </a:lvl1pPr>
      <a:lvl2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1" i="0" u="none" strike="noStrike" cap="none" spc="0" baseline="0">
          <a:solidFill>
            <a:srgbClr val="9D7A2D"/>
          </a:solidFill>
          <a:uFillTx/>
          <a:latin typeface="+mn-lt"/>
          <a:ea typeface="+mn-ea"/>
          <a:cs typeface="+mn-cs"/>
          <a:sym typeface="Helvetica"/>
        </a:defRPr>
      </a:lvl2pPr>
      <a:lvl3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1" i="0" u="none" strike="noStrike" cap="none" spc="0" baseline="0">
          <a:solidFill>
            <a:srgbClr val="9D7A2D"/>
          </a:solidFill>
          <a:uFillTx/>
          <a:latin typeface="+mn-lt"/>
          <a:ea typeface="+mn-ea"/>
          <a:cs typeface="+mn-cs"/>
          <a:sym typeface="Helvetica"/>
        </a:defRPr>
      </a:lvl3pPr>
      <a:lvl4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1" i="0" u="none" strike="noStrike" cap="none" spc="0" baseline="0">
          <a:solidFill>
            <a:srgbClr val="9D7A2D"/>
          </a:solidFill>
          <a:uFillTx/>
          <a:latin typeface="+mn-lt"/>
          <a:ea typeface="+mn-ea"/>
          <a:cs typeface="+mn-cs"/>
          <a:sym typeface="Helvetica"/>
        </a:defRPr>
      </a:lvl4pPr>
      <a:lvl5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1" i="0" u="none" strike="noStrike" cap="none" spc="0" baseline="0">
          <a:solidFill>
            <a:srgbClr val="9D7A2D"/>
          </a:solidFill>
          <a:uFillTx/>
          <a:latin typeface="+mn-lt"/>
          <a:ea typeface="+mn-ea"/>
          <a:cs typeface="+mn-cs"/>
          <a:sym typeface="Helvetica"/>
        </a:defRPr>
      </a:lvl5pPr>
      <a:lvl6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1" i="0" u="none" strike="noStrike" cap="none" spc="0" baseline="0">
          <a:solidFill>
            <a:srgbClr val="9D7A2D"/>
          </a:solidFill>
          <a:uFillTx/>
          <a:latin typeface="+mn-lt"/>
          <a:ea typeface="+mn-ea"/>
          <a:cs typeface="+mn-cs"/>
          <a:sym typeface="Helvetica"/>
        </a:defRPr>
      </a:lvl6pPr>
      <a:lvl7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1" i="0" u="none" strike="noStrike" cap="none" spc="0" baseline="0">
          <a:solidFill>
            <a:srgbClr val="9D7A2D"/>
          </a:solidFill>
          <a:uFillTx/>
          <a:latin typeface="+mn-lt"/>
          <a:ea typeface="+mn-ea"/>
          <a:cs typeface="+mn-cs"/>
          <a:sym typeface="Helvetica"/>
        </a:defRPr>
      </a:lvl7pPr>
      <a:lvl8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1" i="0" u="none" strike="noStrike" cap="none" spc="0" baseline="0">
          <a:solidFill>
            <a:srgbClr val="9D7A2D"/>
          </a:solidFill>
          <a:uFillTx/>
          <a:latin typeface="+mn-lt"/>
          <a:ea typeface="+mn-ea"/>
          <a:cs typeface="+mn-cs"/>
          <a:sym typeface="Helvetica"/>
        </a:defRPr>
      </a:lvl8pPr>
      <a:lvl9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1" i="0" u="none" strike="noStrike" cap="none" spc="0" baseline="0">
          <a:solidFill>
            <a:srgbClr val="9D7A2D"/>
          </a:solidFill>
          <a:uFillTx/>
          <a:latin typeface="+mn-lt"/>
          <a:ea typeface="+mn-ea"/>
          <a:cs typeface="+mn-cs"/>
          <a:sym typeface="Helvetica"/>
        </a:defRPr>
      </a:lvl9pPr>
    </p:titleStyle>
    <p:bodyStyle>
      <a:lvl1pPr marL="444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1pPr>
      <a:lvl2pPr marL="889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2pPr>
      <a:lvl3pPr marL="1333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3pPr>
      <a:lvl4pPr marL="1778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4pPr>
      <a:lvl5pPr marL="2222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5pPr>
      <a:lvl6pPr marL="2667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6pPr>
      <a:lvl7pPr marL="3111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7pPr>
      <a:lvl8pPr marL="3556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8pPr>
      <a:lvl9pPr marL="4000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9pPr>
    </p:bodyStyle>
    <p:otherStyle>
      <a:lvl1pPr marL="0" marR="0" indent="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1pPr>
      <a:lvl2pPr marL="0" marR="0" indent="2286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2pPr>
      <a:lvl3pPr marL="0" marR="0" indent="4572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3pPr>
      <a:lvl4pPr marL="0" marR="0" indent="6858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4pPr>
      <a:lvl5pPr marL="0" marR="0" indent="9144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5pPr>
      <a:lvl6pPr marL="0" marR="0" indent="11430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6pPr>
      <a:lvl7pPr marL="0" marR="0" indent="13716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7pPr>
      <a:lvl8pPr marL="0" marR="0" indent="16002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8pPr>
      <a:lvl9pPr marL="0" marR="0" indent="18288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org&amp;utm_campaign=index&amp;utm_content=origina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Mastering-Digital-Design/Lab-Module" TargetMode="Externa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if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tif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80.png"/><Relationship Id="rId4" Type="http://schemas.openxmlformats.org/officeDocument/2006/relationships/image" Target="../media/image23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Lecture 1"/>
          <p:cNvSpPr txBox="1">
            <a:spLocks noGrp="1"/>
          </p:cNvSpPr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noProof="0" dirty="0"/>
              <a:t>Lecture 1</a:t>
            </a:r>
          </a:p>
        </p:txBody>
      </p:sp>
      <p:sp>
        <p:nvSpPr>
          <p:cNvPr id="63" name="Mastering  Digital Design"/>
          <p:cNvSpPr txBox="1">
            <a:spLocks noGrp="1"/>
          </p:cNvSpPr>
          <p:nvPr>
            <p:ph type="ctrTitle"/>
          </p:nvPr>
        </p:nvSpPr>
        <p:spPr>
          <a:xfrm>
            <a:off x="1270000" y="1130300"/>
            <a:ext cx="10464800" cy="3302000"/>
          </a:xfrm>
          <a:prstGeom prst="rect">
            <a:avLst/>
          </a:prstGeom>
        </p:spPr>
        <p:txBody>
          <a:bodyPr/>
          <a:lstStyle/>
          <a:p>
            <a:r>
              <a:rPr lang="en-GB" noProof="0" dirty="0"/>
              <a:t>Mastering </a:t>
            </a:r>
            <a:br>
              <a:rPr lang="en-GB" noProof="0" dirty="0"/>
            </a:br>
            <a:r>
              <a:rPr lang="en-GB" noProof="0" dirty="0"/>
              <a:t>Digital Design</a:t>
            </a:r>
          </a:p>
        </p:txBody>
      </p:sp>
      <p:sp>
        <p:nvSpPr>
          <p:cNvPr id="64" name="with Verilog on FPGAs"/>
          <p:cNvSpPr txBox="1"/>
          <p:nvPr/>
        </p:nvSpPr>
        <p:spPr>
          <a:xfrm>
            <a:off x="3789542" y="4616449"/>
            <a:ext cx="5425716" cy="698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900" b="1">
                <a:solidFill>
                  <a:srgbClr val="9D7A2D"/>
                </a:solidFill>
              </a:defRPr>
            </a:lvl1pPr>
          </a:lstStyle>
          <a:p>
            <a:r>
              <a:rPr lang="en-GB" noProof="0" dirty="0"/>
              <a:t>with Verilog on FPGAs</a:t>
            </a:r>
          </a:p>
        </p:txBody>
      </p:sp>
      <p:sp>
        <p:nvSpPr>
          <p:cNvPr id="65" name="Slides by John Wickerson"/>
          <p:cNvSpPr txBox="1"/>
          <p:nvPr/>
        </p:nvSpPr>
        <p:spPr>
          <a:xfrm>
            <a:off x="4355281" y="6537324"/>
            <a:ext cx="4040238" cy="508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700"/>
            </a:lvl1pPr>
          </a:lstStyle>
          <a:p>
            <a:r>
              <a:rPr lang="en-GB" noProof="0" dirty="0"/>
              <a:t>Slides by John Wickerson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DF7D7-55C3-4988-5742-F1ADEC87D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Before we start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869FD8-64BD-43BD-EB4F-88375EAFE7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1500" y="2450957"/>
            <a:ext cx="11480800" cy="2715509"/>
          </a:xfrm>
        </p:spPr>
        <p:txBody>
          <a:bodyPr>
            <a:normAutofit/>
          </a:bodyPr>
          <a:lstStyle/>
          <a:p>
            <a:r>
              <a:rPr lang="en-GB" dirty="0"/>
              <a:t>Please ask questions during lectures</a:t>
            </a:r>
          </a:p>
          <a:p>
            <a:r>
              <a:rPr lang="en-GB" dirty="0"/>
              <a:t>If you can’t understand me – say something I will enunciate</a:t>
            </a:r>
          </a:p>
          <a:p>
            <a:r>
              <a:rPr lang="en-GB" dirty="0"/>
              <a:t>AI usage</a:t>
            </a:r>
          </a:p>
          <a:p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54A17B-2B9C-5670-E022-E1BEF1D04183}"/>
              </a:ext>
            </a:extLst>
          </p:cNvPr>
          <p:cNvSpPr txBox="1"/>
          <p:nvPr/>
        </p:nvSpPr>
        <p:spPr>
          <a:xfrm>
            <a:off x="971550" y="6706652"/>
            <a:ext cx="1943100" cy="84125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Maths</a:t>
            </a:r>
          </a:p>
        </p:txBody>
      </p:sp>
      <p:pic>
        <p:nvPicPr>
          <p:cNvPr id="5" name="Picture 4" descr="Download University of Cambridge Logo in SVG Vector or PNG File Format -  Logo.wine">
            <a:extLst>
              <a:ext uri="{FF2B5EF4-FFF2-40B4-BE49-F238E27FC236}">
                <a16:creationId xmlns:a16="http://schemas.microsoft.com/office/drawing/2014/main" id="{A36798DB-1CDE-3CA0-9A75-039CD2093B3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9026"/>
          <a:stretch>
            <a:fillRect/>
          </a:stretch>
        </p:blipFill>
        <p:spPr>
          <a:xfrm>
            <a:off x="-154494" y="4473005"/>
            <a:ext cx="3886200" cy="1838816"/>
          </a:xfrm>
          <a:prstGeom prst="rect">
            <a:avLst/>
          </a:prstGeom>
        </p:spPr>
      </p:pic>
      <p:pic>
        <p:nvPicPr>
          <p:cNvPr id="7" name="Picture 6" descr="Brilliant Young Mathematician Approaches Big Blackboard Stock Photo  1101286919 | Shutterstock">
            <a:extLst>
              <a:ext uri="{FF2B5EF4-FFF2-40B4-BE49-F238E27FC236}">
                <a16:creationId xmlns:a16="http://schemas.microsoft.com/office/drawing/2014/main" id="{AC0E14FF-13AC-FA04-C5F0-8F7F5F42CCD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5133"/>
          <a:stretch>
            <a:fillRect/>
          </a:stretch>
        </p:blipFill>
        <p:spPr>
          <a:xfrm>
            <a:off x="135444" y="7547908"/>
            <a:ext cx="3750756" cy="192918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1E88925-CCCD-3B13-5017-A390FE1391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7045" y="5057259"/>
            <a:ext cx="2784021" cy="114454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1619B51-D1D5-1C7D-E21E-BCBDCD93CEB3}"/>
              </a:ext>
            </a:extLst>
          </p:cNvPr>
          <p:cNvSpPr txBox="1"/>
          <p:nvPr/>
        </p:nvSpPr>
        <p:spPr>
          <a:xfrm>
            <a:off x="3228975" y="4581691"/>
            <a:ext cx="6523264" cy="584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GB" b="0" dirty="0">
                <a:effectLst/>
              </a:rPr>
              <a:t> </a:t>
            </a:r>
            <a:endParaRPr lang="en-GB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FFAC447-5888-AB53-7CC7-9C06A186D1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274050">
            <a:off x="3987318" y="7269696"/>
            <a:ext cx="4406042" cy="22374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8C635DD-35E0-4310-E340-7922A56D8447}"/>
              </a:ext>
            </a:extLst>
          </p:cNvPr>
          <p:cNvSpPr txBox="1"/>
          <p:nvPr/>
        </p:nvSpPr>
        <p:spPr>
          <a:xfrm>
            <a:off x="4698440" y="6461558"/>
            <a:ext cx="2784022" cy="84125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sz="4800" dirty="0"/>
              <a:t>RTL</a:t>
            </a:r>
            <a:endParaRPr kumimoji="0" lang="en-GB" sz="4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  <p:pic>
        <p:nvPicPr>
          <p:cNvPr id="17" name="Picture 16" descr="File:Imperial College London new logo.png - Wikimedia Commons">
            <a:extLst>
              <a:ext uri="{FF2B5EF4-FFF2-40B4-BE49-F238E27FC236}">
                <a16:creationId xmlns:a16="http://schemas.microsoft.com/office/drawing/2014/main" id="{6B751090-0705-5DEF-6266-46691E63F6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17316" y="5392413"/>
            <a:ext cx="4904241" cy="538706"/>
          </a:xfrm>
          <a:prstGeom prst="rect">
            <a:avLst/>
          </a:prstGeom>
        </p:spPr>
      </p:pic>
      <p:pic>
        <p:nvPicPr>
          <p:cNvPr id="18" name="Picture 17" descr="EDA Tools For Circuit Design">
            <a:extLst>
              <a:ext uri="{FF2B5EF4-FFF2-40B4-BE49-F238E27FC236}">
                <a16:creationId xmlns:a16="http://schemas.microsoft.com/office/drawing/2014/main" id="{2756F668-1C21-65FB-F6AC-330B73632E3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48972" y="7043057"/>
            <a:ext cx="3738548" cy="260630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ACA96D4B-4312-F7B5-8DA1-CC8CEF2E0D41}"/>
              </a:ext>
            </a:extLst>
          </p:cNvPr>
          <p:cNvSpPr txBox="1"/>
          <p:nvPr/>
        </p:nvSpPr>
        <p:spPr>
          <a:xfrm>
            <a:off x="7617906" y="6201801"/>
            <a:ext cx="5009725" cy="84125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EDA Researc</a:t>
            </a:r>
            <a:r>
              <a:rPr lang="en-GB" sz="4800" dirty="0"/>
              <a:t>h</a:t>
            </a:r>
            <a:endParaRPr kumimoji="0" lang="en-GB" sz="4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2573921122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Module aim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noProof="0" dirty="0"/>
              <a:t>Module aims</a:t>
            </a:r>
          </a:p>
        </p:txBody>
      </p:sp>
      <p:sp>
        <p:nvSpPr>
          <p:cNvPr id="68" name="To ensure that all MSc students reach a common competence level in RTL design using FPGAs in a hardware description language.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noProof="0" dirty="0"/>
              <a:t>To ensure that all MSc students reach a </a:t>
            </a:r>
            <a:r>
              <a:rPr lang="en-GB" b="1" noProof="0" dirty="0"/>
              <a:t>common competence level</a:t>
            </a:r>
            <a:r>
              <a:rPr lang="en-GB" noProof="0" dirty="0"/>
              <a:t> in RTL design using FPGAs in a hardware description language.</a:t>
            </a:r>
          </a:p>
          <a:p>
            <a:r>
              <a:rPr lang="en-GB" noProof="0" dirty="0"/>
              <a:t>To act as a </a:t>
            </a:r>
            <a:r>
              <a:rPr lang="en-GB" b="1" noProof="0" dirty="0"/>
              <a:t>revision exercise</a:t>
            </a:r>
            <a:r>
              <a:rPr lang="en-GB" noProof="0" dirty="0"/>
              <a:t> for those already competent in SystemVerilog and FPGAs.</a:t>
            </a:r>
          </a:p>
        </p:txBody>
      </p:sp>
      <p:sp>
        <p:nvSpPr>
          <p:cNvPr id="6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644250" y="31750"/>
            <a:ext cx="255564" cy="4064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 lang="en-GB" noProof="0"/>
              <a:t>3</a:t>
            </a:fld>
            <a:endParaRPr lang="en-GB" noProof="0" dirty="0"/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Forma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noProof="0" dirty="0"/>
              <a:t>Format</a:t>
            </a:r>
          </a:p>
        </p:txBody>
      </p:sp>
      <p:sp>
        <p:nvSpPr>
          <p:cNvPr id="72" name="The lab experiment is divided into four parts.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noProof="0" dirty="0"/>
              <a:t>The lab experiment is divided into four parts. </a:t>
            </a:r>
          </a:p>
          <a:p>
            <a:r>
              <a:rPr lang="en-GB" noProof="0" dirty="0"/>
              <a:t>It is hoped that you will finish one part each week.</a:t>
            </a:r>
          </a:p>
          <a:p>
            <a:r>
              <a:rPr lang="en-GB" noProof="0" dirty="0"/>
              <a:t>Each part has clearly defined Learning Outcomes.</a:t>
            </a:r>
          </a:p>
          <a:p>
            <a:r>
              <a:rPr lang="en-GB" noProof="0" dirty="0"/>
              <a:t>These lectures will supplement the lab with some background information.</a:t>
            </a:r>
          </a:p>
        </p:txBody>
      </p:sp>
      <p:sp>
        <p:nvSpPr>
          <p:cNvPr id="7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644250" y="31750"/>
            <a:ext cx="255564" cy="4064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 lang="en-GB" noProof="0"/>
              <a:t>4</a:t>
            </a:fld>
            <a:endParaRPr lang="en-GB" noProof="0" dirty="0"/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rad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noProof="0" dirty="0"/>
              <a:t>Grading</a:t>
            </a:r>
          </a:p>
        </p:txBody>
      </p:sp>
      <p:sp>
        <p:nvSpPr>
          <p:cNvPr id="76" name="This lab is part of the Coursework component of the MSc course.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noProof="0" dirty="0"/>
              <a:t>This lab is part of the Coursework component of the MSc course. </a:t>
            </a:r>
          </a:p>
          <a:p>
            <a:r>
              <a:rPr lang="en-GB" noProof="0" dirty="0"/>
              <a:t>You must pass this component, but it does not count towards your final MSc grade.</a:t>
            </a:r>
          </a:p>
        </p:txBody>
      </p:sp>
      <p:sp>
        <p:nvSpPr>
          <p:cNvPr id="7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644250" y="31750"/>
            <a:ext cx="255564" cy="4064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 lang="en-GB" noProof="0"/>
              <a:t>5</a:t>
            </a:fld>
            <a:endParaRPr lang="en-GB" noProof="0" dirty="0"/>
          </a:p>
        </p:txBody>
      </p:sp>
      <p:sp>
        <p:nvSpPr>
          <p:cNvPr id="78" name="Oval"/>
          <p:cNvSpPr/>
          <p:nvPr/>
        </p:nvSpPr>
        <p:spPr>
          <a:xfrm>
            <a:off x="1938866" y="5715000"/>
            <a:ext cx="2973058" cy="2572412"/>
          </a:xfrm>
          <a:prstGeom prst="ellipse">
            <a:avLst/>
          </a:prstGeom>
          <a:solidFill>
            <a:srgbClr val="D2D0AD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 lang="en-GB" noProof="0" dirty="0"/>
          </a:p>
        </p:txBody>
      </p:sp>
      <p:sp>
        <p:nvSpPr>
          <p:cNvPr id="79" name="Oval"/>
          <p:cNvSpPr/>
          <p:nvPr/>
        </p:nvSpPr>
        <p:spPr>
          <a:xfrm>
            <a:off x="2730103" y="6004718"/>
            <a:ext cx="1557272" cy="1114294"/>
          </a:xfrm>
          <a:prstGeom prst="ellipse">
            <a:avLst/>
          </a:prstGeom>
          <a:solidFill>
            <a:srgbClr val="6E8627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 lang="en-GB" noProof="0" dirty="0"/>
          </a:p>
        </p:txBody>
      </p:sp>
      <p:sp>
        <p:nvSpPr>
          <p:cNvPr id="80" name="Oval"/>
          <p:cNvSpPr/>
          <p:nvPr/>
        </p:nvSpPr>
        <p:spPr>
          <a:xfrm>
            <a:off x="5367866" y="5715000"/>
            <a:ext cx="2973058" cy="2572412"/>
          </a:xfrm>
          <a:prstGeom prst="ellipse">
            <a:avLst/>
          </a:prstGeom>
          <a:solidFill>
            <a:srgbClr val="D2D0AD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 lang="en-GB" noProof="0" dirty="0"/>
          </a:p>
        </p:txBody>
      </p:sp>
      <p:sp>
        <p:nvSpPr>
          <p:cNvPr id="81" name="Oval"/>
          <p:cNvSpPr/>
          <p:nvPr/>
        </p:nvSpPr>
        <p:spPr>
          <a:xfrm>
            <a:off x="8796866" y="5715000"/>
            <a:ext cx="2973058" cy="2572412"/>
          </a:xfrm>
          <a:prstGeom prst="ellipse">
            <a:avLst/>
          </a:prstGeom>
          <a:solidFill>
            <a:srgbClr val="D2D0AD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 lang="en-GB" noProof="0" dirty="0"/>
          </a:p>
        </p:txBody>
      </p:sp>
      <p:sp>
        <p:nvSpPr>
          <p:cNvPr id="82" name="Coursework"/>
          <p:cNvSpPr txBox="1"/>
          <p:nvPr/>
        </p:nvSpPr>
        <p:spPr>
          <a:xfrm>
            <a:off x="2284181" y="8310033"/>
            <a:ext cx="2282429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rPr lang="en-GB" noProof="0" dirty="0"/>
              <a:t>Coursework</a:t>
            </a:r>
          </a:p>
        </p:txBody>
      </p:sp>
      <p:sp>
        <p:nvSpPr>
          <p:cNvPr id="83" name="Exams"/>
          <p:cNvSpPr txBox="1"/>
          <p:nvPr/>
        </p:nvSpPr>
        <p:spPr>
          <a:xfrm>
            <a:off x="6176234" y="8310033"/>
            <a:ext cx="1356321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rPr lang="en-GB" noProof="0" dirty="0"/>
              <a:t>Exams</a:t>
            </a:r>
          </a:p>
        </p:txBody>
      </p:sp>
      <p:sp>
        <p:nvSpPr>
          <p:cNvPr id="84" name="Project"/>
          <p:cNvSpPr txBox="1"/>
          <p:nvPr/>
        </p:nvSpPr>
        <p:spPr>
          <a:xfrm>
            <a:off x="9593825" y="8310033"/>
            <a:ext cx="1379141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rPr lang="en-GB" noProof="0" dirty="0"/>
              <a:t>Project</a:t>
            </a:r>
          </a:p>
        </p:txBody>
      </p:sp>
      <p:sp>
        <p:nvSpPr>
          <p:cNvPr id="85" name="This lab"/>
          <p:cNvSpPr txBox="1"/>
          <p:nvPr/>
        </p:nvSpPr>
        <p:spPr>
          <a:xfrm>
            <a:off x="2683834" y="6269765"/>
            <a:ext cx="1649810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r>
              <a:rPr lang="en-GB" noProof="0" dirty="0"/>
              <a:t>This lab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Assessmen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noProof="0" dirty="0"/>
              <a:t>Assessment</a:t>
            </a:r>
          </a:p>
        </p:txBody>
      </p:sp>
      <p:sp>
        <p:nvSpPr>
          <p:cNvPr id="88" name="Assessment will be via a short oral interview. This will assess:…"/>
          <p:cNvSpPr txBox="1">
            <a:spLocks noGrp="1"/>
          </p:cNvSpPr>
          <p:nvPr>
            <p:ph type="body" idx="1"/>
          </p:nvPr>
        </p:nvSpPr>
        <p:spPr>
          <a:xfrm>
            <a:off x="587829" y="2686050"/>
            <a:ext cx="12056421" cy="6286500"/>
          </a:xfrm>
          <a:prstGeom prst="rect">
            <a:avLst/>
          </a:prstGeom>
        </p:spPr>
        <p:txBody>
          <a:bodyPr/>
          <a:lstStyle/>
          <a:p>
            <a:r>
              <a:rPr lang="en-GB" noProof="0" dirty="0"/>
              <a:t>Assessment will be via a short </a:t>
            </a:r>
            <a:r>
              <a:rPr lang="en-GB" b="1" noProof="0" dirty="0"/>
              <a:t>oral interview</a:t>
            </a:r>
            <a:r>
              <a:rPr lang="en-GB" noProof="0" dirty="0"/>
              <a:t>. This will assess:</a:t>
            </a:r>
          </a:p>
          <a:p>
            <a:pPr lvl="1">
              <a:spcBef>
                <a:spcPts val="2500"/>
              </a:spcBef>
            </a:pPr>
            <a:r>
              <a:rPr lang="en-GB" noProof="0" dirty="0"/>
              <a:t>how many parts of the experiment you have completed, </a:t>
            </a:r>
          </a:p>
          <a:p>
            <a:pPr lvl="1">
              <a:spcBef>
                <a:spcPts val="2500"/>
              </a:spcBef>
            </a:pPr>
            <a:r>
              <a:rPr lang="en-GB" noProof="0" dirty="0"/>
              <a:t>the extent to which you have understood the underlying principles of digital design, and</a:t>
            </a:r>
          </a:p>
          <a:p>
            <a:pPr lvl="1">
              <a:spcBef>
                <a:spcPts val="2500"/>
              </a:spcBef>
            </a:pPr>
            <a:r>
              <a:rPr lang="en-GB" noProof="0" dirty="0"/>
              <a:t>whether you have used a logbook (electronic or paper) to help you learn through planning and reflection.</a:t>
            </a:r>
          </a:p>
          <a:p>
            <a:r>
              <a:rPr lang="en-GB" noProof="0" dirty="0"/>
              <a:t>Please have your equipment set up and ready to demo.</a:t>
            </a:r>
          </a:p>
        </p:txBody>
      </p:sp>
      <p:sp>
        <p:nvSpPr>
          <p:cNvPr id="8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644250" y="31750"/>
            <a:ext cx="255564" cy="4064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 lang="en-GB" noProof="0"/>
              <a:t>6</a:t>
            </a:fld>
            <a:endParaRPr lang="en-GB" noProof="0" dirty="0"/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Admi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noProof="0" dirty="0"/>
              <a:t>Admin</a:t>
            </a:r>
          </a:p>
        </p:txBody>
      </p:sp>
      <p:sp>
        <p:nvSpPr>
          <p:cNvPr id="92" name="Lectures: Mondays at 1400–1600, starting 13rd Oct, for 4 weeks.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GB" b="1" noProof="0" dirty="0"/>
              <a:t>Lectures (1hr): </a:t>
            </a:r>
            <a:r>
              <a:rPr lang="en-GB" noProof="0" dirty="0"/>
              <a:t>Mondays at 14:00–15:00</a:t>
            </a:r>
          </a:p>
          <a:p>
            <a:pPr lvl="1">
              <a:spcBef>
                <a:spcPts val="0"/>
              </a:spcBef>
            </a:pPr>
            <a:r>
              <a:rPr lang="en-GB" noProof="0" dirty="0"/>
              <a:t>5</a:t>
            </a:r>
            <a:r>
              <a:rPr lang="en-GB" baseline="30000" noProof="0" dirty="0"/>
              <a:t>th</a:t>
            </a:r>
            <a:r>
              <a:rPr lang="en-GB" noProof="0" dirty="0"/>
              <a:t>, 19</a:t>
            </a:r>
            <a:r>
              <a:rPr lang="en-GB" baseline="30000" noProof="0" dirty="0"/>
              <a:t>th</a:t>
            </a:r>
            <a:r>
              <a:rPr lang="en-GB" dirty="0"/>
              <a:t>, 26</a:t>
            </a:r>
            <a:r>
              <a:rPr lang="en-GB" baseline="30000" dirty="0"/>
              <a:t>th</a:t>
            </a:r>
            <a:r>
              <a:rPr lang="en-GB" dirty="0"/>
              <a:t> </a:t>
            </a:r>
            <a:r>
              <a:rPr lang="en-GB" noProof="0" dirty="0"/>
              <a:t>October</a:t>
            </a:r>
            <a:r>
              <a:rPr lang="en-GB" dirty="0"/>
              <a:t> &amp; </a:t>
            </a:r>
            <a:r>
              <a:rPr lang="en-GB" noProof="0" dirty="0"/>
              <a:t>2</a:t>
            </a:r>
            <a:r>
              <a:rPr lang="en-GB" baseline="30000" noProof="0" dirty="0"/>
              <a:t>nd</a:t>
            </a:r>
            <a:r>
              <a:rPr lang="en-GB" noProof="0" dirty="0"/>
              <a:t> November</a:t>
            </a:r>
          </a:p>
          <a:p>
            <a:pPr marL="444500" lvl="1" indent="0">
              <a:spcBef>
                <a:spcPts val="0"/>
              </a:spcBef>
              <a:buNone/>
            </a:pPr>
            <a:endParaRPr lang="en-GB" noProof="0" dirty="0"/>
          </a:p>
          <a:p>
            <a:pPr>
              <a:spcBef>
                <a:spcPts val="0"/>
              </a:spcBef>
            </a:pPr>
            <a:r>
              <a:rPr lang="en-GB" b="1" dirty="0"/>
              <a:t>Labs (3 hrs):</a:t>
            </a:r>
            <a:r>
              <a:rPr lang="en-GB" dirty="0"/>
              <a:t> Tuesday at 9:00 – 12:00 </a:t>
            </a:r>
          </a:p>
          <a:p>
            <a:pPr lvl="1">
              <a:spcBef>
                <a:spcPts val="0"/>
              </a:spcBef>
            </a:pPr>
            <a:r>
              <a:rPr lang="en-GB" dirty="0"/>
              <a:t>6</a:t>
            </a:r>
            <a:r>
              <a:rPr lang="en-GB" baseline="30000" dirty="0"/>
              <a:t>th</a:t>
            </a:r>
            <a:r>
              <a:rPr lang="en-GB" dirty="0"/>
              <a:t>, 20</a:t>
            </a:r>
            <a:r>
              <a:rPr lang="en-GB" baseline="30000" dirty="0"/>
              <a:t>th</a:t>
            </a:r>
            <a:r>
              <a:rPr lang="en-GB" dirty="0"/>
              <a:t>, 27</a:t>
            </a:r>
            <a:r>
              <a:rPr lang="en-GB" baseline="30000" dirty="0"/>
              <a:t>th</a:t>
            </a:r>
            <a:r>
              <a:rPr lang="en-GB" dirty="0"/>
              <a:t> October &amp; 3</a:t>
            </a:r>
            <a:r>
              <a:rPr lang="en-GB" baseline="30000" dirty="0"/>
              <a:t>rd</a:t>
            </a:r>
            <a:r>
              <a:rPr lang="en-GB" dirty="0"/>
              <a:t> November</a:t>
            </a:r>
          </a:p>
          <a:p>
            <a:pPr>
              <a:spcBef>
                <a:spcPts val="2400"/>
              </a:spcBef>
            </a:pPr>
            <a:r>
              <a:rPr lang="en-GB" b="1" noProof="0" dirty="0"/>
              <a:t>Assessment: </a:t>
            </a:r>
            <a:r>
              <a:rPr lang="en-GB" noProof="0" dirty="0"/>
              <a:t>Tuesday 10</a:t>
            </a:r>
            <a:r>
              <a:rPr lang="en-GB" baseline="30000" noProof="0" dirty="0"/>
              <a:t>th</a:t>
            </a:r>
            <a:r>
              <a:rPr lang="en-GB" noProof="0" dirty="0"/>
              <a:t> November at </a:t>
            </a:r>
            <a:r>
              <a:rPr lang="en-GB" dirty="0"/>
              <a:t>9</a:t>
            </a:r>
            <a:r>
              <a:rPr lang="en-GB" noProof="0" dirty="0"/>
              <a:t>:00 to 11:00</a:t>
            </a:r>
          </a:p>
          <a:p>
            <a:r>
              <a:rPr lang="en-GB" b="1" noProof="0" dirty="0"/>
              <a:t>Course webpage:</a:t>
            </a:r>
            <a:br>
              <a:rPr lang="en-GB" noProof="0" dirty="0"/>
            </a:br>
            <a:r>
              <a:rPr lang="en-GB" u="sng" noProof="0" dirty="0">
                <a:hlinkClick r:id="rId2"/>
              </a:rPr>
              <a:t>https://github.com/Mastering-Digital-Design/Lab-Module</a:t>
            </a:r>
          </a:p>
        </p:txBody>
      </p:sp>
      <p:sp>
        <p:nvSpPr>
          <p:cNvPr id="9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644250" y="31750"/>
            <a:ext cx="255564" cy="4064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 lang="en-GB" noProof="0"/>
              <a:t>7</a:t>
            </a:fld>
            <a:endParaRPr lang="en-GB" noProof="0" dirty="0"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9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" grpId="1" build="p" bldLvl="5" animBg="1" advAuto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F4033-9889-C349-22A6-E53A4B68D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Labs – by tomorrow!!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16F29D-1C3B-3510-05A9-E5C3AAE803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Pair up – and tell me who is paired up</a:t>
            </a:r>
          </a:p>
          <a:p>
            <a:r>
              <a:rPr lang="en-GB" dirty="0"/>
              <a:t>Visit Level 1 Stores and collect the following:</a:t>
            </a:r>
          </a:p>
          <a:p>
            <a:pPr lvl="1"/>
            <a:r>
              <a:rPr lang="en-GB" dirty="0"/>
              <a:t>DE1-SoC board</a:t>
            </a:r>
          </a:p>
          <a:p>
            <a:pPr lvl="1"/>
            <a:r>
              <a:rPr lang="en-GB" dirty="0"/>
              <a:t>Analogue I/O extension board (PKYC v1.0)</a:t>
            </a:r>
          </a:p>
          <a:p>
            <a:pPr lvl="1"/>
            <a:r>
              <a:rPr lang="en-GB" dirty="0"/>
              <a:t>Wired earphones (if you don’t have your own)</a:t>
            </a:r>
          </a:p>
        </p:txBody>
      </p:sp>
    </p:spTree>
    <p:extLst>
      <p:ext uri="{BB962C8B-B14F-4D97-AF65-F5344CB8AC3E}">
        <p14:creationId xmlns:p14="http://schemas.microsoft.com/office/powerpoint/2010/main" val="120646327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o do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noProof="0" dirty="0"/>
              <a:t>To do</a:t>
            </a:r>
          </a:p>
        </p:txBody>
      </p:sp>
      <p:sp>
        <p:nvSpPr>
          <p:cNvPr id="96" name="Group yourselves into pairs.…"/>
          <p:cNvSpPr txBox="1">
            <a:spLocks noGrp="1"/>
          </p:cNvSpPr>
          <p:nvPr>
            <p:ph type="body" idx="1"/>
          </p:nvPr>
        </p:nvSpPr>
        <p:spPr>
          <a:xfrm>
            <a:off x="952500" y="2686050"/>
            <a:ext cx="11099800" cy="6286500"/>
          </a:xfrm>
          <a:prstGeom prst="rect">
            <a:avLst/>
          </a:prstGeom>
        </p:spPr>
        <p:txBody>
          <a:bodyPr/>
          <a:lstStyle/>
          <a:p>
            <a:pPr marL="603250" indent="-603250" defTabSz="554990">
              <a:spcBef>
                <a:spcPts val="3900"/>
              </a:spcBef>
              <a:buSzPct val="100000"/>
              <a:buAutoNum type="arabicPeriod"/>
              <a:defRPr sz="3040"/>
            </a:pPr>
            <a:r>
              <a:rPr lang="en-GB" noProof="0" dirty="0"/>
              <a:t>Group yourselves into pairs.</a:t>
            </a:r>
          </a:p>
          <a:p>
            <a:pPr marL="603250" indent="-603250" defTabSz="554990">
              <a:spcBef>
                <a:spcPts val="3900"/>
              </a:spcBef>
              <a:buSzPct val="100000"/>
              <a:buAutoNum type="arabicPeriod"/>
              <a:defRPr sz="3040"/>
            </a:pPr>
            <a:r>
              <a:rPr lang="en-GB" noProof="0" dirty="0"/>
              <a:t>Record who is in your pair in the spreadsheet on Teams.</a:t>
            </a:r>
          </a:p>
          <a:p>
            <a:pPr marL="603250" indent="-603250" defTabSz="554990">
              <a:spcBef>
                <a:spcPts val="3900"/>
              </a:spcBef>
              <a:buSzPct val="100000"/>
              <a:buAutoNum type="arabicPeriod"/>
              <a:defRPr sz="3040"/>
            </a:pPr>
            <a:r>
              <a:rPr lang="en-GB" noProof="0" dirty="0"/>
              <a:t>Collect a DE1-SoC board from Stores (Level 1 of the EEE building), one per pair. You'll need to have your college card with you.</a:t>
            </a:r>
          </a:p>
          <a:p>
            <a:pPr marL="603250" indent="-603250" defTabSz="554990">
              <a:spcBef>
                <a:spcPts val="3900"/>
              </a:spcBef>
              <a:buSzPct val="100000"/>
              <a:buAutoNum type="arabicPeriod"/>
              <a:defRPr sz="3040"/>
            </a:pPr>
            <a:r>
              <a:rPr lang="en-GB" noProof="0" dirty="0"/>
              <a:t>Do the exercises, with support from the GTAs on ??? mornings, and keep a logbook along the way.</a:t>
            </a:r>
          </a:p>
          <a:p>
            <a:pPr marL="603250" indent="-603250" defTabSz="554990">
              <a:spcBef>
                <a:spcPts val="3900"/>
              </a:spcBef>
              <a:buSzPct val="100000"/>
              <a:buAutoNum type="arabicPeriod"/>
              <a:defRPr sz="3040"/>
            </a:pPr>
            <a:r>
              <a:rPr lang="en-GB" noProof="0" dirty="0"/>
              <a:t>Come (as a pair) to your 15-minute viva (with your logbook) near the end of this term.</a:t>
            </a:r>
          </a:p>
        </p:txBody>
      </p:sp>
      <p:sp>
        <p:nvSpPr>
          <p:cNvPr id="9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616097" y="31750"/>
            <a:ext cx="283717" cy="4064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 lang="en-GB" noProof="0"/>
              <a:t>9</a:t>
            </a:fld>
            <a:endParaRPr lang="en-GB" noProof="0" dirty="0"/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Credit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noProof="0" dirty="0"/>
              <a:t>Credits</a:t>
            </a:r>
          </a:p>
        </p:txBody>
      </p:sp>
      <p:sp>
        <p:nvSpPr>
          <p:cNvPr id="100" name="This course was conceived and designed by Professor Peter Cheung.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noProof="0" dirty="0"/>
              <a:t>This course was conceived and designed by </a:t>
            </a:r>
            <a:r>
              <a:rPr lang="en-GB" b="1" noProof="0" dirty="0"/>
              <a:t>Professor Peter Cheung</a:t>
            </a:r>
            <a:r>
              <a:rPr lang="en-GB" noProof="0" dirty="0"/>
              <a:t>.</a:t>
            </a:r>
            <a:br>
              <a:rPr lang="en-GB" noProof="0" dirty="0"/>
            </a:br>
            <a:br>
              <a:rPr lang="en-GB" noProof="0" dirty="0"/>
            </a:br>
            <a:br>
              <a:rPr lang="en-GB" noProof="0" dirty="0"/>
            </a:br>
            <a:br>
              <a:rPr lang="en-GB" noProof="0" dirty="0"/>
            </a:br>
            <a:br>
              <a:rPr lang="en-GB" noProof="0" dirty="0"/>
            </a:br>
            <a:br>
              <a:rPr lang="en-GB" noProof="0" dirty="0"/>
            </a:br>
            <a:br>
              <a:rPr lang="en-GB" noProof="0" dirty="0"/>
            </a:br>
            <a:endParaRPr lang="en-GB" noProof="0" dirty="0"/>
          </a:p>
          <a:p>
            <a:r>
              <a:rPr lang="en-GB" noProof="0" dirty="0"/>
              <a:t>Any errors in the lectures are mine. (And please do let me know if you find any!)</a:t>
            </a:r>
          </a:p>
        </p:txBody>
      </p:sp>
      <p:sp>
        <p:nvSpPr>
          <p:cNvPr id="10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644250" y="31750"/>
            <a:ext cx="255564" cy="4064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 lang="en-GB" noProof="0"/>
              <a:t>10</a:t>
            </a:fld>
            <a:endParaRPr lang="en-GB" noProof="0" dirty="0"/>
          </a:p>
        </p:txBody>
      </p:sp>
      <p:pic>
        <p:nvPicPr>
          <p:cNvPr id="10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0500" y="3784600"/>
            <a:ext cx="2463800" cy="3302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Digital Desig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noProof="0" dirty="0"/>
              <a:t>Digital Design</a:t>
            </a:r>
          </a:p>
        </p:txBody>
      </p:sp>
      <p:sp>
        <p:nvSpPr>
          <p:cNvPr id="10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644250" y="31750"/>
            <a:ext cx="255564" cy="4064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 lang="en-GB" noProof="0"/>
              <a:t>11</a:t>
            </a:fld>
            <a:endParaRPr lang="en-GB" noProof="0" dirty="0"/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he old day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noProof="0" dirty="0"/>
              <a:t>The old days</a:t>
            </a:r>
          </a:p>
        </p:txBody>
      </p:sp>
      <p:sp>
        <p:nvSpPr>
          <p:cNvPr id="108" name="Discrete logic, built from individual gates or packages containing small digital building blocks (e.g. a 1-bit adder).…"/>
          <p:cNvSpPr txBox="1">
            <a:spLocks noGrp="1"/>
          </p:cNvSpPr>
          <p:nvPr>
            <p:ph type="body" sz="half" idx="1"/>
          </p:nvPr>
        </p:nvSpPr>
        <p:spPr>
          <a:xfrm>
            <a:off x="952500" y="2686050"/>
            <a:ext cx="5068243" cy="6286500"/>
          </a:xfrm>
          <a:prstGeom prst="rect">
            <a:avLst/>
          </a:prstGeom>
        </p:spPr>
        <p:txBody>
          <a:bodyPr/>
          <a:lstStyle/>
          <a:p>
            <a:pPr marL="422275" indent="-422275" defTabSz="554990">
              <a:spcBef>
                <a:spcPts val="3900"/>
              </a:spcBef>
              <a:defRPr sz="3040"/>
            </a:pPr>
            <a:r>
              <a:rPr lang="en-GB" b="1" noProof="0" dirty="0"/>
              <a:t>Discrete logic</a:t>
            </a:r>
            <a:r>
              <a:rPr lang="en-GB" noProof="0" dirty="0"/>
              <a:t>, built from individual gates or packages containing small digital building blocks (e.g. a 1-bit adder).</a:t>
            </a:r>
          </a:p>
          <a:p>
            <a:pPr marL="422275" indent="-422275" defTabSz="554990">
              <a:spcBef>
                <a:spcPts val="3900"/>
              </a:spcBef>
              <a:defRPr sz="3040"/>
            </a:pPr>
            <a:r>
              <a:rPr lang="en-GB" noProof="0" dirty="0"/>
              <a:t>Thanks to De Morgan, we can build </a:t>
            </a:r>
            <a:r>
              <a:rPr lang="en-GB" i="1" noProof="0" dirty="0"/>
              <a:t>anything</a:t>
            </a:r>
            <a:r>
              <a:rPr lang="en-GB" noProof="0" dirty="0"/>
              <a:t> using 2-input NAND gates!</a:t>
            </a:r>
          </a:p>
          <a:p>
            <a:pPr marL="422275" indent="-422275" defTabSz="554990">
              <a:spcBef>
                <a:spcPts val="3900"/>
              </a:spcBef>
              <a:defRPr sz="3040"/>
            </a:pPr>
            <a:r>
              <a:rPr lang="en-GB" noProof="0" dirty="0"/>
              <a:t>But this is tedious, expensive, and prone to wiring errors.</a:t>
            </a:r>
          </a:p>
        </p:txBody>
      </p:sp>
      <p:sp>
        <p:nvSpPr>
          <p:cNvPr id="10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644250" y="31750"/>
            <a:ext cx="255564" cy="4064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 lang="en-GB" noProof="0"/>
              <a:t>12</a:t>
            </a:fld>
            <a:endParaRPr lang="en-GB" noProof="0" dirty="0"/>
          </a:p>
        </p:txBody>
      </p:sp>
      <p:pic>
        <p:nvPicPr>
          <p:cNvPr id="110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2074" y="5552016"/>
            <a:ext cx="5211629" cy="3465986"/>
          </a:xfrm>
          <a:prstGeom prst="rect">
            <a:avLst/>
          </a:prstGeom>
          <a:ln w="12700">
            <a:miter lim="400000"/>
          </a:ln>
        </p:spPr>
      </p:pic>
      <p:pic>
        <p:nvPicPr>
          <p:cNvPr id="111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7263" y="2750338"/>
            <a:ext cx="3659915" cy="194019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0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1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" grpId="1" build="p" bldLvl="5" animBg="1" advAuto="0"/>
      <p:bldP spid="110" grpId="3" animBg="1" advAuto="0"/>
      <p:bldP spid="111" grpId="2" animBg="1" advAuto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Early integrated circuit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554990">
              <a:defRPr sz="7600"/>
            </a:lvl1pPr>
          </a:lstStyle>
          <a:p>
            <a:r>
              <a:rPr lang="en-GB" noProof="0" dirty="0"/>
              <a:t>Early integrated circuits</a:t>
            </a:r>
          </a:p>
        </p:txBody>
      </p:sp>
      <p:sp>
        <p:nvSpPr>
          <p:cNvPr id="114" name="Rows of gates, connected to form application-specific integrated circuits (ASICs).…"/>
          <p:cNvSpPr txBox="1">
            <a:spLocks noGrp="1"/>
          </p:cNvSpPr>
          <p:nvPr>
            <p:ph type="body" sz="half" idx="1"/>
          </p:nvPr>
        </p:nvSpPr>
        <p:spPr>
          <a:xfrm>
            <a:off x="952500" y="2686050"/>
            <a:ext cx="4858643" cy="6286500"/>
          </a:xfrm>
          <a:prstGeom prst="rect">
            <a:avLst/>
          </a:prstGeom>
        </p:spPr>
        <p:txBody>
          <a:bodyPr/>
          <a:lstStyle/>
          <a:p>
            <a:pPr marL="408940" indent="-408940" defTabSz="537463">
              <a:spcBef>
                <a:spcPts val="3800"/>
              </a:spcBef>
              <a:defRPr sz="2944"/>
            </a:pPr>
            <a:r>
              <a:rPr lang="en-GB" noProof="0" dirty="0"/>
              <a:t>Rows of gates, connected to form </a:t>
            </a:r>
            <a:r>
              <a:rPr lang="en-GB" b="1" noProof="0" dirty="0"/>
              <a:t>application-specific integrated circuits</a:t>
            </a:r>
            <a:r>
              <a:rPr lang="en-GB" noProof="0" dirty="0"/>
              <a:t> (ASICs).</a:t>
            </a:r>
          </a:p>
          <a:p>
            <a:pPr marL="408940" indent="-408940" defTabSz="537463">
              <a:spcBef>
                <a:spcPts val="3800"/>
              </a:spcBef>
              <a:defRPr sz="2944"/>
            </a:pPr>
            <a:r>
              <a:rPr lang="en-GB" noProof="0" dirty="0"/>
              <a:t>Can be </a:t>
            </a:r>
            <a:r>
              <a:rPr lang="en-GB" b="1" noProof="0" dirty="0"/>
              <a:t>full-custom</a:t>
            </a:r>
            <a:r>
              <a:rPr lang="en-GB" noProof="0" dirty="0"/>
              <a:t> (fabricated from scratch), or </a:t>
            </a:r>
            <a:r>
              <a:rPr lang="en-GB" b="1" noProof="0" dirty="0"/>
              <a:t>semi-custom</a:t>
            </a:r>
            <a:r>
              <a:rPr lang="en-GB" noProof="0" dirty="0"/>
              <a:t> (can only adjust the wiring between rows).</a:t>
            </a:r>
          </a:p>
          <a:p>
            <a:pPr marL="408940" indent="-408940" defTabSz="537463">
              <a:spcBef>
                <a:spcPts val="3800"/>
              </a:spcBef>
              <a:defRPr sz="2944"/>
            </a:pPr>
            <a:r>
              <a:rPr lang="en-GB" noProof="0" dirty="0"/>
              <a:t>Functionality cannot be later changed.</a:t>
            </a:r>
          </a:p>
        </p:txBody>
      </p:sp>
      <p:sp>
        <p:nvSpPr>
          <p:cNvPr id="11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 lang="en-GB" noProof="0"/>
              <a:t>13</a:t>
            </a:fld>
            <a:endParaRPr lang="en-GB" noProof="0" dirty="0"/>
          </a:p>
        </p:txBody>
      </p:sp>
      <p:pic>
        <p:nvPicPr>
          <p:cNvPr id="116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5298" y="2647950"/>
            <a:ext cx="6799435" cy="581835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1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1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" grpId="1" build="p" bldLvl="5" animBg="1" advAuto="0"/>
      <p:bldP spid="116" grpId="2" animBg="1" advAuto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Full-custom IC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noProof="0" dirty="0"/>
              <a:t>Full-custom ICs</a:t>
            </a:r>
          </a:p>
        </p:txBody>
      </p:sp>
      <p:sp>
        <p:nvSpPr>
          <p:cNvPr id="119" name="Here is an Apple A12 processor from the iPhone XS. It has about 6.9 billion transistors.…"/>
          <p:cNvSpPr txBox="1">
            <a:spLocks noGrp="1"/>
          </p:cNvSpPr>
          <p:nvPr>
            <p:ph type="body" sz="quarter" idx="1"/>
          </p:nvPr>
        </p:nvSpPr>
        <p:spPr>
          <a:xfrm>
            <a:off x="952500" y="2686050"/>
            <a:ext cx="3434209" cy="6286500"/>
          </a:xfrm>
          <a:prstGeom prst="rect">
            <a:avLst/>
          </a:prstGeom>
        </p:spPr>
        <p:txBody>
          <a:bodyPr/>
          <a:lstStyle/>
          <a:p>
            <a:pPr marL="391159" indent="-391159" defTabSz="514095">
              <a:spcBef>
                <a:spcPts val="3600"/>
              </a:spcBef>
              <a:defRPr sz="2816"/>
            </a:pPr>
            <a:r>
              <a:rPr lang="en-GB" noProof="0" dirty="0"/>
              <a:t>Here is an </a:t>
            </a:r>
            <a:r>
              <a:rPr lang="en-GB" b="1" noProof="0" dirty="0"/>
              <a:t>Apple A12</a:t>
            </a:r>
            <a:r>
              <a:rPr lang="en-GB" noProof="0" dirty="0"/>
              <a:t> processor from the </a:t>
            </a:r>
            <a:r>
              <a:rPr lang="en-GB" b="1" noProof="0" dirty="0"/>
              <a:t>iPhone XS</a:t>
            </a:r>
            <a:r>
              <a:rPr lang="en-GB" noProof="0" dirty="0"/>
              <a:t>. It has about 6.9 billion transistors.</a:t>
            </a:r>
          </a:p>
          <a:p>
            <a:pPr marL="391159" indent="-391159" defTabSz="514095">
              <a:spcBef>
                <a:spcPts val="3600"/>
              </a:spcBef>
              <a:defRPr sz="2816"/>
            </a:pPr>
            <a:r>
              <a:rPr lang="en-GB" noProof="0" dirty="0"/>
              <a:t>Very expensive to design and manufacture, so not viable unless the market is very large.</a:t>
            </a:r>
          </a:p>
        </p:txBody>
      </p:sp>
      <p:sp>
        <p:nvSpPr>
          <p:cNvPr id="12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521715" y="31750"/>
            <a:ext cx="378099" cy="4064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 lang="en-GB" noProof="0"/>
              <a:t>14</a:t>
            </a:fld>
            <a:endParaRPr lang="en-GB" noProof="0" dirty="0"/>
          </a:p>
        </p:txBody>
      </p:sp>
      <p:grpSp>
        <p:nvGrpSpPr>
          <p:cNvPr id="126" name="Group"/>
          <p:cNvGrpSpPr/>
          <p:nvPr/>
        </p:nvGrpSpPr>
        <p:grpSpPr>
          <a:xfrm>
            <a:off x="5138337" y="2108199"/>
            <a:ext cx="7103434" cy="6908801"/>
            <a:chOff x="0" y="-6350"/>
            <a:chExt cx="7103433" cy="6908800"/>
          </a:xfrm>
        </p:grpSpPr>
        <p:pic>
          <p:nvPicPr>
            <p:cNvPr id="121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628765"/>
              <a:ext cx="7045056" cy="599417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22" name="https://www.techinsights.com/blog/apple-iphone-xs-max-teardown"/>
            <p:cNvSpPr txBox="1"/>
            <p:nvPr/>
          </p:nvSpPr>
          <p:spPr>
            <a:xfrm>
              <a:off x="2558892" y="6623050"/>
              <a:ext cx="4544542" cy="279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l" defTabSz="457200">
                <a:defRPr sz="1200"/>
              </a:lvl1pPr>
            </a:lstStyle>
            <a:p>
              <a:r>
                <a:rPr lang="en-GB" noProof="0" dirty="0"/>
                <a:t>https://</a:t>
              </a:r>
              <a:r>
                <a:rPr lang="en-GB" noProof="0" dirty="0" err="1"/>
                <a:t>www.techinsights.com</a:t>
              </a:r>
              <a:r>
                <a:rPr lang="en-GB" noProof="0" dirty="0"/>
                <a:t>/blog/apple-</a:t>
              </a:r>
              <a:r>
                <a:rPr lang="en-GB" noProof="0" dirty="0" err="1"/>
                <a:t>iphone</a:t>
              </a:r>
              <a:r>
                <a:rPr lang="en-GB" noProof="0" dirty="0"/>
                <a:t>-</a:t>
              </a:r>
              <a:r>
                <a:rPr lang="en-GB" noProof="0" dirty="0" err="1"/>
                <a:t>xs</a:t>
              </a:r>
              <a:r>
                <a:rPr lang="en-GB" noProof="0" dirty="0"/>
                <a:t>-max-teardown</a:t>
              </a:r>
            </a:p>
          </p:txBody>
        </p:sp>
        <p:sp>
          <p:nvSpPr>
            <p:cNvPr id="123" name="~9mm"/>
            <p:cNvSpPr txBox="1"/>
            <p:nvPr/>
          </p:nvSpPr>
          <p:spPr>
            <a:xfrm>
              <a:off x="2895167" y="-6351"/>
              <a:ext cx="1254721" cy="584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rPr lang="en-GB" noProof="0" dirty="0"/>
                <a:t>~9mm</a:t>
              </a:r>
            </a:p>
          </p:txBody>
        </p:sp>
        <p:sp>
          <p:nvSpPr>
            <p:cNvPr id="124" name="Line"/>
            <p:cNvSpPr/>
            <p:nvPr/>
          </p:nvSpPr>
          <p:spPr>
            <a:xfrm flipH="1" flipV="1">
              <a:off x="23815" y="321667"/>
              <a:ext cx="2930296" cy="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 lang="en-GB" noProof="0" dirty="0"/>
            </a:p>
          </p:txBody>
        </p:sp>
        <p:sp>
          <p:nvSpPr>
            <p:cNvPr id="125" name="Line"/>
            <p:cNvSpPr/>
            <p:nvPr/>
          </p:nvSpPr>
          <p:spPr>
            <a:xfrm>
              <a:off x="4090944" y="321667"/>
              <a:ext cx="2930296" cy="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 lang="en-GB" noProof="0" dirty="0"/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1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1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" grpId="1" build="p" bldLvl="5" animBg="1" advAuto="0"/>
      <p:bldP spid="126" grpId="2" animBg="1" advAuto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Field-programmable  gate arrays (FPGAs)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490727">
              <a:defRPr sz="6719"/>
            </a:pPr>
            <a:r>
              <a:rPr lang="en-GB" noProof="0" dirty="0"/>
              <a:t>Field-programmable </a:t>
            </a:r>
            <a:br>
              <a:rPr lang="en-GB" noProof="0" dirty="0"/>
            </a:br>
            <a:r>
              <a:rPr lang="en-GB" noProof="0" dirty="0"/>
              <a:t>gate arrays (FPGAs)</a:t>
            </a:r>
          </a:p>
        </p:txBody>
      </p:sp>
      <p:sp>
        <p:nvSpPr>
          <p:cNvPr id="129" name="Introduced by Xilinx (now part of AMD) in 1985.…"/>
          <p:cNvSpPr txBox="1">
            <a:spLocks noGrp="1"/>
          </p:cNvSpPr>
          <p:nvPr>
            <p:ph type="body" sz="half" idx="1"/>
          </p:nvPr>
        </p:nvSpPr>
        <p:spPr>
          <a:xfrm>
            <a:off x="952500" y="2686050"/>
            <a:ext cx="5258068" cy="6286500"/>
          </a:xfrm>
          <a:prstGeom prst="rect">
            <a:avLst/>
          </a:prstGeom>
        </p:spPr>
        <p:txBody>
          <a:bodyPr/>
          <a:lstStyle/>
          <a:p>
            <a:r>
              <a:rPr lang="en-GB" noProof="0" dirty="0"/>
              <a:t>Introduced by </a:t>
            </a:r>
            <a:r>
              <a:rPr lang="en-GB" b="1" noProof="0" dirty="0"/>
              <a:t>Xilinx</a:t>
            </a:r>
            <a:r>
              <a:rPr lang="en-GB" noProof="0" dirty="0"/>
              <a:t> (now part of </a:t>
            </a:r>
            <a:r>
              <a:rPr lang="en-GB" b="1" noProof="0" dirty="0"/>
              <a:t>AMD</a:t>
            </a:r>
            <a:r>
              <a:rPr lang="en-GB" noProof="0" dirty="0"/>
              <a:t>) in 1985.</a:t>
            </a:r>
          </a:p>
          <a:p>
            <a:r>
              <a:rPr lang="en-GB" noProof="0" dirty="0"/>
              <a:t>Other manufacturers include </a:t>
            </a:r>
            <a:r>
              <a:rPr lang="en-GB" b="1" noProof="0" dirty="0"/>
              <a:t>Altera</a:t>
            </a:r>
            <a:r>
              <a:rPr lang="en-GB" noProof="0" dirty="0"/>
              <a:t>, </a:t>
            </a:r>
            <a:r>
              <a:rPr lang="en-GB" b="1" noProof="0" dirty="0"/>
              <a:t>Microsemi</a:t>
            </a:r>
            <a:r>
              <a:rPr lang="en-GB" noProof="0" dirty="0"/>
              <a:t> (now part of </a:t>
            </a:r>
            <a:r>
              <a:rPr lang="en-GB" b="1" noProof="0" dirty="0"/>
              <a:t>Microchip</a:t>
            </a:r>
            <a:r>
              <a:rPr lang="en-GB" noProof="0" dirty="0"/>
              <a:t>), and </a:t>
            </a:r>
            <a:r>
              <a:rPr lang="en-GB" b="1" noProof="0" dirty="0"/>
              <a:t>Lattice</a:t>
            </a:r>
            <a:r>
              <a:rPr lang="en-GB" noProof="0" dirty="0"/>
              <a:t>.</a:t>
            </a:r>
          </a:p>
          <a:p>
            <a:r>
              <a:rPr lang="en-GB" noProof="0" dirty="0"/>
              <a:t>Arrays of programmable logic blocks, programmable wiring in between, and flexible I/O. </a:t>
            </a:r>
          </a:p>
        </p:txBody>
      </p:sp>
      <p:sp>
        <p:nvSpPr>
          <p:cNvPr id="13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 lang="en-GB" noProof="0"/>
              <a:t>15</a:t>
            </a:fld>
            <a:endParaRPr lang="en-GB" noProof="0" dirty="0"/>
          </a:p>
        </p:txBody>
      </p:sp>
      <p:grpSp>
        <p:nvGrpSpPr>
          <p:cNvPr id="239" name="Group"/>
          <p:cNvGrpSpPr/>
          <p:nvPr/>
        </p:nvGrpSpPr>
        <p:grpSpPr>
          <a:xfrm>
            <a:off x="6376650" y="2733893"/>
            <a:ext cx="6744329" cy="6124357"/>
            <a:chOff x="0" y="-6350"/>
            <a:chExt cx="6744327" cy="6124356"/>
          </a:xfrm>
        </p:grpSpPr>
        <p:grpSp>
          <p:nvGrpSpPr>
            <p:cNvPr id="135" name="Group"/>
            <p:cNvGrpSpPr/>
            <p:nvPr/>
          </p:nvGrpSpPr>
          <p:grpSpPr>
            <a:xfrm>
              <a:off x="670775" y="1072418"/>
              <a:ext cx="558062" cy="3756556"/>
              <a:chOff x="0" y="0"/>
              <a:chExt cx="558060" cy="3756555"/>
            </a:xfrm>
          </p:grpSpPr>
          <p:sp>
            <p:nvSpPr>
              <p:cNvPr id="131" name="Line"/>
              <p:cNvSpPr/>
              <p:nvPr/>
            </p:nvSpPr>
            <p:spPr>
              <a:xfrm flipV="1">
                <a:off x="-1" y="0"/>
                <a:ext cx="2" cy="3756556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 lang="en-GB" noProof="0" dirty="0"/>
              </a:p>
            </p:txBody>
          </p:sp>
          <p:sp>
            <p:nvSpPr>
              <p:cNvPr id="132" name="Line"/>
              <p:cNvSpPr/>
              <p:nvPr/>
            </p:nvSpPr>
            <p:spPr>
              <a:xfrm flipV="1">
                <a:off x="186020" y="0"/>
                <a:ext cx="1" cy="3756556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 lang="en-GB" noProof="0" dirty="0"/>
              </a:p>
            </p:txBody>
          </p:sp>
          <p:sp>
            <p:nvSpPr>
              <p:cNvPr id="133" name="Line"/>
              <p:cNvSpPr/>
              <p:nvPr/>
            </p:nvSpPr>
            <p:spPr>
              <a:xfrm flipV="1">
                <a:off x="372040" y="0"/>
                <a:ext cx="1" cy="3756556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 lang="en-GB" noProof="0" dirty="0"/>
              </a:p>
            </p:txBody>
          </p:sp>
          <p:sp>
            <p:nvSpPr>
              <p:cNvPr id="134" name="Line"/>
              <p:cNvSpPr/>
              <p:nvPr/>
            </p:nvSpPr>
            <p:spPr>
              <a:xfrm flipV="1">
                <a:off x="558060" y="0"/>
                <a:ext cx="1" cy="3756556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 lang="en-GB" noProof="0" dirty="0"/>
              </a:p>
            </p:txBody>
          </p:sp>
        </p:grpSp>
        <p:grpSp>
          <p:nvGrpSpPr>
            <p:cNvPr id="140" name="Group"/>
            <p:cNvGrpSpPr/>
            <p:nvPr/>
          </p:nvGrpSpPr>
          <p:grpSpPr>
            <a:xfrm>
              <a:off x="279229" y="3849773"/>
              <a:ext cx="5357239" cy="558061"/>
              <a:chOff x="0" y="0"/>
              <a:chExt cx="5357237" cy="558060"/>
            </a:xfrm>
          </p:grpSpPr>
          <p:sp>
            <p:nvSpPr>
              <p:cNvPr id="136" name="Line"/>
              <p:cNvSpPr/>
              <p:nvPr/>
            </p:nvSpPr>
            <p:spPr>
              <a:xfrm>
                <a:off x="0" y="0"/>
                <a:ext cx="5357238" cy="0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 lang="en-GB" noProof="0" dirty="0"/>
              </a:p>
            </p:txBody>
          </p:sp>
          <p:sp>
            <p:nvSpPr>
              <p:cNvPr id="137" name="Line"/>
              <p:cNvSpPr/>
              <p:nvPr/>
            </p:nvSpPr>
            <p:spPr>
              <a:xfrm>
                <a:off x="0" y="186020"/>
                <a:ext cx="5357238" cy="1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 lang="en-GB" noProof="0" dirty="0"/>
              </a:p>
            </p:txBody>
          </p:sp>
          <p:sp>
            <p:nvSpPr>
              <p:cNvPr id="138" name="Line"/>
              <p:cNvSpPr/>
              <p:nvPr/>
            </p:nvSpPr>
            <p:spPr>
              <a:xfrm>
                <a:off x="0" y="372040"/>
                <a:ext cx="5357238" cy="1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 lang="en-GB" noProof="0" dirty="0"/>
              </a:p>
            </p:txBody>
          </p:sp>
          <p:sp>
            <p:nvSpPr>
              <p:cNvPr id="139" name="Line"/>
              <p:cNvSpPr/>
              <p:nvPr/>
            </p:nvSpPr>
            <p:spPr>
              <a:xfrm>
                <a:off x="0" y="558060"/>
                <a:ext cx="5357238" cy="1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 lang="en-GB" noProof="0" dirty="0"/>
              </a:p>
            </p:txBody>
          </p:sp>
        </p:grpSp>
        <p:grpSp>
          <p:nvGrpSpPr>
            <p:cNvPr id="145" name="Group"/>
            <p:cNvGrpSpPr/>
            <p:nvPr/>
          </p:nvGrpSpPr>
          <p:grpSpPr>
            <a:xfrm>
              <a:off x="574461" y="3753459"/>
              <a:ext cx="750690" cy="750690"/>
              <a:chOff x="0" y="0"/>
              <a:chExt cx="750689" cy="750688"/>
            </a:xfrm>
          </p:grpSpPr>
          <p:sp>
            <p:nvSpPr>
              <p:cNvPr id="141" name="Circle"/>
              <p:cNvSpPr/>
              <p:nvPr/>
            </p:nvSpPr>
            <p:spPr>
              <a:xfrm>
                <a:off x="0" y="0"/>
                <a:ext cx="192629" cy="192629"/>
              </a:xfrm>
              <a:prstGeom prst="ellipse">
                <a:avLst/>
              </a:prstGeom>
              <a:solidFill>
                <a:srgbClr val="D2D0AD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 lang="en-GB" noProof="0" dirty="0"/>
              </a:p>
            </p:txBody>
          </p:sp>
          <p:sp>
            <p:nvSpPr>
              <p:cNvPr id="142" name="Circle"/>
              <p:cNvSpPr/>
              <p:nvPr/>
            </p:nvSpPr>
            <p:spPr>
              <a:xfrm>
                <a:off x="186020" y="181792"/>
                <a:ext cx="192629" cy="192630"/>
              </a:xfrm>
              <a:prstGeom prst="ellipse">
                <a:avLst/>
              </a:prstGeom>
              <a:solidFill>
                <a:srgbClr val="D2D0AD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 lang="en-GB" noProof="0" dirty="0"/>
              </a:p>
            </p:txBody>
          </p:sp>
          <p:sp>
            <p:nvSpPr>
              <p:cNvPr id="143" name="Circle"/>
              <p:cNvSpPr/>
              <p:nvPr/>
            </p:nvSpPr>
            <p:spPr>
              <a:xfrm>
                <a:off x="371607" y="372040"/>
                <a:ext cx="192630" cy="192629"/>
              </a:xfrm>
              <a:prstGeom prst="ellipse">
                <a:avLst/>
              </a:prstGeom>
              <a:solidFill>
                <a:srgbClr val="D2D0AD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 lang="en-GB" noProof="0" dirty="0"/>
              </a:p>
            </p:txBody>
          </p:sp>
          <p:sp>
            <p:nvSpPr>
              <p:cNvPr id="144" name="Circle"/>
              <p:cNvSpPr/>
              <p:nvPr/>
            </p:nvSpPr>
            <p:spPr>
              <a:xfrm>
                <a:off x="558060" y="558060"/>
                <a:ext cx="192630" cy="192629"/>
              </a:xfrm>
              <a:prstGeom prst="ellipse">
                <a:avLst/>
              </a:prstGeom>
              <a:solidFill>
                <a:srgbClr val="D2D0AD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 lang="en-GB" noProof="0" dirty="0"/>
              </a:p>
            </p:txBody>
          </p:sp>
        </p:grpSp>
        <p:grpSp>
          <p:nvGrpSpPr>
            <p:cNvPr id="150" name="Group"/>
            <p:cNvGrpSpPr/>
            <p:nvPr/>
          </p:nvGrpSpPr>
          <p:grpSpPr>
            <a:xfrm>
              <a:off x="2213662" y="1087803"/>
              <a:ext cx="558062" cy="3725785"/>
              <a:chOff x="0" y="0"/>
              <a:chExt cx="558060" cy="3725783"/>
            </a:xfrm>
          </p:grpSpPr>
          <p:sp>
            <p:nvSpPr>
              <p:cNvPr id="146" name="Line"/>
              <p:cNvSpPr/>
              <p:nvPr/>
            </p:nvSpPr>
            <p:spPr>
              <a:xfrm flipV="1">
                <a:off x="-1" y="-1"/>
                <a:ext cx="2" cy="3725785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 lang="en-GB" noProof="0" dirty="0"/>
              </a:p>
            </p:txBody>
          </p:sp>
          <p:sp>
            <p:nvSpPr>
              <p:cNvPr id="147" name="Line"/>
              <p:cNvSpPr/>
              <p:nvPr/>
            </p:nvSpPr>
            <p:spPr>
              <a:xfrm flipV="1">
                <a:off x="186020" y="-1"/>
                <a:ext cx="1" cy="3725785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 lang="en-GB" noProof="0" dirty="0"/>
              </a:p>
            </p:txBody>
          </p:sp>
          <p:sp>
            <p:nvSpPr>
              <p:cNvPr id="148" name="Line"/>
              <p:cNvSpPr/>
              <p:nvPr/>
            </p:nvSpPr>
            <p:spPr>
              <a:xfrm flipV="1">
                <a:off x="372040" y="-1"/>
                <a:ext cx="1" cy="3725785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 lang="en-GB" noProof="0" dirty="0"/>
              </a:p>
            </p:txBody>
          </p:sp>
          <p:sp>
            <p:nvSpPr>
              <p:cNvPr id="149" name="Line"/>
              <p:cNvSpPr/>
              <p:nvPr/>
            </p:nvSpPr>
            <p:spPr>
              <a:xfrm flipV="1">
                <a:off x="558060" y="-1"/>
                <a:ext cx="1" cy="3725785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 lang="en-GB" noProof="0" dirty="0"/>
              </a:p>
            </p:txBody>
          </p:sp>
        </p:grpSp>
        <p:grpSp>
          <p:nvGrpSpPr>
            <p:cNvPr id="155" name="Group"/>
            <p:cNvGrpSpPr/>
            <p:nvPr/>
          </p:nvGrpSpPr>
          <p:grpSpPr>
            <a:xfrm>
              <a:off x="250270" y="2136805"/>
              <a:ext cx="5415159" cy="558062"/>
              <a:chOff x="0" y="0"/>
              <a:chExt cx="5415158" cy="558061"/>
            </a:xfrm>
          </p:grpSpPr>
          <p:sp>
            <p:nvSpPr>
              <p:cNvPr id="151" name="Line"/>
              <p:cNvSpPr/>
              <p:nvPr/>
            </p:nvSpPr>
            <p:spPr>
              <a:xfrm>
                <a:off x="0" y="0"/>
                <a:ext cx="5415159" cy="0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 lang="en-GB" noProof="0" dirty="0"/>
              </a:p>
            </p:txBody>
          </p:sp>
          <p:sp>
            <p:nvSpPr>
              <p:cNvPr id="152" name="Line"/>
              <p:cNvSpPr/>
              <p:nvPr/>
            </p:nvSpPr>
            <p:spPr>
              <a:xfrm>
                <a:off x="0" y="186020"/>
                <a:ext cx="5415159" cy="1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 lang="en-GB" noProof="0" dirty="0"/>
              </a:p>
            </p:txBody>
          </p:sp>
          <p:sp>
            <p:nvSpPr>
              <p:cNvPr id="153" name="Line"/>
              <p:cNvSpPr/>
              <p:nvPr/>
            </p:nvSpPr>
            <p:spPr>
              <a:xfrm>
                <a:off x="0" y="372041"/>
                <a:ext cx="5415159" cy="1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 lang="en-GB" noProof="0" dirty="0"/>
              </a:p>
            </p:txBody>
          </p:sp>
          <p:sp>
            <p:nvSpPr>
              <p:cNvPr id="154" name="Line"/>
              <p:cNvSpPr/>
              <p:nvPr/>
            </p:nvSpPr>
            <p:spPr>
              <a:xfrm>
                <a:off x="0" y="558061"/>
                <a:ext cx="5415159" cy="1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 lang="en-GB" noProof="0" dirty="0"/>
              </a:p>
            </p:txBody>
          </p:sp>
        </p:grpSp>
        <p:grpSp>
          <p:nvGrpSpPr>
            <p:cNvPr id="160" name="Group"/>
            <p:cNvGrpSpPr/>
            <p:nvPr/>
          </p:nvGrpSpPr>
          <p:grpSpPr>
            <a:xfrm>
              <a:off x="2117347" y="2040490"/>
              <a:ext cx="750691" cy="750690"/>
              <a:chOff x="0" y="0"/>
              <a:chExt cx="750689" cy="750688"/>
            </a:xfrm>
          </p:grpSpPr>
          <p:sp>
            <p:nvSpPr>
              <p:cNvPr id="156" name="Circle"/>
              <p:cNvSpPr/>
              <p:nvPr/>
            </p:nvSpPr>
            <p:spPr>
              <a:xfrm>
                <a:off x="0" y="0"/>
                <a:ext cx="192629" cy="192629"/>
              </a:xfrm>
              <a:prstGeom prst="ellipse">
                <a:avLst/>
              </a:prstGeom>
              <a:solidFill>
                <a:srgbClr val="D2D0AD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 lang="en-GB" noProof="0" dirty="0"/>
              </a:p>
            </p:txBody>
          </p:sp>
          <p:sp>
            <p:nvSpPr>
              <p:cNvPr id="157" name="Circle"/>
              <p:cNvSpPr/>
              <p:nvPr/>
            </p:nvSpPr>
            <p:spPr>
              <a:xfrm>
                <a:off x="186020" y="181792"/>
                <a:ext cx="192629" cy="192630"/>
              </a:xfrm>
              <a:prstGeom prst="ellipse">
                <a:avLst/>
              </a:prstGeom>
              <a:solidFill>
                <a:srgbClr val="D2D0AD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 lang="en-GB" noProof="0" dirty="0"/>
              </a:p>
            </p:txBody>
          </p:sp>
          <p:sp>
            <p:nvSpPr>
              <p:cNvPr id="158" name="Circle"/>
              <p:cNvSpPr/>
              <p:nvPr/>
            </p:nvSpPr>
            <p:spPr>
              <a:xfrm>
                <a:off x="371608" y="372040"/>
                <a:ext cx="192629" cy="192629"/>
              </a:xfrm>
              <a:prstGeom prst="ellipse">
                <a:avLst/>
              </a:prstGeom>
              <a:solidFill>
                <a:srgbClr val="D2D0AD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 lang="en-GB" noProof="0" dirty="0"/>
              </a:p>
            </p:txBody>
          </p:sp>
          <p:sp>
            <p:nvSpPr>
              <p:cNvPr id="159" name="Circle"/>
              <p:cNvSpPr/>
              <p:nvPr/>
            </p:nvSpPr>
            <p:spPr>
              <a:xfrm>
                <a:off x="558060" y="558060"/>
                <a:ext cx="192630" cy="192629"/>
              </a:xfrm>
              <a:prstGeom prst="ellipse">
                <a:avLst/>
              </a:prstGeom>
              <a:solidFill>
                <a:srgbClr val="D2D0AD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 lang="en-GB" noProof="0" dirty="0"/>
              </a:p>
            </p:txBody>
          </p:sp>
        </p:grpSp>
        <p:grpSp>
          <p:nvGrpSpPr>
            <p:cNvPr id="165" name="Group"/>
            <p:cNvGrpSpPr/>
            <p:nvPr/>
          </p:nvGrpSpPr>
          <p:grpSpPr>
            <a:xfrm>
              <a:off x="3959736" y="1103189"/>
              <a:ext cx="558062" cy="3725785"/>
              <a:chOff x="0" y="0"/>
              <a:chExt cx="558060" cy="3725783"/>
            </a:xfrm>
          </p:grpSpPr>
          <p:sp>
            <p:nvSpPr>
              <p:cNvPr id="161" name="Line"/>
              <p:cNvSpPr/>
              <p:nvPr/>
            </p:nvSpPr>
            <p:spPr>
              <a:xfrm flipV="1">
                <a:off x="-1" y="-1"/>
                <a:ext cx="2" cy="3725785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 lang="en-GB" noProof="0" dirty="0"/>
              </a:p>
            </p:txBody>
          </p:sp>
          <p:sp>
            <p:nvSpPr>
              <p:cNvPr id="162" name="Line"/>
              <p:cNvSpPr/>
              <p:nvPr/>
            </p:nvSpPr>
            <p:spPr>
              <a:xfrm flipV="1">
                <a:off x="186020" y="-1"/>
                <a:ext cx="1" cy="3725785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 lang="en-GB" noProof="0" dirty="0"/>
              </a:p>
            </p:txBody>
          </p:sp>
          <p:sp>
            <p:nvSpPr>
              <p:cNvPr id="163" name="Line"/>
              <p:cNvSpPr/>
              <p:nvPr/>
            </p:nvSpPr>
            <p:spPr>
              <a:xfrm flipV="1">
                <a:off x="372040" y="-1"/>
                <a:ext cx="1" cy="3725785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 lang="en-GB" noProof="0" dirty="0"/>
              </a:p>
            </p:txBody>
          </p:sp>
          <p:sp>
            <p:nvSpPr>
              <p:cNvPr id="164" name="Line"/>
              <p:cNvSpPr/>
              <p:nvPr/>
            </p:nvSpPr>
            <p:spPr>
              <a:xfrm flipV="1">
                <a:off x="558060" y="-1"/>
                <a:ext cx="1" cy="3725785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 lang="en-GB" noProof="0" dirty="0"/>
              </a:p>
            </p:txBody>
          </p:sp>
        </p:grpSp>
        <p:grpSp>
          <p:nvGrpSpPr>
            <p:cNvPr id="170" name="Group"/>
            <p:cNvGrpSpPr/>
            <p:nvPr/>
          </p:nvGrpSpPr>
          <p:grpSpPr>
            <a:xfrm>
              <a:off x="3863422" y="3753459"/>
              <a:ext cx="750690" cy="750690"/>
              <a:chOff x="0" y="0"/>
              <a:chExt cx="750688" cy="750688"/>
            </a:xfrm>
          </p:grpSpPr>
          <p:sp>
            <p:nvSpPr>
              <p:cNvPr id="166" name="Circle"/>
              <p:cNvSpPr/>
              <p:nvPr/>
            </p:nvSpPr>
            <p:spPr>
              <a:xfrm>
                <a:off x="0" y="0"/>
                <a:ext cx="192629" cy="192629"/>
              </a:xfrm>
              <a:prstGeom prst="ellipse">
                <a:avLst/>
              </a:prstGeom>
              <a:solidFill>
                <a:srgbClr val="D2D0AD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 lang="en-GB" noProof="0" dirty="0"/>
              </a:p>
            </p:txBody>
          </p:sp>
          <p:sp>
            <p:nvSpPr>
              <p:cNvPr id="167" name="Circle"/>
              <p:cNvSpPr/>
              <p:nvPr/>
            </p:nvSpPr>
            <p:spPr>
              <a:xfrm>
                <a:off x="186020" y="181792"/>
                <a:ext cx="192629" cy="192630"/>
              </a:xfrm>
              <a:prstGeom prst="ellipse">
                <a:avLst/>
              </a:prstGeom>
              <a:solidFill>
                <a:srgbClr val="D2D0AD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 lang="en-GB" noProof="0" dirty="0"/>
              </a:p>
            </p:txBody>
          </p:sp>
          <p:sp>
            <p:nvSpPr>
              <p:cNvPr id="168" name="Circle"/>
              <p:cNvSpPr/>
              <p:nvPr/>
            </p:nvSpPr>
            <p:spPr>
              <a:xfrm>
                <a:off x="371608" y="372040"/>
                <a:ext cx="192629" cy="192629"/>
              </a:xfrm>
              <a:prstGeom prst="ellipse">
                <a:avLst/>
              </a:prstGeom>
              <a:solidFill>
                <a:srgbClr val="D2D0AD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 lang="en-GB" noProof="0" dirty="0"/>
              </a:p>
            </p:txBody>
          </p:sp>
          <p:sp>
            <p:nvSpPr>
              <p:cNvPr id="169" name="Circle"/>
              <p:cNvSpPr/>
              <p:nvPr/>
            </p:nvSpPr>
            <p:spPr>
              <a:xfrm>
                <a:off x="558060" y="558060"/>
                <a:ext cx="192629" cy="192629"/>
              </a:xfrm>
              <a:prstGeom prst="ellipse">
                <a:avLst/>
              </a:prstGeom>
              <a:solidFill>
                <a:srgbClr val="D2D0AD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 lang="en-GB" noProof="0" dirty="0"/>
              </a:p>
            </p:txBody>
          </p:sp>
        </p:grpSp>
        <p:grpSp>
          <p:nvGrpSpPr>
            <p:cNvPr id="175" name="Group"/>
            <p:cNvGrpSpPr/>
            <p:nvPr/>
          </p:nvGrpSpPr>
          <p:grpSpPr>
            <a:xfrm>
              <a:off x="3863421" y="2040490"/>
              <a:ext cx="750690" cy="750690"/>
              <a:chOff x="0" y="0"/>
              <a:chExt cx="750688" cy="750688"/>
            </a:xfrm>
          </p:grpSpPr>
          <p:sp>
            <p:nvSpPr>
              <p:cNvPr id="171" name="Circle"/>
              <p:cNvSpPr/>
              <p:nvPr/>
            </p:nvSpPr>
            <p:spPr>
              <a:xfrm>
                <a:off x="0" y="0"/>
                <a:ext cx="192629" cy="192629"/>
              </a:xfrm>
              <a:prstGeom prst="ellipse">
                <a:avLst/>
              </a:prstGeom>
              <a:solidFill>
                <a:srgbClr val="D2D0AD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 lang="en-GB" noProof="0" dirty="0"/>
              </a:p>
            </p:txBody>
          </p:sp>
          <p:sp>
            <p:nvSpPr>
              <p:cNvPr id="172" name="Circle"/>
              <p:cNvSpPr/>
              <p:nvPr/>
            </p:nvSpPr>
            <p:spPr>
              <a:xfrm>
                <a:off x="186020" y="181792"/>
                <a:ext cx="192629" cy="192630"/>
              </a:xfrm>
              <a:prstGeom prst="ellipse">
                <a:avLst/>
              </a:prstGeom>
              <a:solidFill>
                <a:srgbClr val="D2D0AD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 lang="en-GB" noProof="0" dirty="0"/>
              </a:p>
            </p:txBody>
          </p:sp>
          <p:sp>
            <p:nvSpPr>
              <p:cNvPr id="173" name="Circle"/>
              <p:cNvSpPr/>
              <p:nvPr/>
            </p:nvSpPr>
            <p:spPr>
              <a:xfrm>
                <a:off x="371608" y="372040"/>
                <a:ext cx="192629" cy="192629"/>
              </a:xfrm>
              <a:prstGeom prst="ellipse">
                <a:avLst/>
              </a:prstGeom>
              <a:solidFill>
                <a:srgbClr val="D2D0AD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 lang="en-GB" noProof="0" dirty="0"/>
              </a:p>
            </p:txBody>
          </p:sp>
          <p:sp>
            <p:nvSpPr>
              <p:cNvPr id="174" name="Circle"/>
              <p:cNvSpPr/>
              <p:nvPr/>
            </p:nvSpPr>
            <p:spPr>
              <a:xfrm>
                <a:off x="558060" y="558060"/>
                <a:ext cx="192629" cy="192629"/>
              </a:xfrm>
              <a:prstGeom prst="ellipse">
                <a:avLst/>
              </a:prstGeom>
              <a:solidFill>
                <a:srgbClr val="D2D0AD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 lang="en-GB" noProof="0" dirty="0"/>
              </a:p>
            </p:txBody>
          </p:sp>
        </p:grpSp>
        <p:grpSp>
          <p:nvGrpSpPr>
            <p:cNvPr id="180" name="Group"/>
            <p:cNvGrpSpPr/>
            <p:nvPr/>
          </p:nvGrpSpPr>
          <p:grpSpPr>
            <a:xfrm>
              <a:off x="2117348" y="3753459"/>
              <a:ext cx="750690" cy="750690"/>
              <a:chOff x="0" y="0"/>
              <a:chExt cx="750688" cy="750688"/>
            </a:xfrm>
          </p:grpSpPr>
          <p:sp>
            <p:nvSpPr>
              <p:cNvPr id="176" name="Circle"/>
              <p:cNvSpPr/>
              <p:nvPr/>
            </p:nvSpPr>
            <p:spPr>
              <a:xfrm>
                <a:off x="0" y="0"/>
                <a:ext cx="192629" cy="192629"/>
              </a:xfrm>
              <a:prstGeom prst="ellipse">
                <a:avLst/>
              </a:prstGeom>
              <a:solidFill>
                <a:srgbClr val="D2D0AD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 lang="en-GB" noProof="0" dirty="0"/>
              </a:p>
            </p:txBody>
          </p:sp>
          <p:sp>
            <p:nvSpPr>
              <p:cNvPr id="177" name="Circle"/>
              <p:cNvSpPr/>
              <p:nvPr/>
            </p:nvSpPr>
            <p:spPr>
              <a:xfrm>
                <a:off x="186020" y="181792"/>
                <a:ext cx="192629" cy="192630"/>
              </a:xfrm>
              <a:prstGeom prst="ellipse">
                <a:avLst/>
              </a:prstGeom>
              <a:solidFill>
                <a:srgbClr val="D2D0AD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 lang="en-GB" noProof="0" dirty="0"/>
              </a:p>
            </p:txBody>
          </p:sp>
          <p:sp>
            <p:nvSpPr>
              <p:cNvPr id="178" name="Circle"/>
              <p:cNvSpPr/>
              <p:nvPr/>
            </p:nvSpPr>
            <p:spPr>
              <a:xfrm>
                <a:off x="371608" y="372040"/>
                <a:ext cx="192629" cy="192629"/>
              </a:xfrm>
              <a:prstGeom prst="ellipse">
                <a:avLst/>
              </a:prstGeom>
              <a:solidFill>
                <a:srgbClr val="D2D0AD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 lang="en-GB" noProof="0" dirty="0"/>
              </a:p>
            </p:txBody>
          </p:sp>
          <p:sp>
            <p:nvSpPr>
              <p:cNvPr id="179" name="Circle"/>
              <p:cNvSpPr/>
              <p:nvPr/>
            </p:nvSpPr>
            <p:spPr>
              <a:xfrm>
                <a:off x="558060" y="558060"/>
                <a:ext cx="192629" cy="192629"/>
              </a:xfrm>
              <a:prstGeom prst="ellipse">
                <a:avLst/>
              </a:prstGeom>
              <a:solidFill>
                <a:srgbClr val="D2D0AD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 lang="en-GB" noProof="0" dirty="0"/>
              </a:p>
            </p:txBody>
          </p:sp>
        </p:grpSp>
        <p:grpSp>
          <p:nvGrpSpPr>
            <p:cNvPr id="185" name="Group"/>
            <p:cNvGrpSpPr/>
            <p:nvPr/>
          </p:nvGrpSpPr>
          <p:grpSpPr>
            <a:xfrm>
              <a:off x="574461" y="2040490"/>
              <a:ext cx="750690" cy="750690"/>
              <a:chOff x="0" y="0"/>
              <a:chExt cx="750688" cy="750688"/>
            </a:xfrm>
          </p:grpSpPr>
          <p:sp>
            <p:nvSpPr>
              <p:cNvPr id="181" name="Circle"/>
              <p:cNvSpPr/>
              <p:nvPr/>
            </p:nvSpPr>
            <p:spPr>
              <a:xfrm>
                <a:off x="0" y="0"/>
                <a:ext cx="192629" cy="192629"/>
              </a:xfrm>
              <a:prstGeom prst="ellipse">
                <a:avLst/>
              </a:prstGeom>
              <a:solidFill>
                <a:srgbClr val="D2D0AD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 lang="en-GB" noProof="0" dirty="0"/>
              </a:p>
            </p:txBody>
          </p:sp>
          <p:sp>
            <p:nvSpPr>
              <p:cNvPr id="182" name="Circle"/>
              <p:cNvSpPr/>
              <p:nvPr/>
            </p:nvSpPr>
            <p:spPr>
              <a:xfrm>
                <a:off x="186020" y="181792"/>
                <a:ext cx="192629" cy="192630"/>
              </a:xfrm>
              <a:prstGeom prst="ellipse">
                <a:avLst/>
              </a:prstGeom>
              <a:solidFill>
                <a:srgbClr val="D2D0AD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 lang="en-GB" noProof="0" dirty="0"/>
              </a:p>
            </p:txBody>
          </p:sp>
          <p:sp>
            <p:nvSpPr>
              <p:cNvPr id="183" name="Circle"/>
              <p:cNvSpPr/>
              <p:nvPr/>
            </p:nvSpPr>
            <p:spPr>
              <a:xfrm>
                <a:off x="371608" y="372040"/>
                <a:ext cx="192629" cy="192629"/>
              </a:xfrm>
              <a:prstGeom prst="ellipse">
                <a:avLst/>
              </a:prstGeom>
              <a:solidFill>
                <a:srgbClr val="D2D0AD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 lang="en-GB" noProof="0" dirty="0"/>
              </a:p>
            </p:txBody>
          </p:sp>
          <p:sp>
            <p:nvSpPr>
              <p:cNvPr id="184" name="Circle"/>
              <p:cNvSpPr/>
              <p:nvPr/>
            </p:nvSpPr>
            <p:spPr>
              <a:xfrm>
                <a:off x="558060" y="558060"/>
                <a:ext cx="192629" cy="192629"/>
              </a:xfrm>
              <a:prstGeom prst="ellipse">
                <a:avLst/>
              </a:prstGeom>
              <a:solidFill>
                <a:srgbClr val="D2D0AD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 lang="en-GB" noProof="0" dirty="0"/>
              </a:p>
            </p:txBody>
          </p:sp>
        </p:grpSp>
        <p:grpSp>
          <p:nvGrpSpPr>
            <p:cNvPr id="191" name="Group"/>
            <p:cNvGrpSpPr/>
            <p:nvPr/>
          </p:nvGrpSpPr>
          <p:grpSpPr>
            <a:xfrm rot="16200000">
              <a:off x="1102447" y="3875611"/>
              <a:ext cx="1031953" cy="192629"/>
              <a:chOff x="0" y="0"/>
              <a:chExt cx="1031952" cy="192628"/>
            </a:xfrm>
          </p:grpSpPr>
          <p:sp>
            <p:nvSpPr>
              <p:cNvPr id="186" name="Line"/>
              <p:cNvSpPr/>
              <p:nvPr/>
            </p:nvSpPr>
            <p:spPr>
              <a:xfrm>
                <a:off x="93176" y="96314"/>
                <a:ext cx="938777" cy="1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 lang="en-GB" noProof="0" dirty="0"/>
              </a:p>
            </p:txBody>
          </p:sp>
          <p:sp>
            <p:nvSpPr>
              <p:cNvPr id="187" name="Circle"/>
              <p:cNvSpPr/>
              <p:nvPr/>
            </p:nvSpPr>
            <p:spPr>
              <a:xfrm>
                <a:off x="0" y="0"/>
                <a:ext cx="192629" cy="192629"/>
              </a:xfrm>
              <a:prstGeom prst="ellipse">
                <a:avLst/>
              </a:prstGeom>
              <a:solidFill>
                <a:srgbClr val="D2D0AD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 lang="en-GB" noProof="0" dirty="0"/>
              </a:p>
            </p:txBody>
          </p:sp>
          <p:sp>
            <p:nvSpPr>
              <p:cNvPr id="188" name="Circle"/>
              <p:cNvSpPr/>
              <p:nvPr/>
            </p:nvSpPr>
            <p:spPr>
              <a:xfrm>
                <a:off x="182230" y="0"/>
                <a:ext cx="192630" cy="192629"/>
              </a:xfrm>
              <a:prstGeom prst="ellipse">
                <a:avLst/>
              </a:prstGeom>
              <a:solidFill>
                <a:srgbClr val="D2D0AD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 lang="en-GB" noProof="0" dirty="0"/>
              </a:p>
            </p:txBody>
          </p:sp>
          <p:sp>
            <p:nvSpPr>
              <p:cNvPr id="189" name="Circle"/>
              <p:cNvSpPr/>
              <p:nvPr/>
            </p:nvSpPr>
            <p:spPr>
              <a:xfrm>
                <a:off x="372300" y="0"/>
                <a:ext cx="192630" cy="192629"/>
              </a:xfrm>
              <a:prstGeom prst="ellipse">
                <a:avLst/>
              </a:prstGeom>
              <a:solidFill>
                <a:srgbClr val="D2D0AD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 lang="en-GB" noProof="0" dirty="0"/>
              </a:p>
            </p:txBody>
          </p:sp>
          <p:sp>
            <p:nvSpPr>
              <p:cNvPr id="190" name="Circle"/>
              <p:cNvSpPr/>
              <p:nvPr/>
            </p:nvSpPr>
            <p:spPr>
              <a:xfrm>
                <a:off x="544140" y="0"/>
                <a:ext cx="192629" cy="192629"/>
              </a:xfrm>
              <a:prstGeom prst="ellipse">
                <a:avLst/>
              </a:prstGeom>
              <a:solidFill>
                <a:srgbClr val="D2D0AD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 lang="en-GB" noProof="0" dirty="0"/>
              </a:p>
            </p:txBody>
          </p:sp>
        </p:grpSp>
        <p:grpSp>
          <p:nvGrpSpPr>
            <p:cNvPr id="197" name="Group"/>
            <p:cNvGrpSpPr/>
            <p:nvPr/>
          </p:nvGrpSpPr>
          <p:grpSpPr>
            <a:xfrm rot="16200000">
              <a:off x="2760931" y="3875611"/>
              <a:ext cx="1031953" cy="192629"/>
              <a:chOff x="0" y="0"/>
              <a:chExt cx="1031952" cy="192628"/>
            </a:xfrm>
          </p:grpSpPr>
          <p:sp>
            <p:nvSpPr>
              <p:cNvPr id="192" name="Line"/>
              <p:cNvSpPr/>
              <p:nvPr/>
            </p:nvSpPr>
            <p:spPr>
              <a:xfrm>
                <a:off x="93176" y="96314"/>
                <a:ext cx="938777" cy="1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 lang="en-GB" noProof="0" dirty="0"/>
              </a:p>
            </p:txBody>
          </p:sp>
          <p:sp>
            <p:nvSpPr>
              <p:cNvPr id="193" name="Circle"/>
              <p:cNvSpPr/>
              <p:nvPr/>
            </p:nvSpPr>
            <p:spPr>
              <a:xfrm>
                <a:off x="0" y="0"/>
                <a:ext cx="192629" cy="192629"/>
              </a:xfrm>
              <a:prstGeom prst="ellipse">
                <a:avLst/>
              </a:prstGeom>
              <a:solidFill>
                <a:srgbClr val="D2D0AD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 lang="en-GB" noProof="0" dirty="0"/>
              </a:p>
            </p:txBody>
          </p:sp>
          <p:sp>
            <p:nvSpPr>
              <p:cNvPr id="194" name="Circle"/>
              <p:cNvSpPr/>
              <p:nvPr/>
            </p:nvSpPr>
            <p:spPr>
              <a:xfrm>
                <a:off x="182230" y="0"/>
                <a:ext cx="192630" cy="192629"/>
              </a:xfrm>
              <a:prstGeom prst="ellipse">
                <a:avLst/>
              </a:prstGeom>
              <a:solidFill>
                <a:srgbClr val="D2D0AD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 lang="en-GB" noProof="0" dirty="0"/>
              </a:p>
            </p:txBody>
          </p:sp>
          <p:sp>
            <p:nvSpPr>
              <p:cNvPr id="195" name="Circle"/>
              <p:cNvSpPr/>
              <p:nvPr/>
            </p:nvSpPr>
            <p:spPr>
              <a:xfrm>
                <a:off x="372300" y="0"/>
                <a:ext cx="192630" cy="192629"/>
              </a:xfrm>
              <a:prstGeom prst="ellipse">
                <a:avLst/>
              </a:prstGeom>
              <a:solidFill>
                <a:srgbClr val="D2D0AD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 lang="en-GB" noProof="0" dirty="0"/>
              </a:p>
            </p:txBody>
          </p:sp>
          <p:sp>
            <p:nvSpPr>
              <p:cNvPr id="196" name="Circle"/>
              <p:cNvSpPr/>
              <p:nvPr/>
            </p:nvSpPr>
            <p:spPr>
              <a:xfrm>
                <a:off x="544140" y="0"/>
                <a:ext cx="192629" cy="192629"/>
              </a:xfrm>
              <a:prstGeom prst="ellipse">
                <a:avLst/>
              </a:prstGeom>
              <a:solidFill>
                <a:srgbClr val="D2D0AD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 lang="en-GB" noProof="0" dirty="0"/>
              </a:p>
            </p:txBody>
          </p:sp>
        </p:grpSp>
        <p:grpSp>
          <p:nvGrpSpPr>
            <p:cNvPr id="203" name="Group"/>
            <p:cNvGrpSpPr/>
            <p:nvPr/>
          </p:nvGrpSpPr>
          <p:grpSpPr>
            <a:xfrm rot="16200000">
              <a:off x="4501952" y="3875611"/>
              <a:ext cx="1031953" cy="192629"/>
              <a:chOff x="0" y="0"/>
              <a:chExt cx="1031952" cy="192628"/>
            </a:xfrm>
          </p:grpSpPr>
          <p:sp>
            <p:nvSpPr>
              <p:cNvPr id="198" name="Line"/>
              <p:cNvSpPr/>
              <p:nvPr/>
            </p:nvSpPr>
            <p:spPr>
              <a:xfrm>
                <a:off x="93176" y="96314"/>
                <a:ext cx="938777" cy="1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 lang="en-GB" noProof="0" dirty="0"/>
              </a:p>
            </p:txBody>
          </p:sp>
          <p:sp>
            <p:nvSpPr>
              <p:cNvPr id="199" name="Circle"/>
              <p:cNvSpPr/>
              <p:nvPr/>
            </p:nvSpPr>
            <p:spPr>
              <a:xfrm>
                <a:off x="0" y="0"/>
                <a:ext cx="192629" cy="192629"/>
              </a:xfrm>
              <a:prstGeom prst="ellipse">
                <a:avLst/>
              </a:prstGeom>
              <a:solidFill>
                <a:srgbClr val="D2D0AD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 lang="en-GB" noProof="0" dirty="0"/>
              </a:p>
            </p:txBody>
          </p:sp>
          <p:sp>
            <p:nvSpPr>
              <p:cNvPr id="200" name="Circle"/>
              <p:cNvSpPr/>
              <p:nvPr/>
            </p:nvSpPr>
            <p:spPr>
              <a:xfrm>
                <a:off x="182230" y="0"/>
                <a:ext cx="192630" cy="192629"/>
              </a:xfrm>
              <a:prstGeom prst="ellipse">
                <a:avLst/>
              </a:prstGeom>
              <a:solidFill>
                <a:srgbClr val="D2D0AD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 lang="en-GB" noProof="0" dirty="0"/>
              </a:p>
            </p:txBody>
          </p:sp>
          <p:sp>
            <p:nvSpPr>
              <p:cNvPr id="201" name="Circle"/>
              <p:cNvSpPr/>
              <p:nvPr/>
            </p:nvSpPr>
            <p:spPr>
              <a:xfrm>
                <a:off x="372300" y="0"/>
                <a:ext cx="192630" cy="192629"/>
              </a:xfrm>
              <a:prstGeom prst="ellipse">
                <a:avLst/>
              </a:prstGeom>
              <a:solidFill>
                <a:srgbClr val="D2D0AD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 lang="en-GB" noProof="0" dirty="0"/>
              </a:p>
            </p:txBody>
          </p:sp>
          <p:sp>
            <p:nvSpPr>
              <p:cNvPr id="202" name="Circle"/>
              <p:cNvSpPr/>
              <p:nvPr/>
            </p:nvSpPr>
            <p:spPr>
              <a:xfrm>
                <a:off x="544140" y="0"/>
                <a:ext cx="192629" cy="192629"/>
              </a:xfrm>
              <a:prstGeom prst="ellipse">
                <a:avLst/>
              </a:prstGeom>
              <a:solidFill>
                <a:srgbClr val="D2D0AD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 lang="en-GB" noProof="0" dirty="0"/>
              </a:p>
            </p:txBody>
          </p:sp>
        </p:grpSp>
        <p:grpSp>
          <p:nvGrpSpPr>
            <p:cNvPr id="209" name="Group"/>
            <p:cNvGrpSpPr/>
            <p:nvPr/>
          </p:nvGrpSpPr>
          <p:grpSpPr>
            <a:xfrm rot="16200000">
              <a:off x="1111171" y="2171004"/>
              <a:ext cx="1031953" cy="192630"/>
              <a:chOff x="0" y="0"/>
              <a:chExt cx="1031952" cy="192628"/>
            </a:xfrm>
          </p:grpSpPr>
          <p:sp>
            <p:nvSpPr>
              <p:cNvPr id="204" name="Line"/>
              <p:cNvSpPr/>
              <p:nvPr/>
            </p:nvSpPr>
            <p:spPr>
              <a:xfrm>
                <a:off x="93176" y="96314"/>
                <a:ext cx="938777" cy="1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 lang="en-GB" noProof="0" dirty="0"/>
              </a:p>
            </p:txBody>
          </p:sp>
          <p:sp>
            <p:nvSpPr>
              <p:cNvPr id="205" name="Circle"/>
              <p:cNvSpPr/>
              <p:nvPr/>
            </p:nvSpPr>
            <p:spPr>
              <a:xfrm>
                <a:off x="0" y="0"/>
                <a:ext cx="192629" cy="192629"/>
              </a:xfrm>
              <a:prstGeom prst="ellipse">
                <a:avLst/>
              </a:prstGeom>
              <a:solidFill>
                <a:srgbClr val="D2D0AD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 lang="en-GB" noProof="0" dirty="0"/>
              </a:p>
            </p:txBody>
          </p:sp>
          <p:sp>
            <p:nvSpPr>
              <p:cNvPr id="206" name="Circle"/>
              <p:cNvSpPr/>
              <p:nvPr/>
            </p:nvSpPr>
            <p:spPr>
              <a:xfrm>
                <a:off x="182230" y="0"/>
                <a:ext cx="192630" cy="192629"/>
              </a:xfrm>
              <a:prstGeom prst="ellipse">
                <a:avLst/>
              </a:prstGeom>
              <a:solidFill>
                <a:srgbClr val="D2D0AD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 lang="en-GB" noProof="0" dirty="0"/>
              </a:p>
            </p:txBody>
          </p:sp>
          <p:sp>
            <p:nvSpPr>
              <p:cNvPr id="207" name="Circle"/>
              <p:cNvSpPr/>
              <p:nvPr/>
            </p:nvSpPr>
            <p:spPr>
              <a:xfrm>
                <a:off x="372300" y="0"/>
                <a:ext cx="192630" cy="192629"/>
              </a:xfrm>
              <a:prstGeom prst="ellipse">
                <a:avLst/>
              </a:prstGeom>
              <a:solidFill>
                <a:srgbClr val="D2D0AD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 lang="en-GB" noProof="0" dirty="0"/>
              </a:p>
            </p:txBody>
          </p:sp>
          <p:sp>
            <p:nvSpPr>
              <p:cNvPr id="208" name="Circle"/>
              <p:cNvSpPr/>
              <p:nvPr/>
            </p:nvSpPr>
            <p:spPr>
              <a:xfrm>
                <a:off x="544140" y="0"/>
                <a:ext cx="192629" cy="192629"/>
              </a:xfrm>
              <a:prstGeom prst="ellipse">
                <a:avLst/>
              </a:prstGeom>
              <a:solidFill>
                <a:srgbClr val="D2D0AD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 lang="en-GB" noProof="0" dirty="0"/>
              </a:p>
            </p:txBody>
          </p:sp>
        </p:grpSp>
        <p:grpSp>
          <p:nvGrpSpPr>
            <p:cNvPr id="215" name="Group"/>
            <p:cNvGrpSpPr/>
            <p:nvPr/>
          </p:nvGrpSpPr>
          <p:grpSpPr>
            <a:xfrm rot="16200000">
              <a:off x="2745948" y="2178890"/>
              <a:ext cx="1031953" cy="192629"/>
              <a:chOff x="0" y="0"/>
              <a:chExt cx="1031952" cy="192628"/>
            </a:xfrm>
          </p:grpSpPr>
          <p:sp>
            <p:nvSpPr>
              <p:cNvPr id="210" name="Line"/>
              <p:cNvSpPr/>
              <p:nvPr/>
            </p:nvSpPr>
            <p:spPr>
              <a:xfrm>
                <a:off x="93176" y="96314"/>
                <a:ext cx="938777" cy="1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 lang="en-GB" noProof="0" dirty="0"/>
              </a:p>
            </p:txBody>
          </p:sp>
          <p:sp>
            <p:nvSpPr>
              <p:cNvPr id="211" name="Circle"/>
              <p:cNvSpPr/>
              <p:nvPr/>
            </p:nvSpPr>
            <p:spPr>
              <a:xfrm>
                <a:off x="0" y="0"/>
                <a:ext cx="192629" cy="192629"/>
              </a:xfrm>
              <a:prstGeom prst="ellipse">
                <a:avLst/>
              </a:prstGeom>
              <a:solidFill>
                <a:srgbClr val="D2D0AD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 lang="en-GB" noProof="0" dirty="0"/>
              </a:p>
            </p:txBody>
          </p:sp>
          <p:sp>
            <p:nvSpPr>
              <p:cNvPr id="212" name="Circle"/>
              <p:cNvSpPr/>
              <p:nvPr/>
            </p:nvSpPr>
            <p:spPr>
              <a:xfrm>
                <a:off x="182230" y="0"/>
                <a:ext cx="192630" cy="192629"/>
              </a:xfrm>
              <a:prstGeom prst="ellipse">
                <a:avLst/>
              </a:prstGeom>
              <a:solidFill>
                <a:srgbClr val="D2D0AD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 lang="en-GB" noProof="0" dirty="0"/>
              </a:p>
            </p:txBody>
          </p:sp>
          <p:sp>
            <p:nvSpPr>
              <p:cNvPr id="213" name="Circle"/>
              <p:cNvSpPr/>
              <p:nvPr/>
            </p:nvSpPr>
            <p:spPr>
              <a:xfrm>
                <a:off x="372300" y="0"/>
                <a:ext cx="192630" cy="192629"/>
              </a:xfrm>
              <a:prstGeom prst="ellipse">
                <a:avLst/>
              </a:prstGeom>
              <a:solidFill>
                <a:srgbClr val="D2D0AD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 lang="en-GB" noProof="0" dirty="0"/>
              </a:p>
            </p:txBody>
          </p:sp>
          <p:sp>
            <p:nvSpPr>
              <p:cNvPr id="214" name="Circle"/>
              <p:cNvSpPr/>
              <p:nvPr/>
            </p:nvSpPr>
            <p:spPr>
              <a:xfrm>
                <a:off x="544140" y="0"/>
                <a:ext cx="192629" cy="192629"/>
              </a:xfrm>
              <a:prstGeom prst="ellipse">
                <a:avLst/>
              </a:prstGeom>
              <a:solidFill>
                <a:srgbClr val="D2D0AD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 lang="en-GB" noProof="0" dirty="0"/>
              </a:p>
            </p:txBody>
          </p:sp>
        </p:grpSp>
        <p:grpSp>
          <p:nvGrpSpPr>
            <p:cNvPr id="221" name="Group"/>
            <p:cNvGrpSpPr/>
            <p:nvPr/>
          </p:nvGrpSpPr>
          <p:grpSpPr>
            <a:xfrm rot="16200000">
              <a:off x="4501952" y="2171004"/>
              <a:ext cx="1031953" cy="192630"/>
              <a:chOff x="0" y="0"/>
              <a:chExt cx="1031952" cy="192628"/>
            </a:xfrm>
          </p:grpSpPr>
          <p:sp>
            <p:nvSpPr>
              <p:cNvPr id="216" name="Line"/>
              <p:cNvSpPr/>
              <p:nvPr/>
            </p:nvSpPr>
            <p:spPr>
              <a:xfrm>
                <a:off x="93176" y="96314"/>
                <a:ext cx="938777" cy="1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 lang="en-GB" noProof="0" dirty="0"/>
              </a:p>
            </p:txBody>
          </p:sp>
          <p:sp>
            <p:nvSpPr>
              <p:cNvPr id="217" name="Circle"/>
              <p:cNvSpPr/>
              <p:nvPr/>
            </p:nvSpPr>
            <p:spPr>
              <a:xfrm>
                <a:off x="0" y="0"/>
                <a:ext cx="192629" cy="192629"/>
              </a:xfrm>
              <a:prstGeom prst="ellipse">
                <a:avLst/>
              </a:prstGeom>
              <a:solidFill>
                <a:srgbClr val="D2D0AD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 lang="en-GB" noProof="0" dirty="0"/>
              </a:p>
            </p:txBody>
          </p:sp>
          <p:sp>
            <p:nvSpPr>
              <p:cNvPr id="218" name="Circle"/>
              <p:cNvSpPr/>
              <p:nvPr/>
            </p:nvSpPr>
            <p:spPr>
              <a:xfrm>
                <a:off x="182230" y="0"/>
                <a:ext cx="192630" cy="192629"/>
              </a:xfrm>
              <a:prstGeom prst="ellipse">
                <a:avLst/>
              </a:prstGeom>
              <a:solidFill>
                <a:srgbClr val="D2D0AD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 lang="en-GB" noProof="0" dirty="0"/>
              </a:p>
            </p:txBody>
          </p:sp>
          <p:sp>
            <p:nvSpPr>
              <p:cNvPr id="219" name="Circle"/>
              <p:cNvSpPr/>
              <p:nvPr/>
            </p:nvSpPr>
            <p:spPr>
              <a:xfrm>
                <a:off x="372300" y="0"/>
                <a:ext cx="192630" cy="192629"/>
              </a:xfrm>
              <a:prstGeom prst="ellipse">
                <a:avLst/>
              </a:prstGeom>
              <a:solidFill>
                <a:srgbClr val="D2D0AD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 lang="en-GB" noProof="0" dirty="0"/>
              </a:p>
            </p:txBody>
          </p:sp>
          <p:sp>
            <p:nvSpPr>
              <p:cNvPr id="220" name="Circle"/>
              <p:cNvSpPr/>
              <p:nvPr/>
            </p:nvSpPr>
            <p:spPr>
              <a:xfrm>
                <a:off x="544140" y="0"/>
                <a:ext cx="192629" cy="192629"/>
              </a:xfrm>
              <a:prstGeom prst="ellipse">
                <a:avLst/>
              </a:prstGeom>
              <a:solidFill>
                <a:srgbClr val="D2D0AD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 lang="en-GB" noProof="0" dirty="0"/>
              </a:p>
            </p:txBody>
          </p:sp>
        </p:grpSp>
        <p:sp>
          <p:nvSpPr>
            <p:cNvPr id="222" name="Rectangle"/>
            <p:cNvSpPr/>
            <p:nvPr/>
          </p:nvSpPr>
          <p:spPr>
            <a:xfrm>
              <a:off x="1442219" y="2936611"/>
              <a:ext cx="558062" cy="656031"/>
            </a:xfrm>
            <a:prstGeom prst="rect">
              <a:avLst/>
            </a:prstGeom>
            <a:solidFill>
              <a:srgbClr val="6E8627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 lang="en-GB" noProof="0" dirty="0"/>
            </a:p>
          </p:txBody>
        </p:sp>
        <p:sp>
          <p:nvSpPr>
            <p:cNvPr id="223" name="Rectangle"/>
            <p:cNvSpPr/>
            <p:nvPr/>
          </p:nvSpPr>
          <p:spPr>
            <a:xfrm>
              <a:off x="3086699" y="2936611"/>
              <a:ext cx="558062" cy="656031"/>
            </a:xfrm>
            <a:prstGeom prst="rect">
              <a:avLst/>
            </a:prstGeom>
            <a:solidFill>
              <a:srgbClr val="6E8627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 lang="en-GB" noProof="0" dirty="0"/>
            </a:p>
          </p:txBody>
        </p:sp>
        <p:sp>
          <p:nvSpPr>
            <p:cNvPr id="224" name="Rectangle"/>
            <p:cNvSpPr/>
            <p:nvPr/>
          </p:nvSpPr>
          <p:spPr>
            <a:xfrm>
              <a:off x="1442219" y="1239029"/>
              <a:ext cx="558062" cy="656032"/>
            </a:xfrm>
            <a:prstGeom prst="rect">
              <a:avLst/>
            </a:prstGeom>
            <a:solidFill>
              <a:srgbClr val="6E8627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 lang="en-GB" noProof="0" dirty="0"/>
            </a:p>
          </p:txBody>
        </p:sp>
        <p:sp>
          <p:nvSpPr>
            <p:cNvPr id="225" name="Rectangle"/>
            <p:cNvSpPr/>
            <p:nvPr/>
          </p:nvSpPr>
          <p:spPr>
            <a:xfrm>
              <a:off x="3086699" y="1239029"/>
              <a:ext cx="558062" cy="656032"/>
            </a:xfrm>
            <a:prstGeom prst="rect">
              <a:avLst/>
            </a:prstGeom>
            <a:solidFill>
              <a:srgbClr val="6E8627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 lang="en-GB" noProof="0" dirty="0"/>
            </a:p>
          </p:txBody>
        </p:sp>
        <p:sp>
          <p:nvSpPr>
            <p:cNvPr id="226" name="Rectangle"/>
            <p:cNvSpPr/>
            <p:nvPr/>
          </p:nvSpPr>
          <p:spPr>
            <a:xfrm>
              <a:off x="4832774" y="1239029"/>
              <a:ext cx="558062" cy="656032"/>
            </a:xfrm>
            <a:prstGeom prst="rect">
              <a:avLst/>
            </a:prstGeom>
            <a:solidFill>
              <a:srgbClr val="6E8627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 lang="en-GB" noProof="0" dirty="0"/>
            </a:p>
          </p:txBody>
        </p:sp>
        <p:sp>
          <p:nvSpPr>
            <p:cNvPr id="227" name="Rectangle"/>
            <p:cNvSpPr/>
            <p:nvPr/>
          </p:nvSpPr>
          <p:spPr>
            <a:xfrm>
              <a:off x="4839077" y="2936611"/>
              <a:ext cx="558062" cy="656031"/>
            </a:xfrm>
            <a:prstGeom prst="rect">
              <a:avLst/>
            </a:prstGeom>
            <a:solidFill>
              <a:srgbClr val="6E8627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 lang="en-GB" noProof="0" dirty="0"/>
            </a:p>
          </p:txBody>
        </p:sp>
        <p:sp>
          <p:nvSpPr>
            <p:cNvPr id="228" name="Rectangle"/>
            <p:cNvSpPr/>
            <p:nvPr/>
          </p:nvSpPr>
          <p:spPr>
            <a:xfrm>
              <a:off x="12752" y="2040491"/>
              <a:ext cx="350521" cy="750690"/>
            </a:xfrm>
            <a:prstGeom prst="rect">
              <a:avLst/>
            </a:prstGeom>
            <a:solidFill>
              <a:srgbClr val="9D7A2D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 lang="en-GB" noProof="0" dirty="0"/>
            </a:p>
          </p:txBody>
        </p:sp>
        <p:sp>
          <p:nvSpPr>
            <p:cNvPr id="229" name="Rectangle"/>
            <p:cNvSpPr/>
            <p:nvPr/>
          </p:nvSpPr>
          <p:spPr>
            <a:xfrm>
              <a:off x="0" y="3753458"/>
              <a:ext cx="350520" cy="750690"/>
            </a:xfrm>
            <a:prstGeom prst="rect">
              <a:avLst/>
            </a:prstGeom>
            <a:solidFill>
              <a:srgbClr val="9D7A2D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 lang="en-GB" noProof="0" dirty="0"/>
            </a:p>
          </p:txBody>
        </p:sp>
        <p:sp>
          <p:nvSpPr>
            <p:cNvPr id="230" name="Rectangle"/>
            <p:cNvSpPr/>
            <p:nvPr/>
          </p:nvSpPr>
          <p:spPr>
            <a:xfrm rot="5400000">
              <a:off x="774546" y="4555091"/>
              <a:ext cx="350521" cy="750690"/>
            </a:xfrm>
            <a:prstGeom prst="rect">
              <a:avLst/>
            </a:prstGeom>
            <a:solidFill>
              <a:srgbClr val="9D7A2D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 lang="en-GB" noProof="0" dirty="0"/>
            </a:p>
          </p:txBody>
        </p:sp>
        <p:sp>
          <p:nvSpPr>
            <p:cNvPr id="231" name="Rectangle"/>
            <p:cNvSpPr/>
            <p:nvPr/>
          </p:nvSpPr>
          <p:spPr>
            <a:xfrm rot="5400000">
              <a:off x="2317432" y="4555091"/>
              <a:ext cx="350521" cy="750690"/>
            </a:xfrm>
            <a:prstGeom prst="rect">
              <a:avLst/>
            </a:prstGeom>
            <a:solidFill>
              <a:srgbClr val="9D7A2D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 lang="en-GB" noProof="0" dirty="0"/>
            </a:p>
          </p:txBody>
        </p:sp>
        <p:sp>
          <p:nvSpPr>
            <p:cNvPr id="232" name="Rectangle"/>
            <p:cNvSpPr/>
            <p:nvPr/>
          </p:nvSpPr>
          <p:spPr>
            <a:xfrm rot="5400000">
              <a:off x="4063507" y="4555091"/>
              <a:ext cx="350521" cy="750690"/>
            </a:xfrm>
            <a:prstGeom prst="rect">
              <a:avLst/>
            </a:prstGeom>
            <a:solidFill>
              <a:srgbClr val="9D7A2D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 lang="en-GB" noProof="0" dirty="0"/>
            </a:p>
          </p:txBody>
        </p:sp>
        <p:sp>
          <p:nvSpPr>
            <p:cNvPr id="233" name="logic block"/>
            <p:cNvSpPr txBox="1"/>
            <p:nvPr/>
          </p:nvSpPr>
          <p:spPr>
            <a:xfrm>
              <a:off x="400574" y="-3394"/>
              <a:ext cx="3265047" cy="584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>
                <a:defRPr>
                  <a:solidFill>
                    <a:schemeClr val="accent5">
                      <a:hueOff val="-82419"/>
                      <a:satOff val="-9513"/>
                      <a:lumOff val="-16343"/>
                    </a:schemeClr>
                  </a:solidFill>
                </a:defRPr>
              </a:lvl1pPr>
            </a:lstStyle>
            <a:p>
              <a:r>
                <a:rPr lang="en-GB" noProof="0" dirty="0"/>
                <a:t>logic block</a:t>
              </a:r>
            </a:p>
          </p:txBody>
        </p:sp>
        <p:sp>
          <p:nvSpPr>
            <p:cNvPr id="234" name="Line"/>
            <p:cNvSpPr/>
            <p:nvPr/>
          </p:nvSpPr>
          <p:spPr>
            <a:xfrm flipH="1">
              <a:off x="1788331" y="536888"/>
              <a:ext cx="234824" cy="845946"/>
            </a:xfrm>
            <a:prstGeom prst="line">
              <a:avLst/>
            </a:prstGeom>
            <a:noFill/>
            <a:ln w="25400" cap="flat">
              <a:solidFill>
                <a:schemeClr val="accent5">
                  <a:hueOff val="-82419"/>
                  <a:satOff val="-9513"/>
                  <a:lumOff val="-16343"/>
                </a:schemeClr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 lang="en-GB" noProof="0" dirty="0"/>
            </a:p>
          </p:txBody>
        </p:sp>
        <p:sp>
          <p:nvSpPr>
            <p:cNvPr id="235" name="I/O pad"/>
            <p:cNvSpPr txBox="1"/>
            <p:nvPr/>
          </p:nvSpPr>
          <p:spPr>
            <a:xfrm>
              <a:off x="101426" y="5533806"/>
              <a:ext cx="3265047" cy="584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>
                <a:defRPr>
                  <a:solidFill>
                    <a:schemeClr val="accent5">
                      <a:hueOff val="-82419"/>
                      <a:satOff val="-9513"/>
                      <a:lumOff val="-16343"/>
                    </a:schemeClr>
                  </a:solidFill>
                </a:defRPr>
              </a:lvl1pPr>
            </a:lstStyle>
            <a:p>
              <a:r>
                <a:rPr lang="en-GB" noProof="0" dirty="0"/>
                <a:t>I/O pad</a:t>
              </a:r>
            </a:p>
          </p:txBody>
        </p:sp>
        <p:sp>
          <p:nvSpPr>
            <p:cNvPr id="236" name="Line"/>
            <p:cNvSpPr/>
            <p:nvPr/>
          </p:nvSpPr>
          <p:spPr>
            <a:xfrm flipV="1">
              <a:off x="1995022" y="5032297"/>
              <a:ext cx="394573" cy="647398"/>
            </a:xfrm>
            <a:prstGeom prst="line">
              <a:avLst/>
            </a:prstGeom>
            <a:noFill/>
            <a:ln w="25400" cap="flat">
              <a:solidFill>
                <a:schemeClr val="accent5">
                  <a:hueOff val="-82419"/>
                  <a:satOff val="-9513"/>
                  <a:lumOff val="-16343"/>
                </a:schemeClr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 lang="en-GB" noProof="0" dirty="0"/>
            </a:p>
          </p:txBody>
        </p:sp>
        <p:sp>
          <p:nvSpPr>
            <p:cNvPr id="237" name="switch block"/>
            <p:cNvSpPr txBox="1"/>
            <p:nvPr/>
          </p:nvSpPr>
          <p:spPr>
            <a:xfrm>
              <a:off x="3479281" y="-6351"/>
              <a:ext cx="3265047" cy="584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>
                <a:defRPr>
                  <a:solidFill>
                    <a:schemeClr val="accent5">
                      <a:hueOff val="-82419"/>
                      <a:satOff val="-9513"/>
                      <a:lumOff val="-16343"/>
                    </a:schemeClr>
                  </a:solidFill>
                </a:defRPr>
              </a:lvl1pPr>
            </a:lstStyle>
            <a:p>
              <a:r>
                <a:rPr lang="en-GB" noProof="0" dirty="0"/>
                <a:t>switch block</a:t>
              </a:r>
            </a:p>
          </p:txBody>
        </p:sp>
        <p:sp>
          <p:nvSpPr>
            <p:cNvPr id="238" name="Line"/>
            <p:cNvSpPr/>
            <p:nvPr/>
          </p:nvSpPr>
          <p:spPr>
            <a:xfrm flipH="1">
              <a:off x="4175186" y="606143"/>
              <a:ext cx="638893" cy="1664749"/>
            </a:xfrm>
            <a:prstGeom prst="line">
              <a:avLst/>
            </a:prstGeom>
            <a:noFill/>
            <a:ln w="25400" cap="flat">
              <a:solidFill>
                <a:schemeClr val="accent5">
                  <a:hueOff val="-82419"/>
                  <a:satOff val="-9513"/>
                  <a:lumOff val="-16343"/>
                </a:schemeClr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 lang="en-GB" noProof="0" dirty="0"/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2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" grpId="1" build="p" bldLvl="5" animBg="1" advAuto="0"/>
      <p:bldP spid="239" grpId="2" animBg="1" advAuto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Logic block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noProof="0" dirty="0"/>
              <a:t>Logic blocks</a:t>
            </a:r>
          </a:p>
        </p:txBody>
      </p:sp>
      <p:sp>
        <p:nvSpPr>
          <p:cNvPr id="242" name="Also called logic elements.…"/>
          <p:cNvSpPr txBox="1">
            <a:spLocks noGrp="1"/>
          </p:cNvSpPr>
          <p:nvPr>
            <p:ph type="body" sz="half" idx="1"/>
          </p:nvPr>
        </p:nvSpPr>
        <p:spPr>
          <a:xfrm>
            <a:off x="952500" y="2686050"/>
            <a:ext cx="4154091" cy="6286500"/>
          </a:xfrm>
          <a:prstGeom prst="rect">
            <a:avLst/>
          </a:prstGeom>
        </p:spPr>
        <p:txBody>
          <a:bodyPr/>
          <a:lstStyle/>
          <a:p>
            <a:pPr marL="413384" indent="-413384" defTabSz="543305">
              <a:spcBef>
                <a:spcPts val="3900"/>
              </a:spcBef>
              <a:defRPr sz="2976"/>
            </a:pPr>
            <a:r>
              <a:rPr lang="en-GB" noProof="0" dirty="0"/>
              <a:t>Also called </a:t>
            </a:r>
            <a:r>
              <a:rPr lang="en-GB" i="1" noProof="0" dirty="0"/>
              <a:t>logic elements</a:t>
            </a:r>
            <a:r>
              <a:rPr lang="en-GB" noProof="0" dirty="0"/>
              <a:t>.</a:t>
            </a:r>
          </a:p>
          <a:p>
            <a:pPr marL="413384" indent="-413384" defTabSz="543305">
              <a:spcBef>
                <a:spcPts val="3900"/>
              </a:spcBef>
              <a:defRPr sz="2976"/>
            </a:pPr>
            <a:r>
              <a:rPr lang="en-GB" noProof="0" dirty="0"/>
              <a:t>Based around </a:t>
            </a:r>
            <a:r>
              <a:rPr lang="en-GB" b="1" noProof="0" dirty="0"/>
              <a:t>look-up tables</a:t>
            </a:r>
            <a:r>
              <a:rPr lang="en-GB" noProof="0" dirty="0"/>
              <a:t> (LUTs), usually with 4 inputs. </a:t>
            </a:r>
          </a:p>
          <a:p>
            <a:pPr marL="413384" indent="-413384" defTabSz="543305">
              <a:spcBef>
                <a:spcPts val="3900"/>
              </a:spcBef>
              <a:defRPr sz="2976"/>
            </a:pPr>
            <a:r>
              <a:rPr lang="en-GB" noProof="0" dirty="0"/>
              <a:t>Optional flipflop (FF) at the output.</a:t>
            </a:r>
          </a:p>
          <a:p>
            <a:pPr marL="413384" indent="-413384" defTabSz="543305">
              <a:spcBef>
                <a:spcPts val="3900"/>
              </a:spcBef>
              <a:defRPr sz="2976"/>
            </a:pPr>
            <a:r>
              <a:rPr lang="en-GB" noProof="0" dirty="0"/>
              <a:t>These can implement </a:t>
            </a:r>
            <a:r>
              <a:rPr lang="en-GB" i="1" noProof="0" dirty="0"/>
              <a:t>any</a:t>
            </a:r>
            <a:r>
              <a:rPr lang="en-GB" noProof="0" dirty="0"/>
              <a:t> 4-input Boolean function (truth table).</a:t>
            </a:r>
          </a:p>
        </p:txBody>
      </p:sp>
      <p:sp>
        <p:nvSpPr>
          <p:cNvPr id="24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 lang="en-GB" noProof="0"/>
              <a:t>16</a:t>
            </a:fld>
            <a:endParaRPr lang="en-GB" noProof="0" dirty="0"/>
          </a:p>
        </p:txBody>
      </p:sp>
      <p:grpSp>
        <p:nvGrpSpPr>
          <p:cNvPr id="270" name="Group"/>
          <p:cNvGrpSpPr/>
          <p:nvPr/>
        </p:nvGrpSpPr>
        <p:grpSpPr>
          <a:xfrm>
            <a:off x="4991054" y="2302872"/>
            <a:ext cx="8002507" cy="3753195"/>
            <a:chOff x="-24128" y="0"/>
            <a:chExt cx="8002506" cy="3753193"/>
          </a:xfrm>
        </p:grpSpPr>
        <p:sp>
          <p:nvSpPr>
            <p:cNvPr id="244" name="Rectangle"/>
            <p:cNvSpPr/>
            <p:nvPr/>
          </p:nvSpPr>
          <p:spPr>
            <a:xfrm>
              <a:off x="1597187" y="0"/>
              <a:ext cx="5450092" cy="3753194"/>
            </a:xfrm>
            <a:prstGeom prst="rect">
              <a:avLst/>
            </a:prstGeom>
            <a:solidFill>
              <a:srgbClr val="FFFFFF"/>
            </a:solidFill>
            <a:ln w="88900" cap="flat">
              <a:solidFill>
                <a:srgbClr val="6E8627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 lang="en-GB" noProof="0" dirty="0"/>
            </a:p>
          </p:txBody>
        </p:sp>
        <p:sp>
          <p:nvSpPr>
            <p:cNvPr id="245" name="LUT"/>
            <p:cNvSpPr/>
            <p:nvPr/>
          </p:nvSpPr>
          <p:spPr>
            <a:xfrm>
              <a:off x="2376217" y="732427"/>
              <a:ext cx="1270001" cy="1270001"/>
            </a:xfrm>
            <a:prstGeom prst="rect">
              <a:avLst/>
            </a:prstGeom>
            <a:solidFill>
              <a:srgbClr val="E9E6BF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defRPr sz="2100" b="1"/>
              </a:lvl1pPr>
            </a:lstStyle>
            <a:p>
              <a:r>
                <a:rPr lang="en-GB" noProof="0" dirty="0"/>
                <a:t>LUT</a:t>
              </a:r>
            </a:p>
          </p:txBody>
        </p:sp>
        <p:sp>
          <p:nvSpPr>
            <p:cNvPr id="246" name="FF"/>
            <p:cNvSpPr/>
            <p:nvPr/>
          </p:nvSpPr>
          <p:spPr>
            <a:xfrm>
              <a:off x="4281217" y="732427"/>
              <a:ext cx="1270001" cy="1270001"/>
            </a:xfrm>
            <a:prstGeom prst="rect">
              <a:avLst/>
            </a:prstGeom>
            <a:solidFill>
              <a:srgbClr val="E9E6BF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defRPr sz="2100" b="1"/>
              </a:lvl1pPr>
            </a:lstStyle>
            <a:p>
              <a:r>
                <a:rPr lang="en-GB" noProof="0" dirty="0"/>
                <a:t>FF</a:t>
              </a:r>
            </a:p>
          </p:txBody>
        </p:sp>
        <p:sp>
          <p:nvSpPr>
            <p:cNvPr id="247" name="Shape"/>
            <p:cNvSpPr/>
            <p:nvPr/>
          </p:nvSpPr>
          <p:spPr>
            <a:xfrm>
              <a:off x="5936510" y="888472"/>
              <a:ext cx="841589" cy="7801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41" h="21600" extrusionOk="0">
                  <a:moveTo>
                    <a:pt x="0" y="0"/>
                  </a:moveTo>
                  <a:cubicBezTo>
                    <a:pt x="3847" y="2001"/>
                    <a:pt x="6286" y="6234"/>
                    <a:pt x="6263" y="10869"/>
                  </a:cubicBezTo>
                  <a:cubicBezTo>
                    <a:pt x="6240" y="15455"/>
                    <a:pt x="3808" y="19623"/>
                    <a:pt x="0" y="21600"/>
                  </a:cubicBezTo>
                  <a:cubicBezTo>
                    <a:pt x="4027" y="20643"/>
                    <a:pt x="7906" y="19793"/>
                    <a:pt x="11741" y="19018"/>
                  </a:cubicBezTo>
                  <a:cubicBezTo>
                    <a:pt x="16228" y="18111"/>
                    <a:pt x="21285" y="16281"/>
                    <a:pt x="21437" y="11339"/>
                  </a:cubicBezTo>
                  <a:cubicBezTo>
                    <a:pt x="21600" y="6073"/>
                    <a:pt x="16411" y="3944"/>
                    <a:pt x="11803" y="2826"/>
                  </a:cubicBezTo>
                  <a:cubicBezTo>
                    <a:pt x="7962" y="1895"/>
                    <a:pt x="4099" y="964"/>
                    <a:pt x="0" y="0"/>
                  </a:cubicBezTo>
                  <a:close/>
                </a:path>
              </a:pathLst>
            </a:custGeom>
            <a:solidFill>
              <a:srgbClr val="E9E6BF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 lang="en-GB" noProof="0" dirty="0"/>
            </a:p>
          </p:txBody>
        </p:sp>
        <p:sp>
          <p:nvSpPr>
            <p:cNvPr id="248" name="Line"/>
            <p:cNvSpPr/>
            <p:nvPr/>
          </p:nvSpPr>
          <p:spPr>
            <a:xfrm>
              <a:off x="737917" y="897527"/>
              <a:ext cx="1676401" cy="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 lang="en-GB" noProof="0" dirty="0"/>
            </a:p>
          </p:txBody>
        </p:sp>
        <p:sp>
          <p:nvSpPr>
            <p:cNvPr id="249" name="Line"/>
            <p:cNvSpPr/>
            <p:nvPr/>
          </p:nvSpPr>
          <p:spPr>
            <a:xfrm>
              <a:off x="737917" y="1202252"/>
              <a:ext cx="1676401" cy="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 lang="en-GB" noProof="0" dirty="0"/>
            </a:p>
          </p:txBody>
        </p:sp>
        <p:sp>
          <p:nvSpPr>
            <p:cNvPr id="250" name="Line"/>
            <p:cNvSpPr/>
            <p:nvPr/>
          </p:nvSpPr>
          <p:spPr>
            <a:xfrm>
              <a:off x="737917" y="1506978"/>
              <a:ext cx="1676401" cy="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 lang="en-GB" noProof="0" dirty="0"/>
            </a:p>
          </p:txBody>
        </p:sp>
        <p:sp>
          <p:nvSpPr>
            <p:cNvPr id="251" name="Line"/>
            <p:cNvSpPr/>
            <p:nvPr/>
          </p:nvSpPr>
          <p:spPr>
            <a:xfrm>
              <a:off x="737917" y="1805577"/>
              <a:ext cx="1676401" cy="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 lang="en-GB" noProof="0" dirty="0"/>
            </a:p>
          </p:txBody>
        </p:sp>
        <p:sp>
          <p:nvSpPr>
            <p:cNvPr id="252" name="Line"/>
            <p:cNvSpPr/>
            <p:nvPr/>
          </p:nvSpPr>
          <p:spPr>
            <a:xfrm flipV="1">
              <a:off x="4662217" y="1996077"/>
              <a:ext cx="1" cy="590402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 lang="en-GB" noProof="0" dirty="0"/>
            </a:p>
          </p:txBody>
        </p:sp>
        <p:sp>
          <p:nvSpPr>
            <p:cNvPr id="253" name="Line"/>
            <p:cNvSpPr/>
            <p:nvPr/>
          </p:nvSpPr>
          <p:spPr>
            <a:xfrm flipV="1">
              <a:off x="5041655" y="1996077"/>
              <a:ext cx="1564" cy="852215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 lang="en-GB" noProof="0" dirty="0"/>
            </a:p>
          </p:txBody>
        </p:sp>
        <p:sp>
          <p:nvSpPr>
            <p:cNvPr id="254" name="Line"/>
            <p:cNvSpPr/>
            <p:nvPr/>
          </p:nvSpPr>
          <p:spPr>
            <a:xfrm>
              <a:off x="735491" y="2573927"/>
              <a:ext cx="3934764" cy="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 lang="en-GB" noProof="0" dirty="0"/>
            </a:p>
          </p:txBody>
        </p:sp>
        <p:sp>
          <p:nvSpPr>
            <p:cNvPr id="255" name="Line"/>
            <p:cNvSpPr/>
            <p:nvPr/>
          </p:nvSpPr>
          <p:spPr>
            <a:xfrm>
              <a:off x="735491" y="2846977"/>
              <a:ext cx="4311237" cy="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 lang="en-GB" noProof="0" dirty="0"/>
            </a:p>
          </p:txBody>
        </p:sp>
        <p:sp>
          <p:nvSpPr>
            <p:cNvPr id="256" name="Line"/>
            <p:cNvSpPr/>
            <p:nvPr/>
          </p:nvSpPr>
          <p:spPr>
            <a:xfrm>
              <a:off x="5522713" y="1367427"/>
              <a:ext cx="671737" cy="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 lang="en-GB" noProof="0" dirty="0"/>
            </a:p>
          </p:txBody>
        </p:sp>
        <p:sp>
          <p:nvSpPr>
            <p:cNvPr id="257" name="Line"/>
            <p:cNvSpPr/>
            <p:nvPr/>
          </p:nvSpPr>
          <p:spPr>
            <a:xfrm>
              <a:off x="3643113" y="1367427"/>
              <a:ext cx="671737" cy="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 lang="en-GB" noProof="0" dirty="0"/>
            </a:p>
          </p:txBody>
        </p:sp>
        <p:sp>
          <p:nvSpPr>
            <p:cNvPr id="258" name="Line"/>
            <p:cNvSpPr/>
            <p:nvPr/>
          </p:nvSpPr>
          <p:spPr>
            <a:xfrm flipV="1">
              <a:off x="3891199" y="427627"/>
              <a:ext cx="1" cy="93980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 lang="en-GB" noProof="0" dirty="0"/>
            </a:p>
          </p:txBody>
        </p:sp>
        <p:sp>
          <p:nvSpPr>
            <p:cNvPr id="259" name="Line"/>
            <p:cNvSpPr/>
            <p:nvPr/>
          </p:nvSpPr>
          <p:spPr>
            <a:xfrm flipH="1" flipV="1">
              <a:off x="3883519" y="427627"/>
              <a:ext cx="1972052" cy="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 lang="en-GB" noProof="0" dirty="0"/>
            </a:p>
          </p:txBody>
        </p:sp>
        <p:sp>
          <p:nvSpPr>
            <p:cNvPr id="260" name="Line"/>
            <p:cNvSpPr/>
            <p:nvPr/>
          </p:nvSpPr>
          <p:spPr>
            <a:xfrm>
              <a:off x="5855570" y="427627"/>
              <a:ext cx="1" cy="742018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 lang="en-GB" noProof="0" dirty="0"/>
            </a:p>
          </p:txBody>
        </p:sp>
        <p:sp>
          <p:nvSpPr>
            <p:cNvPr id="261" name="Line"/>
            <p:cNvSpPr/>
            <p:nvPr/>
          </p:nvSpPr>
          <p:spPr>
            <a:xfrm>
              <a:off x="5843929" y="1176852"/>
              <a:ext cx="350521" cy="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 lang="en-GB" noProof="0" dirty="0"/>
            </a:p>
          </p:txBody>
        </p:sp>
        <p:sp>
          <p:nvSpPr>
            <p:cNvPr id="262" name="Line"/>
            <p:cNvSpPr/>
            <p:nvPr/>
          </p:nvSpPr>
          <p:spPr>
            <a:xfrm>
              <a:off x="6780013" y="1278527"/>
              <a:ext cx="671737" cy="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 lang="en-GB" noProof="0" dirty="0"/>
            </a:p>
          </p:txBody>
        </p:sp>
        <p:sp>
          <p:nvSpPr>
            <p:cNvPr id="263" name="A"/>
            <p:cNvSpPr txBox="1"/>
            <p:nvPr/>
          </p:nvSpPr>
          <p:spPr>
            <a:xfrm>
              <a:off x="424638" y="662577"/>
              <a:ext cx="317600" cy="469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400"/>
              </a:lvl1pPr>
            </a:lstStyle>
            <a:p>
              <a:r>
                <a:rPr lang="en-GB" noProof="0" dirty="0"/>
                <a:t>A</a:t>
              </a:r>
            </a:p>
          </p:txBody>
        </p:sp>
        <p:sp>
          <p:nvSpPr>
            <p:cNvPr id="264" name="B"/>
            <p:cNvSpPr txBox="1"/>
            <p:nvPr/>
          </p:nvSpPr>
          <p:spPr>
            <a:xfrm>
              <a:off x="424638" y="967302"/>
              <a:ext cx="317600" cy="469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400"/>
              </a:lvl1pPr>
            </a:lstStyle>
            <a:p>
              <a:r>
                <a:rPr lang="en-GB" noProof="0" dirty="0"/>
                <a:t>B</a:t>
              </a:r>
            </a:p>
          </p:txBody>
        </p:sp>
        <p:sp>
          <p:nvSpPr>
            <p:cNvPr id="265" name="C"/>
            <p:cNvSpPr txBox="1"/>
            <p:nvPr/>
          </p:nvSpPr>
          <p:spPr>
            <a:xfrm>
              <a:off x="419806" y="1256302"/>
              <a:ext cx="334418" cy="469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400"/>
              </a:lvl1pPr>
            </a:lstStyle>
            <a:p>
              <a:r>
                <a:rPr lang="en-GB" noProof="0" dirty="0"/>
                <a:t>C</a:t>
              </a:r>
            </a:p>
          </p:txBody>
        </p:sp>
        <p:sp>
          <p:nvSpPr>
            <p:cNvPr id="266" name="D"/>
            <p:cNvSpPr txBox="1"/>
            <p:nvPr/>
          </p:nvSpPr>
          <p:spPr>
            <a:xfrm>
              <a:off x="416229" y="1570627"/>
              <a:ext cx="334418" cy="469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400"/>
              </a:lvl1pPr>
            </a:lstStyle>
            <a:p>
              <a:r>
                <a:rPr lang="en-GB" noProof="0" dirty="0"/>
                <a:t>D</a:t>
              </a:r>
            </a:p>
          </p:txBody>
        </p:sp>
        <p:sp>
          <p:nvSpPr>
            <p:cNvPr id="267" name="reset"/>
            <p:cNvSpPr txBox="1"/>
            <p:nvPr/>
          </p:nvSpPr>
          <p:spPr>
            <a:xfrm>
              <a:off x="9680" y="2332627"/>
              <a:ext cx="791916" cy="469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400"/>
              </a:lvl1pPr>
            </a:lstStyle>
            <a:p>
              <a:r>
                <a:rPr lang="en-GB" noProof="0" dirty="0"/>
                <a:t>reset</a:t>
              </a:r>
            </a:p>
          </p:txBody>
        </p:sp>
        <p:sp>
          <p:nvSpPr>
            <p:cNvPr id="268" name="clock"/>
            <p:cNvSpPr txBox="1"/>
            <p:nvPr/>
          </p:nvSpPr>
          <p:spPr>
            <a:xfrm>
              <a:off x="-24129" y="2599327"/>
              <a:ext cx="808734" cy="469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400"/>
              </a:lvl1pPr>
            </a:lstStyle>
            <a:p>
              <a:r>
                <a:rPr lang="en-GB" noProof="0" dirty="0"/>
                <a:t>clock</a:t>
              </a:r>
            </a:p>
          </p:txBody>
        </p:sp>
        <p:sp>
          <p:nvSpPr>
            <p:cNvPr id="269" name="out"/>
            <p:cNvSpPr txBox="1"/>
            <p:nvPr/>
          </p:nvSpPr>
          <p:spPr>
            <a:xfrm>
              <a:off x="7440364" y="1043577"/>
              <a:ext cx="538015" cy="469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400"/>
              </a:lvl1pPr>
            </a:lstStyle>
            <a:p>
              <a:r>
                <a:rPr lang="en-GB" noProof="0" dirty="0"/>
                <a:t>out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4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2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2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2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2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2" grpId="1" build="p" bldLvl="5" animBg="1" advAuto="0"/>
      <p:bldP spid="270" grpId="2" animBg="1" advAuto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Multiplexer (MUX)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noProof="0" dirty="0"/>
              <a:t>Multiplexer (MUX)</a:t>
            </a:r>
          </a:p>
        </p:txBody>
      </p:sp>
      <p:sp>
        <p:nvSpPr>
          <p:cNvPr id="27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 lang="en-GB" noProof="0"/>
              <a:t>17</a:t>
            </a:fld>
            <a:endParaRPr lang="en-GB" noProof="0" dirty="0"/>
          </a:p>
        </p:txBody>
      </p:sp>
      <p:sp>
        <p:nvSpPr>
          <p:cNvPr id="274" name="Line"/>
          <p:cNvSpPr/>
          <p:nvPr/>
        </p:nvSpPr>
        <p:spPr>
          <a:xfrm>
            <a:off x="6525487" y="3455082"/>
            <a:ext cx="1" cy="1289810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 lang="en-GB" noProof="0" dirty="0"/>
          </a:p>
        </p:txBody>
      </p:sp>
      <p:sp>
        <p:nvSpPr>
          <p:cNvPr id="275" name="Line"/>
          <p:cNvSpPr/>
          <p:nvPr/>
        </p:nvSpPr>
        <p:spPr>
          <a:xfrm>
            <a:off x="6983336" y="5215943"/>
            <a:ext cx="706062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 lang="en-GB" noProof="0" dirty="0"/>
          </a:p>
        </p:txBody>
      </p:sp>
      <p:sp>
        <p:nvSpPr>
          <p:cNvPr id="276" name="Line"/>
          <p:cNvSpPr/>
          <p:nvPr/>
        </p:nvSpPr>
        <p:spPr>
          <a:xfrm>
            <a:off x="5315403" y="4797678"/>
            <a:ext cx="70606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 lang="en-GB" noProof="0" dirty="0"/>
          </a:p>
        </p:txBody>
      </p:sp>
      <p:sp>
        <p:nvSpPr>
          <p:cNvPr id="277" name="Line"/>
          <p:cNvSpPr/>
          <p:nvPr/>
        </p:nvSpPr>
        <p:spPr>
          <a:xfrm>
            <a:off x="5315403" y="5661278"/>
            <a:ext cx="70606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 lang="en-GB" noProof="0" dirty="0"/>
          </a:p>
        </p:txBody>
      </p:sp>
      <p:sp>
        <p:nvSpPr>
          <p:cNvPr id="278" name="MUX"/>
          <p:cNvSpPr/>
          <p:nvPr/>
        </p:nvSpPr>
        <p:spPr>
          <a:xfrm>
            <a:off x="5808193" y="4151866"/>
            <a:ext cx="1434588" cy="212965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21600"/>
                </a:lnTo>
                <a:lnTo>
                  <a:pt x="21600" y="17302"/>
                </a:lnTo>
                <a:lnTo>
                  <a:pt x="21600" y="560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3700" b="1"/>
            </a:lvl1pPr>
          </a:lstStyle>
          <a:p>
            <a:r>
              <a:rPr lang="en-GB" noProof="0" dirty="0"/>
              <a:t>MUX</a:t>
            </a:r>
          </a:p>
        </p:txBody>
      </p:sp>
      <p:sp>
        <p:nvSpPr>
          <p:cNvPr id="279" name="in3"/>
          <p:cNvSpPr txBox="1"/>
          <p:nvPr/>
        </p:nvSpPr>
        <p:spPr>
          <a:xfrm>
            <a:off x="6197172" y="2957801"/>
            <a:ext cx="656630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rPr lang="en-GB" noProof="0" dirty="0"/>
              <a:t>in3</a:t>
            </a:r>
          </a:p>
        </p:txBody>
      </p:sp>
      <p:sp>
        <p:nvSpPr>
          <p:cNvPr id="280" name="in1"/>
          <p:cNvSpPr txBox="1"/>
          <p:nvPr/>
        </p:nvSpPr>
        <p:spPr>
          <a:xfrm>
            <a:off x="4633151" y="4505578"/>
            <a:ext cx="656631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rPr lang="en-GB" noProof="0" dirty="0"/>
              <a:t>in1</a:t>
            </a:r>
          </a:p>
        </p:txBody>
      </p:sp>
      <p:sp>
        <p:nvSpPr>
          <p:cNvPr id="281" name="in2"/>
          <p:cNvSpPr txBox="1"/>
          <p:nvPr/>
        </p:nvSpPr>
        <p:spPr>
          <a:xfrm>
            <a:off x="4633151" y="5369178"/>
            <a:ext cx="656631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rPr lang="en-GB" noProof="0" dirty="0"/>
              <a:t>in2</a:t>
            </a:r>
          </a:p>
        </p:txBody>
      </p:sp>
      <p:sp>
        <p:nvSpPr>
          <p:cNvPr id="282" name="out"/>
          <p:cNvSpPr txBox="1"/>
          <p:nvPr/>
        </p:nvSpPr>
        <p:spPr>
          <a:xfrm>
            <a:off x="7749881" y="4923843"/>
            <a:ext cx="679252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rPr lang="en-GB" noProof="0" dirty="0"/>
              <a:t>out</a:t>
            </a:r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Rectangle"/>
          <p:cNvSpPr/>
          <p:nvPr/>
        </p:nvSpPr>
        <p:spPr>
          <a:xfrm>
            <a:off x="6833185" y="2768992"/>
            <a:ext cx="5346701" cy="6635811"/>
          </a:xfrm>
          <a:prstGeom prst="rect">
            <a:avLst/>
          </a:prstGeom>
          <a:solidFill>
            <a:srgbClr val="E9E6B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 lang="en-GB" noProof="0" dirty="0"/>
          </a:p>
        </p:txBody>
      </p:sp>
      <p:sp>
        <p:nvSpPr>
          <p:cNvPr id="285" name="Line"/>
          <p:cNvSpPr/>
          <p:nvPr/>
        </p:nvSpPr>
        <p:spPr>
          <a:xfrm>
            <a:off x="11543153" y="2636352"/>
            <a:ext cx="1" cy="33475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 lang="en-GB" noProof="0" dirty="0"/>
          </a:p>
        </p:txBody>
      </p:sp>
      <p:sp>
        <p:nvSpPr>
          <p:cNvPr id="286" name="Line"/>
          <p:cNvSpPr/>
          <p:nvPr/>
        </p:nvSpPr>
        <p:spPr>
          <a:xfrm flipH="1">
            <a:off x="10433684" y="2638956"/>
            <a:ext cx="1" cy="4904487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 lang="en-GB" noProof="0" dirty="0"/>
          </a:p>
        </p:txBody>
      </p:sp>
      <p:sp>
        <p:nvSpPr>
          <p:cNvPr id="287" name="Line"/>
          <p:cNvSpPr/>
          <p:nvPr/>
        </p:nvSpPr>
        <p:spPr>
          <a:xfrm flipH="1">
            <a:off x="9402772" y="2635874"/>
            <a:ext cx="1" cy="6051364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 lang="en-GB" noProof="0" dirty="0"/>
          </a:p>
        </p:txBody>
      </p:sp>
      <p:sp>
        <p:nvSpPr>
          <p:cNvPr id="288" name="Line"/>
          <p:cNvSpPr/>
          <p:nvPr/>
        </p:nvSpPr>
        <p:spPr>
          <a:xfrm flipH="1">
            <a:off x="8263408" y="2636352"/>
            <a:ext cx="1" cy="6051364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 lang="en-GB" noProof="0" dirty="0"/>
          </a:p>
        </p:txBody>
      </p:sp>
      <p:sp>
        <p:nvSpPr>
          <p:cNvPr id="289" name="Logic block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noProof="0" dirty="0"/>
              <a:t>Logic blocks</a:t>
            </a:r>
          </a:p>
        </p:txBody>
      </p:sp>
      <p:sp>
        <p:nvSpPr>
          <p:cNvPr id="29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 lang="en-GB" noProof="0"/>
              <a:t>18</a:t>
            </a:fld>
            <a:endParaRPr lang="en-GB" noProof="0" dirty="0"/>
          </a:p>
        </p:txBody>
      </p:sp>
      <p:sp>
        <p:nvSpPr>
          <p:cNvPr id="291" name="MUX"/>
          <p:cNvSpPr/>
          <p:nvPr/>
        </p:nvSpPr>
        <p:spPr>
          <a:xfrm>
            <a:off x="7981652" y="3005534"/>
            <a:ext cx="563514" cy="6545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21600"/>
                </a:lnTo>
                <a:lnTo>
                  <a:pt x="21600" y="17302"/>
                </a:lnTo>
                <a:lnTo>
                  <a:pt x="21600" y="560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1300" b="1"/>
            </a:lvl1pPr>
          </a:lstStyle>
          <a:p>
            <a:r>
              <a:rPr lang="en-GB" noProof="0" dirty="0"/>
              <a:t>MUX</a:t>
            </a:r>
          </a:p>
        </p:txBody>
      </p:sp>
      <p:sp>
        <p:nvSpPr>
          <p:cNvPr id="292" name="MUX"/>
          <p:cNvSpPr/>
          <p:nvPr/>
        </p:nvSpPr>
        <p:spPr>
          <a:xfrm>
            <a:off x="7981652" y="3792934"/>
            <a:ext cx="563514" cy="6545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21600"/>
                </a:lnTo>
                <a:lnTo>
                  <a:pt x="21600" y="17302"/>
                </a:lnTo>
                <a:lnTo>
                  <a:pt x="21600" y="560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1300" b="1"/>
            </a:lvl1pPr>
          </a:lstStyle>
          <a:p>
            <a:r>
              <a:rPr lang="en-GB" noProof="0" dirty="0"/>
              <a:t>MUX</a:t>
            </a:r>
          </a:p>
        </p:txBody>
      </p:sp>
      <p:sp>
        <p:nvSpPr>
          <p:cNvPr id="293" name="MUX"/>
          <p:cNvSpPr/>
          <p:nvPr/>
        </p:nvSpPr>
        <p:spPr>
          <a:xfrm>
            <a:off x="7981652" y="4580335"/>
            <a:ext cx="563514" cy="6545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21600"/>
                </a:lnTo>
                <a:lnTo>
                  <a:pt x="21600" y="17302"/>
                </a:lnTo>
                <a:lnTo>
                  <a:pt x="21600" y="560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1300" b="1"/>
            </a:lvl1pPr>
          </a:lstStyle>
          <a:p>
            <a:r>
              <a:rPr lang="en-GB" noProof="0" dirty="0"/>
              <a:t>MUX</a:t>
            </a:r>
          </a:p>
        </p:txBody>
      </p:sp>
      <p:sp>
        <p:nvSpPr>
          <p:cNvPr id="294" name="MUX"/>
          <p:cNvSpPr/>
          <p:nvPr/>
        </p:nvSpPr>
        <p:spPr>
          <a:xfrm>
            <a:off x="7981652" y="5367735"/>
            <a:ext cx="563514" cy="6545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21600"/>
                </a:lnTo>
                <a:lnTo>
                  <a:pt x="21600" y="17302"/>
                </a:lnTo>
                <a:lnTo>
                  <a:pt x="21600" y="560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1300" b="1"/>
            </a:lvl1pPr>
          </a:lstStyle>
          <a:p>
            <a:r>
              <a:rPr lang="en-GB" noProof="0" dirty="0"/>
              <a:t>MUX</a:t>
            </a:r>
          </a:p>
        </p:txBody>
      </p:sp>
      <p:sp>
        <p:nvSpPr>
          <p:cNvPr id="295" name="MUX"/>
          <p:cNvSpPr/>
          <p:nvPr/>
        </p:nvSpPr>
        <p:spPr>
          <a:xfrm>
            <a:off x="7981652" y="6155135"/>
            <a:ext cx="563514" cy="6545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21600"/>
                </a:lnTo>
                <a:lnTo>
                  <a:pt x="21600" y="17302"/>
                </a:lnTo>
                <a:lnTo>
                  <a:pt x="21600" y="560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1300" b="1"/>
            </a:lvl1pPr>
          </a:lstStyle>
          <a:p>
            <a:r>
              <a:rPr lang="en-GB" noProof="0" dirty="0"/>
              <a:t>MUX</a:t>
            </a:r>
          </a:p>
        </p:txBody>
      </p:sp>
      <p:sp>
        <p:nvSpPr>
          <p:cNvPr id="296" name="MUX"/>
          <p:cNvSpPr/>
          <p:nvPr/>
        </p:nvSpPr>
        <p:spPr>
          <a:xfrm>
            <a:off x="7981652" y="6942535"/>
            <a:ext cx="563514" cy="6545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21600"/>
                </a:lnTo>
                <a:lnTo>
                  <a:pt x="21600" y="17302"/>
                </a:lnTo>
                <a:lnTo>
                  <a:pt x="21600" y="560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1300" b="1"/>
            </a:lvl1pPr>
          </a:lstStyle>
          <a:p>
            <a:r>
              <a:rPr lang="en-GB" noProof="0" dirty="0"/>
              <a:t>MUX</a:t>
            </a:r>
          </a:p>
        </p:txBody>
      </p:sp>
      <p:sp>
        <p:nvSpPr>
          <p:cNvPr id="297" name="MUX"/>
          <p:cNvSpPr/>
          <p:nvPr/>
        </p:nvSpPr>
        <p:spPr>
          <a:xfrm>
            <a:off x="7981652" y="7729935"/>
            <a:ext cx="563514" cy="6545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21600"/>
                </a:lnTo>
                <a:lnTo>
                  <a:pt x="21600" y="17302"/>
                </a:lnTo>
                <a:lnTo>
                  <a:pt x="21600" y="560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1300" b="1"/>
            </a:lvl1pPr>
          </a:lstStyle>
          <a:p>
            <a:r>
              <a:rPr lang="en-GB" noProof="0" dirty="0"/>
              <a:t>MUX</a:t>
            </a:r>
          </a:p>
        </p:txBody>
      </p:sp>
      <p:sp>
        <p:nvSpPr>
          <p:cNvPr id="298" name="MUX"/>
          <p:cNvSpPr/>
          <p:nvPr/>
        </p:nvSpPr>
        <p:spPr>
          <a:xfrm>
            <a:off x="7981652" y="8517335"/>
            <a:ext cx="563514" cy="6545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21600"/>
                </a:lnTo>
                <a:lnTo>
                  <a:pt x="21600" y="17302"/>
                </a:lnTo>
                <a:lnTo>
                  <a:pt x="21600" y="560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1300" b="1"/>
            </a:lvl1pPr>
          </a:lstStyle>
          <a:p>
            <a:r>
              <a:rPr lang="en-GB" noProof="0" dirty="0"/>
              <a:t>MUX</a:t>
            </a:r>
          </a:p>
        </p:txBody>
      </p:sp>
      <p:sp>
        <p:nvSpPr>
          <p:cNvPr id="299" name="Rectangle"/>
          <p:cNvSpPr/>
          <p:nvPr/>
        </p:nvSpPr>
        <p:spPr>
          <a:xfrm>
            <a:off x="7137400" y="2956456"/>
            <a:ext cx="325120" cy="368301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2100" b="1"/>
            </a:pPr>
            <a:r>
              <a:rPr lang="en-GB" noProof="0" dirty="0">
                <a:solidFill>
                  <a:schemeClr val="accent6"/>
                </a:solidFill>
              </a:rPr>
              <a:t>0</a:t>
            </a:r>
          </a:p>
        </p:txBody>
      </p:sp>
      <p:sp>
        <p:nvSpPr>
          <p:cNvPr id="300" name="Rectangle"/>
          <p:cNvSpPr/>
          <p:nvPr/>
        </p:nvSpPr>
        <p:spPr>
          <a:xfrm>
            <a:off x="7137400" y="3337455"/>
            <a:ext cx="325120" cy="368301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2100" b="1"/>
            </a:pPr>
            <a:r>
              <a:rPr lang="en-GB" noProof="0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301" name="Rectangle"/>
          <p:cNvSpPr/>
          <p:nvPr/>
        </p:nvSpPr>
        <p:spPr>
          <a:xfrm>
            <a:off x="7137400" y="3744999"/>
            <a:ext cx="325120" cy="368301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2100" b="1"/>
            </a:pPr>
            <a:r>
              <a:rPr lang="en-GB" noProof="0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302" name="Rectangle"/>
          <p:cNvSpPr/>
          <p:nvPr/>
        </p:nvSpPr>
        <p:spPr>
          <a:xfrm>
            <a:off x="7137400" y="4125999"/>
            <a:ext cx="325120" cy="368301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2100" b="1"/>
            </a:pPr>
            <a:r>
              <a:rPr lang="en-GB" noProof="0" dirty="0">
                <a:solidFill>
                  <a:schemeClr val="accent6"/>
                </a:solidFill>
              </a:rPr>
              <a:t>0</a:t>
            </a:r>
          </a:p>
        </p:txBody>
      </p:sp>
      <p:sp>
        <p:nvSpPr>
          <p:cNvPr id="303" name="Rectangle"/>
          <p:cNvSpPr/>
          <p:nvPr/>
        </p:nvSpPr>
        <p:spPr>
          <a:xfrm>
            <a:off x="7137400" y="4526049"/>
            <a:ext cx="325120" cy="368301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2100" b="1"/>
            </a:pPr>
            <a:r>
              <a:rPr lang="en-GB" noProof="0" dirty="0">
                <a:solidFill>
                  <a:schemeClr val="accent6"/>
                </a:solidFill>
              </a:rPr>
              <a:t>0</a:t>
            </a:r>
          </a:p>
        </p:txBody>
      </p:sp>
      <p:sp>
        <p:nvSpPr>
          <p:cNvPr id="304" name="Rectangle"/>
          <p:cNvSpPr/>
          <p:nvPr/>
        </p:nvSpPr>
        <p:spPr>
          <a:xfrm>
            <a:off x="7137400" y="4907049"/>
            <a:ext cx="325120" cy="368301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2100" b="1"/>
            </a:pPr>
            <a:r>
              <a:rPr lang="en-GB" noProof="0" dirty="0">
                <a:solidFill>
                  <a:schemeClr val="accent6"/>
                </a:solidFill>
              </a:rPr>
              <a:t>0</a:t>
            </a:r>
          </a:p>
        </p:txBody>
      </p:sp>
      <p:sp>
        <p:nvSpPr>
          <p:cNvPr id="305" name="Rectangle"/>
          <p:cNvSpPr/>
          <p:nvPr/>
        </p:nvSpPr>
        <p:spPr>
          <a:xfrm>
            <a:off x="7137400" y="5314592"/>
            <a:ext cx="325120" cy="368301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2100" b="1"/>
            </a:pPr>
            <a:r>
              <a:rPr lang="en-GB" noProof="0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306" name="Rectangle"/>
          <p:cNvSpPr/>
          <p:nvPr/>
        </p:nvSpPr>
        <p:spPr>
          <a:xfrm>
            <a:off x="7137400" y="5695592"/>
            <a:ext cx="325120" cy="368301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2100" b="1"/>
            </a:pPr>
            <a:r>
              <a:rPr lang="en-GB" noProof="0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307" name="Rectangle"/>
          <p:cNvSpPr/>
          <p:nvPr/>
        </p:nvSpPr>
        <p:spPr>
          <a:xfrm>
            <a:off x="7137400" y="6095642"/>
            <a:ext cx="325120" cy="368301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2100" b="1"/>
            </a:pPr>
            <a:r>
              <a:rPr lang="en-GB" noProof="0" dirty="0">
                <a:solidFill>
                  <a:schemeClr val="accent6"/>
                </a:solidFill>
              </a:rPr>
              <a:t>0</a:t>
            </a:r>
          </a:p>
        </p:txBody>
      </p:sp>
      <p:sp>
        <p:nvSpPr>
          <p:cNvPr id="308" name="Rectangle"/>
          <p:cNvSpPr/>
          <p:nvPr/>
        </p:nvSpPr>
        <p:spPr>
          <a:xfrm>
            <a:off x="7137400" y="6476642"/>
            <a:ext cx="325120" cy="368301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2100" b="1"/>
            </a:pPr>
            <a:r>
              <a:rPr lang="en-GB" noProof="0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309" name="Rectangle"/>
          <p:cNvSpPr/>
          <p:nvPr/>
        </p:nvSpPr>
        <p:spPr>
          <a:xfrm>
            <a:off x="7137400" y="6884185"/>
            <a:ext cx="325120" cy="368301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2100" b="1"/>
            </a:pPr>
            <a:r>
              <a:rPr lang="en-GB" noProof="0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310" name="Rectangle"/>
          <p:cNvSpPr/>
          <p:nvPr/>
        </p:nvSpPr>
        <p:spPr>
          <a:xfrm>
            <a:off x="7137400" y="7265185"/>
            <a:ext cx="325120" cy="368301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2100" b="1"/>
            </a:pPr>
            <a:r>
              <a:rPr lang="en-GB" noProof="0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311" name="Rectangle"/>
          <p:cNvSpPr/>
          <p:nvPr/>
        </p:nvSpPr>
        <p:spPr>
          <a:xfrm>
            <a:off x="7137400" y="7665235"/>
            <a:ext cx="325120" cy="368301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2100" b="1"/>
            </a:pPr>
            <a:r>
              <a:rPr lang="en-GB" noProof="0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312" name="Rectangle"/>
          <p:cNvSpPr/>
          <p:nvPr/>
        </p:nvSpPr>
        <p:spPr>
          <a:xfrm>
            <a:off x="7137400" y="8046235"/>
            <a:ext cx="325120" cy="368301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2100" b="1"/>
            </a:pPr>
            <a:r>
              <a:rPr lang="en-GB" noProof="0" dirty="0">
                <a:solidFill>
                  <a:schemeClr val="accent6"/>
                </a:solidFill>
              </a:rPr>
              <a:t>0</a:t>
            </a:r>
          </a:p>
        </p:txBody>
      </p:sp>
      <p:sp>
        <p:nvSpPr>
          <p:cNvPr id="313" name="Rectangle"/>
          <p:cNvSpPr/>
          <p:nvPr/>
        </p:nvSpPr>
        <p:spPr>
          <a:xfrm>
            <a:off x="7137400" y="8453779"/>
            <a:ext cx="325120" cy="368301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2100" b="1"/>
            </a:pPr>
            <a:r>
              <a:rPr lang="en-GB" noProof="0" dirty="0">
                <a:solidFill>
                  <a:schemeClr val="accent6"/>
                </a:solidFill>
              </a:rPr>
              <a:t>0</a:t>
            </a:r>
          </a:p>
        </p:txBody>
      </p:sp>
      <p:sp>
        <p:nvSpPr>
          <p:cNvPr id="314" name="Rectangle"/>
          <p:cNvSpPr/>
          <p:nvPr/>
        </p:nvSpPr>
        <p:spPr>
          <a:xfrm>
            <a:off x="7137400" y="8834779"/>
            <a:ext cx="325120" cy="368301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2100" b="1"/>
            </a:pPr>
            <a:r>
              <a:rPr lang="en-GB" noProof="0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315" name="MUX"/>
          <p:cNvSpPr/>
          <p:nvPr/>
        </p:nvSpPr>
        <p:spPr>
          <a:xfrm>
            <a:off x="9064297" y="3424634"/>
            <a:ext cx="563514" cy="6545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21600"/>
                </a:lnTo>
                <a:lnTo>
                  <a:pt x="21600" y="17302"/>
                </a:lnTo>
                <a:lnTo>
                  <a:pt x="21600" y="560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1300" b="1"/>
            </a:lvl1pPr>
          </a:lstStyle>
          <a:p>
            <a:r>
              <a:rPr lang="en-GB" noProof="0" dirty="0"/>
              <a:t>MUX</a:t>
            </a:r>
          </a:p>
        </p:txBody>
      </p:sp>
      <p:sp>
        <p:nvSpPr>
          <p:cNvPr id="316" name="MUX"/>
          <p:cNvSpPr/>
          <p:nvPr/>
        </p:nvSpPr>
        <p:spPr>
          <a:xfrm>
            <a:off x="9064297" y="5012134"/>
            <a:ext cx="563514" cy="6545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21600"/>
                </a:lnTo>
                <a:lnTo>
                  <a:pt x="21600" y="17302"/>
                </a:lnTo>
                <a:lnTo>
                  <a:pt x="21600" y="560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1300" b="1"/>
            </a:lvl1pPr>
          </a:lstStyle>
          <a:p>
            <a:r>
              <a:rPr lang="en-GB" noProof="0" dirty="0"/>
              <a:t>MUX</a:t>
            </a:r>
          </a:p>
        </p:txBody>
      </p:sp>
      <p:sp>
        <p:nvSpPr>
          <p:cNvPr id="317" name="MUX"/>
          <p:cNvSpPr/>
          <p:nvPr/>
        </p:nvSpPr>
        <p:spPr>
          <a:xfrm>
            <a:off x="9064297" y="6510735"/>
            <a:ext cx="563514" cy="6545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21600"/>
                </a:lnTo>
                <a:lnTo>
                  <a:pt x="21600" y="17302"/>
                </a:lnTo>
                <a:lnTo>
                  <a:pt x="21600" y="560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1300" b="1"/>
            </a:lvl1pPr>
          </a:lstStyle>
          <a:p>
            <a:r>
              <a:rPr lang="en-GB" noProof="0" dirty="0"/>
              <a:t>MUX</a:t>
            </a:r>
          </a:p>
        </p:txBody>
      </p:sp>
      <p:sp>
        <p:nvSpPr>
          <p:cNvPr id="318" name="MUX"/>
          <p:cNvSpPr/>
          <p:nvPr/>
        </p:nvSpPr>
        <p:spPr>
          <a:xfrm>
            <a:off x="9064297" y="8187135"/>
            <a:ext cx="563514" cy="6545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21600"/>
                </a:lnTo>
                <a:lnTo>
                  <a:pt x="21600" y="17302"/>
                </a:lnTo>
                <a:lnTo>
                  <a:pt x="21600" y="560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1300" b="1"/>
            </a:lvl1pPr>
          </a:lstStyle>
          <a:p>
            <a:r>
              <a:rPr lang="en-GB" noProof="0" dirty="0"/>
              <a:t>MUX</a:t>
            </a:r>
          </a:p>
        </p:txBody>
      </p:sp>
      <p:sp>
        <p:nvSpPr>
          <p:cNvPr id="319" name="MUX"/>
          <p:cNvSpPr/>
          <p:nvPr/>
        </p:nvSpPr>
        <p:spPr>
          <a:xfrm>
            <a:off x="10169197" y="4250134"/>
            <a:ext cx="563514" cy="6545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21600"/>
                </a:lnTo>
                <a:lnTo>
                  <a:pt x="21600" y="17302"/>
                </a:lnTo>
                <a:lnTo>
                  <a:pt x="21600" y="560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1300" b="1"/>
            </a:lvl1pPr>
          </a:lstStyle>
          <a:p>
            <a:r>
              <a:rPr lang="en-GB" noProof="0" dirty="0"/>
              <a:t>MUX</a:t>
            </a:r>
          </a:p>
        </p:txBody>
      </p:sp>
      <p:sp>
        <p:nvSpPr>
          <p:cNvPr id="320" name="MUX"/>
          <p:cNvSpPr/>
          <p:nvPr/>
        </p:nvSpPr>
        <p:spPr>
          <a:xfrm>
            <a:off x="10169197" y="7374335"/>
            <a:ext cx="563514" cy="6545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21600"/>
                </a:lnTo>
                <a:lnTo>
                  <a:pt x="21600" y="17302"/>
                </a:lnTo>
                <a:lnTo>
                  <a:pt x="21600" y="560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1300" b="1"/>
            </a:lvl1pPr>
          </a:lstStyle>
          <a:p>
            <a:r>
              <a:rPr lang="en-GB" noProof="0" dirty="0"/>
              <a:t>MUX</a:t>
            </a:r>
          </a:p>
        </p:txBody>
      </p:sp>
      <p:sp>
        <p:nvSpPr>
          <p:cNvPr id="321" name="MUX"/>
          <p:cNvSpPr/>
          <p:nvPr/>
        </p:nvSpPr>
        <p:spPr>
          <a:xfrm>
            <a:off x="11261397" y="5786835"/>
            <a:ext cx="563514" cy="6545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21600"/>
                </a:lnTo>
                <a:lnTo>
                  <a:pt x="21600" y="17302"/>
                </a:lnTo>
                <a:lnTo>
                  <a:pt x="21600" y="560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1300" b="1"/>
            </a:lvl1pPr>
          </a:lstStyle>
          <a:p>
            <a:r>
              <a:rPr lang="en-GB" noProof="0" dirty="0"/>
              <a:t>MUX</a:t>
            </a:r>
          </a:p>
        </p:txBody>
      </p:sp>
      <p:sp>
        <p:nvSpPr>
          <p:cNvPr id="322" name="Line"/>
          <p:cNvSpPr/>
          <p:nvPr/>
        </p:nvSpPr>
        <p:spPr>
          <a:xfrm>
            <a:off x="7465466" y="3133313"/>
            <a:ext cx="518420" cy="1151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9430" y="0"/>
                </a:lnTo>
                <a:lnTo>
                  <a:pt x="9430" y="21600"/>
                </a:lnTo>
                <a:lnTo>
                  <a:pt x="21600" y="2160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 lang="en-GB" noProof="0" dirty="0"/>
          </a:p>
        </p:txBody>
      </p:sp>
      <p:sp>
        <p:nvSpPr>
          <p:cNvPr id="323" name="Line"/>
          <p:cNvSpPr/>
          <p:nvPr/>
        </p:nvSpPr>
        <p:spPr>
          <a:xfrm>
            <a:off x="7465466" y="3455109"/>
            <a:ext cx="518420" cy="926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9430" y="21600"/>
                </a:lnTo>
                <a:lnTo>
                  <a:pt x="9430" y="0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 lang="en-GB" noProof="0" dirty="0"/>
          </a:p>
        </p:txBody>
      </p:sp>
      <p:sp>
        <p:nvSpPr>
          <p:cNvPr id="324" name="Line"/>
          <p:cNvSpPr/>
          <p:nvPr/>
        </p:nvSpPr>
        <p:spPr>
          <a:xfrm>
            <a:off x="7465466" y="3912445"/>
            <a:ext cx="518420" cy="1151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9430" y="0"/>
                </a:lnTo>
                <a:lnTo>
                  <a:pt x="9430" y="21600"/>
                </a:lnTo>
                <a:lnTo>
                  <a:pt x="21600" y="2160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 lang="en-GB" noProof="0" dirty="0"/>
          </a:p>
        </p:txBody>
      </p:sp>
      <p:sp>
        <p:nvSpPr>
          <p:cNvPr id="325" name="Line"/>
          <p:cNvSpPr/>
          <p:nvPr/>
        </p:nvSpPr>
        <p:spPr>
          <a:xfrm>
            <a:off x="7465466" y="4234241"/>
            <a:ext cx="518420" cy="926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9430" y="21600"/>
                </a:lnTo>
                <a:lnTo>
                  <a:pt x="9430" y="0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 lang="en-GB" noProof="0" dirty="0"/>
          </a:p>
        </p:txBody>
      </p:sp>
      <p:sp>
        <p:nvSpPr>
          <p:cNvPr id="326" name="Line"/>
          <p:cNvSpPr/>
          <p:nvPr/>
        </p:nvSpPr>
        <p:spPr>
          <a:xfrm>
            <a:off x="7465466" y="4699845"/>
            <a:ext cx="518420" cy="1151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9430" y="0"/>
                </a:lnTo>
                <a:lnTo>
                  <a:pt x="9430" y="21600"/>
                </a:lnTo>
                <a:lnTo>
                  <a:pt x="21600" y="2160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 lang="en-GB" noProof="0" dirty="0"/>
          </a:p>
        </p:txBody>
      </p:sp>
      <p:sp>
        <p:nvSpPr>
          <p:cNvPr id="327" name="Line"/>
          <p:cNvSpPr/>
          <p:nvPr/>
        </p:nvSpPr>
        <p:spPr>
          <a:xfrm>
            <a:off x="7465466" y="5021641"/>
            <a:ext cx="518420" cy="926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9430" y="21600"/>
                </a:lnTo>
                <a:lnTo>
                  <a:pt x="9430" y="0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 lang="en-GB" noProof="0" dirty="0"/>
          </a:p>
        </p:txBody>
      </p:sp>
      <p:sp>
        <p:nvSpPr>
          <p:cNvPr id="328" name="Line"/>
          <p:cNvSpPr/>
          <p:nvPr/>
        </p:nvSpPr>
        <p:spPr>
          <a:xfrm>
            <a:off x="7465466" y="5487245"/>
            <a:ext cx="518420" cy="1151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9430" y="0"/>
                </a:lnTo>
                <a:lnTo>
                  <a:pt x="9430" y="21600"/>
                </a:lnTo>
                <a:lnTo>
                  <a:pt x="21600" y="2160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 lang="en-GB" noProof="0" dirty="0"/>
          </a:p>
        </p:txBody>
      </p:sp>
      <p:sp>
        <p:nvSpPr>
          <p:cNvPr id="329" name="Line"/>
          <p:cNvSpPr/>
          <p:nvPr/>
        </p:nvSpPr>
        <p:spPr>
          <a:xfrm>
            <a:off x="7465466" y="5809041"/>
            <a:ext cx="518420" cy="926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9430" y="21600"/>
                </a:lnTo>
                <a:lnTo>
                  <a:pt x="9430" y="0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 lang="en-GB" noProof="0" dirty="0"/>
          </a:p>
        </p:txBody>
      </p:sp>
      <p:sp>
        <p:nvSpPr>
          <p:cNvPr id="330" name="Line"/>
          <p:cNvSpPr/>
          <p:nvPr/>
        </p:nvSpPr>
        <p:spPr>
          <a:xfrm>
            <a:off x="7465466" y="6274646"/>
            <a:ext cx="518420" cy="1151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9430" y="0"/>
                </a:lnTo>
                <a:lnTo>
                  <a:pt x="9430" y="21600"/>
                </a:lnTo>
                <a:lnTo>
                  <a:pt x="21600" y="2160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 lang="en-GB" noProof="0" dirty="0"/>
          </a:p>
        </p:txBody>
      </p:sp>
      <p:sp>
        <p:nvSpPr>
          <p:cNvPr id="331" name="Line"/>
          <p:cNvSpPr/>
          <p:nvPr/>
        </p:nvSpPr>
        <p:spPr>
          <a:xfrm>
            <a:off x="7465466" y="6596442"/>
            <a:ext cx="518420" cy="926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9430" y="21600"/>
                </a:lnTo>
                <a:lnTo>
                  <a:pt x="9430" y="0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 lang="en-GB" noProof="0" dirty="0"/>
          </a:p>
        </p:txBody>
      </p:sp>
      <p:sp>
        <p:nvSpPr>
          <p:cNvPr id="332" name="Line"/>
          <p:cNvSpPr/>
          <p:nvPr/>
        </p:nvSpPr>
        <p:spPr>
          <a:xfrm>
            <a:off x="7465466" y="7053777"/>
            <a:ext cx="518420" cy="11518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9430" y="0"/>
                </a:lnTo>
                <a:lnTo>
                  <a:pt x="9430" y="21600"/>
                </a:lnTo>
                <a:lnTo>
                  <a:pt x="21600" y="2160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 lang="en-GB" noProof="0" dirty="0"/>
          </a:p>
        </p:txBody>
      </p:sp>
      <p:sp>
        <p:nvSpPr>
          <p:cNvPr id="333" name="Line"/>
          <p:cNvSpPr/>
          <p:nvPr/>
        </p:nvSpPr>
        <p:spPr>
          <a:xfrm>
            <a:off x="7465466" y="7375574"/>
            <a:ext cx="518420" cy="926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9430" y="21600"/>
                </a:lnTo>
                <a:lnTo>
                  <a:pt x="9430" y="0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 lang="en-GB" noProof="0" dirty="0"/>
          </a:p>
        </p:txBody>
      </p:sp>
      <p:sp>
        <p:nvSpPr>
          <p:cNvPr id="334" name="Line"/>
          <p:cNvSpPr/>
          <p:nvPr/>
        </p:nvSpPr>
        <p:spPr>
          <a:xfrm>
            <a:off x="7465466" y="7841177"/>
            <a:ext cx="518420" cy="11518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9430" y="0"/>
                </a:lnTo>
                <a:lnTo>
                  <a:pt x="9430" y="21600"/>
                </a:lnTo>
                <a:lnTo>
                  <a:pt x="21600" y="2160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 lang="en-GB" noProof="0" dirty="0"/>
          </a:p>
        </p:txBody>
      </p:sp>
      <p:sp>
        <p:nvSpPr>
          <p:cNvPr id="335" name="Line"/>
          <p:cNvSpPr/>
          <p:nvPr/>
        </p:nvSpPr>
        <p:spPr>
          <a:xfrm>
            <a:off x="7465466" y="8162974"/>
            <a:ext cx="518420" cy="926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9430" y="21600"/>
                </a:lnTo>
                <a:lnTo>
                  <a:pt x="9430" y="0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 lang="en-GB" noProof="0" dirty="0"/>
          </a:p>
        </p:txBody>
      </p:sp>
      <p:sp>
        <p:nvSpPr>
          <p:cNvPr id="336" name="Line"/>
          <p:cNvSpPr/>
          <p:nvPr/>
        </p:nvSpPr>
        <p:spPr>
          <a:xfrm>
            <a:off x="7465466" y="8628577"/>
            <a:ext cx="518420" cy="11518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9430" y="0"/>
                </a:lnTo>
                <a:lnTo>
                  <a:pt x="9430" y="21600"/>
                </a:lnTo>
                <a:lnTo>
                  <a:pt x="21600" y="2160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 lang="en-GB" noProof="0" dirty="0"/>
          </a:p>
        </p:txBody>
      </p:sp>
      <p:sp>
        <p:nvSpPr>
          <p:cNvPr id="337" name="Line"/>
          <p:cNvSpPr/>
          <p:nvPr/>
        </p:nvSpPr>
        <p:spPr>
          <a:xfrm>
            <a:off x="7465466" y="8950374"/>
            <a:ext cx="518420" cy="926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9430" y="21600"/>
                </a:lnTo>
                <a:lnTo>
                  <a:pt x="9430" y="0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 lang="en-GB" noProof="0" dirty="0"/>
          </a:p>
        </p:txBody>
      </p:sp>
      <p:sp>
        <p:nvSpPr>
          <p:cNvPr id="338" name="Line"/>
          <p:cNvSpPr/>
          <p:nvPr/>
        </p:nvSpPr>
        <p:spPr>
          <a:xfrm>
            <a:off x="8532266" y="3350857"/>
            <a:ext cx="518420" cy="30111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9430" y="0"/>
                </a:lnTo>
                <a:lnTo>
                  <a:pt x="9430" y="21600"/>
                </a:lnTo>
                <a:lnTo>
                  <a:pt x="21600" y="2160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 lang="en-GB" noProof="0" dirty="0"/>
          </a:p>
        </p:txBody>
      </p:sp>
      <p:sp>
        <p:nvSpPr>
          <p:cNvPr id="339" name="Line"/>
          <p:cNvSpPr/>
          <p:nvPr/>
        </p:nvSpPr>
        <p:spPr>
          <a:xfrm>
            <a:off x="8532266" y="3856742"/>
            <a:ext cx="518420" cy="2982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9430" y="21600"/>
                </a:lnTo>
                <a:lnTo>
                  <a:pt x="9430" y="0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 lang="en-GB" noProof="0" dirty="0"/>
          </a:p>
        </p:txBody>
      </p:sp>
      <p:sp>
        <p:nvSpPr>
          <p:cNvPr id="340" name="Line"/>
          <p:cNvSpPr/>
          <p:nvPr/>
        </p:nvSpPr>
        <p:spPr>
          <a:xfrm>
            <a:off x="8532266" y="4898660"/>
            <a:ext cx="518420" cy="30111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9430" y="0"/>
                </a:lnTo>
                <a:lnTo>
                  <a:pt x="9430" y="21600"/>
                </a:lnTo>
                <a:lnTo>
                  <a:pt x="21600" y="2160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 lang="en-GB" noProof="0" dirty="0"/>
          </a:p>
        </p:txBody>
      </p:sp>
      <p:sp>
        <p:nvSpPr>
          <p:cNvPr id="341" name="Line"/>
          <p:cNvSpPr/>
          <p:nvPr/>
        </p:nvSpPr>
        <p:spPr>
          <a:xfrm>
            <a:off x="8532266" y="5404545"/>
            <a:ext cx="518420" cy="2982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9430" y="21600"/>
                </a:lnTo>
                <a:lnTo>
                  <a:pt x="9430" y="0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 lang="en-GB" noProof="0" dirty="0"/>
          </a:p>
        </p:txBody>
      </p:sp>
      <p:sp>
        <p:nvSpPr>
          <p:cNvPr id="342" name="Line"/>
          <p:cNvSpPr/>
          <p:nvPr/>
        </p:nvSpPr>
        <p:spPr>
          <a:xfrm>
            <a:off x="8532266" y="6511505"/>
            <a:ext cx="518420" cy="30111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9430" y="0"/>
                </a:lnTo>
                <a:lnTo>
                  <a:pt x="9430" y="21600"/>
                </a:lnTo>
                <a:lnTo>
                  <a:pt x="21600" y="2160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 lang="en-GB" noProof="0" dirty="0"/>
          </a:p>
        </p:txBody>
      </p:sp>
      <p:sp>
        <p:nvSpPr>
          <p:cNvPr id="343" name="Line"/>
          <p:cNvSpPr/>
          <p:nvPr/>
        </p:nvSpPr>
        <p:spPr>
          <a:xfrm>
            <a:off x="8532266" y="7017391"/>
            <a:ext cx="518420" cy="2982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9430" y="21600"/>
                </a:lnTo>
                <a:lnTo>
                  <a:pt x="9430" y="0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 lang="en-GB" noProof="0" dirty="0"/>
          </a:p>
        </p:txBody>
      </p:sp>
      <p:sp>
        <p:nvSpPr>
          <p:cNvPr id="344" name="Line"/>
          <p:cNvSpPr/>
          <p:nvPr/>
        </p:nvSpPr>
        <p:spPr>
          <a:xfrm>
            <a:off x="8532266" y="8085973"/>
            <a:ext cx="518420" cy="30111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9430" y="0"/>
                </a:lnTo>
                <a:lnTo>
                  <a:pt x="9430" y="21600"/>
                </a:lnTo>
                <a:lnTo>
                  <a:pt x="21600" y="2160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 lang="en-GB" noProof="0" dirty="0"/>
          </a:p>
        </p:txBody>
      </p:sp>
      <p:sp>
        <p:nvSpPr>
          <p:cNvPr id="345" name="Line"/>
          <p:cNvSpPr/>
          <p:nvPr/>
        </p:nvSpPr>
        <p:spPr>
          <a:xfrm>
            <a:off x="8532266" y="8591859"/>
            <a:ext cx="518420" cy="2982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9430" y="21600"/>
                </a:lnTo>
                <a:lnTo>
                  <a:pt x="9430" y="0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 lang="en-GB" noProof="0" dirty="0"/>
          </a:p>
        </p:txBody>
      </p:sp>
      <p:sp>
        <p:nvSpPr>
          <p:cNvPr id="346" name="Line"/>
          <p:cNvSpPr/>
          <p:nvPr/>
        </p:nvSpPr>
        <p:spPr>
          <a:xfrm>
            <a:off x="9637166" y="3746994"/>
            <a:ext cx="518420" cy="66220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9430" y="0"/>
                </a:lnTo>
                <a:lnTo>
                  <a:pt x="9430" y="21600"/>
                </a:lnTo>
                <a:lnTo>
                  <a:pt x="21600" y="2160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 lang="en-GB" noProof="0" dirty="0"/>
          </a:p>
        </p:txBody>
      </p:sp>
      <p:sp>
        <p:nvSpPr>
          <p:cNvPr id="347" name="Line"/>
          <p:cNvSpPr/>
          <p:nvPr/>
        </p:nvSpPr>
        <p:spPr>
          <a:xfrm>
            <a:off x="9637166" y="4739400"/>
            <a:ext cx="518420" cy="61963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9430" y="21600"/>
                </a:lnTo>
                <a:lnTo>
                  <a:pt x="9430" y="0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 lang="en-GB" noProof="0" dirty="0"/>
          </a:p>
        </p:txBody>
      </p:sp>
      <p:sp>
        <p:nvSpPr>
          <p:cNvPr id="348" name="Line"/>
          <p:cNvSpPr/>
          <p:nvPr/>
        </p:nvSpPr>
        <p:spPr>
          <a:xfrm>
            <a:off x="9628991" y="6895028"/>
            <a:ext cx="518419" cy="66220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9430" y="0"/>
                </a:lnTo>
                <a:lnTo>
                  <a:pt x="9430" y="21600"/>
                </a:lnTo>
                <a:lnTo>
                  <a:pt x="21600" y="2160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 lang="en-GB" noProof="0" dirty="0"/>
          </a:p>
        </p:txBody>
      </p:sp>
      <p:sp>
        <p:nvSpPr>
          <p:cNvPr id="349" name="Line"/>
          <p:cNvSpPr/>
          <p:nvPr/>
        </p:nvSpPr>
        <p:spPr>
          <a:xfrm>
            <a:off x="9628991" y="7887434"/>
            <a:ext cx="518419" cy="61963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9430" y="21600"/>
                </a:lnTo>
                <a:lnTo>
                  <a:pt x="9430" y="0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 lang="en-GB" noProof="0" dirty="0"/>
          </a:p>
        </p:txBody>
      </p:sp>
      <p:sp>
        <p:nvSpPr>
          <p:cNvPr id="350" name="Line"/>
          <p:cNvSpPr/>
          <p:nvPr/>
        </p:nvSpPr>
        <p:spPr>
          <a:xfrm>
            <a:off x="10733623" y="4592211"/>
            <a:ext cx="518419" cy="137752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9430" y="0"/>
                </a:lnTo>
                <a:lnTo>
                  <a:pt x="9430" y="21600"/>
                </a:lnTo>
                <a:lnTo>
                  <a:pt x="21600" y="2160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 lang="en-GB" noProof="0" dirty="0"/>
          </a:p>
        </p:txBody>
      </p:sp>
      <p:sp>
        <p:nvSpPr>
          <p:cNvPr id="351" name="Line"/>
          <p:cNvSpPr/>
          <p:nvPr/>
        </p:nvSpPr>
        <p:spPr>
          <a:xfrm>
            <a:off x="10733623" y="6299935"/>
            <a:ext cx="518419" cy="141165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9430" y="21600"/>
                </a:lnTo>
                <a:lnTo>
                  <a:pt x="9430" y="0"/>
                </a:ln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 lang="en-GB" noProof="0" dirty="0"/>
          </a:p>
        </p:txBody>
      </p:sp>
      <p:sp>
        <p:nvSpPr>
          <p:cNvPr id="352" name="Line"/>
          <p:cNvSpPr/>
          <p:nvPr/>
        </p:nvSpPr>
        <p:spPr>
          <a:xfrm>
            <a:off x="11836400" y="6133265"/>
            <a:ext cx="70606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 lang="en-GB" noProof="0" dirty="0"/>
          </a:p>
        </p:txBody>
      </p:sp>
      <p:sp>
        <p:nvSpPr>
          <p:cNvPr id="353" name="D"/>
          <p:cNvSpPr txBox="1"/>
          <p:nvPr/>
        </p:nvSpPr>
        <p:spPr>
          <a:xfrm>
            <a:off x="8105371" y="2271370"/>
            <a:ext cx="316075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/>
            </a:lvl1pPr>
          </a:lstStyle>
          <a:p>
            <a:r>
              <a:rPr lang="en-GB" noProof="0" dirty="0"/>
              <a:t>D</a:t>
            </a:r>
          </a:p>
        </p:txBody>
      </p:sp>
      <p:sp>
        <p:nvSpPr>
          <p:cNvPr id="354" name="C"/>
          <p:cNvSpPr txBox="1"/>
          <p:nvPr/>
        </p:nvSpPr>
        <p:spPr>
          <a:xfrm>
            <a:off x="9244735" y="2271370"/>
            <a:ext cx="316075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/>
            </a:lvl1pPr>
          </a:lstStyle>
          <a:p>
            <a:r>
              <a:rPr lang="en-GB" noProof="0" dirty="0"/>
              <a:t>C</a:t>
            </a:r>
          </a:p>
        </p:txBody>
      </p:sp>
      <p:sp>
        <p:nvSpPr>
          <p:cNvPr id="355" name="B"/>
          <p:cNvSpPr txBox="1"/>
          <p:nvPr/>
        </p:nvSpPr>
        <p:spPr>
          <a:xfrm>
            <a:off x="10275647" y="2271370"/>
            <a:ext cx="316075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/>
            </a:lvl1pPr>
          </a:lstStyle>
          <a:p>
            <a:r>
              <a:rPr lang="en-GB" noProof="0" dirty="0"/>
              <a:t>B</a:t>
            </a:r>
          </a:p>
        </p:txBody>
      </p:sp>
      <p:sp>
        <p:nvSpPr>
          <p:cNvPr id="356" name="A"/>
          <p:cNvSpPr txBox="1"/>
          <p:nvPr/>
        </p:nvSpPr>
        <p:spPr>
          <a:xfrm>
            <a:off x="11385117" y="2271370"/>
            <a:ext cx="316075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/>
            </a:lvl1pPr>
          </a:lstStyle>
          <a:p>
            <a:r>
              <a:rPr lang="en-GB" noProof="0" dirty="0"/>
              <a:t>A</a:t>
            </a:r>
          </a:p>
        </p:txBody>
      </p:sp>
      <p:sp>
        <p:nvSpPr>
          <p:cNvPr id="357" name="X"/>
          <p:cNvSpPr txBox="1"/>
          <p:nvPr/>
        </p:nvSpPr>
        <p:spPr>
          <a:xfrm>
            <a:off x="12507114" y="5917365"/>
            <a:ext cx="300658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 b="1"/>
            </a:lvl1pPr>
          </a:lstStyle>
          <a:p>
            <a:r>
              <a:rPr lang="en-GB" noProof="0" dirty="0"/>
              <a:t>X</a:t>
            </a:r>
          </a:p>
        </p:txBody>
      </p:sp>
      <p:graphicFrame>
        <p:nvGraphicFramePr>
          <p:cNvPr id="358" name="Table 1"/>
          <p:cNvGraphicFramePr/>
          <p:nvPr>
            <p:extLst>
              <p:ext uri="{D42A27DB-BD31-4B8C-83A1-F6EECF244321}">
                <p14:modId xmlns:p14="http://schemas.microsoft.com/office/powerpoint/2010/main" val="248043170"/>
              </p:ext>
            </p:extLst>
          </p:nvPr>
        </p:nvGraphicFramePr>
        <p:xfrm>
          <a:off x="1063754" y="2544849"/>
          <a:ext cx="5334000" cy="6725952"/>
        </p:xfrm>
        <a:graphic>
          <a:graphicData uri="http://schemas.openxmlformats.org/drawingml/2006/table">
            <a:tbl>
              <a:tblPr firstRow="1">
                <a:tableStyleId>{4A9BC294-FFE2-49D5-8D69-9E1BD2C41BD5}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3067">
                <a:tc>
                  <a:txBody>
                    <a:bodyPr/>
                    <a:lstStyle/>
                    <a:p>
                      <a:pPr algn="ctr" defTabSz="914400">
                        <a:tabLst>
                          <a:tab pos="1181100" algn="l"/>
                        </a:tabLst>
                        <a:defRPr sz="1800" b="0"/>
                      </a:pPr>
                      <a:r>
                        <a:rPr lang="en-GB" sz="2200" b="1" noProof="0" dirty="0"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D6D5D5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tabLst>
                          <a:tab pos="1181100" algn="l"/>
                        </a:tabLst>
                        <a:defRPr sz="1800" b="0"/>
                      </a:pPr>
                      <a:r>
                        <a:rPr lang="en-GB" sz="2200" b="1" noProof="0" dirty="0"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D6D5D5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tabLst>
                          <a:tab pos="1181100" algn="l"/>
                        </a:tabLst>
                        <a:defRPr sz="1800" b="0"/>
                      </a:pPr>
                      <a:r>
                        <a:rPr lang="en-GB" sz="2200" b="1" noProof="0" dirty="0"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D6D5D5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tabLst>
                          <a:tab pos="1181100" algn="l"/>
                        </a:tabLst>
                        <a:defRPr sz="1800" b="0"/>
                      </a:pPr>
                      <a:r>
                        <a:rPr lang="en-GB" sz="2200" b="1" noProof="0" dirty="0"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D6D5D5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tabLst>
                          <a:tab pos="1181100" algn="l"/>
                        </a:tabLst>
                        <a:defRPr sz="1800" b="0"/>
                      </a:pPr>
                      <a:r>
                        <a:rPr lang="en-GB" sz="2200" b="1" noProof="0" dirty="0"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D6D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067"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lang="en-GB" sz="2500" noProof="0" dirty="0"/>
                        <a:t>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lang="en-GB" sz="2500" noProof="0" dirty="0"/>
                        <a:t>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lang="en-GB" sz="2500" noProof="0" dirty="0"/>
                        <a:t>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lang="en-GB" sz="2500" noProof="0" dirty="0"/>
                        <a:t>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2500"/>
                      </a:pPr>
                      <a:r>
                        <a:rPr lang="en-GB" b="1" noProof="0" dirty="0">
                          <a:solidFill>
                            <a:schemeClr val="accent6"/>
                          </a:solidFill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067"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lang="en-GB" sz="2500" noProof="0" dirty="0"/>
                        <a:t>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lang="en-GB" sz="2500" noProof="0" dirty="0"/>
                        <a:t>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lang="en-GB" sz="2500" noProof="0" dirty="0"/>
                        <a:t>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lang="en-GB" sz="2500" noProof="0" dirty="0"/>
                        <a:t>1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2500"/>
                      </a:pPr>
                      <a:r>
                        <a:rPr lang="en-GB" b="1" noProof="0" dirty="0">
                          <a:solidFill>
                            <a:schemeClr val="accent6"/>
                          </a:solidFill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067"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lang="en-GB" sz="2500" noProof="0" dirty="0"/>
                        <a:t>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lang="en-GB" sz="2500" noProof="0" dirty="0"/>
                        <a:t>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lang="en-GB" sz="2500" noProof="0" dirty="0"/>
                        <a:t>1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lang="en-GB" sz="2500" noProof="0" dirty="0"/>
                        <a:t>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2500"/>
                      </a:pPr>
                      <a:r>
                        <a:rPr lang="en-GB" b="1" noProof="0" dirty="0">
                          <a:solidFill>
                            <a:schemeClr val="accent6"/>
                          </a:solidFill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067"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lang="en-GB" sz="2500" noProof="0" dirty="0"/>
                        <a:t>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lang="en-GB" sz="2500" noProof="0" dirty="0"/>
                        <a:t>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lang="en-GB" sz="2500" noProof="0" dirty="0"/>
                        <a:t>1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lang="en-GB" sz="2500" noProof="0" dirty="0"/>
                        <a:t>1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2500"/>
                      </a:pPr>
                      <a:r>
                        <a:rPr lang="en-GB" b="1" noProof="0" dirty="0">
                          <a:solidFill>
                            <a:schemeClr val="accent6"/>
                          </a:solidFill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067"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lang="en-GB" sz="2500" noProof="0" dirty="0"/>
                        <a:t>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lang="en-GB" sz="2500" noProof="0" dirty="0"/>
                        <a:t>1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lang="en-GB" sz="2500" noProof="0" dirty="0"/>
                        <a:t>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lang="en-GB" sz="2500" noProof="0" dirty="0"/>
                        <a:t>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2500"/>
                      </a:pPr>
                      <a:r>
                        <a:rPr lang="en-GB" b="1" noProof="0" dirty="0">
                          <a:solidFill>
                            <a:schemeClr val="accent6"/>
                          </a:solidFill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3067"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lang="en-GB" sz="2500" noProof="0" dirty="0"/>
                        <a:t>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lang="en-GB" sz="2500" noProof="0" dirty="0"/>
                        <a:t>1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lang="en-GB" sz="2500" noProof="0" dirty="0"/>
                        <a:t>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lang="en-GB" sz="2500" noProof="0" dirty="0"/>
                        <a:t>1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2500"/>
                      </a:pPr>
                      <a:r>
                        <a:rPr lang="en-GB" b="1" noProof="0" dirty="0">
                          <a:solidFill>
                            <a:schemeClr val="accent6"/>
                          </a:solidFill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3067"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lang="en-GB" sz="2500" noProof="0" dirty="0"/>
                        <a:t>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lang="en-GB" sz="2500" noProof="0" dirty="0"/>
                        <a:t>1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lang="en-GB" sz="2500" noProof="0" dirty="0"/>
                        <a:t>1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lang="en-GB" sz="2500" noProof="0" dirty="0"/>
                        <a:t>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2500"/>
                      </a:pPr>
                      <a:r>
                        <a:rPr lang="en-GB" b="1" noProof="0" dirty="0">
                          <a:solidFill>
                            <a:schemeClr val="accent6"/>
                          </a:solidFill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3067"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lang="en-GB" sz="2500" noProof="0" dirty="0"/>
                        <a:t>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lang="en-GB" sz="2500" noProof="0" dirty="0"/>
                        <a:t>1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lang="en-GB" sz="2500" noProof="0" dirty="0"/>
                        <a:t>1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lang="en-GB" sz="2500" noProof="0" dirty="0"/>
                        <a:t>1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2500"/>
                      </a:pPr>
                      <a:r>
                        <a:rPr lang="en-GB" b="1" noProof="0" dirty="0">
                          <a:solidFill>
                            <a:schemeClr val="accent6"/>
                          </a:solidFill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3067"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lang="en-GB" sz="2500" noProof="0" dirty="0"/>
                        <a:t>1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lang="en-GB" sz="2500" noProof="0" dirty="0"/>
                        <a:t>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lang="en-GB" sz="2500" noProof="0" dirty="0"/>
                        <a:t>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lang="en-GB" sz="2500" noProof="0" dirty="0"/>
                        <a:t>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2500"/>
                      </a:pPr>
                      <a:r>
                        <a:rPr lang="en-GB" b="1" noProof="0" dirty="0">
                          <a:solidFill>
                            <a:schemeClr val="accent6"/>
                          </a:solidFill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3067"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lang="en-GB" sz="2500" noProof="0" dirty="0"/>
                        <a:t>1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lang="en-GB" sz="2500" noProof="0" dirty="0"/>
                        <a:t>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lang="en-GB" sz="2500" noProof="0" dirty="0"/>
                        <a:t>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lang="en-GB" sz="2500" noProof="0" dirty="0"/>
                        <a:t>1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2500"/>
                      </a:pPr>
                      <a:r>
                        <a:rPr lang="en-GB" b="1" noProof="0" dirty="0">
                          <a:solidFill>
                            <a:schemeClr val="accent6"/>
                          </a:solidFill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3067"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lang="en-GB" sz="2500" noProof="0" dirty="0"/>
                        <a:t>1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lang="en-GB" sz="2500" noProof="0" dirty="0"/>
                        <a:t>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lang="en-GB" sz="2500" noProof="0" dirty="0"/>
                        <a:t>1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lang="en-GB" sz="2500" noProof="0" dirty="0"/>
                        <a:t>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2500"/>
                      </a:pPr>
                      <a:r>
                        <a:rPr lang="en-GB" b="1" noProof="0" dirty="0">
                          <a:solidFill>
                            <a:schemeClr val="accent6"/>
                          </a:solidFill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93067"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lang="en-GB" sz="2500" noProof="0" dirty="0"/>
                        <a:t>1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lang="en-GB" sz="2500" noProof="0" dirty="0"/>
                        <a:t>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lang="en-GB" sz="2500" noProof="0" dirty="0"/>
                        <a:t>1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lang="en-GB" sz="2500" noProof="0" dirty="0"/>
                        <a:t>1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2500"/>
                      </a:pPr>
                      <a:r>
                        <a:rPr lang="en-GB" b="1" noProof="0" dirty="0">
                          <a:solidFill>
                            <a:schemeClr val="accent6"/>
                          </a:solidFill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93067"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lang="en-GB" sz="2500" noProof="0" dirty="0"/>
                        <a:t>1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lang="en-GB" sz="2500" noProof="0" dirty="0"/>
                        <a:t>1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lang="en-GB" sz="2500" noProof="0" dirty="0"/>
                        <a:t>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lang="en-GB" sz="2500" noProof="0" dirty="0"/>
                        <a:t>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2500"/>
                      </a:pPr>
                      <a:r>
                        <a:rPr lang="en-GB" b="1" noProof="0" dirty="0">
                          <a:solidFill>
                            <a:schemeClr val="accent6"/>
                          </a:solidFill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93067"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lang="en-GB" sz="2500" noProof="0" dirty="0"/>
                        <a:t>1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lang="en-GB" sz="2500" noProof="0" dirty="0"/>
                        <a:t>1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lang="en-GB" sz="2500" noProof="0" dirty="0"/>
                        <a:t>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lang="en-GB" sz="2500" noProof="0" dirty="0"/>
                        <a:t>1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2500"/>
                      </a:pPr>
                      <a:r>
                        <a:rPr lang="en-GB" b="1" noProof="0" dirty="0">
                          <a:solidFill>
                            <a:schemeClr val="accent6"/>
                          </a:solidFill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93067"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lang="en-GB" sz="2500" noProof="0" dirty="0"/>
                        <a:t>1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lang="en-GB" sz="2500" noProof="0" dirty="0"/>
                        <a:t>1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lang="en-GB" sz="2500" noProof="0" dirty="0"/>
                        <a:t>1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lang="en-GB" sz="2500" noProof="0" dirty="0"/>
                        <a:t>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2500"/>
                      </a:pPr>
                      <a:r>
                        <a:rPr lang="en-GB" b="1" noProof="0" dirty="0">
                          <a:solidFill>
                            <a:schemeClr val="accent6"/>
                          </a:solidFill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93067"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lang="en-GB" sz="2500" noProof="0" dirty="0"/>
                        <a:t>1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lang="en-GB" sz="2500" noProof="0" dirty="0"/>
                        <a:t>1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lang="en-GB" sz="2500" noProof="0" dirty="0"/>
                        <a:t>1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lang="en-GB" sz="2500" noProof="0" dirty="0"/>
                        <a:t>1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2500"/>
                      </a:pPr>
                      <a:r>
                        <a:rPr lang="en-GB" b="1" noProof="0" dirty="0">
                          <a:solidFill>
                            <a:schemeClr val="accent6"/>
                          </a:solidFill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361" name="4-LUT"/>
          <p:cNvSpPr txBox="1"/>
          <p:nvPr/>
        </p:nvSpPr>
        <p:spPr>
          <a:xfrm>
            <a:off x="10884230" y="8752229"/>
            <a:ext cx="1243411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9D7A2D"/>
                </a:solidFill>
              </a:defRPr>
            </a:lvl1pPr>
          </a:lstStyle>
          <a:p>
            <a:r>
              <a:rPr lang="en-GB" noProof="0" dirty="0"/>
              <a:t>4-LUT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" fill="hold"/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5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6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7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8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9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1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1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1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7" fill="hold"/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1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" fill="hold"/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1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3" fill="hold"/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15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fill="hold"/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16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9" fill="hold"/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17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2" fill="hold"/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18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5" fill="hold"/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19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8" fill="hold"/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2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1" fill="hold"/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2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4" fill="hold"/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2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7" fill="hold"/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2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0" fill="hold"/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2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3" fill="hold"/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25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6" fill="hold"/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26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9" fill="hold"/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27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2" fill="hold"/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grpId="28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5" fill="hold"/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29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8" fill="hold"/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grpId="3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1" fill="hold"/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3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4" fill="hold"/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grpId="3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7" fill="hold"/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3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0" fill="hold"/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grpId="3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3" fill="hold"/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35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6" fill="hold"/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ntr" presetSubtype="0" fill="hold" grpId="36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9" fill="hold"/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37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2" fill="hold"/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ntr" presetSubtype="0" fill="hold" grpId="38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5" fill="hold"/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39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8" fill="hold"/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ntr" presetSubtype="0" fill="hold" grpId="4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1" fill="hold"/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grpId="4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4" fill="hold"/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" presetClass="entr" presetSubtype="0" fill="hold" grpId="4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7" fill="hold"/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4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0" fill="hold"/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" presetClass="entr" presetSubtype="0" fill="hold" grpId="4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3" fill="hold"/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fill="hold" grpId="45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6" fill="hold"/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" presetClass="entr" presetSubtype="0" fill="hold" grpId="46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9" fill="hold"/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grpId="47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2" fill="hold"/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" presetClass="entr" presetSubtype="0" fill="hold" grpId="48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5" fill="hold"/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" presetClass="entr" presetSubtype="0" fill="hold" grpId="49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8" fill="hold"/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" presetClass="entr" presetSubtype="0" fill="hold" grpId="5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1" fill="hold"/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grpId="5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4" fill="hold"/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1" presetClass="entr" presetSubtype="0" fill="hold" grpId="5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7" fill="hold"/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" presetClass="entr" presetSubtype="0" fill="hold" grpId="5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0" fill="hold"/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1" presetClass="entr" presetSubtype="0" fill="hold" grpId="5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3" fill="hold"/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grpId="55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6" fill="hold"/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" presetClass="entr" presetSubtype="0" fill="hold" grpId="56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9" fill="hold"/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1" presetClass="entr" presetSubtype="0" fill="hold" grpId="57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2" fill="hold"/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1" presetClass="entr" presetSubtype="0" fill="hold" grpId="58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5" fill="hold"/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" presetClass="entr" presetSubtype="0" fill="hold" grpId="59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8" fill="hold"/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1" presetClass="entr" presetSubtype="0" fill="hold" grpId="6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1" fill="hold"/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1" presetClass="entr" presetSubtype="0" fill="hold" grpId="6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4" fill="hold"/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1" presetClass="entr" presetSubtype="0" fill="hold" grpId="6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7" fill="hold"/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" presetClass="entr" presetSubtype="0" fill="hold" grpId="6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0" fill="hold"/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1" presetClass="entr" presetSubtype="0" fill="hold" grpId="6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3" fill="hold"/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1" presetClass="entr" presetSubtype="0" fill="hold" grpId="65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6" fill="hold"/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1" presetClass="entr" presetSubtype="0" fill="hold" grpId="66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9" fill="hold"/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1" presetClass="entr" presetSubtype="0" fill="hold" grpId="67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2" fill="hold"/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1" presetClass="entr" presetSubtype="0" fill="hold" grpId="68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5" fill="hold"/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1" presetClass="entr" presetSubtype="0" fill="hold" grpId="69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8" fill="hold"/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1" presetClass="entr" presetSubtype="0" fill="hold" grpId="7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1" fill="hold"/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1" presetClass="entr" presetSubtype="0" fill="hold" grpId="7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4" fill="hold"/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1" presetClass="entr" presetSubtype="0" fill="hold" grpId="7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7" fill="hold"/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1" presetClass="entr" presetSubtype="0" fill="hold" grpId="7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0" fill="hold"/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1" presetClass="entr" presetSubtype="0" fill="hold" grpId="7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3" fill="hold"/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>
                      <p:stCondLst>
                        <p:cond delay="indefinite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1" presetClass="entr" presetSubtype="0" fill="hold" grpId="76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7" fill="hold"/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4" grpId="7" animBg="1" advAuto="0"/>
      <p:bldP spid="285" grpId="23" animBg="1" advAuto="0"/>
      <p:bldP spid="286" grpId="33" animBg="1" advAuto="0"/>
      <p:bldP spid="287" grpId="38" animBg="1" advAuto="0"/>
      <p:bldP spid="288" grpId="39" animBg="1" advAuto="0"/>
      <p:bldP spid="291" grpId="9" animBg="1" advAuto="0"/>
      <p:bldP spid="292" grpId="17" animBg="1" advAuto="0"/>
      <p:bldP spid="293" grpId="25" animBg="1" advAuto="0"/>
      <p:bldP spid="294" grpId="35" animBg="1" advAuto="0"/>
      <p:bldP spid="295" grpId="46" animBg="1" advAuto="0"/>
      <p:bldP spid="296" grpId="55" animBg="1" advAuto="0"/>
      <p:bldP spid="297" grpId="62" animBg="1" advAuto="0"/>
      <p:bldP spid="298" grpId="70" animBg="1" advAuto="0"/>
      <p:bldP spid="299" grpId="8" animBg="1" advAuto="0"/>
      <p:bldP spid="300" grpId="11" animBg="1" advAuto="0"/>
      <p:bldP spid="301" grpId="15" animBg="1" advAuto="0"/>
      <p:bldP spid="302" grpId="20" animBg="1" advAuto="0"/>
      <p:bldP spid="303" grpId="24" animBg="1" advAuto="0"/>
      <p:bldP spid="304" grpId="30" animBg="1" advAuto="0"/>
      <p:bldP spid="305" grpId="34" animBg="1" advAuto="0"/>
      <p:bldP spid="306" grpId="40" animBg="1" advAuto="0"/>
      <p:bldP spid="307" grpId="43" animBg="1" advAuto="0"/>
      <p:bldP spid="308" grpId="49" animBg="1" advAuto="0"/>
      <p:bldP spid="309" grpId="53" animBg="1" advAuto="0"/>
      <p:bldP spid="310" grpId="58" animBg="1" advAuto="0"/>
      <p:bldP spid="311" grpId="61" animBg="1" advAuto="0"/>
      <p:bldP spid="312" grpId="65" animBg="1" advAuto="0"/>
      <p:bldP spid="313" grpId="69" animBg="1" advAuto="0"/>
      <p:bldP spid="314" grpId="73" animBg="1" advAuto="0"/>
      <p:bldP spid="315" grpId="13" animBg="1" advAuto="0"/>
      <p:bldP spid="316" grpId="31" animBg="1" advAuto="0"/>
      <p:bldP spid="317" grpId="50" animBg="1" advAuto="0"/>
      <p:bldP spid="318" grpId="68" animBg="1" advAuto="0"/>
      <p:bldP spid="319" grpId="22" animBg="1" advAuto="0"/>
      <p:bldP spid="320" grpId="59" animBg="1" advAuto="0"/>
      <p:bldP spid="321" grpId="41" animBg="1" advAuto="0"/>
      <p:bldP spid="322" grpId="10" animBg="1" advAuto="0"/>
      <p:bldP spid="323" grpId="14" animBg="1" advAuto="0"/>
      <p:bldP spid="324" grpId="19" animBg="1" advAuto="0"/>
      <p:bldP spid="325" grpId="21" animBg="1" advAuto="0"/>
      <p:bldP spid="326" grpId="27" animBg="1" advAuto="0"/>
      <p:bldP spid="327" grpId="32" animBg="1" advAuto="0"/>
      <p:bldP spid="328" grpId="37" animBg="1" advAuto="0"/>
      <p:bldP spid="329" grpId="42" animBg="1" advAuto="0"/>
      <p:bldP spid="330" grpId="47" animBg="1" advAuto="0"/>
      <p:bldP spid="331" grpId="52" animBg="1" advAuto="0"/>
      <p:bldP spid="332" grpId="57" animBg="1" advAuto="0"/>
      <p:bldP spid="333" grpId="60" animBg="1" advAuto="0"/>
      <p:bldP spid="334" grpId="63" animBg="1" advAuto="0"/>
      <p:bldP spid="335" grpId="67" animBg="1" advAuto="0"/>
      <p:bldP spid="336" grpId="72" animBg="1" advAuto="0"/>
      <p:bldP spid="337" grpId="74" animBg="1" advAuto="0"/>
      <p:bldP spid="338" grpId="12" animBg="1" advAuto="0"/>
      <p:bldP spid="339" grpId="18" animBg="1" advAuto="0"/>
      <p:bldP spid="340" grpId="29" animBg="1" advAuto="0"/>
      <p:bldP spid="341" grpId="36" animBg="1" advAuto="0"/>
      <p:bldP spid="342" grpId="51" animBg="1" advAuto="0"/>
      <p:bldP spid="343" grpId="56" animBg="1" advAuto="0"/>
      <p:bldP spid="344" grpId="66" animBg="1" advAuto="0"/>
      <p:bldP spid="345" grpId="71" animBg="1" advAuto="0"/>
      <p:bldP spid="346" grpId="16" animBg="1" advAuto="0"/>
      <p:bldP spid="347" grpId="28" animBg="1" advAuto="0"/>
      <p:bldP spid="348" grpId="54" animBg="1" advAuto="0"/>
      <p:bldP spid="349" grpId="64" animBg="1" advAuto="0"/>
      <p:bldP spid="350" grpId="26" animBg="1" advAuto="0"/>
      <p:bldP spid="351" grpId="48" animBg="1" advAuto="0"/>
      <p:bldP spid="352" grpId="44" animBg="1" advAuto="0"/>
      <p:bldP spid="353" grpId="3" animBg="1" advAuto="0"/>
      <p:bldP spid="354" grpId="4" animBg="1" advAuto="0"/>
      <p:bldP spid="355" grpId="5" animBg="1" advAuto="0"/>
      <p:bldP spid="356" grpId="6" animBg="1" advAuto="0"/>
      <p:bldP spid="357" grpId="45" animBg="1" advAuto="0"/>
      <p:bldP spid="358" grpId="1" animBg="1" advAuto="0"/>
      <p:bldP spid="361" grpId="76" animBg="1" advAuto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Field-programmable  gate arrays (FPGAs)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490727">
              <a:defRPr sz="6719"/>
            </a:pPr>
            <a:r>
              <a:rPr lang="en-GB" noProof="0" dirty="0"/>
              <a:t>Field-programmable </a:t>
            </a:r>
            <a:br>
              <a:rPr lang="en-GB" noProof="0" dirty="0"/>
            </a:br>
            <a:r>
              <a:rPr lang="en-GB" noProof="0" dirty="0"/>
              <a:t>gate arrays (FPGAs)</a:t>
            </a:r>
          </a:p>
        </p:txBody>
      </p:sp>
      <p:sp>
        <p:nvSpPr>
          <p:cNvPr id="36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 lang="en-GB" noProof="0"/>
              <a:t>19</a:t>
            </a:fld>
            <a:endParaRPr lang="en-GB" noProof="0" dirty="0"/>
          </a:p>
        </p:txBody>
      </p:sp>
      <p:grpSp>
        <p:nvGrpSpPr>
          <p:cNvPr id="473" name="Group"/>
          <p:cNvGrpSpPr/>
          <p:nvPr/>
        </p:nvGrpSpPr>
        <p:grpSpPr>
          <a:xfrm>
            <a:off x="6376650" y="2733893"/>
            <a:ext cx="6744329" cy="6124357"/>
            <a:chOff x="0" y="-6350"/>
            <a:chExt cx="6744327" cy="6124356"/>
          </a:xfrm>
        </p:grpSpPr>
        <p:grpSp>
          <p:nvGrpSpPr>
            <p:cNvPr id="369" name="Group"/>
            <p:cNvGrpSpPr/>
            <p:nvPr/>
          </p:nvGrpSpPr>
          <p:grpSpPr>
            <a:xfrm>
              <a:off x="670775" y="1072418"/>
              <a:ext cx="558062" cy="3756556"/>
              <a:chOff x="0" y="0"/>
              <a:chExt cx="558060" cy="3756555"/>
            </a:xfrm>
          </p:grpSpPr>
          <p:sp>
            <p:nvSpPr>
              <p:cNvPr id="365" name="Line"/>
              <p:cNvSpPr/>
              <p:nvPr/>
            </p:nvSpPr>
            <p:spPr>
              <a:xfrm flipV="1">
                <a:off x="-1" y="0"/>
                <a:ext cx="2" cy="3756556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 lang="en-GB" noProof="0" dirty="0"/>
              </a:p>
            </p:txBody>
          </p:sp>
          <p:sp>
            <p:nvSpPr>
              <p:cNvPr id="366" name="Line"/>
              <p:cNvSpPr/>
              <p:nvPr/>
            </p:nvSpPr>
            <p:spPr>
              <a:xfrm flipV="1">
                <a:off x="186020" y="0"/>
                <a:ext cx="1" cy="3756556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 lang="en-GB" noProof="0" dirty="0"/>
              </a:p>
            </p:txBody>
          </p:sp>
          <p:sp>
            <p:nvSpPr>
              <p:cNvPr id="367" name="Line"/>
              <p:cNvSpPr/>
              <p:nvPr/>
            </p:nvSpPr>
            <p:spPr>
              <a:xfrm flipV="1">
                <a:off x="372040" y="0"/>
                <a:ext cx="1" cy="3756556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 lang="en-GB" noProof="0" dirty="0"/>
              </a:p>
            </p:txBody>
          </p:sp>
          <p:sp>
            <p:nvSpPr>
              <p:cNvPr id="368" name="Line"/>
              <p:cNvSpPr/>
              <p:nvPr/>
            </p:nvSpPr>
            <p:spPr>
              <a:xfrm flipV="1">
                <a:off x="558060" y="0"/>
                <a:ext cx="1" cy="3756556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 lang="en-GB" noProof="0" dirty="0"/>
              </a:p>
            </p:txBody>
          </p:sp>
        </p:grpSp>
        <p:grpSp>
          <p:nvGrpSpPr>
            <p:cNvPr id="374" name="Group"/>
            <p:cNvGrpSpPr/>
            <p:nvPr/>
          </p:nvGrpSpPr>
          <p:grpSpPr>
            <a:xfrm>
              <a:off x="279229" y="3849773"/>
              <a:ext cx="5357239" cy="558061"/>
              <a:chOff x="0" y="0"/>
              <a:chExt cx="5357237" cy="558060"/>
            </a:xfrm>
          </p:grpSpPr>
          <p:sp>
            <p:nvSpPr>
              <p:cNvPr id="370" name="Line"/>
              <p:cNvSpPr/>
              <p:nvPr/>
            </p:nvSpPr>
            <p:spPr>
              <a:xfrm>
                <a:off x="0" y="0"/>
                <a:ext cx="5357238" cy="0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 lang="en-GB" noProof="0" dirty="0"/>
              </a:p>
            </p:txBody>
          </p:sp>
          <p:sp>
            <p:nvSpPr>
              <p:cNvPr id="371" name="Line"/>
              <p:cNvSpPr/>
              <p:nvPr/>
            </p:nvSpPr>
            <p:spPr>
              <a:xfrm>
                <a:off x="0" y="186020"/>
                <a:ext cx="5357238" cy="1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 lang="en-GB" noProof="0" dirty="0"/>
              </a:p>
            </p:txBody>
          </p:sp>
          <p:sp>
            <p:nvSpPr>
              <p:cNvPr id="372" name="Line"/>
              <p:cNvSpPr/>
              <p:nvPr/>
            </p:nvSpPr>
            <p:spPr>
              <a:xfrm>
                <a:off x="0" y="372040"/>
                <a:ext cx="5357238" cy="1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 lang="en-GB" noProof="0" dirty="0"/>
              </a:p>
            </p:txBody>
          </p:sp>
          <p:sp>
            <p:nvSpPr>
              <p:cNvPr id="373" name="Line"/>
              <p:cNvSpPr/>
              <p:nvPr/>
            </p:nvSpPr>
            <p:spPr>
              <a:xfrm>
                <a:off x="0" y="558060"/>
                <a:ext cx="5357238" cy="1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 lang="en-GB" noProof="0" dirty="0"/>
              </a:p>
            </p:txBody>
          </p:sp>
        </p:grpSp>
        <p:grpSp>
          <p:nvGrpSpPr>
            <p:cNvPr id="379" name="Group"/>
            <p:cNvGrpSpPr/>
            <p:nvPr/>
          </p:nvGrpSpPr>
          <p:grpSpPr>
            <a:xfrm>
              <a:off x="574461" y="3753459"/>
              <a:ext cx="750690" cy="750690"/>
              <a:chOff x="0" y="0"/>
              <a:chExt cx="750689" cy="750688"/>
            </a:xfrm>
          </p:grpSpPr>
          <p:sp>
            <p:nvSpPr>
              <p:cNvPr id="375" name="Circle"/>
              <p:cNvSpPr/>
              <p:nvPr/>
            </p:nvSpPr>
            <p:spPr>
              <a:xfrm>
                <a:off x="0" y="0"/>
                <a:ext cx="192629" cy="192629"/>
              </a:xfrm>
              <a:prstGeom prst="ellipse">
                <a:avLst/>
              </a:prstGeom>
              <a:solidFill>
                <a:srgbClr val="D2D0AD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 lang="en-GB" noProof="0" dirty="0"/>
              </a:p>
            </p:txBody>
          </p:sp>
          <p:sp>
            <p:nvSpPr>
              <p:cNvPr id="376" name="Circle"/>
              <p:cNvSpPr/>
              <p:nvPr/>
            </p:nvSpPr>
            <p:spPr>
              <a:xfrm>
                <a:off x="186020" y="181792"/>
                <a:ext cx="192629" cy="192630"/>
              </a:xfrm>
              <a:prstGeom prst="ellipse">
                <a:avLst/>
              </a:prstGeom>
              <a:solidFill>
                <a:srgbClr val="D2D0AD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 lang="en-GB" noProof="0" dirty="0"/>
              </a:p>
            </p:txBody>
          </p:sp>
          <p:sp>
            <p:nvSpPr>
              <p:cNvPr id="377" name="Circle"/>
              <p:cNvSpPr/>
              <p:nvPr/>
            </p:nvSpPr>
            <p:spPr>
              <a:xfrm>
                <a:off x="371607" y="372040"/>
                <a:ext cx="192630" cy="192629"/>
              </a:xfrm>
              <a:prstGeom prst="ellipse">
                <a:avLst/>
              </a:prstGeom>
              <a:solidFill>
                <a:srgbClr val="D2D0AD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 lang="en-GB" noProof="0" dirty="0"/>
              </a:p>
            </p:txBody>
          </p:sp>
          <p:sp>
            <p:nvSpPr>
              <p:cNvPr id="378" name="Circle"/>
              <p:cNvSpPr/>
              <p:nvPr/>
            </p:nvSpPr>
            <p:spPr>
              <a:xfrm>
                <a:off x="558060" y="558060"/>
                <a:ext cx="192630" cy="192629"/>
              </a:xfrm>
              <a:prstGeom prst="ellipse">
                <a:avLst/>
              </a:prstGeom>
              <a:solidFill>
                <a:srgbClr val="D2D0AD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 lang="en-GB" noProof="0" dirty="0"/>
              </a:p>
            </p:txBody>
          </p:sp>
        </p:grpSp>
        <p:grpSp>
          <p:nvGrpSpPr>
            <p:cNvPr id="384" name="Group"/>
            <p:cNvGrpSpPr/>
            <p:nvPr/>
          </p:nvGrpSpPr>
          <p:grpSpPr>
            <a:xfrm>
              <a:off x="2213662" y="1087803"/>
              <a:ext cx="558062" cy="3725785"/>
              <a:chOff x="0" y="0"/>
              <a:chExt cx="558060" cy="3725783"/>
            </a:xfrm>
          </p:grpSpPr>
          <p:sp>
            <p:nvSpPr>
              <p:cNvPr id="380" name="Line"/>
              <p:cNvSpPr/>
              <p:nvPr/>
            </p:nvSpPr>
            <p:spPr>
              <a:xfrm flipV="1">
                <a:off x="-1" y="-1"/>
                <a:ext cx="2" cy="3725785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 lang="en-GB" noProof="0" dirty="0"/>
              </a:p>
            </p:txBody>
          </p:sp>
          <p:sp>
            <p:nvSpPr>
              <p:cNvPr id="381" name="Line"/>
              <p:cNvSpPr/>
              <p:nvPr/>
            </p:nvSpPr>
            <p:spPr>
              <a:xfrm flipV="1">
                <a:off x="186020" y="-1"/>
                <a:ext cx="1" cy="3725785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 lang="en-GB" noProof="0" dirty="0"/>
              </a:p>
            </p:txBody>
          </p:sp>
          <p:sp>
            <p:nvSpPr>
              <p:cNvPr id="382" name="Line"/>
              <p:cNvSpPr/>
              <p:nvPr/>
            </p:nvSpPr>
            <p:spPr>
              <a:xfrm flipV="1">
                <a:off x="372040" y="-1"/>
                <a:ext cx="1" cy="3725785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 lang="en-GB" noProof="0" dirty="0"/>
              </a:p>
            </p:txBody>
          </p:sp>
          <p:sp>
            <p:nvSpPr>
              <p:cNvPr id="383" name="Line"/>
              <p:cNvSpPr/>
              <p:nvPr/>
            </p:nvSpPr>
            <p:spPr>
              <a:xfrm flipV="1">
                <a:off x="558060" y="-1"/>
                <a:ext cx="1" cy="3725785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 lang="en-GB" noProof="0" dirty="0"/>
              </a:p>
            </p:txBody>
          </p:sp>
        </p:grpSp>
        <p:grpSp>
          <p:nvGrpSpPr>
            <p:cNvPr id="389" name="Group"/>
            <p:cNvGrpSpPr/>
            <p:nvPr/>
          </p:nvGrpSpPr>
          <p:grpSpPr>
            <a:xfrm>
              <a:off x="250270" y="2136805"/>
              <a:ext cx="5415159" cy="558062"/>
              <a:chOff x="0" y="0"/>
              <a:chExt cx="5415158" cy="558061"/>
            </a:xfrm>
          </p:grpSpPr>
          <p:sp>
            <p:nvSpPr>
              <p:cNvPr id="385" name="Line"/>
              <p:cNvSpPr/>
              <p:nvPr/>
            </p:nvSpPr>
            <p:spPr>
              <a:xfrm>
                <a:off x="0" y="0"/>
                <a:ext cx="5415159" cy="0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 lang="en-GB" noProof="0" dirty="0"/>
              </a:p>
            </p:txBody>
          </p:sp>
          <p:sp>
            <p:nvSpPr>
              <p:cNvPr id="386" name="Line"/>
              <p:cNvSpPr/>
              <p:nvPr/>
            </p:nvSpPr>
            <p:spPr>
              <a:xfrm>
                <a:off x="0" y="186020"/>
                <a:ext cx="5415159" cy="1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 lang="en-GB" noProof="0" dirty="0"/>
              </a:p>
            </p:txBody>
          </p:sp>
          <p:sp>
            <p:nvSpPr>
              <p:cNvPr id="387" name="Line"/>
              <p:cNvSpPr/>
              <p:nvPr/>
            </p:nvSpPr>
            <p:spPr>
              <a:xfrm>
                <a:off x="0" y="372041"/>
                <a:ext cx="5415159" cy="1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 lang="en-GB" noProof="0" dirty="0"/>
              </a:p>
            </p:txBody>
          </p:sp>
          <p:sp>
            <p:nvSpPr>
              <p:cNvPr id="388" name="Line"/>
              <p:cNvSpPr/>
              <p:nvPr/>
            </p:nvSpPr>
            <p:spPr>
              <a:xfrm>
                <a:off x="0" y="558061"/>
                <a:ext cx="5415159" cy="1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 lang="en-GB" noProof="0" dirty="0"/>
              </a:p>
            </p:txBody>
          </p:sp>
        </p:grpSp>
        <p:grpSp>
          <p:nvGrpSpPr>
            <p:cNvPr id="394" name="Group"/>
            <p:cNvGrpSpPr/>
            <p:nvPr/>
          </p:nvGrpSpPr>
          <p:grpSpPr>
            <a:xfrm>
              <a:off x="2117347" y="2040490"/>
              <a:ext cx="750691" cy="750690"/>
              <a:chOff x="0" y="0"/>
              <a:chExt cx="750689" cy="750688"/>
            </a:xfrm>
          </p:grpSpPr>
          <p:sp>
            <p:nvSpPr>
              <p:cNvPr id="390" name="Circle"/>
              <p:cNvSpPr/>
              <p:nvPr/>
            </p:nvSpPr>
            <p:spPr>
              <a:xfrm>
                <a:off x="0" y="0"/>
                <a:ext cx="192629" cy="192629"/>
              </a:xfrm>
              <a:prstGeom prst="ellipse">
                <a:avLst/>
              </a:prstGeom>
              <a:solidFill>
                <a:srgbClr val="D2D0AD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 lang="en-GB" noProof="0" dirty="0"/>
              </a:p>
            </p:txBody>
          </p:sp>
          <p:sp>
            <p:nvSpPr>
              <p:cNvPr id="391" name="Circle"/>
              <p:cNvSpPr/>
              <p:nvPr/>
            </p:nvSpPr>
            <p:spPr>
              <a:xfrm>
                <a:off x="186020" y="181792"/>
                <a:ext cx="192629" cy="192630"/>
              </a:xfrm>
              <a:prstGeom prst="ellipse">
                <a:avLst/>
              </a:prstGeom>
              <a:solidFill>
                <a:srgbClr val="D2D0AD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 lang="en-GB" noProof="0" dirty="0"/>
              </a:p>
            </p:txBody>
          </p:sp>
          <p:sp>
            <p:nvSpPr>
              <p:cNvPr id="392" name="Circle"/>
              <p:cNvSpPr/>
              <p:nvPr/>
            </p:nvSpPr>
            <p:spPr>
              <a:xfrm>
                <a:off x="371608" y="372040"/>
                <a:ext cx="192629" cy="192629"/>
              </a:xfrm>
              <a:prstGeom prst="ellipse">
                <a:avLst/>
              </a:prstGeom>
              <a:solidFill>
                <a:srgbClr val="D2D0AD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 lang="en-GB" noProof="0" dirty="0"/>
              </a:p>
            </p:txBody>
          </p:sp>
          <p:sp>
            <p:nvSpPr>
              <p:cNvPr id="393" name="Circle"/>
              <p:cNvSpPr/>
              <p:nvPr/>
            </p:nvSpPr>
            <p:spPr>
              <a:xfrm>
                <a:off x="558060" y="558060"/>
                <a:ext cx="192630" cy="192629"/>
              </a:xfrm>
              <a:prstGeom prst="ellipse">
                <a:avLst/>
              </a:prstGeom>
              <a:solidFill>
                <a:srgbClr val="D2D0AD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 lang="en-GB" noProof="0" dirty="0"/>
              </a:p>
            </p:txBody>
          </p:sp>
        </p:grpSp>
        <p:grpSp>
          <p:nvGrpSpPr>
            <p:cNvPr id="399" name="Group"/>
            <p:cNvGrpSpPr/>
            <p:nvPr/>
          </p:nvGrpSpPr>
          <p:grpSpPr>
            <a:xfrm>
              <a:off x="3959736" y="1103189"/>
              <a:ext cx="558062" cy="3725785"/>
              <a:chOff x="0" y="0"/>
              <a:chExt cx="558060" cy="3725783"/>
            </a:xfrm>
          </p:grpSpPr>
          <p:sp>
            <p:nvSpPr>
              <p:cNvPr id="395" name="Line"/>
              <p:cNvSpPr/>
              <p:nvPr/>
            </p:nvSpPr>
            <p:spPr>
              <a:xfrm flipV="1">
                <a:off x="-1" y="-1"/>
                <a:ext cx="2" cy="3725785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 lang="en-GB" noProof="0" dirty="0"/>
              </a:p>
            </p:txBody>
          </p:sp>
          <p:sp>
            <p:nvSpPr>
              <p:cNvPr id="396" name="Line"/>
              <p:cNvSpPr/>
              <p:nvPr/>
            </p:nvSpPr>
            <p:spPr>
              <a:xfrm flipV="1">
                <a:off x="186020" y="-1"/>
                <a:ext cx="1" cy="3725785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 lang="en-GB" noProof="0" dirty="0"/>
              </a:p>
            </p:txBody>
          </p:sp>
          <p:sp>
            <p:nvSpPr>
              <p:cNvPr id="397" name="Line"/>
              <p:cNvSpPr/>
              <p:nvPr/>
            </p:nvSpPr>
            <p:spPr>
              <a:xfrm flipV="1">
                <a:off x="372040" y="-1"/>
                <a:ext cx="1" cy="3725785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 lang="en-GB" noProof="0" dirty="0"/>
              </a:p>
            </p:txBody>
          </p:sp>
          <p:sp>
            <p:nvSpPr>
              <p:cNvPr id="398" name="Line"/>
              <p:cNvSpPr/>
              <p:nvPr/>
            </p:nvSpPr>
            <p:spPr>
              <a:xfrm flipV="1">
                <a:off x="558060" y="-1"/>
                <a:ext cx="1" cy="3725785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 lang="en-GB" noProof="0" dirty="0"/>
              </a:p>
            </p:txBody>
          </p:sp>
        </p:grpSp>
        <p:grpSp>
          <p:nvGrpSpPr>
            <p:cNvPr id="404" name="Group"/>
            <p:cNvGrpSpPr/>
            <p:nvPr/>
          </p:nvGrpSpPr>
          <p:grpSpPr>
            <a:xfrm>
              <a:off x="3863422" y="3753459"/>
              <a:ext cx="750690" cy="750690"/>
              <a:chOff x="0" y="0"/>
              <a:chExt cx="750688" cy="750688"/>
            </a:xfrm>
          </p:grpSpPr>
          <p:sp>
            <p:nvSpPr>
              <p:cNvPr id="400" name="Circle"/>
              <p:cNvSpPr/>
              <p:nvPr/>
            </p:nvSpPr>
            <p:spPr>
              <a:xfrm>
                <a:off x="0" y="0"/>
                <a:ext cx="192629" cy="192629"/>
              </a:xfrm>
              <a:prstGeom prst="ellipse">
                <a:avLst/>
              </a:prstGeom>
              <a:solidFill>
                <a:srgbClr val="D2D0AD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 lang="en-GB" noProof="0" dirty="0"/>
              </a:p>
            </p:txBody>
          </p:sp>
          <p:sp>
            <p:nvSpPr>
              <p:cNvPr id="401" name="Circle"/>
              <p:cNvSpPr/>
              <p:nvPr/>
            </p:nvSpPr>
            <p:spPr>
              <a:xfrm>
                <a:off x="186020" y="181792"/>
                <a:ext cx="192629" cy="192630"/>
              </a:xfrm>
              <a:prstGeom prst="ellipse">
                <a:avLst/>
              </a:prstGeom>
              <a:solidFill>
                <a:srgbClr val="D2D0AD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 lang="en-GB" noProof="0" dirty="0"/>
              </a:p>
            </p:txBody>
          </p:sp>
          <p:sp>
            <p:nvSpPr>
              <p:cNvPr id="402" name="Circle"/>
              <p:cNvSpPr/>
              <p:nvPr/>
            </p:nvSpPr>
            <p:spPr>
              <a:xfrm>
                <a:off x="371608" y="372040"/>
                <a:ext cx="192629" cy="192629"/>
              </a:xfrm>
              <a:prstGeom prst="ellipse">
                <a:avLst/>
              </a:prstGeom>
              <a:solidFill>
                <a:srgbClr val="D2D0AD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 lang="en-GB" noProof="0" dirty="0"/>
              </a:p>
            </p:txBody>
          </p:sp>
          <p:sp>
            <p:nvSpPr>
              <p:cNvPr id="403" name="Circle"/>
              <p:cNvSpPr/>
              <p:nvPr/>
            </p:nvSpPr>
            <p:spPr>
              <a:xfrm>
                <a:off x="558060" y="558060"/>
                <a:ext cx="192629" cy="192629"/>
              </a:xfrm>
              <a:prstGeom prst="ellipse">
                <a:avLst/>
              </a:prstGeom>
              <a:solidFill>
                <a:srgbClr val="D2D0AD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 lang="en-GB" noProof="0" dirty="0"/>
              </a:p>
            </p:txBody>
          </p:sp>
        </p:grpSp>
        <p:grpSp>
          <p:nvGrpSpPr>
            <p:cNvPr id="409" name="Group"/>
            <p:cNvGrpSpPr/>
            <p:nvPr/>
          </p:nvGrpSpPr>
          <p:grpSpPr>
            <a:xfrm>
              <a:off x="3863421" y="2040490"/>
              <a:ext cx="750690" cy="750690"/>
              <a:chOff x="0" y="0"/>
              <a:chExt cx="750688" cy="750688"/>
            </a:xfrm>
          </p:grpSpPr>
          <p:sp>
            <p:nvSpPr>
              <p:cNvPr id="405" name="Circle"/>
              <p:cNvSpPr/>
              <p:nvPr/>
            </p:nvSpPr>
            <p:spPr>
              <a:xfrm>
                <a:off x="0" y="0"/>
                <a:ext cx="192629" cy="192629"/>
              </a:xfrm>
              <a:prstGeom prst="ellipse">
                <a:avLst/>
              </a:prstGeom>
              <a:solidFill>
                <a:srgbClr val="D2D0AD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 lang="en-GB" noProof="0" dirty="0"/>
              </a:p>
            </p:txBody>
          </p:sp>
          <p:sp>
            <p:nvSpPr>
              <p:cNvPr id="406" name="Circle"/>
              <p:cNvSpPr/>
              <p:nvPr/>
            </p:nvSpPr>
            <p:spPr>
              <a:xfrm>
                <a:off x="186020" y="181792"/>
                <a:ext cx="192629" cy="192630"/>
              </a:xfrm>
              <a:prstGeom prst="ellipse">
                <a:avLst/>
              </a:prstGeom>
              <a:solidFill>
                <a:srgbClr val="D2D0AD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 lang="en-GB" noProof="0" dirty="0"/>
              </a:p>
            </p:txBody>
          </p:sp>
          <p:sp>
            <p:nvSpPr>
              <p:cNvPr id="407" name="Circle"/>
              <p:cNvSpPr/>
              <p:nvPr/>
            </p:nvSpPr>
            <p:spPr>
              <a:xfrm>
                <a:off x="371608" y="372040"/>
                <a:ext cx="192629" cy="192629"/>
              </a:xfrm>
              <a:prstGeom prst="ellipse">
                <a:avLst/>
              </a:prstGeom>
              <a:solidFill>
                <a:srgbClr val="D2D0AD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 lang="en-GB" noProof="0" dirty="0"/>
              </a:p>
            </p:txBody>
          </p:sp>
          <p:sp>
            <p:nvSpPr>
              <p:cNvPr id="408" name="Circle"/>
              <p:cNvSpPr/>
              <p:nvPr/>
            </p:nvSpPr>
            <p:spPr>
              <a:xfrm>
                <a:off x="558060" y="558060"/>
                <a:ext cx="192629" cy="192629"/>
              </a:xfrm>
              <a:prstGeom prst="ellipse">
                <a:avLst/>
              </a:prstGeom>
              <a:solidFill>
                <a:srgbClr val="D2D0AD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 lang="en-GB" noProof="0" dirty="0"/>
              </a:p>
            </p:txBody>
          </p:sp>
        </p:grpSp>
        <p:grpSp>
          <p:nvGrpSpPr>
            <p:cNvPr id="414" name="Group"/>
            <p:cNvGrpSpPr/>
            <p:nvPr/>
          </p:nvGrpSpPr>
          <p:grpSpPr>
            <a:xfrm>
              <a:off x="2117348" y="3753459"/>
              <a:ext cx="750690" cy="750690"/>
              <a:chOff x="0" y="0"/>
              <a:chExt cx="750688" cy="750688"/>
            </a:xfrm>
          </p:grpSpPr>
          <p:sp>
            <p:nvSpPr>
              <p:cNvPr id="410" name="Circle"/>
              <p:cNvSpPr/>
              <p:nvPr/>
            </p:nvSpPr>
            <p:spPr>
              <a:xfrm>
                <a:off x="0" y="0"/>
                <a:ext cx="192629" cy="192629"/>
              </a:xfrm>
              <a:prstGeom prst="ellipse">
                <a:avLst/>
              </a:prstGeom>
              <a:solidFill>
                <a:srgbClr val="D2D0AD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 lang="en-GB" noProof="0" dirty="0"/>
              </a:p>
            </p:txBody>
          </p:sp>
          <p:sp>
            <p:nvSpPr>
              <p:cNvPr id="411" name="Circle"/>
              <p:cNvSpPr/>
              <p:nvPr/>
            </p:nvSpPr>
            <p:spPr>
              <a:xfrm>
                <a:off x="186020" y="181792"/>
                <a:ext cx="192629" cy="192630"/>
              </a:xfrm>
              <a:prstGeom prst="ellipse">
                <a:avLst/>
              </a:prstGeom>
              <a:solidFill>
                <a:srgbClr val="D2D0AD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 lang="en-GB" noProof="0" dirty="0"/>
              </a:p>
            </p:txBody>
          </p:sp>
          <p:sp>
            <p:nvSpPr>
              <p:cNvPr id="412" name="Circle"/>
              <p:cNvSpPr/>
              <p:nvPr/>
            </p:nvSpPr>
            <p:spPr>
              <a:xfrm>
                <a:off x="371608" y="372040"/>
                <a:ext cx="192629" cy="192629"/>
              </a:xfrm>
              <a:prstGeom prst="ellipse">
                <a:avLst/>
              </a:prstGeom>
              <a:solidFill>
                <a:srgbClr val="D2D0AD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 lang="en-GB" noProof="0" dirty="0"/>
              </a:p>
            </p:txBody>
          </p:sp>
          <p:sp>
            <p:nvSpPr>
              <p:cNvPr id="413" name="Circle"/>
              <p:cNvSpPr/>
              <p:nvPr/>
            </p:nvSpPr>
            <p:spPr>
              <a:xfrm>
                <a:off x="558060" y="558060"/>
                <a:ext cx="192629" cy="192629"/>
              </a:xfrm>
              <a:prstGeom prst="ellipse">
                <a:avLst/>
              </a:prstGeom>
              <a:solidFill>
                <a:srgbClr val="D2D0AD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 lang="en-GB" noProof="0" dirty="0"/>
              </a:p>
            </p:txBody>
          </p:sp>
        </p:grpSp>
        <p:grpSp>
          <p:nvGrpSpPr>
            <p:cNvPr id="419" name="Group"/>
            <p:cNvGrpSpPr/>
            <p:nvPr/>
          </p:nvGrpSpPr>
          <p:grpSpPr>
            <a:xfrm>
              <a:off x="574461" y="2040490"/>
              <a:ext cx="750690" cy="750690"/>
              <a:chOff x="0" y="0"/>
              <a:chExt cx="750688" cy="750688"/>
            </a:xfrm>
          </p:grpSpPr>
          <p:sp>
            <p:nvSpPr>
              <p:cNvPr id="415" name="Circle"/>
              <p:cNvSpPr/>
              <p:nvPr/>
            </p:nvSpPr>
            <p:spPr>
              <a:xfrm>
                <a:off x="0" y="0"/>
                <a:ext cx="192629" cy="192629"/>
              </a:xfrm>
              <a:prstGeom prst="ellipse">
                <a:avLst/>
              </a:prstGeom>
              <a:solidFill>
                <a:srgbClr val="D2D0AD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 lang="en-GB" noProof="0" dirty="0"/>
              </a:p>
            </p:txBody>
          </p:sp>
          <p:sp>
            <p:nvSpPr>
              <p:cNvPr id="416" name="Circle"/>
              <p:cNvSpPr/>
              <p:nvPr/>
            </p:nvSpPr>
            <p:spPr>
              <a:xfrm>
                <a:off x="186020" y="181792"/>
                <a:ext cx="192629" cy="192630"/>
              </a:xfrm>
              <a:prstGeom prst="ellipse">
                <a:avLst/>
              </a:prstGeom>
              <a:solidFill>
                <a:srgbClr val="D2D0AD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 lang="en-GB" noProof="0" dirty="0"/>
              </a:p>
            </p:txBody>
          </p:sp>
          <p:sp>
            <p:nvSpPr>
              <p:cNvPr id="417" name="Circle"/>
              <p:cNvSpPr/>
              <p:nvPr/>
            </p:nvSpPr>
            <p:spPr>
              <a:xfrm>
                <a:off x="371608" y="372040"/>
                <a:ext cx="192629" cy="192629"/>
              </a:xfrm>
              <a:prstGeom prst="ellipse">
                <a:avLst/>
              </a:prstGeom>
              <a:solidFill>
                <a:srgbClr val="D2D0AD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 lang="en-GB" noProof="0" dirty="0"/>
              </a:p>
            </p:txBody>
          </p:sp>
          <p:sp>
            <p:nvSpPr>
              <p:cNvPr id="418" name="Circle"/>
              <p:cNvSpPr/>
              <p:nvPr/>
            </p:nvSpPr>
            <p:spPr>
              <a:xfrm>
                <a:off x="558060" y="558060"/>
                <a:ext cx="192629" cy="192629"/>
              </a:xfrm>
              <a:prstGeom prst="ellipse">
                <a:avLst/>
              </a:prstGeom>
              <a:solidFill>
                <a:srgbClr val="D2D0AD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 lang="en-GB" noProof="0" dirty="0"/>
              </a:p>
            </p:txBody>
          </p:sp>
        </p:grpSp>
        <p:grpSp>
          <p:nvGrpSpPr>
            <p:cNvPr id="425" name="Group"/>
            <p:cNvGrpSpPr/>
            <p:nvPr/>
          </p:nvGrpSpPr>
          <p:grpSpPr>
            <a:xfrm rot="16200000">
              <a:off x="1102447" y="3875611"/>
              <a:ext cx="1031953" cy="192629"/>
              <a:chOff x="0" y="0"/>
              <a:chExt cx="1031952" cy="192628"/>
            </a:xfrm>
          </p:grpSpPr>
          <p:sp>
            <p:nvSpPr>
              <p:cNvPr id="420" name="Line"/>
              <p:cNvSpPr/>
              <p:nvPr/>
            </p:nvSpPr>
            <p:spPr>
              <a:xfrm>
                <a:off x="93176" y="96314"/>
                <a:ext cx="938777" cy="1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 lang="en-GB" noProof="0" dirty="0"/>
              </a:p>
            </p:txBody>
          </p:sp>
          <p:sp>
            <p:nvSpPr>
              <p:cNvPr id="421" name="Circle"/>
              <p:cNvSpPr/>
              <p:nvPr/>
            </p:nvSpPr>
            <p:spPr>
              <a:xfrm>
                <a:off x="0" y="0"/>
                <a:ext cx="192629" cy="192629"/>
              </a:xfrm>
              <a:prstGeom prst="ellipse">
                <a:avLst/>
              </a:prstGeom>
              <a:solidFill>
                <a:srgbClr val="D2D0AD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 lang="en-GB" noProof="0" dirty="0"/>
              </a:p>
            </p:txBody>
          </p:sp>
          <p:sp>
            <p:nvSpPr>
              <p:cNvPr id="422" name="Circle"/>
              <p:cNvSpPr/>
              <p:nvPr/>
            </p:nvSpPr>
            <p:spPr>
              <a:xfrm>
                <a:off x="182230" y="0"/>
                <a:ext cx="192630" cy="192629"/>
              </a:xfrm>
              <a:prstGeom prst="ellipse">
                <a:avLst/>
              </a:prstGeom>
              <a:solidFill>
                <a:srgbClr val="D2D0AD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 lang="en-GB" noProof="0" dirty="0"/>
              </a:p>
            </p:txBody>
          </p:sp>
          <p:sp>
            <p:nvSpPr>
              <p:cNvPr id="423" name="Circle"/>
              <p:cNvSpPr/>
              <p:nvPr/>
            </p:nvSpPr>
            <p:spPr>
              <a:xfrm>
                <a:off x="372300" y="0"/>
                <a:ext cx="192630" cy="192629"/>
              </a:xfrm>
              <a:prstGeom prst="ellipse">
                <a:avLst/>
              </a:prstGeom>
              <a:solidFill>
                <a:srgbClr val="D2D0AD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 lang="en-GB" noProof="0" dirty="0"/>
              </a:p>
            </p:txBody>
          </p:sp>
          <p:sp>
            <p:nvSpPr>
              <p:cNvPr id="424" name="Circle"/>
              <p:cNvSpPr/>
              <p:nvPr/>
            </p:nvSpPr>
            <p:spPr>
              <a:xfrm>
                <a:off x="544140" y="0"/>
                <a:ext cx="192629" cy="192629"/>
              </a:xfrm>
              <a:prstGeom prst="ellipse">
                <a:avLst/>
              </a:prstGeom>
              <a:solidFill>
                <a:srgbClr val="D2D0AD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 lang="en-GB" noProof="0" dirty="0"/>
              </a:p>
            </p:txBody>
          </p:sp>
        </p:grpSp>
        <p:grpSp>
          <p:nvGrpSpPr>
            <p:cNvPr id="431" name="Group"/>
            <p:cNvGrpSpPr/>
            <p:nvPr/>
          </p:nvGrpSpPr>
          <p:grpSpPr>
            <a:xfrm rot="16200000">
              <a:off x="2760931" y="3875611"/>
              <a:ext cx="1031953" cy="192629"/>
              <a:chOff x="0" y="0"/>
              <a:chExt cx="1031952" cy="192628"/>
            </a:xfrm>
          </p:grpSpPr>
          <p:sp>
            <p:nvSpPr>
              <p:cNvPr id="426" name="Line"/>
              <p:cNvSpPr/>
              <p:nvPr/>
            </p:nvSpPr>
            <p:spPr>
              <a:xfrm>
                <a:off x="93176" y="96314"/>
                <a:ext cx="938777" cy="1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 lang="en-GB" noProof="0" dirty="0"/>
              </a:p>
            </p:txBody>
          </p:sp>
          <p:sp>
            <p:nvSpPr>
              <p:cNvPr id="427" name="Circle"/>
              <p:cNvSpPr/>
              <p:nvPr/>
            </p:nvSpPr>
            <p:spPr>
              <a:xfrm>
                <a:off x="0" y="0"/>
                <a:ext cx="192629" cy="192629"/>
              </a:xfrm>
              <a:prstGeom prst="ellipse">
                <a:avLst/>
              </a:prstGeom>
              <a:solidFill>
                <a:srgbClr val="D2D0AD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 lang="en-GB" noProof="0" dirty="0"/>
              </a:p>
            </p:txBody>
          </p:sp>
          <p:sp>
            <p:nvSpPr>
              <p:cNvPr id="428" name="Circle"/>
              <p:cNvSpPr/>
              <p:nvPr/>
            </p:nvSpPr>
            <p:spPr>
              <a:xfrm>
                <a:off x="182230" y="0"/>
                <a:ext cx="192630" cy="192629"/>
              </a:xfrm>
              <a:prstGeom prst="ellipse">
                <a:avLst/>
              </a:prstGeom>
              <a:solidFill>
                <a:srgbClr val="D2D0AD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 lang="en-GB" noProof="0" dirty="0"/>
              </a:p>
            </p:txBody>
          </p:sp>
          <p:sp>
            <p:nvSpPr>
              <p:cNvPr id="429" name="Circle"/>
              <p:cNvSpPr/>
              <p:nvPr/>
            </p:nvSpPr>
            <p:spPr>
              <a:xfrm>
                <a:off x="372300" y="0"/>
                <a:ext cx="192630" cy="192629"/>
              </a:xfrm>
              <a:prstGeom prst="ellipse">
                <a:avLst/>
              </a:prstGeom>
              <a:solidFill>
                <a:srgbClr val="D2D0AD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 lang="en-GB" noProof="0" dirty="0"/>
              </a:p>
            </p:txBody>
          </p:sp>
          <p:sp>
            <p:nvSpPr>
              <p:cNvPr id="430" name="Circle"/>
              <p:cNvSpPr/>
              <p:nvPr/>
            </p:nvSpPr>
            <p:spPr>
              <a:xfrm>
                <a:off x="544140" y="0"/>
                <a:ext cx="192629" cy="192629"/>
              </a:xfrm>
              <a:prstGeom prst="ellipse">
                <a:avLst/>
              </a:prstGeom>
              <a:solidFill>
                <a:srgbClr val="D2D0AD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 lang="en-GB" noProof="0" dirty="0"/>
              </a:p>
            </p:txBody>
          </p:sp>
        </p:grpSp>
        <p:grpSp>
          <p:nvGrpSpPr>
            <p:cNvPr id="437" name="Group"/>
            <p:cNvGrpSpPr/>
            <p:nvPr/>
          </p:nvGrpSpPr>
          <p:grpSpPr>
            <a:xfrm rot="16200000">
              <a:off x="4501952" y="3875611"/>
              <a:ext cx="1031953" cy="192629"/>
              <a:chOff x="0" y="0"/>
              <a:chExt cx="1031952" cy="192628"/>
            </a:xfrm>
          </p:grpSpPr>
          <p:sp>
            <p:nvSpPr>
              <p:cNvPr id="432" name="Line"/>
              <p:cNvSpPr/>
              <p:nvPr/>
            </p:nvSpPr>
            <p:spPr>
              <a:xfrm>
                <a:off x="93176" y="96314"/>
                <a:ext cx="938777" cy="1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 lang="en-GB" noProof="0" dirty="0"/>
              </a:p>
            </p:txBody>
          </p:sp>
          <p:sp>
            <p:nvSpPr>
              <p:cNvPr id="433" name="Circle"/>
              <p:cNvSpPr/>
              <p:nvPr/>
            </p:nvSpPr>
            <p:spPr>
              <a:xfrm>
                <a:off x="0" y="0"/>
                <a:ext cx="192629" cy="192629"/>
              </a:xfrm>
              <a:prstGeom prst="ellipse">
                <a:avLst/>
              </a:prstGeom>
              <a:solidFill>
                <a:srgbClr val="D2D0AD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 lang="en-GB" noProof="0" dirty="0"/>
              </a:p>
            </p:txBody>
          </p:sp>
          <p:sp>
            <p:nvSpPr>
              <p:cNvPr id="434" name="Circle"/>
              <p:cNvSpPr/>
              <p:nvPr/>
            </p:nvSpPr>
            <p:spPr>
              <a:xfrm>
                <a:off x="182230" y="0"/>
                <a:ext cx="192630" cy="192629"/>
              </a:xfrm>
              <a:prstGeom prst="ellipse">
                <a:avLst/>
              </a:prstGeom>
              <a:solidFill>
                <a:srgbClr val="D2D0AD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 lang="en-GB" noProof="0" dirty="0"/>
              </a:p>
            </p:txBody>
          </p:sp>
          <p:sp>
            <p:nvSpPr>
              <p:cNvPr id="435" name="Circle"/>
              <p:cNvSpPr/>
              <p:nvPr/>
            </p:nvSpPr>
            <p:spPr>
              <a:xfrm>
                <a:off x="372300" y="0"/>
                <a:ext cx="192630" cy="192629"/>
              </a:xfrm>
              <a:prstGeom prst="ellipse">
                <a:avLst/>
              </a:prstGeom>
              <a:solidFill>
                <a:srgbClr val="D2D0AD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 lang="en-GB" noProof="0" dirty="0"/>
              </a:p>
            </p:txBody>
          </p:sp>
          <p:sp>
            <p:nvSpPr>
              <p:cNvPr id="436" name="Circle"/>
              <p:cNvSpPr/>
              <p:nvPr/>
            </p:nvSpPr>
            <p:spPr>
              <a:xfrm>
                <a:off x="544140" y="0"/>
                <a:ext cx="192629" cy="192629"/>
              </a:xfrm>
              <a:prstGeom prst="ellipse">
                <a:avLst/>
              </a:prstGeom>
              <a:solidFill>
                <a:srgbClr val="D2D0AD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 lang="en-GB" noProof="0" dirty="0"/>
              </a:p>
            </p:txBody>
          </p:sp>
        </p:grpSp>
        <p:grpSp>
          <p:nvGrpSpPr>
            <p:cNvPr id="443" name="Group"/>
            <p:cNvGrpSpPr/>
            <p:nvPr/>
          </p:nvGrpSpPr>
          <p:grpSpPr>
            <a:xfrm rot="16200000">
              <a:off x="1111171" y="2171004"/>
              <a:ext cx="1031953" cy="192630"/>
              <a:chOff x="0" y="0"/>
              <a:chExt cx="1031952" cy="192628"/>
            </a:xfrm>
          </p:grpSpPr>
          <p:sp>
            <p:nvSpPr>
              <p:cNvPr id="438" name="Line"/>
              <p:cNvSpPr/>
              <p:nvPr/>
            </p:nvSpPr>
            <p:spPr>
              <a:xfrm>
                <a:off x="93176" y="96314"/>
                <a:ext cx="938777" cy="1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 lang="en-GB" noProof="0" dirty="0"/>
              </a:p>
            </p:txBody>
          </p:sp>
          <p:sp>
            <p:nvSpPr>
              <p:cNvPr id="439" name="Circle"/>
              <p:cNvSpPr/>
              <p:nvPr/>
            </p:nvSpPr>
            <p:spPr>
              <a:xfrm>
                <a:off x="0" y="0"/>
                <a:ext cx="192629" cy="192629"/>
              </a:xfrm>
              <a:prstGeom prst="ellipse">
                <a:avLst/>
              </a:prstGeom>
              <a:solidFill>
                <a:srgbClr val="D2D0AD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 lang="en-GB" noProof="0" dirty="0"/>
              </a:p>
            </p:txBody>
          </p:sp>
          <p:sp>
            <p:nvSpPr>
              <p:cNvPr id="440" name="Circle"/>
              <p:cNvSpPr/>
              <p:nvPr/>
            </p:nvSpPr>
            <p:spPr>
              <a:xfrm>
                <a:off x="182230" y="0"/>
                <a:ext cx="192630" cy="192629"/>
              </a:xfrm>
              <a:prstGeom prst="ellipse">
                <a:avLst/>
              </a:prstGeom>
              <a:solidFill>
                <a:srgbClr val="D2D0AD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 lang="en-GB" noProof="0" dirty="0"/>
              </a:p>
            </p:txBody>
          </p:sp>
          <p:sp>
            <p:nvSpPr>
              <p:cNvPr id="441" name="Circle"/>
              <p:cNvSpPr/>
              <p:nvPr/>
            </p:nvSpPr>
            <p:spPr>
              <a:xfrm>
                <a:off x="372300" y="0"/>
                <a:ext cx="192630" cy="192629"/>
              </a:xfrm>
              <a:prstGeom prst="ellipse">
                <a:avLst/>
              </a:prstGeom>
              <a:solidFill>
                <a:srgbClr val="D2D0AD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 lang="en-GB" noProof="0" dirty="0"/>
              </a:p>
            </p:txBody>
          </p:sp>
          <p:sp>
            <p:nvSpPr>
              <p:cNvPr id="442" name="Circle"/>
              <p:cNvSpPr/>
              <p:nvPr/>
            </p:nvSpPr>
            <p:spPr>
              <a:xfrm>
                <a:off x="544140" y="0"/>
                <a:ext cx="192629" cy="192629"/>
              </a:xfrm>
              <a:prstGeom prst="ellipse">
                <a:avLst/>
              </a:prstGeom>
              <a:solidFill>
                <a:srgbClr val="D2D0AD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 lang="en-GB" noProof="0" dirty="0"/>
              </a:p>
            </p:txBody>
          </p:sp>
        </p:grpSp>
        <p:grpSp>
          <p:nvGrpSpPr>
            <p:cNvPr id="449" name="Group"/>
            <p:cNvGrpSpPr/>
            <p:nvPr/>
          </p:nvGrpSpPr>
          <p:grpSpPr>
            <a:xfrm rot="16200000">
              <a:off x="2745948" y="2178890"/>
              <a:ext cx="1031953" cy="192629"/>
              <a:chOff x="0" y="0"/>
              <a:chExt cx="1031952" cy="192628"/>
            </a:xfrm>
          </p:grpSpPr>
          <p:sp>
            <p:nvSpPr>
              <p:cNvPr id="444" name="Line"/>
              <p:cNvSpPr/>
              <p:nvPr/>
            </p:nvSpPr>
            <p:spPr>
              <a:xfrm>
                <a:off x="93176" y="96314"/>
                <a:ext cx="938777" cy="1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 lang="en-GB" noProof="0" dirty="0"/>
              </a:p>
            </p:txBody>
          </p:sp>
          <p:sp>
            <p:nvSpPr>
              <p:cNvPr id="445" name="Circle"/>
              <p:cNvSpPr/>
              <p:nvPr/>
            </p:nvSpPr>
            <p:spPr>
              <a:xfrm>
                <a:off x="0" y="0"/>
                <a:ext cx="192629" cy="192629"/>
              </a:xfrm>
              <a:prstGeom prst="ellipse">
                <a:avLst/>
              </a:prstGeom>
              <a:solidFill>
                <a:srgbClr val="D2D0AD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 lang="en-GB" noProof="0" dirty="0"/>
              </a:p>
            </p:txBody>
          </p:sp>
          <p:sp>
            <p:nvSpPr>
              <p:cNvPr id="446" name="Circle"/>
              <p:cNvSpPr/>
              <p:nvPr/>
            </p:nvSpPr>
            <p:spPr>
              <a:xfrm>
                <a:off x="182230" y="0"/>
                <a:ext cx="192630" cy="192629"/>
              </a:xfrm>
              <a:prstGeom prst="ellipse">
                <a:avLst/>
              </a:prstGeom>
              <a:solidFill>
                <a:srgbClr val="D2D0AD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 lang="en-GB" noProof="0" dirty="0"/>
              </a:p>
            </p:txBody>
          </p:sp>
          <p:sp>
            <p:nvSpPr>
              <p:cNvPr id="447" name="Circle"/>
              <p:cNvSpPr/>
              <p:nvPr/>
            </p:nvSpPr>
            <p:spPr>
              <a:xfrm>
                <a:off x="372300" y="0"/>
                <a:ext cx="192630" cy="192629"/>
              </a:xfrm>
              <a:prstGeom prst="ellipse">
                <a:avLst/>
              </a:prstGeom>
              <a:solidFill>
                <a:srgbClr val="D2D0AD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 lang="en-GB" noProof="0" dirty="0"/>
              </a:p>
            </p:txBody>
          </p:sp>
          <p:sp>
            <p:nvSpPr>
              <p:cNvPr id="448" name="Circle"/>
              <p:cNvSpPr/>
              <p:nvPr/>
            </p:nvSpPr>
            <p:spPr>
              <a:xfrm>
                <a:off x="544140" y="0"/>
                <a:ext cx="192629" cy="192629"/>
              </a:xfrm>
              <a:prstGeom prst="ellipse">
                <a:avLst/>
              </a:prstGeom>
              <a:solidFill>
                <a:srgbClr val="D2D0AD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 lang="en-GB" noProof="0" dirty="0"/>
              </a:p>
            </p:txBody>
          </p:sp>
        </p:grpSp>
        <p:grpSp>
          <p:nvGrpSpPr>
            <p:cNvPr id="455" name="Group"/>
            <p:cNvGrpSpPr/>
            <p:nvPr/>
          </p:nvGrpSpPr>
          <p:grpSpPr>
            <a:xfrm rot="16200000">
              <a:off x="4501952" y="2171004"/>
              <a:ext cx="1031953" cy="192630"/>
              <a:chOff x="0" y="0"/>
              <a:chExt cx="1031952" cy="192628"/>
            </a:xfrm>
          </p:grpSpPr>
          <p:sp>
            <p:nvSpPr>
              <p:cNvPr id="450" name="Line"/>
              <p:cNvSpPr/>
              <p:nvPr/>
            </p:nvSpPr>
            <p:spPr>
              <a:xfrm>
                <a:off x="93176" y="96314"/>
                <a:ext cx="938777" cy="1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 lang="en-GB" noProof="0" dirty="0"/>
              </a:p>
            </p:txBody>
          </p:sp>
          <p:sp>
            <p:nvSpPr>
              <p:cNvPr id="451" name="Circle"/>
              <p:cNvSpPr/>
              <p:nvPr/>
            </p:nvSpPr>
            <p:spPr>
              <a:xfrm>
                <a:off x="0" y="0"/>
                <a:ext cx="192629" cy="192629"/>
              </a:xfrm>
              <a:prstGeom prst="ellipse">
                <a:avLst/>
              </a:prstGeom>
              <a:solidFill>
                <a:srgbClr val="D2D0AD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 lang="en-GB" noProof="0" dirty="0"/>
              </a:p>
            </p:txBody>
          </p:sp>
          <p:sp>
            <p:nvSpPr>
              <p:cNvPr id="452" name="Circle"/>
              <p:cNvSpPr/>
              <p:nvPr/>
            </p:nvSpPr>
            <p:spPr>
              <a:xfrm>
                <a:off x="182230" y="0"/>
                <a:ext cx="192630" cy="192629"/>
              </a:xfrm>
              <a:prstGeom prst="ellipse">
                <a:avLst/>
              </a:prstGeom>
              <a:solidFill>
                <a:srgbClr val="D2D0AD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 lang="en-GB" noProof="0" dirty="0"/>
              </a:p>
            </p:txBody>
          </p:sp>
          <p:sp>
            <p:nvSpPr>
              <p:cNvPr id="453" name="Circle"/>
              <p:cNvSpPr/>
              <p:nvPr/>
            </p:nvSpPr>
            <p:spPr>
              <a:xfrm>
                <a:off x="372300" y="0"/>
                <a:ext cx="192630" cy="192629"/>
              </a:xfrm>
              <a:prstGeom prst="ellipse">
                <a:avLst/>
              </a:prstGeom>
              <a:solidFill>
                <a:srgbClr val="D2D0AD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 lang="en-GB" noProof="0" dirty="0"/>
              </a:p>
            </p:txBody>
          </p:sp>
          <p:sp>
            <p:nvSpPr>
              <p:cNvPr id="454" name="Circle"/>
              <p:cNvSpPr/>
              <p:nvPr/>
            </p:nvSpPr>
            <p:spPr>
              <a:xfrm>
                <a:off x="544140" y="0"/>
                <a:ext cx="192629" cy="192629"/>
              </a:xfrm>
              <a:prstGeom prst="ellipse">
                <a:avLst/>
              </a:prstGeom>
              <a:solidFill>
                <a:srgbClr val="D2D0AD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100" b="1"/>
                </a:pPr>
                <a:endParaRPr lang="en-GB" noProof="0" dirty="0"/>
              </a:p>
            </p:txBody>
          </p:sp>
        </p:grpSp>
        <p:sp>
          <p:nvSpPr>
            <p:cNvPr id="456" name="Rectangle"/>
            <p:cNvSpPr/>
            <p:nvPr/>
          </p:nvSpPr>
          <p:spPr>
            <a:xfrm>
              <a:off x="1442219" y="2936611"/>
              <a:ext cx="558062" cy="656031"/>
            </a:xfrm>
            <a:prstGeom prst="rect">
              <a:avLst/>
            </a:prstGeom>
            <a:solidFill>
              <a:srgbClr val="6E8627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 lang="en-GB" noProof="0" dirty="0"/>
            </a:p>
          </p:txBody>
        </p:sp>
        <p:sp>
          <p:nvSpPr>
            <p:cNvPr id="457" name="Rectangle"/>
            <p:cNvSpPr/>
            <p:nvPr/>
          </p:nvSpPr>
          <p:spPr>
            <a:xfrm>
              <a:off x="3086699" y="2936611"/>
              <a:ext cx="558062" cy="656031"/>
            </a:xfrm>
            <a:prstGeom prst="rect">
              <a:avLst/>
            </a:prstGeom>
            <a:solidFill>
              <a:srgbClr val="6E8627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 lang="en-GB" noProof="0" dirty="0"/>
            </a:p>
          </p:txBody>
        </p:sp>
        <p:sp>
          <p:nvSpPr>
            <p:cNvPr id="458" name="Rectangle"/>
            <p:cNvSpPr/>
            <p:nvPr/>
          </p:nvSpPr>
          <p:spPr>
            <a:xfrm>
              <a:off x="1442219" y="1239029"/>
              <a:ext cx="558062" cy="656032"/>
            </a:xfrm>
            <a:prstGeom prst="rect">
              <a:avLst/>
            </a:prstGeom>
            <a:solidFill>
              <a:srgbClr val="6E8627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 lang="en-GB" noProof="0" dirty="0"/>
            </a:p>
          </p:txBody>
        </p:sp>
        <p:sp>
          <p:nvSpPr>
            <p:cNvPr id="459" name="Rectangle"/>
            <p:cNvSpPr/>
            <p:nvPr/>
          </p:nvSpPr>
          <p:spPr>
            <a:xfrm>
              <a:off x="3086699" y="1239029"/>
              <a:ext cx="558062" cy="656032"/>
            </a:xfrm>
            <a:prstGeom prst="rect">
              <a:avLst/>
            </a:prstGeom>
            <a:solidFill>
              <a:srgbClr val="6E8627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 lang="en-GB" noProof="0" dirty="0"/>
            </a:p>
          </p:txBody>
        </p:sp>
        <p:sp>
          <p:nvSpPr>
            <p:cNvPr id="460" name="Rectangle"/>
            <p:cNvSpPr/>
            <p:nvPr/>
          </p:nvSpPr>
          <p:spPr>
            <a:xfrm>
              <a:off x="4832774" y="1239029"/>
              <a:ext cx="558062" cy="656032"/>
            </a:xfrm>
            <a:prstGeom prst="rect">
              <a:avLst/>
            </a:prstGeom>
            <a:solidFill>
              <a:srgbClr val="6E8627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 lang="en-GB" noProof="0" dirty="0"/>
            </a:p>
          </p:txBody>
        </p:sp>
        <p:sp>
          <p:nvSpPr>
            <p:cNvPr id="461" name="Rectangle"/>
            <p:cNvSpPr/>
            <p:nvPr/>
          </p:nvSpPr>
          <p:spPr>
            <a:xfrm>
              <a:off x="4839077" y="2936611"/>
              <a:ext cx="558062" cy="656031"/>
            </a:xfrm>
            <a:prstGeom prst="rect">
              <a:avLst/>
            </a:prstGeom>
            <a:solidFill>
              <a:srgbClr val="6E8627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 lang="en-GB" noProof="0" dirty="0"/>
            </a:p>
          </p:txBody>
        </p:sp>
        <p:sp>
          <p:nvSpPr>
            <p:cNvPr id="462" name="Rectangle"/>
            <p:cNvSpPr/>
            <p:nvPr/>
          </p:nvSpPr>
          <p:spPr>
            <a:xfrm>
              <a:off x="12752" y="2040491"/>
              <a:ext cx="350521" cy="750690"/>
            </a:xfrm>
            <a:prstGeom prst="rect">
              <a:avLst/>
            </a:prstGeom>
            <a:solidFill>
              <a:srgbClr val="9D7A2D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 lang="en-GB" noProof="0" dirty="0"/>
            </a:p>
          </p:txBody>
        </p:sp>
        <p:sp>
          <p:nvSpPr>
            <p:cNvPr id="463" name="Rectangle"/>
            <p:cNvSpPr/>
            <p:nvPr/>
          </p:nvSpPr>
          <p:spPr>
            <a:xfrm>
              <a:off x="0" y="3753458"/>
              <a:ext cx="350520" cy="750690"/>
            </a:xfrm>
            <a:prstGeom prst="rect">
              <a:avLst/>
            </a:prstGeom>
            <a:solidFill>
              <a:srgbClr val="9D7A2D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 lang="en-GB" noProof="0" dirty="0"/>
            </a:p>
          </p:txBody>
        </p:sp>
        <p:sp>
          <p:nvSpPr>
            <p:cNvPr id="464" name="Rectangle"/>
            <p:cNvSpPr/>
            <p:nvPr/>
          </p:nvSpPr>
          <p:spPr>
            <a:xfrm rot="5400000">
              <a:off x="774546" y="4555091"/>
              <a:ext cx="350521" cy="750690"/>
            </a:xfrm>
            <a:prstGeom prst="rect">
              <a:avLst/>
            </a:prstGeom>
            <a:solidFill>
              <a:srgbClr val="9D7A2D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 lang="en-GB" noProof="0" dirty="0"/>
            </a:p>
          </p:txBody>
        </p:sp>
        <p:sp>
          <p:nvSpPr>
            <p:cNvPr id="465" name="Rectangle"/>
            <p:cNvSpPr/>
            <p:nvPr/>
          </p:nvSpPr>
          <p:spPr>
            <a:xfrm rot="5400000">
              <a:off x="2317432" y="4555091"/>
              <a:ext cx="350521" cy="750690"/>
            </a:xfrm>
            <a:prstGeom prst="rect">
              <a:avLst/>
            </a:prstGeom>
            <a:solidFill>
              <a:srgbClr val="9D7A2D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 lang="en-GB" noProof="0" dirty="0"/>
            </a:p>
          </p:txBody>
        </p:sp>
        <p:sp>
          <p:nvSpPr>
            <p:cNvPr id="466" name="Rectangle"/>
            <p:cNvSpPr/>
            <p:nvPr/>
          </p:nvSpPr>
          <p:spPr>
            <a:xfrm rot="5400000">
              <a:off x="4063507" y="4555091"/>
              <a:ext cx="350521" cy="750690"/>
            </a:xfrm>
            <a:prstGeom prst="rect">
              <a:avLst/>
            </a:prstGeom>
            <a:solidFill>
              <a:srgbClr val="9D7A2D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 lang="en-GB" noProof="0" dirty="0"/>
            </a:p>
          </p:txBody>
        </p:sp>
        <p:sp>
          <p:nvSpPr>
            <p:cNvPr id="467" name="logic block"/>
            <p:cNvSpPr txBox="1"/>
            <p:nvPr/>
          </p:nvSpPr>
          <p:spPr>
            <a:xfrm>
              <a:off x="400574" y="-3394"/>
              <a:ext cx="3265047" cy="584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>
                <a:defRPr>
                  <a:solidFill>
                    <a:schemeClr val="accent5">
                      <a:hueOff val="-82419"/>
                      <a:satOff val="-9513"/>
                      <a:lumOff val="-16343"/>
                    </a:schemeClr>
                  </a:solidFill>
                </a:defRPr>
              </a:lvl1pPr>
            </a:lstStyle>
            <a:p>
              <a:r>
                <a:rPr lang="en-GB" noProof="0" dirty="0"/>
                <a:t>logic block</a:t>
              </a:r>
            </a:p>
          </p:txBody>
        </p:sp>
        <p:sp>
          <p:nvSpPr>
            <p:cNvPr id="468" name="Line"/>
            <p:cNvSpPr/>
            <p:nvPr/>
          </p:nvSpPr>
          <p:spPr>
            <a:xfrm flipH="1">
              <a:off x="1788331" y="536888"/>
              <a:ext cx="234824" cy="845946"/>
            </a:xfrm>
            <a:prstGeom prst="line">
              <a:avLst/>
            </a:prstGeom>
            <a:noFill/>
            <a:ln w="25400" cap="flat">
              <a:solidFill>
                <a:schemeClr val="accent5">
                  <a:hueOff val="-82419"/>
                  <a:satOff val="-9513"/>
                  <a:lumOff val="-16343"/>
                </a:schemeClr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 lang="en-GB" noProof="0" dirty="0"/>
            </a:p>
          </p:txBody>
        </p:sp>
        <p:sp>
          <p:nvSpPr>
            <p:cNvPr id="469" name="I/O pad"/>
            <p:cNvSpPr txBox="1"/>
            <p:nvPr/>
          </p:nvSpPr>
          <p:spPr>
            <a:xfrm>
              <a:off x="101426" y="5533806"/>
              <a:ext cx="3265047" cy="584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>
                <a:defRPr>
                  <a:solidFill>
                    <a:schemeClr val="accent5">
                      <a:hueOff val="-82419"/>
                      <a:satOff val="-9513"/>
                      <a:lumOff val="-16343"/>
                    </a:schemeClr>
                  </a:solidFill>
                </a:defRPr>
              </a:lvl1pPr>
            </a:lstStyle>
            <a:p>
              <a:r>
                <a:rPr lang="en-GB" noProof="0" dirty="0"/>
                <a:t>I/O pad</a:t>
              </a:r>
            </a:p>
          </p:txBody>
        </p:sp>
        <p:sp>
          <p:nvSpPr>
            <p:cNvPr id="470" name="Line"/>
            <p:cNvSpPr/>
            <p:nvPr/>
          </p:nvSpPr>
          <p:spPr>
            <a:xfrm flipV="1">
              <a:off x="1995022" y="5032297"/>
              <a:ext cx="394573" cy="647398"/>
            </a:xfrm>
            <a:prstGeom prst="line">
              <a:avLst/>
            </a:prstGeom>
            <a:noFill/>
            <a:ln w="25400" cap="flat">
              <a:solidFill>
                <a:schemeClr val="accent5">
                  <a:hueOff val="-82419"/>
                  <a:satOff val="-9513"/>
                  <a:lumOff val="-16343"/>
                </a:schemeClr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 lang="en-GB" noProof="0" dirty="0"/>
            </a:p>
          </p:txBody>
        </p:sp>
        <p:sp>
          <p:nvSpPr>
            <p:cNvPr id="471" name="switch block"/>
            <p:cNvSpPr txBox="1"/>
            <p:nvPr/>
          </p:nvSpPr>
          <p:spPr>
            <a:xfrm>
              <a:off x="3479281" y="-6351"/>
              <a:ext cx="3265047" cy="584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>
                <a:defRPr>
                  <a:solidFill>
                    <a:schemeClr val="accent5">
                      <a:hueOff val="-82419"/>
                      <a:satOff val="-9513"/>
                      <a:lumOff val="-16343"/>
                    </a:schemeClr>
                  </a:solidFill>
                </a:defRPr>
              </a:lvl1pPr>
            </a:lstStyle>
            <a:p>
              <a:r>
                <a:rPr lang="en-GB" noProof="0" dirty="0"/>
                <a:t>switch block</a:t>
              </a:r>
            </a:p>
          </p:txBody>
        </p:sp>
        <p:sp>
          <p:nvSpPr>
            <p:cNvPr id="472" name="Line"/>
            <p:cNvSpPr/>
            <p:nvPr/>
          </p:nvSpPr>
          <p:spPr>
            <a:xfrm flipH="1">
              <a:off x="4175186" y="606143"/>
              <a:ext cx="638893" cy="1664749"/>
            </a:xfrm>
            <a:prstGeom prst="line">
              <a:avLst/>
            </a:prstGeom>
            <a:noFill/>
            <a:ln w="25400" cap="flat">
              <a:solidFill>
                <a:schemeClr val="accent5">
                  <a:hueOff val="-82419"/>
                  <a:satOff val="-9513"/>
                  <a:lumOff val="-16343"/>
                </a:schemeClr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 lang="en-GB" noProof="0" dirty="0"/>
            </a:p>
          </p:txBody>
        </p:sp>
      </p:grpSp>
      <p:sp>
        <p:nvSpPr>
          <p:cNvPr id="474" name="Introduced by Xilinx (now part of AMD) in 1985.…"/>
          <p:cNvSpPr txBox="1">
            <a:spLocks noGrp="1"/>
          </p:cNvSpPr>
          <p:nvPr>
            <p:ph type="body" sz="half" idx="1"/>
          </p:nvPr>
        </p:nvSpPr>
        <p:spPr>
          <a:xfrm>
            <a:off x="952500" y="2686050"/>
            <a:ext cx="5258068" cy="6286500"/>
          </a:xfrm>
          <a:prstGeom prst="rect">
            <a:avLst/>
          </a:prstGeom>
        </p:spPr>
        <p:txBody>
          <a:bodyPr/>
          <a:lstStyle/>
          <a:p>
            <a:r>
              <a:rPr lang="en-GB" noProof="0" dirty="0"/>
              <a:t>Introduced by </a:t>
            </a:r>
            <a:r>
              <a:rPr lang="en-GB" b="1" noProof="0" dirty="0"/>
              <a:t>Xilinx</a:t>
            </a:r>
            <a:r>
              <a:rPr lang="en-GB" noProof="0" dirty="0"/>
              <a:t> (now part of </a:t>
            </a:r>
            <a:r>
              <a:rPr lang="en-GB" b="1" noProof="0" dirty="0"/>
              <a:t>AMD</a:t>
            </a:r>
            <a:r>
              <a:rPr lang="en-GB" noProof="0" dirty="0"/>
              <a:t>) in 1985.</a:t>
            </a:r>
          </a:p>
          <a:p>
            <a:r>
              <a:rPr lang="en-GB" noProof="0" dirty="0"/>
              <a:t>Other manufacturers include </a:t>
            </a:r>
            <a:r>
              <a:rPr lang="en-GB" b="1" noProof="0" dirty="0"/>
              <a:t>Altera</a:t>
            </a:r>
            <a:r>
              <a:rPr lang="en-GB" noProof="0" dirty="0"/>
              <a:t>, and </a:t>
            </a:r>
            <a:r>
              <a:rPr lang="en-GB" b="1" noProof="0" dirty="0"/>
              <a:t>Lattice</a:t>
            </a:r>
            <a:r>
              <a:rPr lang="en-GB" noProof="0" dirty="0"/>
              <a:t>.</a:t>
            </a:r>
          </a:p>
          <a:p>
            <a:r>
              <a:rPr lang="en-GB" noProof="0" dirty="0"/>
              <a:t>Arrays of programmable logic blocks, programmable wiring in between, and flexible I/O. </a:t>
            </a:r>
          </a:p>
        </p:txBody>
      </p:sp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Programmable rout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noProof="0" dirty="0"/>
              <a:t>Programmable routing</a:t>
            </a:r>
          </a:p>
        </p:txBody>
      </p:sp>
      <p:sp>
        <p:nvSpPr>
          <p:cNvPr id="47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 lang="en-GB" noProof="0"/>
              <a:t>20</a:t>
            </a:fld>
            <a:endParaRPr lang="en-GB" noProof="0" dirty="0"/>
          </a:p>
        </p:txBody>
      </p:sp>
      <p:sp>
        <p:nvSpPr>
          <p:cNvPr id="478" name="Line"/>
          <p:cNvSpPr/>
          <p:nvPr/>
        </p:nvSpPr>
        <p:spPr>
          <a:xfrm flipV="1">
            <a:off x="2419350" y="3319246"/>
            <a:ext cx="1" cy="4206586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 lang="en-GB" noProof="0" dirty="0"/>
          </a:p>
        </p:txBody>
      </p:sp>
      <p:sp>
        <p:nvSpPr>
          <p:cNvPr id="479" name="Line"/>
          <p:cNvSpPr/>
          <p:nvPr/>
        </p:nvSpPr>
        <p:spPr>
          <a:xfrm flipV="1">
            <a:off x="2978150" y="3319246"/>
            <a:ext cx="1" cy="4206586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 lang="en-GB" noProof="0" dirty="0"/>
          </a:p>
        </p:txBody>
      </p:sp>
      <p:sp>
        <p:nvSpPr>
          <p:cNvPr id="480" name="Line"/>
          <p:cNvSpPr/>
          <p:nvPr/>
        </p:nvSpPr>
        <p:spPr>
          <a:xfrm flipV="1">
            <a:off x="3536950" y="3319246"/>
            <a:ext cx="0" cy="4206586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 lang="en-GB" noProof="0" dirty="0"/>
          </a:p>
        </p:txBody>
      </p:sp>
      <p:sp>
        <p:nvSpPr>
          <p:cNvPr id="481" name="Line"/>
          <p:cNvSpPr/>
          <p:nvPr/>
        </p:nvSpPr>
        <p:spPr>
          <a:xfrm flipV="1">
            <a:off x="4095750" y="3319246"/>
            <a:ext cx="0" cy="4206586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 lang="en-GB" noProof="0" dirty="0"/>
          </a:p>
        </p:txBody>
      </p:sp>
      <p:sp>
        <p:nvSpPr>
          <p:cNvPr id="482" name="Line"/>
          <p:cNvSpPr/>
          <p:nvPr/>
        </p:nvSpPr>
        <p:spPr>
          <a:xfrm>
            <a:off x="1243157" y="4584339"/>
            <a:ext cx="4206586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 lang="en-GB" noProof="0" dirty="0"/>
          </a:p>
        </p:txBody>
      </p:sp>
      <p:sp>
        <p:nvSpPr>
          <p:cNvPr id="483" name="Line"/>
          <p:cNvSpPr/>
          <p:nvPr/>
        </p:nvSpPr>
        <p:spPr>
          <a:xfrm>
            <a:off x="1243157" y="5143139"/>
            <a:ext cx="4206586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 lang="en-GB" noProof="0" dirty="0"/>
          </a:p>
        </p:txBody>
      </p:sp>
      <p:sp>
        <p:nvSpPr>
          <p:cNvPr id="484" name="Line"/>
          <p:cNvSpPr/>
          <p:nvPr/>
        </p:nvSpPr>
        <p:spPr>
          <a:xfrm>
            <a:off x="1243157" y="5701939"/>
            <a:ext cx="4206586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 lang="en-GB" noProof="0" dirty="0"/>
          </a:p>
        </p:txBody>
      </p:sp>
      <p:sp>
        <p:nvSpPr>
          <p:cNvPr id="485" name="Line"/>
          <p:cNvSpPr/>
          <p:nvPr/>
        </p:nvSpPr>
        <p:spPr>
          <a:xfrm>
            <a:off x="1243157" y="6260739"/>
            <a:ext cx="4206586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 lang="en-GB" noProof="0" dirty="0"/>
          </a:p>
        </p:txBody>
      </p:sp>
      <p:sp>
        <p:nvSpPr>
          <p:cNvPr id="486" name="Circle"/>
          <p:cNvSpPr/>
          <p:nvPr/>
        </p:nvSpPr>
        <p:spPr>
          <a:xfrm>
            <a:off x="2130024" y="4295013"/>
            <a:ext cx="578652" cy="578652"/>
          </a:xfrm>
          <a:prstGeom prst="ellipse">
            <a:avLst/>
          </a:prstGeom>
          <a:solidFill>
            <a:srgbClr val="D2D0AD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 lang="en-GB" noProof="0" dirty="0"/>
          </a:p>
        </p:txBody>
      </p:sp>
      <p:sp>
        <p:nvSpPr>
          <p:cNvPr id="487" name="Circle"/>
          <p:cNvSpPr/>
          <p:nvPr/>
        </p:nvSpPr>
        <p:spPr>
          <a:xfrm>
            <a:off x="2688824" y="4841113"/>
            <a:ext cx="578652" cy="578652"/>
          </a:xfrm>
          <a:prstGeom prst="ellipse">
            <a:avLst/>
          </a:prstGeom>
          <a:solidFill>
            <a:srgbClr val="D2D0AD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 lang="en-GB" noProof="0" dirty="0"/>
          </a:p>
        </p:txBody>
      </p:sp>
      <p:sp>
        <p:nvSpPr>
          <p:cNvPr id="488" name="Circle"/>
          <p:cNvSpPr/>
          <p:nvPr/>
        </p:nvSpPr>
        <p:spPr>
          <a:xfrm>
            <a:off x="3246325" y="5412613"/>
            <a:ext cx="578652" cy="578652"/>
          </a:xfrm>
          <a:prstGeom prst="ellipse">
            <a:avLst/>
          </a:prstGeom>
          <a:solidFill>
            <a:srgbClr val="D2D0AD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 lang="en-GB" noProof="0" dirty="0"/>
          </a:p>
        </p:txBody>
      </p:sp>
      <p:sp>
        <p:nvSpPr>
          <p:cNvPr id="489" name="Circle"/>
          <p:cNvSpPr/>
          <p:nvPr/>
        </p:nvSpPr>
        <p:spPr>
          <a:xfrm>
            <a:off x="3806424" y="5971413"/>
            <a:ext cx="578652" cy="578652"/>
          </a:xfrm>
          <a:prstGeom prst="ellipse">
            <a:avLst/>
          </a:prstGeom>
          <a:solidFill>
            <a:srgbClr val="D2D0AD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 lang="en-GB" noProof="0" dirty="0"/>
          </a:p>
        </p:txBody>
      </p:sp>
      <p:sp>
        <p:nvSpPr>
          <p:cNvPr id="490" name="Circle"/>
          <p:cNvSpPr/>
          <p:nvPr/>
        </p:nvSpPr>
        <p:spPr>
          <a:xfrm>
            <a:off x="7359819" y="3311985"/>
            <a:ext cx="4063661" cy="4063661"/>
          </a:xfrm>
          <a:prstGeom prst="ellipse">
            <a:avLst/>
          </a:prstGeom>
          <a:solidFill>
            <a:srgbClr val="D2D0AD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 lang="en-GB" noProof="0" dirty="0"/>
          </a:p>
        </p:txBody>
      </p:sp>
      <p:sp>
        <p:nvSpPr>
          <p:cNvPr id="491" name="Line"/>
          <p:cNvSpPr/>
          <p:nvPr/>
        </p:nvSpPr>
        <p:spPr>
          <a:xfrm flipV="1">
            <a:off x="9391650" y="2961122"/>
            <a:ext cx="0" cy="490797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 lang="en-GB" noProof="0" dirty="0"/>
          </a:p>
        </p:txBody>
      </p:sp>
      <p:sp>
        <p:nvSpPr>
          <p:cNvPr id="492" name="Line"/>
          <p:cNvSpPr/>
          <p:nvPr/>
        </p:nvSpPr>
        <p:spPr>
          <a:xfrm>
            <a:off x="6731843" y="5343814"/>
            <a:ext cx="5136307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 lang="en-GB" noProof="0" dirty="0"/>
          </a:p>
        </p:txBody>
      </p:sp>
      <p:sp>
        <p:nvSpPr>
          <p:cNvPr id="493" name="Line"/>
          <p:cNvSpPr/>
          <p:nvPr/>
        </p:nvSpPr>
        <p:spPr>
          <a:xfrm flipV="1">
            <a:off x="8209517" y="4168369"/>
            <a:ext cx="1177190" cy="1177190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 lang="en-GB" noProof="0" dirty="0"/>
          </a:p>
        </p:txBody>
      </p:sp>
      <p:sp>
        <p:nvSpPr>
          <p:cNvPr id="494" name="Line"/>
          <p:cNvSpPr/>
          <p:nvPr/>
        </p:nvSpPr>
        <p:spPr>
          <a:xfrm flipV="1">
            <a:off x="9397876" y="5349469"/>
            <a:ext cx="1177191" cy="1177190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 lang="en-GB" noProof="0" dirty="0"/>
          </a:p>
        </p:txBody>
      </p:sp>
      <p:sp>
        <p:nvSpPr>
          <p:cNvPr id="495" name="Line"/>
          <p:cNvSpPr/>
          <p:nvPr/>
        </p:nvSpPr>
        <p:spPr>
          <a:xfrm flipH="1" flipV="1">
            <a:off x="9397876" y="4168369"/>
            <a:ext cx="1177191" cy="1177190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 lang="en-GB" noProof="0" dirty="0"/>
          </a:p>
        </p:txBody>
      </p:sp>
      <p:sp>
        <p:nvSpPr>
          <p:cNvPr id="496" name="Line"/>
          <p:cNvSpPr/>
          <p:nvPr/>
        </p:nvSpPr>
        <p:spPr>
          <a:xfrm flipH="1" flipV="1">
            <a:off x="8222217" y="5349469"/>
            <a:ext cx="1177190" cy="1177190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 lang="en-GB" noProof="0" dirty="0"/>
          </a:p>
        </p:txBody>
      </p:sp>
      <p:grpSp>
        <p:nvGrpSpPr>
          <p:cNvPr id="499" name="Group"/>
          <p:cNvGrpSpPr/>
          <p:nvPr/>
        </p:nvGrpSpPr>
        <p:grpSpPr>
          <a:xfrm rot="10800000" flipH="1">
            <a:off x="9664379" y="5316897"/>
            <a:ext cx="569722" cy="219814"/>
            <a:chOff x="0" y="0"/>
            <a:chExt cx="569721" cy="219813"/>
          </a:xfrm>
        </p:grpSpPr>
        <p:sp>
          <p:nvSpPr>
            <p:cNvPr id="497" name="Rectangle"/>
            <p:cNvSpPr/>
            <p:nvPr/>
          </p:nvSpPr>
          <p:spPr>
            <a:xfrm>
              <a:off x="493" y="0"/>
              <a:ext cx="569229" cy="219814"/>
            </a:xfrm>
            <a:prstGeom prst="rect">
              <a:avLst/>
            </a:prstGeom>
            <a:solidFill>
              <a:srgbClr val="D2D0AD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 lang="en-GB" noProof="0" dirty="0"/>
            </a:p>
          </p:txBody>
        </p:sp>
        <p:sp>
          <p:nvSpPr>
            <p:cNvPr id="498" name="Line"/>
            <p:cNvSpPr/>
            <p:nvPr/>
          </p:nvSpPr>
          <p:spPr>
            <a:xfrm flipV="1">
              <a:off x="0" y="31891"/>
              <a:ext cx="567784" cy="15603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 lang="en-GB" noProof="0" dirty="0"/>
            </a:p>
          </p:txBody>
        </p:sp>
      </p:grpSp>
      <p:grpSp>
        <p:nvGrpSpPr>
          <p:cNvPr id="502" name="Group"/>
          <p:cNvGrpSpPr/>
          <p:nvPr/>
        </p:nvGrpSpPr>
        <p:grpSpPr>
          <a:xfrm rot="18900000">
            <a:off x="8406138" y="4633672"/>
            <a:ext cx="569722" cy="219815"/>
            <a:chOff x="0" y="0"/>
            <a:chExt cx="569721" cy="219813"/>
          </a:xfrm>
        </p:grpSpPr>
        <p:sp>
          <p:nvSpPr>
            <p:cNvPr id="500" name="Rectangle"/>
            <p:cNvSpPr/>
            <p:nvPr/>
          </p:nvSpPr>
          <p:spPr>
            <a:xfrm>
              <a:off x="493" y="0"/>
              <a:ext cx="569229" cy="219814"/>
            </a:xfrm>
            <a:prstGeom prst="rect">
              <a:avLst/>
            </a:prstGeom>
            <a:solidFill>
              <a:srgbClr val="D2D0AD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 lang="en-GB" noProof="0" dirty="0"/>
            </a:p>
          </p:txBody>
        </p:sp>
        <p:sp>
          <p:nvSpPr>
            <p:cNvPr id="501" name="Line"/>
            <p:cNvSpPr/>
            <p:nvPr/>
          </p:nvSpPr>
          <p:spPr>
            <a:xfrm flipV="1">
              <a:off x="0" y="31891"/>
              <a:ext cx="567784" cy="15603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 lang="en-GB" noProof="0" dirty="0"/>
            </a:p>
          </p:txBody>
        </p:sp>
      </p:grpSp>
      <p:grpSp>
        <p:nvGrpSpPr>
          <p:cNvPr id="505" name="Group"/>
          <p:cNvGrpSpPr/>
          <p:nvPr/>
        </p:nvGrpSpPr>
        <p:grpSpPr>
          <a:xfrm rot="2700000">
            <a:off x="9714996" y="4551317"/>
            <a:ext cx="569722" cy="219814"/>
            <a:chOff x="0" y="0"/>
            <a:chExt cx="569721" cy="219813"/>
          </a:xfrm>
        </p:grpSpPr>
        <p:sp>
          <p:nvSpPr>
            <p:cNvPr id="503" name="Rectangle"/>
            <p:cNvSpPr/>
            <p:nvPr/>
          </p:nvSpPr>
          <p:spPr>
            <a:xfrm>
              <a:off x="493" y="0"/>
              <a:ext cx="569229" cy="219814"/>
            </a:xfrm>
            <a:prstGeom prst="rect">
              <a:avLst/>
            </a:prstGeom>
            <a:solidFill>
              <a:srgbClr val="D2D0AD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 lang="en-GB" noProof="0" dirty="0"/>
            </a:p>
          </p:txBody>
        </p:sp>
        <p:sp>
          <p:nvSpPr>
            <p:cNvPr id="504" name="Line"/>
            <p:cNvSpPr/>
            <p:nvPr/>
          </p:nvSpPr>
          <p:spPr>
            <a:xfrm flipV="1">
              <a:off x="0" y="31891"/>
              <a:ext cx="567784" cy="15603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 lang="en-GB" noProof="0" dirty="0"/>
            </a:p>
          </p:txBody>
        </p:sp>
      </p:grpSp>
      <p:grpSp>
        <p:nvGrpSpPr>
          <p:cNvPr id="508" name="Group"/>
          <p:cNvGrpSpPr/>
          <p:nvPr/>
        </p:nvGrpSpPr>
        <p:grpSpPr>
          <a:xfrm rot="8100000">
            <a:off x="9789825" y="5849968"/>
            <a:ext cx="569722" cy="219815"/>
            <a:chOff x="0" y="0"/>
            <a:chExt cx="569721" cy="219813"/>
          </a:xfrm>
        </p:grpSpPr>
        <p:sp>
          <p:nvSpPr>
            <p:cNvPr id="506" name="Rectangle"/>
            <p:cNvSpPr/>
            <p:nvPr/>
          </p:nvSpPr>
          <p:spPr>
            <a:xfrm>
              <a:off x="493" y="0"/>
              <a:ext cx="569229" cy="219814"/>
            </a:xfrm>
            <a:prstGeom prst="rect">
              <a:avLst/>
            </a:prstGeom>
            <a:solidFill>
              <a:srgbClr val="D2D0AD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 lang="en-GB" noProof="0" dirty="0"/>
            </a:p>
          </p:txBody>
        </p:sp>
        <p:sp>
          <p:nvSpPr>
            <p:cNvPr id="507" name="Line"/>
            <p:cNvSpPr/>
            <p:nvPr/>
          </p:nvSpPr>
          <p:spPr>
            <a:xfrm flipV="1">
              <a:off x="0" y="31891"/>
              <a:ext cx="567784" cy="15603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 lang="en-GB" noProof="0" dirty="0"/>
            </a:p>
          </p:txBody>
        </p:sp>
      </p:grpSp>
      <p:grpSp>
        <p:nvGrpSpPr>
          <p:cNvPr id="511" name="Group"/>
          <p:cNvGrpSpPr/>
          <p:nvPr/>
        </p:nvGrpSpPr>
        <p:grpSpPr>
          <a:xfrm rot="13500000">
            <a:off x="8493060" y="5899399"/>
            <a:ext cx="569722" cy="219814"/>
            <a:chOff x="0" y="0"/>
            <a:chExt cx="569721" cy="219813"/>
          </a:xfrm>
        </p:grpSpPr>
        <p:sp>
          <p:nvSpPr>
            <p:cNvPr id="509" name="Rectangle"/>
            <p:cNvSpPr/>
            <p:nvPr/>
          </p:nvSpPr>
          <p:spPr>
            <a:xfrm>
              <a:off x="493" y="0"/>
              <a:ext cx="569229" cy="219814"/>
            </a:xfrm>
            <a:prstGeom prst="rect">
              <a:avLst/>
            </a:prstGeom>
            <a:solidFill>
              <a:srgbClr val="D2D0AD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 lang="en-GB" noProof="0" dirty="0"/>
            </a:p>
          </p:txBody>
        </p:sp>
        <p:sp>
          <p:nvSpPr>
            <p:cNvPr id="510" name="Line"/>
            <p:cNvSpPr/>
            <p:nvPr/>
          </p:nvSpPr>
          <p:spPr>
            <a:xfrm flipV="1">
              <a:off x="0" y="31891"/>
              <a:ext cx="567784" cy="15603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 lang="en-GB" noProof="0" dirty="0"/>
            </a:p>
          </p:txBody>
        </p:sp>
      </p:grpSp>
      <p:grpSp>
        <p:nvGrpSpPr>
          <p:cNvPr id="514" name="Group"/>
          <p:cNvGrpSpPr/>
          <p:nvPr/>
        </p:nvGrpSpPr>
        <p:grpSpPr>
          <a:xfrm rot="5400000">
            <a:off x="9030589" y="4767861"/>
            <a:ext cx="569722" cy="219815"/>
            <a:chOff x="0" y="0"/>
            <a:chExt cx="569721" cy="219813"/>
          </a:xfrm>
        </p:grpSpPr>
        <p:sp>
          <p:nvSpPr>
            <p:cNvPr id="512" name="Rectangle"/>
            <p:cNvSpPr/>
            <p:nvPr/>
          </p:nvSpPr>
          <p:spPr>
            <a:xfrm>
              <a:off x="493" y="0"/>
              <a:ext cx="569229" cy="219814"/>
            </a:xfrm>
            <a:prstGeom prst="rect">
              <a:avLst/>
            </a:prstGeom>
            <a:solidFill>
              <a:srgbClr val="D2D0AD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 lang="en-GB" noProof="0" dirty="0"/>
            </a:p>
          </p:txBody>
        </p:sp>
        <p:sp>
          <p:nvSpPr>
            <p:cNvPr id="513" name="Line"/>
            <p:cNvSpPr/>
            <p:nvPr/>
          </p:nvSpPr>
          <p:spPr>
            <a:xfrm flipV="1">
              <a:off x="0" y="31891"/>
              <a:ext cx="567784" cy="15603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 lang="en-GB" noProof="0" dirty="0"/>
            </a:p>
          </p:txBody>
        </p:sp>
      </p:grpSp>
      <p:sp>
        <p:nvSpPr>
          <p:cNvPr id="515" name="Line"/>
          <p:cNvSpPr/>
          <p:nvPr/>
        </p:nvSpPr>
        <p:spPr>
          <a:xfrm flipH="1" flipV="1">
            <a:off x="8293870" y="4189851"/>
            <a:ext cx="448913" cy="448912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 lang="en-GB" noProof="0" dirty="0"/>
          </a:p>
        </p:txBody>
      </p:sp>
      <p:sp>
        <p:nvSpPr>
          <p:cNvPr id="516" name="Line"/>
          <p:cNvSpPr/>
          <p:nvPr/>
        </p:nvSpPr>
        <p:spPr>
          <a:xfrm flipV="1">
            <a:off x="9971087" y="4068577"/>
            <a:ext cx="569292" cy="569293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 lang="en-GB" noProof="0" dirty="0"/>
          </a:p>
        </p:txBody>
      </p:sp>
      <p:sp>
        <p:nvSpPr>
          <p:cNvPr id="517" name="Line"/>
          <p:cNvSpPr/>
          <p:nvPr/>
        </p:nvSpPr>
        <p:spPr>
          <a:xfrm flipH="1">
            <a:off x="8869526" y="4801082"/>
            <a:ext cx="430062" cy="300383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 lang="en-GB" noProof="0" dirty="0"/>
          </a:p>
        </p:txBody>
      </p:sp>
      <p:sp>
        <p:nvSpPr>
          <p:cNvPr id="518" name="Line"/>
          <p:cNvSpPr/>
          <p:nvPr/>
        </p:nvSpPr>
        <p:spPr>
          <a:xfrm flipV="1">
            <a:off x="9679354" y="5435238"/>
            <a:ext cx="255461" cy="457203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 lang="en-GB" noProof="0" dirty="0"/>
          </a:p>
        </p:txBody>
      </p:sp>
      <p:sp>
        <p:nvSpPr>
          <p:cNvPr id="519" name="Line"/>
          <p:cNvSpPr/>
          <p:nvPr/>
        </p:nvSpPr>
        <p:spPr>
          <a:xfrm>
            <a:off x="10068262" y="5962532"/>
            <a:ext cx="326365" cy="567157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 lang="en-GB" noProof="0" dirty="0"/>
          </a:p>
        </p:txBody>
      </p:sp>
      <p:sp>
        <p:nvSpPr>
          <p:cNvPr id="520" name="Line"/>
          <p:cNvSpPr/>
          <p:nvPr/>
        </p:nvSpPr>
        <p:spPr>
          <a:xfrm flipH="1">
            <a:off x="8439074" y="6013605"/>
            <a:ext cx="309764" cy="497777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 lang="en-GB" noProof="0" dirty="0"/>
          </a:p>
        </p:txBody>
      </p:sp>
      <p:sp>
        <p:nvSpPr>
          <p:cNvPr id="521" name="Rectangle"/>
          <p:cNvSpPr/>
          <p:nvPr/>
        </p:nvSpPr>
        <p:spPr>
          <a:xfrm>
            <a:off x="8207410" y="3968469"/>
            <a:ext cx="325121" cy="368301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2100" b="1"/>
            </a:pPr>
            <a:endParaRPr lang="en-GB" noProof="0" dirty="0"/>
          </a:p>
        </p:txBody>
      </p:sp>
      <p:sp>
        <p:nvSpPr>
          <p:cNvPr id="522" name="Rectangle"/>
          <p:cNvSpPr/>
          <p:nvPr/>
        </p:nvSpPr>
        <p:spPr>
          <a:xfrm>
            <a:off x="10202633" y="3977843"/>
            <a:ext cx="325121" cy="368301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2100" b="1"/>
            </a:pPr>
            <a:endParaRPr lang="en-GB" noProof="0" dirty="0"/>
          </a:p>
        </p:txBody>
      </p:sp>
      <p:sp>
        <p:nvSpPr>
          <p:cNvPr id="523" name="Rectangle"/>
          <p:cNvSpPr/>
          <p:nvPr/>
        </p:nvSpPr>
        <p:spPr>
          <a:xfrm>
            <a:off x="8666846" y="4850472"/>
            <a:ext cx="325121" cy="368301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2100" b="1"/>
            </a:pPr>
            <a:endParaRPr lang="en-GB" noProof="0" dirty="0"/>
          </a:p>
        </p:txBody>
      </p:sp>
      <p:sp>
        <p:nvSpPr>
          <p:cNvPr id="524" name="Rectangle"/>
          <p:cNvSpPr/>
          <p:nvPr/>
        </p:nvSpPr>
        <p:spPr>
          <a:xfrm>
            <a:off x="9457066" y="5691622"/>
            <a:ext cx="325121" cy="368301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2100" b="1"/>
            </a:pPr>
            <a:endParaRPr lang="en-GB" noProof="0" dirty="0"/>
          </a:p>
        </p:txBody>
      </p:sp>
      <p:sp>
        <p:nvSpPr>
          <p:cNvPr id="525" name="Rectangle"/>
          <p:cNvSpPr/>
          <p:nvPr/>
        </p:nvSpPr>
        <p:spPr>
          <a:xfrm>
            <a:off x="10171806" y="6350860"/>
            <a:ext cx="325121" cy="368301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2100" b="1"/>
            </a:pPr>
            <a:endParaRPr lang="en-GB" noProof="0" dirty="0"/>
          </a:p>
        </p:txBody>
      </p:sp>
      <p:sp>
        <p:nvSpPr>
          <p:cNvPr id="526" name="Rectangle"/>
          <p:cNvSpPr/>
          <p:nvPr/>
        </p:nvSpPr>
        <p:spPr>
          <a:xfrm>
            <a:off x="8255545" y="6345639"/>
            <a:ext cx="325121" cy="368301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2100" b="1"/>
            </a:pPr>
            <a:endParaRPr lang="en-GB" noProof="0" dirty="0"/>
          </a:p>
        </p:txBody>
      </p:sp>
      <p:sp>
        <p:nvSpPr>
          <p:cNvPr id="527" name="0"/>
          <p:cNvSpPr txBox="1"/>
          <p:nvPr/>
        </p:nvSpPr>
        <p:spPr>
          <a:xfrm>
            <a:off x="8224531" y="3920693"/>
            <a:ext cx="290879" cy="482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110000"/>
              </a:lnSpc>
              <a:defRPr sz="2500" b="1">
                <a:solidFill>
                  <a:schemeClr val="accent6"/>
                </a:solidFill>
              </a:defRPr>
            </a:lvl1pPr>
          </a:lstStyle>
          <a:p>
            <a:r>
              <a:rPr lang="en-GB" noProof="0" dirty="0"/>
              <a:t>0</a:t>
            </a:r>
          </a:p>
        </p:txBody>
      </p:sp>
      <p:sp>
        <p:nvSpPr>
          <p:cNvPr id="528" name="1"/>
          <p:cNvSpPr txBox="1"/>
          <p:nvPr/>
        </p:nvSpPr>
        <p:spPr>
          <a:xfrm>
            <a:off x="8270346" y="6284336"/>
            <a:ext cx="290879" cy="482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110000"/>
              </a:lnSpc>
              <a:defRPr sz="2500" b="1">
                <a:solidFill>
                  <a:schemeClr val="accent6"/>
                </a:solidFill>
              </a:defRPr>
            </a:lvl1pPr>
          </a:lstStyle>
          <a:p>
            <a:r>
              <a:rPr lang="en-GB" noProof="0" dirty="0"/>
              <a:t>1</a:t>
            </a:r>
          </a:p>
        </p:txBody>
      </p:sp>
      <p:sp>
        <p:nvSpPr>
          <p:cNvPr id="529" name="1"/>
          <p:cNvSpPr txBox="1"/>
          <p:nvPr/>
        </p:nvSpPr>
        <p:spPr>
          <a:xfrm>
            <a:off x="8678073" y="4793322"/>
            <a:ext cx="290879" cy="482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110000"/>
              </a:lnSpc>
              <a:defRPr sz="2500" b="1">
                <a:solidFill>
                  <a:schemeClr val="accent6"/>
                </a:solidFill>
              </a:defRPr>
            </a:lvl1pPr>
          </a:lstStyle>
          <a:p>
            <a:r>
              <a:rPr lang="en-GB" noProof="0" dirty="0"/>
              <a:t>1</a:t>
            </a:r>
          </a:p>
        </p:txBody>
      </p:sp>
      <p:sp>
        <p:nvSpPr>
          <p:cNvPr id="530" name="0"/>
          <p:cNvSpPr txBox="1"/>
          <p:nvPr/>
        </p:nvSpPr>
        <p:spPr>
          <a:xfrm>
            <a:off x="9474187" y="5634472"/>
            <a:ext cx="290879" cy="482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110000"/>
              </a:lnSpc>
              <a:defRPr sz="2500" b="1">
                <a:solidFill>
                  <a:schemeClr val="accent6"/>
                </a:solidFill>
              </a:defRPr>
            </a:lvl1pPr>
          </a:lstStyle>
          <a:p>
            <a:r>
              <a:rPr lang="en-GB" noProof="0" dirty="0"/>
              <a:t>0</a:t>
            </a:r>
          </a:p>
        </p:txBody>
      </p:sp>
      <p:sp>
        <p:nvSpPr>
          <p:cNvPr id="531" name="0"/>
          <p:cNvSpPr txBox="1"/>
          <p:nvPr/>
        </p:nvSpPr>
        <p:spPr>
          <a:xfrm>
            <a:off x="10222075" y="3914343"/>
            <a:ext cx="290879" cy="482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110000"/>
              </a:lnSpc>
              <a:defRPr sz="2500" b="1">
                <a:solidFill>
                  <a:schemeClr val="accent6"/>
                </a:solidFill>
              </a:defRPr>
            </a:lvl1pPr>
          </a:lstStyle>
          <a:p>
            <a:r>
              <a:rPr lang="en-GB" noProof="0" dirty="0"/>
              <a:t>0</a:t>
            </a:r>
          </a:p>
        </p:txBody>
      </p:sp>
      <p:sp>
        <p:nvSpPr>
          <p:cNvPr id="532" name="0"/>
          <p:cNvSpPr txBox="1"/>
          <p:nvPr/>
        </p:nvSpPr>
        <p:spPr>
          <a:xfrm>
            <a:off x="10188926" y="6288489"/>
            <a:ext cx="290880" cy="482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110000"/>
              </a:lnSpc>
              <a:defRPr sz="2500" b="1">
                <a:solidFill>
                  <a:schemeClr val="accent6"/>
                </a:solidFill>
              </a:defRPr>
            </a:lvl1pPr>
          </a:lstStyle>
          <a:p>
            <a:r>
              <a:rPr lang="en-GB" noProof="0" dirty="0"/>
              <a:t>0</a:t>
            </a:r>
          </a:p>
        </p:txBody>
      </p:sp>
      <p:sp>
        <p:nvSpPr>
          <p:cNvPr id="533" name="Circle"/>
          <p:cNvSpPr/>
          <p:nvPr/>
        </p:nvSpPr>
        <p:spPr>
          <a:xfrm>
            <a:off x="8994622" y="6116282"/>
            <a:ext cx="70735" cy="70735"/>
          </a:xfrm>
          <a:prstGeom prst="ellipse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 lang="en-GB" noProof="0" dirty="0"/>
          </a:p>
        </p:txBody>
      </p:sp>
      <p:sp>
        <p:nvSpPr>
          <p:cNvPr id="534" name="Circle"/>
          <p:cNvSpPr/>
          <p:nvPr/>
        </p:nvSpPr>
        <p:spPr>
          <a:xfrm>
            <a:off x="10177977" y="5666572"/>
            <a:ext cx="70736" cy="70735"/>
          </a:xfrm>
          <a:prstGeom prst="ellipse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 lang="en-GB" noProof="0" dirty="0"/>
          </a:p>
        </p:txBody>
      </p:sp>
      <p:sp>
        <p:nvSpPr>
          <p:cNvPr id="535" name="Circle"/>
          <p:cNvSpPr/>
          <p:nvPr/>
        </p:nvSpPr>
        <p:spPr>
          <a:xfrm>
            <a:off x="9703230" y="4478623"/>
            <a:ext cx="70736" cy="70735"/>
          </a:xfrm>
          <a:prstGeom prst="ellipse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 lang="en-GB" noProof="0" dirty="0"/>
          </a:p>
        </p:txBody>
      </p:sp>
      <p:sp>
        <p:nvSpPr>
          <p:cNvPr id="536" name="Circle"/>
          <p:cNvSpPr/>
          <p:nvPr/>
        </p:nvSpPr>
        <p:spPr>
          <a:xfrm>
            <a:off x="8510521" y="4967049"/>
            <a:ext cx="70735" cy="70735"/>
          </a:xfrm>
          <a:prstGeom prst="ellipse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 lang="en-GB" noProof="0" dirty="0"/>
          </a:p>
        </p:txBody>
      </p:sp>
      <p:sp>
        <p:nvSpPr>
          <p:cNvPr id="537" name="Circle"/>
          <p:cNvSpPr/>
          <p:nvPr/>
        </p:nvSpPr>
        <p:spPr>
          <a:xfrm>
            <a:off x="9356283" y="5107772"/>
            <a:ext cx="70735" cy="70735"/>
          </a:xfrm>
          <a:prstGeom prst="ellipse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 lang="en-GB" noProof="0" dirty="0"/>
          </a:p>
        </p:txBody>
      </p:sp>
      <p:sp>
        <p:nvSpPr>
          <p:cNvPr id="538" name="Circle"/>
          <p:cNvSpPr/>
          <p:nvPr/>
        </p:nvSpPr>
        <p:spPr>
          <a:xfrm>
            <a:off x="9631292" y="5303168"/>
            <a:ext cx="70735" cy="70735"/>
          </a:xfrm>
          <a:prstGeom prst="ellipse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 lang="en-GB" noProof="0" dirty="0"/>
          </a:p>
        </p:txBody>
      </p:sp>
      <p:sp>
        <p:nvSpPr>
          <p:cNvPr id="539" name="Circle"/>
          <p:cNvSpPr/>
          <p:nvPr/>
        </p:nvSpPr>
        <p:spPr>
          <a:xfrm>
            <a:off x="8583989" y="5717733"/>
            <a:ext cx="70735" cy="70735"/>
          </a:xfrm>
          <a:prstGeom prst="ellipse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 lang="en-GB" noProof="0" dirty="0"/>
          </a:p>
        </p:txBody>
      </p:sp>
      <p:sp>
        <p:nvSpPr>
          <p:cNvPr id="540" name="Circle"/>
          <p:cNvSpPr/>
          <p:nvPr/>
        </p:nvSpPr>
        <p:spPr>
          <a:xfrm>
            <a:off x="9784441" y="6090882"/>
            <a:ext cx="70735" cy="70735"/>
          </a:xfrm>
          <a:prstGeom prst="ellipse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 lang="en-GB" noProof="0" dirty="0"/>
          </a:p>
        </p:txBody>
      </p:sp>
      <p:sp>
        <p:nvSpPr>
          <p:cNvPr id="541" name="Circle"/>
          <p:cNvSpPr/>
          <p:nvPr/>
        </p:nvSpPr>
        <p:spPr>
          <a:xfrm>
            <a:off x="10208777" y="5314619"/>
            <a:ext cx="70735" cy="70735"/>
          </a:xfrm>
          <a:prstGeom prst="ellipse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 lang="en-GB" noProof="0" dirty="0"/>
          </a:p>
        </p:txBody>
      </p:sp>
      <p:sp>
        <p:nvSpPr>
          <p:cNvPr id="542" name="Circle"/>
          <p:cNvSpPr/>
          <p:nvPr/>
        </p:nvSpPr>
        <p:spPr>
          <a:xfrm>
            <a:off x="10115877" y="4882201"/>
            <a:ext cx="70735" cy="70736"/>
          </a:xfrm>
          <a:prstGeom prst="ellipse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 lang="en-GB" noProof="0" dirty="0"/>
          </a:p>
        </p:txBody>
      </p:sp>
      <p:sp>
        <p:nvSpPr>
          <p:cNvPr id="543" name="Circle"/>
          <p:cNvSpPr/>
          <p:nvPr/>
        </p:nvSpPr>
        <p:spPr>
          <a:xfrm>
            <a:off x="9355604" y="4554315"/>
            <a:ext cx="70735" cy="70735"/>
          </a:xfrm>
          <a:prstGeom prst="ellipse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 lang="en-GB" noProof="0" dirty="0"/>
          </a:p>
        </p:txBody>
      </p:sp>
      <p:sp>
        <p:nvSpPr>
          <p:cNvPr id="544" name="Circle"/>
          <p:cNvSpPr/>
          <p:nvPr/>
        </p:nvSpPr>
        <p:spPr>
          <a:xfrm>
            <a:off x="8915424" y="4567015"/>
            <a:ext cx="70735" cy="70735"/>
          </a:xfrm>
          <a:prstGeom prst="ellipse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 lang="en-GB" noProof="0" dirty="0"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5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6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7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8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9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1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3" fill="hold"/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1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1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9" fill="hold"/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1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1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5" fill="hold"/>
                                        <p:tgtEl>
                                          <p:spTgt spid="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15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8" fill="hold"/>
                                        <p:tgtEl>
                                          <p:spTgt spid="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16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1" fill="hold"/>
                                        <p:tgtEl>
                                          <p:spTgt spid="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17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4" fill="hold"/>
                                        <p:tgtEl>
                                          <p:spTgt spid="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18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7" fill="hold"/>
                                        <p:tgtEl>
                                          <p:spTgt spid="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19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0" fill="hold"/>
                                        <p:tgtEl>
                                          <p:spTgt spid="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2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3" fill="hold"/>
                                        <p:tgtEl>
                                          <p:spTgt spid="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2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6" fill="hold"/>
                                        <p:tgtEl>
                                          <p:spTgt spid="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2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9" fill="hold"/>
                                        <p:tgtEl>
                                          <p:spTgt spid="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2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2" fill="hold"/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grpId="2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5" fill="hold"/>
                                        <p:tgtEl>
                                          <p:spTgt spid="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25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8" fill="hold"/>
                                        <p:tgtEl>
                                          <p:spTgt spid="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26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1" fill="hold"/>
                                        <p:tgtEl>
                                          <p:spTgt spid="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27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4" fill="hold"/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grpId="28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7" fill="hold"/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29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0" fill="hold"/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grpId="3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3" fill="hold"/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3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6" fill="hold"/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ntr" presetSubtype="0" fill="hold" grpId="3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9" fill="hold"/>
                                        <p:tgtEl>
                                          <p:spTgt spid="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3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2" fill="hold"/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entr" presetSubtype="0" fill="hold" grpId="3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5" fill="hold"/>
                                        <p:tgtEl>
                                          <p:spTgt spid="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35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8" fill="hold"/>
                                        <p:tgtEl>
                                          <p:spTgt spid="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ntr" presetSubtype="0" fill="hold" grpId="36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1" fill="hold"/>
                                        <p:tgtEl>
                                          <p:spTgt spid="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37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4" fill="hold"/>
                                        <p:tgtEl>
                                          <p:spTgt spid="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38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8" fill="hold"/>
                                        <p:tgtEl>
                                          <p:spTgt spid="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ntr" presetSubtype="0" fill="hold" grpId="39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1" fill="hold"/>
                                        <p:tgtEl>
                                          <p:spTgt spid="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grpId="4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4" fill="hold"/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" presetClass="entr" presetSubtype="0" fill="hold" grpId="4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7" fill="hold"/>
                                        <p:tgtEl>
                                          <p:spTgt spid="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4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0" fill="hold"/>
                                        <p:tgtEl>
                                          <p:spTgt spid="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" presetClass="entr" presetSubtype="0" fill="hold" grpId="4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3" fill="hold"/>
                                        <p:tgtEl>
                                          <p:spTgt spid="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0" grpId="1" animBg="1" advAuto="0"/>
      <p:bldP spid="491" grpId="23" animBg="1" advAuto="0"/>
      <p:bldP spid="492" grpId="22" animBg="1" advAuto="0"/>
      <p:bldP spid="493" grpId="11" animBg="1" advAuto="0"/>
      <p:bldP spid="494" grpId="31" animBg="1" advAuto="0"/>
      <p:bldP spid="495" grpId="12" animBg="1" advAuto="0"/>
      <p:bldP spid="496" grpId="30" animBg="1" advAuto="0"/>
      <p:bldP spid="499" grpId="21" animBg="1" advAuto="0"/>
      <p:bldP spid="502" grpId="10" animBg="1" advAuto="0"/>
      <p:bldP spid="505" grpId="7" animBg="1" advAuto="0"/>
      <p:bldP spid="508" grpId="28" animBg="1" advAuto="0"/>
      <p:bldP spid="511" grpId="29" animBg="1" advAuto="0"/>
      <p:bldP spid="514" grpId="13" animBg="1" advAuto="0"/>
      <p:bldP spid="515" grpId="5" animBg="1" advAuto="0"/>
      <p:bldP spid="516" grpId="4" animBg="1" advAuto="0"/>
      <p:bldP spid="517" grpId="16" animBg="1" advAuto="0"/>
      <p:bldP spid="518" grpId="24" animBg="1" advAuto="0"/>
      <p:bldP spid="519" grpId="34" animBg="1" advAuto="0"/>
      <p:bldP spid="520" grpId="35" animBg="1" advAuto="0"/>
      <p:bldP spid="521" grpId="2" animBg="1" advAuto="0"/>
      <p:bldP spid="522" grpId="3" animBg="1" advAuto="0"/>
      <p:bldP spid="523" grpId="14" animBg="1" advAuto="0"/>
      <p:bldP spid="524" grpId="26" animBg="1" advAuto="0"/>
      <p:bldP spid="525" grpId="37" animBg="1" advAuto="0"/>
      <p:bldP spid="526" grpId="36" animBg="1" advAuto="0"/>
      <p:bldP spid="527" grpId="39" animBg="1" advAuto="0"/>
      <p:bldP spid="528" grpId="42" animBg="1" advAuto="0"/>
      <p:bldP spid="529" grpId="40" animBg="1" advAuto="0"/>
      <p:bldP spid="530" grpId="41" animBg="1" advAuto="0"/>
      <p:bldP spid="531" grpId="38" animBg="1" advAuto="0"/>
      <p:bldP spid="532" grpId="43" animBg="1" advAuto="0"/>
      <p:bldP spid="533" grpId="33" animBg="1" advAuto="0"/>
      <p:bldP spid="534" grpId="25" animBg="1" advAuto="0"/>
      <p:bldP spid="535" grpId="6" animBg="1" advAuto="0"/>
      <p:bldP spid="536" grpId="17" animBg="1" advAuto="0"/>
      <p:bldP spid="537" grpId="18" animBg="1" advAuto="0"/>
      <p:bldP spid="538" grpId="19" animBg="1" advAuto="0"/>
      <p:bldP spid="539" grpId="27" animBg="1" advAuto="0"/>
      <p:bldP spid="540" grpId="32" animBg="1" advAuto="0"/>
      <p:bldP spid="541" grpId="20" animBg="1" advAuto="0"/>
      <p:bldP spid="542" grpId="15" animBg="1" advAuto="0"/>
      <p:bldP spid="543" grpId="8" animBg="1" advAuto="0"/>
      <p:bldP spid="544" grpId="9" animBg="1" advAuto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Circle"/>
          <p:cNvSpPr/>
          <p:nvPr/>
        </p:nvSpPr>
        <p:spPr>
          <a:xfrm>
            <a:off x="7359819" y="3311985"/>
            <a:ext cx="4063661" cy="4063661"/>
          </a:xfrm>
          <a:prstGeom prst="ellipse">
            <a:avLst/>
          </a:prstGeom>
          <a:solidFill>
            <a:srgbClr val="D2D0AD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 lang="en-GB" noProof="0" dirty="0"/>
          </a:p>
        </p:txBody>
      </p:sp>
      <p:sp>
        <p:nvSpPr>
          <p:cNvPr id="547" name="Line"/>
          <p:cNvSpPr/>
          <p:nvPr/>
        </p:nvSpPr>
        <p:spPr>
          <a:xfrm flipH="1">
            <a:off x="8953617" y="4741978"/>
            <a:ext cx="430062" cy="300382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 lang="en-GB" noProof="0" dirty="0"/>
          </a:p>
        </p:txBody>
      </p:sp>
      <p:sp>
        <p:nvSpPr>
          <p:cNvPr id="548" name="Line"/>
          <p:cNvSpPr/>
          <p:nvPr/>
        </p:nvSpPr>
        <p:spPr>
          <a:xfrm flipH="1">
            <a:off x="8489874" y="5927800"/>
            <a:ext cx="309764" cy="497778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 lang="en-GB" noProof="0" dirty="0"/>
          </a:p>
        </p:txBody>
      </p:sp>
      <p:sp>
        <p:nvSpPr>
          <p:cNvPr id="549" name="Programmable rout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noProof="0" dirty="0"/>
              <a:t>Programmable routing</a:t>
            </a:r>
          </a:p>
        </p:txBody>
      </p:sp>
      <p:sp>
        <p:nvSpPr>
          <p:cNvPr id="5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 lang="en-GB" noProof="0"/>
              <a:t>21</a:t>
            </a:fld>
            <a:endParaRPr lang="en-GB" noProof="0" dirty="0"/>
          </a:p>
        </p:txBody>
      </p:sp>
      <p:sp>
        <p:nvSpPr>
          <p:cNvPr id="551" name="Line"/>
          <p:cNvSpPr/>
          <p:nvPr/>
        </p:nvSpPr>
        <p:spPr>
          <a:xfrm flipV="1">
            <a:off x="2419350" y="3319246"/>
            <a:ext cx="1" cy="4206586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 lang="en-GB" noProof="0" dirty="0"/>
          </a:p>
        </p:txBody>
      </p:sp>
      <p:sp>
        <p:nvSpPr>
          <p:cNvPr id="552" name="Line"/>
          <p:cNvSpPr/>
          <p:nvPr/>
        </p:nvSpPr>
        <p:spPr>
          <a:xfrm flipV="1">
            <a:off x="2978150" y="3319246"/>
            <a:ext cx="1" cy="4206586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 lang="en-GB" noProof="0" dirty="0"/>
          </a:p>
        </p:txBody>
      </p:sp>
      <p:sp>
        <p:nvSpPr>
          <p:cNvPr id="553" name="Line"/>
          <p:cNvSpPr/>
          <p:nvPr/>
        </p:nvSpPr>
        <p:spPr>
          <a:xfrm flipV="1">
            <a:off x="3536950" y="3319246"/>
            <a:ext cx="0" cy="4206586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 lang="en-GB" noProof="0" dirty="0"/>
          </a:p>
        </p:txBody>
      </p:sp>
      <p:sp>
        <p:nvSpPr>
          <p:cNvPr id="554" name="Line"/>
          <p:cNvSpPr/>
          <p:nvPr/>
        </p:nvSpPr>
        <p:spPr>
          <a:xfrm flipV="1">
            <a:off x="4095750" y="3319246"/>
            <a:ext cx="0" cy="4206586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 lang="en-GB" noProof="0" dirty="0"/>
          </a:p>
        </p:txBody>
      </p:sp>
      <p:sp>
        <p:nvSpPr>
          <p:cNvPr id="555" name="Line"/>
          <p:cNvSpPr/>
          <p:nvPr/>
        </p:nvSpPr>
        <p:spPr>
          <a:xfrm>
            <a:off x="1243157" y="4584339"/>
            <a:ext cx="4206586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 lang="en-GB" noProof="0" dirty="0"/>
          </a:p>
        </p:txBody>
      </p:sp>
      <p:sp>
        <p:nvSpPr>
          <p:cNvPr id="556" name="Line"/>
          <p:cNvSpPr/>
          <p:nvPr/>
        </p:nvSpPr>
        <p:spPr>
          <a:xfrm>
            <a:off x="1243157" y="5143139"/>
            <a:ext cx="4206586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 lang="en-GB" noProof="0" dirty="0"/>
          </a:p>
        </p:txBody>
      </p:sp>
      <p:sp>
        <p:nvSpPr>
          <p:cNvPr id="557" name="Line"/>
          <p:cNvSpPr/>
          <p:nvPr/>
        </p:nvSpPr>
        <p:spPr>
          <a:xfrm>
            <a:off x="1243157" y="5701939"/>
            <a:ext cx="4206586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 lang="en-GB" noProof="0" dirty="0"/>
          </a:p>
        </p:txBody>
      </p:sp>
      <p:sp>
        <p:nvSpPr>
          <p:cNvPr id="558" name="Line"/>
          <p:cNvSpPr/>
          <p:nvPr/>
        </p:nvSpPr>
        <p:spPr>
          <a:xfrm>
            <a:off x="1243157" y="6260739"/>
            <a:ext cx="4206586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 lang="en-GB" noProof="0" dirty="0"/>
          </a:p>
        </p:txBody>
      </p:sp>
      <p:sp>
        <p:nvSpPr>
          <p:cNvPr id="559" name="Line"/>
          <p:cNvSpPr/>
          <p:nvPr/>
        </p:nvSpPr>
        <p:spPr>
          <a:xfrm flipV="1">
            <a:off x="9391650" y="2961122"/>
            <a:ext cx="0" cy="490797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 lang="en-GB" noProof="0" dirty="0"/>
          </a:p>
        </p:txBody>
      </p:sp>
      <p:sp>
        <p:nvSpPr>
          <p:cNvPr id="560" name="Line"/>
          <p:cNvSpPr/>
          <p:nvPr/>
        </p:nvSpPr>
        <p:spPr>
          <a:xfrm>
            <a:off x="6731843" y="5343814"/>
            <a:ext cx="5136307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 lang="en-GB" noProof="0" dirty="0"/>
          </a:p>
        </p:txBody>
      </p:sp>
      <p:sp>
        <p:nvSpPr>
          <p:cNvPr id="561" name="Line"/>
          <p:cNvSpPr/>
          <p:nvPr/>
        </p:nvSpPr>
        <p:spPr>
          <a:xfrm flipV="1">
            <a:off x="8209517" y="4168369"/>
            <a:ext cx="1177190" cy="1177190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 lang="en-GB" noProof="0" dirty="0"/>
          </a:p>
        </p:txBody>
      </p:sp>
      <p:sp>
        <p:nvSpPr>
          <p:cNvPr id="562" name="Line"/>
          <p:cNvSpPr/>
          <p:nvPr/>
        </p:nvSpPr>
        <p:spPr>
          <a:xfrm flipV="1">
            <a:off x="9397876" y="5349469"/>
            <a:ext cx="1177191" cy="1177190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 lang="en-GB" noProof="0" dirty="0"/>
          </a:p>
        </p:txBody>
      </p:sp>
      <p:sp>
        <p:nvSpPr>
          <p:cNvPr id="563" name="Line"/>
          <p:cNvSpPr/>
          <p:nvPr/>
        </p:nvSpPr>
        <p:spPr>
          <a:xfrm flipH="1" flipV="1">
            <a:off x="9397876" y="4168369"/>
            <a:ext cx="1177191" cy="1177190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 lang="en-GB" noProof="0" dirty="0"/>
          </a:p>
        </p:txBody>
      </p:sp>
      <p:sp>
        <p:nvSpPr>
          <p:cNvPr id="564" name="Line"/>
          <p:cNvSpPr/>
          <p:nvPr/>
        </p:nvSpPr>
        <p:spPr>
          <a:xfrm flipH="1" flipV="1">
            <a:off x="8222217" y="5349469"/>
            <a:ext cx="1177190" cy="1177190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 lang="en-GB" noProof="0" dirty="0"/>
          </a:p>
        </p:txBody>
      </p:sp>
      <p:sp>
        <p:nvSpPr>
          <p:cNvPr id="565" name="Circle"/>
          <p:cNvSpPr/>
          <p:nvPr/>
        </p:nvSpPr>
        <p:spPr>
          <a:xfrm>
            <a:off x="2130024" y="4295013"/>
            <a:ext cx="578652" cy="578652"/>
          </a:xfrm>
          <a:prstGeom prst="ellipse">
            <a:avLst/>
          </a:prstGeom>
          <a:solidFill>
            <a:srgbClr val="D2D0AD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 lang="en-GB" noProof="0" dirty="0"/>
          </a:p>
        </p:txBody>
      </p:sp>
      <p:sp>
        <p:nvSpPr>
          <p:cNvPr id="566" name="Circle"/>
          <p:cNvSpPr/>
          <p:nvPr/>
        </p:nvSpPr>
        <p:spPr>
          <a:xfrm>
            <a:off x="2688824" y="4841113"/>
            <a:ext cx="578652" cy="578652"/>
          </a:xfrm>
          <a:prstGeom prst="ellipse">
            <a:avLst/>
          </a:prstGeom>
          <a:solidFill>
            <a:srgbClr val="D2D0AD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 lang="en-GB" noProof="0" dirty="0"/>
          </a:p>
        </p:txBody>
      </p:sp>
      <p:sp>
        <p:nvSpPr>
          <p:cNvPr id="567" name="Circle"/>
          <p:cNvSpPr/>
          <p:nvPr/>
        </p:nvSpPr>
        <p:spPr>
          <a:xfrm>
            <a:off x="3246325" y="5412613"/>
            <a:ext cx="578652" cy="578652"/>
          </a:xfrm>
          <a:prstGeom prst="ellipse">
            <a:avLst/>
          </a:prstGeom>
          <a:solidFill>
            <a:srgbClr val="D2D0AD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 lang="en-GB" noProof="0" dirty="0"/>
          </a:p>
        </p:txBody>
      </p:sp>
      <p:sp>
        <p:nvSpPr>
          <p:cNvPr id="568" name="Circle"/>
          <p:cNvSpPr/>
          <p:nvPr/>
        </p:nvSpPr>
        <p:spPr>
          <a:xfrm>
            <a:off x="3806424" y="5971413"/>
            <a:ext cx="578652" cy="578652"/>
          </a:xfrm>
          <a:prstGeom prst="ellipse">
            <a:avLst/>
          </a:prstGeom>
          <a:solidFill>
            <a:srgbClr val="D2D0AD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 lang="en-GB" noProof="0" dirty="0"/>
          </a:p>
        </p:txBody>
      </p:sp>
      <p:grpSp>
        <p:nvGrpSpPr>
          <p:cNvPr id="571" name="Group"/>
          <p:cNvGrpSpPr/>
          <p:nvPr/>
        </p:nvGrpSpPr>
        <p:grpSpPr>
          <a:xfrm rot="10800000" flipH="1">
            <a:off x="9664379" y="5316897"/>
            <a:ext cx="569722" cy="219814"/>
            <a:chOff x="0" y="0"/>
            <a:chExt cx="569721" cy="219813"/>
          </a:xfrm>
        </p:grpSpPr>
        <p:sp>
          <p:nvSpPr>
            <p:cNvPr id="569" name="Rectangle"/>
            <p:cNvSpPr/>
            <p:nvPr/>
          </p:nvSpPr>
          <p:spPr>
            <a:xfrm>
              <a:off x="493" y="0"/>
              <a:ext cx="569229" cy="219814"/>
            </a:xfrm>
            <a:prstGeom prst="rect">
              <a:avLst/>
            </a:prstGeom>
            <a:solidFill>
              <a:srgbClr val="D2D0AD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 lang="en-GB" noProof="0" dirty="0"/>
            </a:p>
          </p:txBody>
        </p:sp>
        <p:sp>
          <p:nvSpPr>
            <p:cNvPr id="570" name="Line"/>
            <p:cNvSpPr/>
            <p:nvPr/>
          </p:nvSpPr>
          <p:spPr>
            <a:xfrm flipV="1">
              <a:off x="0" y="31891"/>
              <a:ext cx="567784" cy="15603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 lang="en-GB" noProof="0" dirty="0"/>
            </a:p>
          </p:txBody>
        </p:sp>
      </p:grpSp>
      <p:grpSp>
        <p:nvGrpSpPr>
          <p:cNvPr id="574" name="Group"/>
          <p:cNvGrpSpPr/>
          <p:nvPr/>
        </p:nvGrpSpPr>
        <p:grpSpPr>
          <a:xfrm rot="18900000">
            <a:off x="8406138" y="4633672"/>
            <a:ext cx="569722" cy="219815"/>
            <a:chOff x="0" y="0"/>
            <a:chExt cx="569721" cy="219813"/>
          </a:xfrm>
        </p:grpSpPr>
        <p:sp>
          <p:nvSpPr>
            <p:cNvPr id="572" name="Rectangle"/>
            <p:cNvSpPr/>
            <p:nvPr/>
          </p:nvSpPr>
          <p:spPr>
            <a:xfrm>
              <a:off x="493" y="0"/>
              <a:ext cx="569229" cy="219814"/>
            </a:xfrm>
            <a:prstGeom prst="rect">
              <a:avLst/>
            </a:prstGeom>
            <a:solidFill>
              <a:srgbClr val="D2D0AD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 lang="en-GB" noProof="0" dirty="0"/>
            </a:p>
          </p:txBody>
        </p:sp>
        <p:sp>
          <p:nvSpPr>
            <p:cNvPr id="573" name="Line"/>
            <p:cNvSpPr/>
            <p:nvPr/>
          </p:nvSpPr>
          <p:spPr>
            <a:xfrm flipV="1">
              <a:off x="0" y="31891"/>
              <a:ext cx="567784" cy="15603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 lang="en-GB" noProof="0" dirty="0"/>
            </a:p>
          </p:txBody>
        </p:sp>
      </p:grpSp>
      <p:grpSp>
        <p:nvGrpSpPr>
          <p:cNvPr id="577" name="Group"/>
          <p:cNvGrpSpPr/>
          <p:nvPr/>
        </p:nvGrpSpPr>
        <p:grpSpPr>
          <a:xfrm rot="2700000">
            <a:off x="9714996" y="4551317"/>
            <a:ext cx="569722" cy="219814"/>
            <a:chOff x="0" y="0"/>
            <a:chExt cx="569721" cy="219813"/>
          </a:xfrm>
        </p:grpSpPr>
        <p:sp>
          <p:nvSpPr>
            <p:cNvPr id="575" name="Rectangle"/>
            <p:cNvSpPr/>
            <p:nvPr/>
          </p:nvSpPr>
          <p:spPr>
            <a:xfrm>
              <a:off x="493" y="0"/>
              <a:ext cx="569229" cy="219814"/>
            </a:xfrm>
            <a:prstGeom prst="rect">
              <a:avLst/>
            </a:prstGeom>
            <a:solidFill>
              <a:srgbClr val="D2D0AD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 lang="en-GB" noProof="0" dirty="0"/>
            </a:p>
          </p:txBody>
        </p:sp>
        <p:sp>
          <p:nvSpPr>
            <p:cNvPr id="576" name="Line"/>
            <p:cNvSpPr/>
            <p:nvPr/>
          </p:nvSpPr>
          <p:spPr>
            <a:xfrm flipV="1">
              <a:off x="0" y="31891"/>
              <a:ext cx="567784" cy="15603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 lang="en-GB" noProof="0" dirty="0"/>
            </a:p>
          </p:txBody>
        </p:sp>
      </p:grpSp>
      <p:grpSp>
        <p:nvGrpSpPr>
          <p:cNvPr id="580" name="Group"/>
          <p:cNvGrpSpPr/>
          <p:nvPr/>
        </p:nvGrpSpPr>
        <p:grpSpPr>
          <a:xfrm rot="8100000">
            <a:off x="9789825" y="5849968"/>
            <a:ext cx="569722" cy="219815"/>
            <a:chOff x="0" y="0"/>
            <a:chExt cx="569721" cy="219813"/>
          </a:xfrm>
        </p:grpSpPr>
        <p:sp>
          <p:nvSpPr>
            <p:cNvPr id="578" name="Rectangle"/>
            <p:cNvSpPr/>
            <p:nvPr/>
          </p:nvSpPr>
          <p:spPr>
            <a:xfrm>
              <a:off x="493" y="0"/>
              <a:ext cx="569229" cy="219814"/>
            </a:xfrm>
            <a:prstGeom prst="rect">
              <a:avLst/>
            </a:prstGeom>
            <a:solidFill>
              <a:srgbClr val="D2D0AD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 lang="en-GB" noProof="0" dirty="0"/>
            </a:p>
          </p:txBody>
        </p:sp>
        <p:sp>
          <p:nvSpPr>
            <p:cNvPr id="579" name="Line"/>
            <p:cNvSpPr/>
            <p:nvPr/>
          </p:nvSpPr>
          <p:spPr>
            <a:xfrm flipV="1">
              <a:off x="0" y="31891"/>
              <a:ext cx="567784" cy="15603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 lang="en-GB" noProof="0" dirty="0"/>
            </a:p>
          </p:txBody>
        </p:sp>
      </p:grpSp>
      <p:sp>
        <p:nvSpPr>
          <p:cNvPr id="581" name="Line"/>
          <p:cNvSpPr/>
          <p:nvPr/>
        </p:nvSpPr>
        <p:spPr>
          <a:xfrm flipH="1" flipV="1">
            <a:off x="8293870" y="4189851"/>
            <a:ext cx="448913" cy="448912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 lang="en-GB" noProof="0" dirty="0"/>
          </a:p>
        </p:txBody>
      </p:sp>
      <p:sp>
        <p:nvSpPr>
          <p:cNvPr id="582" name="Line"/>
          <p:cNvSpPr/>
          <p:nvPr/>
        </p:nvSpPr>
        <p:spPr>
          <a:xfrm flipV="1">
            <a:off x="9971087" y="4068577"/>
            <a:ext cx="569292" cy="569293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 lang="en-GB" noProof="0" dirty="0"/>
          </a:p>
        </p:txBody>
      </p:sp>
      <p:sp>
        <p:nvSpPr>
          <p:cNvPr id="583" name="Line"/>
          <p:cNvSpPr/>
          <p:nvPr/>
        </p:nvSpPr>
        <p:spPr>
          <a:xfrm flipV="1">
            <a:off x="9679354" y="5435238"/>
            <a:ext cx="255461" cy="457203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 lang="en-GB" noProof="0" dirty="0"/>
          </a:p>
        </p:txBody>
      </p:sp>
      <p:sp>
        <p:nvSpPr>
          <p:cNvPr id="584" name="Line"/>
          <p:cNvSpPr/>
          <p:nvPr/>
        </p:nvSpPr>
        <p:spPr>
          <a:xfrm>
            <a:off x="10068262" y="5962532"/>
            <a:ext cx="326365" cy="567157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 lang="en-GB" noProof="0" dirty="0"/>
          </a:p>
        </p:txBody>
      </p:sp>
      <p:sp>
        <p:nvSpPr>
          <p:cNvPr id="585" name="Rectangle"/>
          <p:cNvSpPr/>
          <p:nvPr/>
        </p:nvSpPr>
        <p:spPr>
          <a:xfrm>
            <a:off x="8207410" y="3968469"/>
            <a:ext cx="325121" cy="368301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2100" b="1"/>
            </a:pPr>
            <a:endParaRPr lang="en-GB" noProof="0" dirty="0"/>
          </a:p>
        </p:txBody>
      </p:sp>
      <p:sp>
        <p:nvSpPr>
          <p:cNvPr id="586" name="Rectangle"/>
          <p:cNvSpPr/>
          <p:nvPr/>
        </p:nvSpPr>
        <p:spPr>
          <a:xfrm>
            <a:off x="10202633" y="3977843"/>
            <a:ext cx="325121" cy="368301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2100" b="1"/>
            </a:pPr>
            <a:endParaRPr lang="en-GB" noProof="0" dirty="0"/>
          </a:p>
        </p:txBody>
      </p:sp>
      <p:sp>
        <p:nvSpPr>
          <p:cNvPr id="587" name="Rectangle"/>
          <p:cNvSpPr/>
          <p:nvPr/>
        </p:nvSpPr>
        <p:spPr>
          <a:xfrm>
            <a:off x="8666846" y="4850472"/>
            <a:ext cx="325121" cy="368301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2100" b="1"/>
            </a:pPr>
            <a:endParaRPr lang="en-GB" noProof="0" dirty="0"/>
          </a:p>
        </p:txBody>
      </p:sp>
      <p:sp>
        <p:nvSpPr>
          <p:cNvPr id="588" name="Rectangle"/>
          <p:cNvSpPr/>
          <p:nvPr/>
        </p:nvSpPr>
        <p:spPr>
          <a:xfrm>
            <a:off x="9457066" y="5691622"/>
            <a:ext cx="325121" cy="368301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2100" b="1"/>
            </a:pPr>
            <a:endParaRPr lang="en-GB" noProof="0" dirty="0"/>
          </a:p>
        </p:txBody>
      </p:sp>
      <p:sp>
        <p:nvSpPr>
          <p:cNvPr id="589" name="Rectangle"/>
          <p:cNvSpPr/>
          <p:nvPr/>
        </p:nvSpPr>
        <p:spPr>
          <a:xfrm>
            <a:off x="10171806" y="6350860"/>
            <a:ext cx="325121" cy="368301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2100" b="1"/>
            </a:pPr>
            <a:endParaRPr lang="en-GB" noProof="0" dirty="0"/>
          </a:p>
        </p:txBody>
      </p:sp>
      <p:sp>
        <p:nvSpPr>
          <p:cNvPr id="590" name="Rectangle"/>
          <p:cNvSpPr/>
          <p:nvPr/>
        </p:nvSpPr>
        <p:spPr>
          <a:xfrm>
            <a:off x="8255545" y="6345639"/>
            <a:ext cx="325121" cy="368301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2100" b="1"/>
            </a:pPr>
            <a:endParaRPr lang="en-GB" noProof="0" dirty="0"/>
          </a:p>
        </p:txBody>
      </p:sp>
      <p:sp>
        <p:nvSpPr>
          <p:cNvPr id="591" name="0"/>
          <p:cNvSpPr txBox="1"/>
          <p:nvPr/>
        </p:nvSpPr>
        <p:spPr>
          <a:xfrm>
            <a:off x="8224531" y="3920693"/>
            <a:ext cx="290879" cy="482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110000"/>
              </a:lnSpc>
              <a:defRPr sz="2500" b="1">
                <a:solidFill>
                  <a:schemeClr val="accent6"/>
                </a:solidFill>
              </a:defRPr>
            </a:lvl1pPr>
          </a:lstStyle>
          <a:p>
            <a:r>
              <a:rPr lang="en-GB" noProof="0" dirty="0"/>
              <a:t>0</a:t>
            </a:r>
          </a:p>
        </p:txBody>
      </p:sp>
      <p:sp>
        <p:nvSpPr>
          <p:cNvPr id="592" name="1"/>
          <p:cNvSpPr txBox="1"/>
          <p:nvPr/>
        </p:nvSpPr>
        <p:spPr>
          <a:xfrm>
            <a:off x="8270346" y="6284336"/>
            <a:ext cx="290879" cy="482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110000"/>
              </a:lnSpc>
              <a:defRPr sz="2500" b="1">
                <a:solidFill>
                  <a:schemeClr val="accent6"/>
                </a:solidFill>
              </a:defRPr>
            </a:lvl1pPr>
          </a:lstStyle>
          <a:p>
            <a:r>
              <a:rPr lang="en-GB" noProof="0" dirty="0"/>
              <a:t>1</a:t>
            </a:r>
          </a:p>
        </p:txBody>
      </p:sp>
      <p:sp>
        <p:nvSpPr>
          <p:cNvPr id="593" name="1"/>
          <p:cNvSpPr txBox="1"/>
          <p:nvPr/>
        </p:nvSpPr>
        <p:spPr>
          <a:xfrm>
            <a:off x="8678073" y="4793322"/>
            <a:ext cx="290879" cy="482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110000"/>
              </a:lnSpc>
              <a:defRPr sz="2500" b="1">
                <a:solidFill>
                  <a:schemeClr val="accent6"/>
                </a:solidFill>
              </a:defRPr>
            </a:lvl1pPr>
          </a:lstStyle>
          <a:p>
            <a:r>
              <a:rPr lang="en-GB" noProof="0" dirty="0"/>
              <a:t>1</a:t>
            </a:r>
          </a:p>
        </p:txBody>
      </p:sp>
      <p:sp>
        <p:nvSpPr>
          <p:cNvPr id="594" name="0"/>
          <p:cNvSpPr txBox="1"/>
          <p:nvPr/>
        </p:nvSpPr>
        <p:spPr>
          <a:xfrm>
            <a:off x="9474187" y="5634472"/>
            <a:ext cx="290879" cy="482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110000"/>
              </a:lnSpc>
              <a:defRPr sz="2500" b="1">
                <a:solidFill>
                  <a:schemeClr val="accent6"/>
                </a:solidFill>
              </a:defRPr>
            </a:lvl1pPr>
          </a:lstStyle>
          <a:p>
            <a:r>
              <a:rPr lang="en-GB" noProof="0" dirty="0"/>
              <a:t>0</a:t>
            </a:r>
          </a:p>
        </p:txBody>
      </p:sp>
      <p:sp>
        <p:nvSpPr>
          <p:cNvPr id="595" name="0"/>
          <p:cNvSpPr txBox="1"/>
          <p:nvPr/>
        </p:nvSpPr>
        <p:spPr>
          <a:xfrm>
            <a:off x="10222075" y="3914343"/>
            <a:ext cx="290879" cy="482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110000"/>
              </a:lnSpc>
              <a:defRPr sz="2500" b="1">
                <a:solidFill>
                  <a:schemeClr val="accent6"/>
                </a:solidFill>
              </a:defRPr>
            </a:lvl1pPr>
          </a:lstStyle>
          <a:p>
            <a:r>
              <a:rPr lang="en-GB" noProof="0" dirty="0"/>
              <a:t>0</a:t>
            </a:r>
          </a:p>
        </p:txBody>
      </p:sp>
      <p:sp>
        <p:nvSpPr>
          <p:cNvPr id="596" name="0"/>
          <p:cNvSpPr txBox="1"/>
          <p:nvPr/>
        </p:nvSpPr>
        <p:spPr>
          <a:xfrm>
            <a:off x="10188926" y="6288489"/>
            <a:ext cx="290880" cy="482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110000"/>
              </a:lnSpc>
              <a:defRPr sz="2500" b="1">
                <a:solidFill>
                  <a:schemeClr val="accent6"/>
                </a:solidFill>
              </a:defRPr>
            </a:lvl1pPr>
          </a:lstStyle>
          <a:p>
            <a:r>
              <a:rPr lang="en-GB" noProof="0" dirty="0"/>
              <a:t>0</a:t>
            </a:r>
          </a:p>
        </p:txBody>
      </p:sp>
      <p:sp>
        <p:nvSpPr>
          <p:cNvPr id="597" name="Circle"/>
          <p:cNvSpPr/>
          <p:nvPr/>
        </p:nvSpPr>
        <p:spPr>
          <a:xfrm>
            <a:off x="8994622" y="6116282"/>
            <a:ext cx="70735" cy="70735"/>
          </a:xfrm>
          <a:prstGeom prst="ellipse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 lang="en-GB" noProof="0" dirty="0"/>
          </a:p>
        </p:txBody>
      </p:sp>
      <p:sp>
        <p:nvSpPr>
          <p:cNvPr id="598" name="Circle"/>
          <p:cNvSpPr/>
          <p:nvPr/>
        </p:nvSpPr>
        <p:spPr>
          <a:xfrm>
            <a:off x="10177977" y="5666572"/>
            <a:ext cx="70736" cy="70735"/>
          </a:xfrm>
          <a:prstGeom prst="ellipse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 lang="en-GB" noProof="0" dirty="0"/>
          </a:p>
        </p:txBody>
      </p:sp>
      <p:sp>
        <p:nvSpPr>
          <p:cNvPr id="599" name="Circle"/>
          <p:cNvSpPr/>
          <p:nvPr/>
        </p:nvSpPr>
        <p:spPr>
          <a:xfrm>
            <a:off x="9703230" y="4478623"/>
            <a:ext cx="70736" cy="70735"/>
          </a:xfrm>
          <a:prstGeom prst="ellipse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 lang="en-GB" noProof="0" dirty="0"/>
          </a:p>
        </p:txBody>
      </p:sp>
      <p:sp>
        <p:nvSpPr>
          <p:cNvPr id="600" name="Circle"/>
          <p:cNvSpPr/>
          <p:nvPr/>
        </p:nvSpPr>
        <p:spPr>
          <a:xfrm>
            <a:off x="8510521" y="4967049"/>
            <a:ext cx="70735" cy="70735"/>
          </a:xfrm>
          <a:prstGeom prst="ellipse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 lang="en-GB" noProof="0" dirty="0"/>
          </a:p>
        </p:txBody>
      </p:sp>
      <p:sp>
        <p:nvSpPr>
          <p:cNvPr id="601" name="Circle"/>
          <p:cNvSpPr/>
          <p:nvPr/>
        </p:nvSpPr>
        <p:spPr>
          <a:xfrm>
            <a:off x="9356283" y="5107772"/>
            <a:ext cx="70735" cy="70735"/>
          </a:xfrm>
          <a:prstGeom prst="ellipse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 lang="en-GB" noProof="0" dirty="0"/>
          </a:p>
        </p:txBody>
      </p:sp>
      <p:sp>
        <p:nvSpPr>
          <p:cNvPr id="602" name="Circle"/>
          <p:cNvSpPr/>
          <p:nvPr/>
        </p:nvSpPr>
        <p:spPr>
          <a:xfrm>
            <a:off x="9631292" y="5303168"/>
            <a:ext cx="70735" cy="70735"/>
          </a:xfrm>
          <a:prstGeom prst="ellipse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 lang="en-GB" noProof="0" dirty="0"/>
          </a:p>
        </p:txBody>
      </p:sp>
      <p:sp>
        <p:nvSpPr>
          <p:cNvPr id="603" name="Circle"/>
          <p:cNvSpPr/>
          <p:nvPr/>
        </p:nvSpPr>
        <p:spPr>
          <a:xfrm>
            <a:off x="8583989" y="5717733"/>
            <a:ext cx="70735" cy="70735"/>
          </a:xfrm>
          <a:prstGeom prst="ellipse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 lang="en-GB" noProof="0" dirty="0"/>
          </a:p>
        </p:txBody>
      </p:sp>
      <p:sp>
        <p:nvSpPr>
          <p:cNvPr id="604" name="Circle"/>
          <p:cNvSpPr/>
          <p:nvPr/>
        </p:nvSpPr>
        <p:spPr>
          <a:xfrm>
            <a:off x="9784441" y="6090882"/>
            <a:ext cx="70735" cy="70735"/>
          </a:xfrm>
          <a:prstGeom prst="ellipse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 lang="en-GB" noProof="0" dirty="0"/>
          </a:p>
        </p:txBody>
      </p:sp>
      <p:sp>
        <p:nvSpPr>
          <p:cNvPr id="605" name="Circle"/>
          <p:cNvSpPr/>
          <p:nvPr/>
        </p:nvSpPr>
        <p:spPr>
          <a:xfrm>
            <a:off x="10208777" y="5314619"/>
            <a:ext cx="70735" cy="70735"/>
          </a:xfrm>
          <a:prstGeom prst="ellipse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 lang="en-GB" noProof="0" dirty="0"/>
          </a:p>
        </p:txBody>
      </p:sp>
      <p:sp>
        <p:nvSpPr>
          <p:cNvPr id="606" name="Circle"/>
          <p:cNvSpPr/>
          <p:nvPr/>
        </p:nvSpPr>
        <p:spPr>
          <a:xfrm>
            <a:off x="10115877" y="4882201"/>
            <a:ext cx="70735" cy="70736"/>
          </a:xfrm>
          <a:prstGeom prst="ellipse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 lang="en-GB" noProof="0" dirty="0"/>
          </a:p>
        </p:txBody>
      </p:sp>
      <p:sp>
        <p:nvSpPr>
          <p:cNvPr id="607" name="Circle"/>
          <p:cNvSpPr/>
          <p:nvPr/>
        </p:nvSpPr>
        <p:spPr>
          <a:xfrm>
            <a:off x="9355604" y="4554315"/>
            <a:ext cx="70735" cy="70735"/>
          </a:xfrm>
          <a:prstGeom prst="ellipse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 lang="en-GB" noProof="0" dirty="0"/>
          </a:p>
        </p:txBody>
      </p:sp>
      <p:sp>
        <p:nvSpPr>
          <p:cNvPr id="608" name="Circle"/>
          <p:cNvSpPr/>
          <p:nvPr/>
        </p:nvSpPr>
        <p:spPr>
          <a:xfrm>
            <a:off x="8915424" y="4567015"/>
            <a:ext cx="70735" cy="70735"/>
          </a:xfrm>
          <a:prstGeom prst="ellipse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 lang="en-GB" noProof="0" dirty="0"/>
          </a:p>
        </p:txBody>
      </p:sp>
      <p:grpSp>
        <p:nvGrpSpPr>
          <p:cNvPr id="612" name="Group"/>
          <p:cNvGrpSpPr/>
          <p:nvPr/>
        </p:nvGrpSpPr>
        <p:grpSpPr>
          <a:xfrm>
            <a:off x="6731843" y="2961122"/>
            <a:ext cx="2672507" cy="4907971"/>
            <a:chOff x="0" y="0"/>
            <a:chExt cx="2672506" cy="4907970"/>
          </a:xfrm>
        </p:grpSpPr>
        <p:sp>
          <p:nvSpPr>
            <p:cNvPr id="609" name="Line"/>
            <p:cNvSpPr/>
            <p:nvPr/>
          </p:nvSpPr>
          <p:spPr>
            <a:xfrm flipV="1">
              <a:off x="2672506" y="0"/>
              <a:ext cx="1" cy="4907971"/>
            </a:xfrm>
            <a:prstGeom prst="line">
              <a:avLst/>
            </a:prstGeom>
            <a:noFill/>
            <a:ln w="88900" cap="flat">
              <a:solidFill>
                <a:srgbClr val="FF40FF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 lang="en-GB" noProof="0" dirty="0"/>
            </a:p>
          </p:txBody>
        </p:sp>
        <p:sp>
          <p:nvSpPr>
            <p:cNvPr id="610" name="Line"/>
            <p:cNvSpPr/>
            <p:nvPr/>
          </p:nvSpPr>
          <p:spPr>
            <a:xfrm flipH="1" flipV="1">
              <a:off x="1490374" y="2388347"/>
              <a:ext cx="1177190" cy="1177190"/>
            </a:xfrm>
            <a:prstGeom prst="line">
              <a:avLst/>
            </a:prstGeom>
            <a:noFill/>
            <a:ln w="101600" cap="flat">
              <a:solidFill>
                <a:srgbClr val="FF40FF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 lang="en-GB" noProof="0" dirty="0"/>
            </a:p>
          </p:txBody>
        </p:sp>
        <p:sp>
          <p:nvSpPr>
            <p:cNvPr id="611" name="Line"/>
            <p:cNvSpPr/>
            <p:nvPr/>
          </p:nvSpPr>
          <p:spPr>
            <a:xfrm>
              <a:off x="0" y="2382692"/>
              <a:ext cx="1529301" cy="1"/>
            </a:xfrm>
            <a:prstGeom prst="line">
              <a:avLst/>
            </a:prstGeom>
            <a:noFill/>
            <a:ln w="76200" cap="flat">
              <a:solidFill>
                <a:srgbClr val="FF40FF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 lang="en-GB" noProof="0" dirty="0"/>
            </a:p>
          </p:txBody>
        </p:sp>
      </p:grpSp>
      <p:sp>
        <p:nvSpPr>
          <p:cNvPr id="613" name="Line"/>
          <p:cNvSpPr/>
          <p:nvPr/>
        </p:nvSpPr>
        <p:spPr>
          <a:xfrm flipV="1">
            <a:off x="2419350" y="3319246"/>
            <a:ext cx="1" cy="4206586"/>
          </a:xfrm>
          <a:prstGeom prst="line">
            <a:avLst/>
          </a:prstGeom>
          <a:ln w="76200">
            <a:solidFill>
              <a:srgbClr val="FF2600"/>
            </a:solidFill>
            <a:miter lim="400000"/>
            <a:headEnd type="triangle"/>
            <a:tailEnd type="triangle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 lang="en-GB" noProof="0" dirty="0"/>
          </a:p>
        </p:txBody>
      </p:sp>
      <p:sp>
        <p:nvSpPr>
          <p:cNvPr id="614" name="Line"/>
          <p:cNvSpPr/>
          <p:nvPr/>
        </p:nvSpPr>
        <p:spPr>
          <a:xfrm rot="16200000">
            <a:off x="3305200" y="2992196"/>
            <a:ext cx="1820337" cy="247443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151" y="1094"/>
                </a:lnTo>
                <a:lnTo>
                  <a:pt x="1993" y="64"/>
                </a:lnTo>
                <a:lnTo>
                  <a:pt x="21600" y="0"/>
                </a:lnTo>
              </a:path>
            </a:pathLst>
          </a:custGeom>
          <a:ln w="76200">
            <a:solidFill>
              <a:srgbClr val="00F900"/>
            </a:solidFill>
            <a:miter lim="400000"/>
            <a:headEnd type="triangle"/>
            <a:tailEnd type="triangle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 lang="en-GB" noProof="0" dirty="0"/>
          </a:p>
        </p:txBody>
      </p:sp>
      <p:sp>
        <p:nvSpPr>
          <p:cNvPr id="615" name="Line"/>
          <p:cNvSpPr/>
          <p:nvPr/>
        </p:nvSpPr>
        <p:spPr>
          <a:xfrm rot="16200000">
            <a:off x="1485409" y="5474291"/>
            <a:ext cx="1807676" cy="229540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20119" y="21574"/>
                </a:lnTo>
                <a:lnTo>
                  <a:pt x="21435" y="20573"/>
                </a:lnTo>
                <a:lnTo>
                  <a:pt x="21600" y="0"/>
                </a:lnTo>
              </a:path>
            </a:pathLst>
          </a:custGeom>
          <a:ln w="76200">
            <a:solidFill>
              <a:srgbClr val="FF40FF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 lang="en-GB" noProof="0" dirty="0"/>
          </a:p>
        </p:txBody>
      </p:sp>
      <p:sp>
        <p:nvSpPr>
          <p:cNvPr id="616" name="Line"/>
          <p:cNvSpPr/>
          <p:nvPr/>
        </p:nvSpPr>
        <p:spPr>
          <a:xfrm flipV="1">
            <a:off x="3536950" y="3319246"/>
            <a:ext cx="0" cy="4206586"/>
          </a:xfrm>
          <a:prstGeom prst="line">
            <a:avLst/>
          </a:prstGeom>
          <a:ln w="76200">
            <a:solidFill>
              <a:srgbClr val="FF40FF"/>
            </a:solidFill>
            <a:miter lim="400000"/>
            <a:headEnd type="triangle"/>
            <a:tailEnd type="triangle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 lang="en-GB" noProof="0" dirty="0"/>
          </a:p>
        </p:txBody>
      </p:sp>
      <p:sp>
        <p:nvSpPr>
          <p:cNvPr id="617" name="Line"/>
          <p:cNvSpPr/>
          <p:nvPr/>
        </p:nvSpPr>
        <p:spPr>
          <a:xfrm rot="10800000">
            <a:off x="1233538" y="3312685"/>
            <a:ext cx="2865666" cy="294560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123" y="877"/>
                </a:lnTo>
                <a:lnTo>
                  <a:pt x="1299" y="0"/>
                </a:lnTo>
                <a:lnTo>
                  <a:pt x="21600" y="60"/>
                </a:lnTo>
              </a:path>
            </a:pathLst>
          </a:custGeom>
          <a:ln w="76200">
            <a:solidFill>
              <a:srgbClr val="00FDFF"/>
            </a:solidFill>
            <a:miter lim="400000"/>
            <a:headEnd type="triangle"/>
            <a:tailEnd type="triangle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 lang="en-GB" noProof="0" dirty="0"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" fill="hold"/>
                                        <p:tgtEl>
                                          <p:spTgt spid="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4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5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6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2" grpId="1" animBg="1" advAuto="0"/>
      <p:bldP spid="613" grpId="6" animBg="1" advAuto="0"/>
      <p:bldP spid="614" grpId="4" animBg="1" advAuto="0"/>
      <p:bldP spid="615" grpId="3" animBg="1" advAuto="0"/>
      <p:bldP spid="616" grpId="2" animBg="1" advAuto="0"/>
      <p:bldP spid="617" grpId="5" animBg="1" advAuto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06673-A395-265F-F875-6F2156AB9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CDC100-067A-523A-4B4F-33C8275C55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70198" y="2705099"/>
            <a:ext cx="751117" cy="1902279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A</a:t>
            </a:r>
          </a:p>
          <a:p>
            <a:pPr marL="0" indent="0">
              <a:buNone/>
            </a:pPr>
            <a:r>
              <a:rPr lang="en-GB" dirty="0"/>
              <a:t>B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C0B441F7-C7E0-E0A5-D91D-3A35B257CD51}"/>
              </a:ext>
            </a:extLst>
          </p:cNvPr>
          <p:cNvSpPr txBox="1">
            <a:spLocks/>
          </p:cNvSpPr>
          <p:nvPr/>
        </p:nvSpPr>
        <p:spPr>
          <a:xfrm>
            <a:off x="9674680" y="2705097"/>
            <a:ext cx="919844" cy="19022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>
            <a:lvl1pPr marL="444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1pPr>
            <a:lvl2pPr marL="8890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2pPr>
            <a:lvl3pPr marL="1333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3pPr>
            <a:lvl4pPr marL="17780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4pPr>
            <a:lvl5pPr marL="2222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5pPr>
            <a:lvl6pPr marL="26670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6pPr>
            <a:lvl7pPr marL="3111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7pPr>
            <a:lvl8pPr marL="35560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8pPr>
            <a:lvl9pPr marL="4000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9pPr>
          </a:lstStyle>
          <a:p>
            <a:pPr marL="0" indent="0" hangingPunct="1">
              <a:buFontTx/>
              <a:buNone/>
            </a:pPr>
            <a:r>
              <a:rPr lang="en-GB" dirty="0"/>
              <a:t>X</a:t>
            </a:r>
          </a:p>
          <a:p>
            <a:pPr marL="0" indent="0" hangingPunct="1">
              <a:buFontTx/>
              <a:buNone/>
            </a:pPr>
            <a:r>
              <a:rPr lang="en-GB" dirty="0"/>
              <a:t>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319C87-898A-783D-7750-F5DA6A03CEDF}"/>
              </a:ext>
            </a:extLst>
          </p:cNvPr>
          <p:cNvSpPr/>
          <p:nvPr/>
        </p:nvSpPr>
        <p:spPr>
          <a:xfrm>
            <a:off x="4175578" y="2705098"/>
            <a:ext cx="4653643" cy="167096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GB" sz="21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Draw Your Circuit Here?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DDDD723-65FA-FE65-D6F6-A2CF746148F8}"/>
              </a:ext>
            </a:extLst>
          </p:cNvPr>
          <p:cNvCxnSpPr>
            <a:cxnSpLocks/>
          </p:cNvCxnSpPr>
          <p:nvPr/>
        </p:nvCxnSpPr>
        <p:spPr>
          <a:xfrm>
            <a:off x="3424463" y="3004457"/>
            <a:ext cx="751115" cy="0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DFA696E-7AA9-D02F-A705-226B7BE3FB08}"/>
              </a:ext>
            </a:extLst>
          </p:cNvPr>
          <p:cNvCxnSpPr>
            <a:cxnSpLocks/>
          </p:cNvCxnSpPr>
          <p:nvPr/>
        </p:nvCxnSpPr>
        <p:spPr>
          <a:xfrm>
            <a:off x="3424462" y="4022271"/>
            <a:ext cx="751115" cy="0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C4CB5DA-8EA7-F7FB-C15F-CBEB77D9405B}"/>
              </a:ext>
            </a:extLst>
          </p:cNvPr>
          <p:cNvCxnSpPr>
            <a:cxnSpLocks/>
          </p:cNvCxnSpPr>
          <p:nvPr/>
        </p:nvCxnSpPr>
        <p:spPr>
          <a:xfrm>
            <a:off x="8829221" y="2928257"/>
            <a:ext cx="751115" cy="0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C67E291-BAFE-7118-C610-0A088DB03085}"/>
              </a:ext>
            </a:extLst>
          </p:cNvPr>
          <p:cNvCxnSpPr>
            <a:cxnSpLocks/>
          </p:cNvCxnSpPr>
          <p:nvPr/>
        </p:nvCxnSpPr>
        <p:spPr>
          <a:xfrm>
            <a:off x="8829220" y="4022271"/>
            <a:ext cx="751115" cy="0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D2C890D-2A80-6217-C2DF-7C194BDD8AD3}"/>
              </a:ext>
            </a:extLst>
          </p:cNvPr>
          <p:cNvSpPr txBox="1">
            <a:spLocks/>
          </p:cNvSpPr>
          <p:nvPr/>
        </p:nvSpPr>
        <p:spPr>
          <a:xfrm>
            <a:off x="5798454" y="4876800"/>
            <a:ext cx="1778003" cy="6712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>
            <a:lvl1pPr marL="444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1pPr>
            <a:lvl2pPr marL="8890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2pPr>
            <a:lvl3pPr marL="1333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3pPr>
            <a:lvl4pPr marL="17780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4pPr>
            <a:lvl5pPr marL="2222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5pPr>
            <a:lvl6pPr marL="26670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6pPr>
            <a:lvl7pPr marL="3111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7pPr>
            <a:lvl8pPr marL="35560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8pPr>
            <a:lvl9pPr marL="4000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9pPr>
          </a:lstStyle>
          <a:p>
            <a:pPr marL="0" indent="0" hangingPunct="1">
              <a:buFontTx/>
              <a:buNone/>
            </a:pPr>
            <a:r>
              <a:rPr lang="en-GB" dirty="0"/>
              <a:t>C		D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B9C31F2-2C71-E8E3-FD94-DB56B7EA03F7}"/>
              </a:ext>
            </a:extLst>
          </p:cNvPr>
          <p:cNvCxnSpPr>
            <a:cxnSpLocks/>
          </p:cNvCxnSpPr>
          <p:nvPr/>
        </p:nvCxnSpPr>
        <p:spPr>
          <a:xfrm flipV="1">
            <a:off x="5960834" y="4376058"/>
            <a:ext cx="0" cy="500742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4D3AAAA-657B-06E2-8152-938C334DAFB6}"/>
              </a:ext>
            </a:extLst>
          </p:cNvPr>
          <p:cNvCxnSpPr>
            <a:cxnSpLocks/>
          </p:cNvCxnSpPr>
          <p:nvPr/>
        </p:nvCxnSpPr>
        <p:spPr>
          <a:xfrm flipV="1">
            <a:off x="7141934" y="4376058"/>
            <a:ext cx="0" cy="500742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FBD70C1C-0F3B-D2F4-0C13-5FF2DB0C1849}"/>
              </a:ext>
            </a:extLst>
          </p:cNvPr>
          <p:cNvSpPr txBox="1">
            <a:spLocks/>
          </p:cNvSpPr>
          <p:nvPr/>
        </p:nvSpPr>
        <p:spPr>
          <a:xfrm>
            <a:off x="952500" y="5763988"/>
            <a:ext cx="11310256" cy="3443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>
            <a:lvl1pPr marL="444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1pPr>
            <a:lvl2pPr marL="8890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2pPr>
            <a:lvl3pPr marL="1333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3pPr>
            <a:lvl4pPr marL="17780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4pPr>
            <a:lvl5pPr marL="2222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5pPr>
            <a:lvl6pPr marL="26670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6pPr>
            <a:lvl7pPr marL="3111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7pPr>
            <a:lvl8pPr marL="35560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8pPr>
            <a:lvl9pPr marL="4000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9pPr>
          </a:lstStyle>
          <a:p>
            <a:pPr marL="0" indent="0" hangingPunct="1">
              <a:buFontTx/>
              <a:buNone/>
            </a:pPr>
            <a:r>
              <a:rPr lang="en-GB" dirty="0"/>
              <a:t>1. Can you draw a circuit using MUX’s, so that I can output any of the following four combinations? </a:t>
            </a:r>
          </a:p>
          <a:p>
            <a:pPr marL="0" indent="0" algn="ctr" hangingPunct="1">
              <a:buFontTx/>
              <a:buNone/>
            </a:pPr>
            <a:r>
              <a:rPr lang="en-GB" dirty="0"/>
              <a:t>X,Y = {A,A}, {A,B}, {B,A}, {B,B} </a:t>
            </a:r>
          </a:p>
          <a:p>
            <a:pPr marL="0" indent="0" hangingPunct="1">
              <a:buFontTx/>
              <a:buNone/>
            </a:pPr>
            <a:r>
              <a:rPr lang="en-GB" dirty="0"/>
              <a:t>2. What if I remove D?</a:t>
            </a:r>
          </a:p>
        </p:txBody>
      </p:sp>
    </p:spTree>
    <p:extLst>
      <p:ext uri="{BB962C8B-B14F-4D97-AF65-F5344CB8AC3E}">
        <p14:creationId xmlns:p14="http://schemas.microsoft.com/office/powerpoint/2010/main" val="383522013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Configuring an FPGA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noProof="0" dirty="0"/>
              <a:t>Configuring an FPGA</a:t>
            </a:r>
          </a:p>
        </p:txBody>
      </p:sp>
      <p:sp>
        <p:nvSpPr>
          <p:cNvPr id="620" name="All these configuration registers are set by passing the FPGA a configuration bitstream.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noProof="0" dirty="0"/>
              <a:t>All these configuration registers are set by passing the FPGA a </a:t>
            </a:r>
            <a:r>
              <a:rPr lang="en-GB" b="1" noProof="0" dirty="0"/>
              <a:t>configuration</a:t>
            </a:r>
            <a:r>
              <a:rPr lang="en-GB" noProof="0" dirty="0"/>
              <a:t> </a:t>
            </a:r>
            <a:r>
              <a:rPr lang="en-GB" b="1" noProof="0" dirty="0"/>
              <a:t>bitstream</a:t>
            </a:r>
            <a:r>
              <a:rPr lang="en-GB" noProof="0" dirty="0"/>
              <a:t>.</a:t>
            </a:r>
          </a:p>
          <a:p>
            <a:r>
              <a:rPr lang="en-GB" noProof="0" dirty="0"/>
              <a:t>Powering up the board puts the FPGA chip into a "waiting" mode (LEDs flashing). You then send the board the bitstream of your design via the USB port.</a:t>
            </a:r>
          </a:p>
        </p:txBody>
      </p:sp>
      <p:sp>
        <p:nvSpPr>
          <p:cNvPr id="62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 lang="en-GB" noProof="0"/>
              <a:t>23</a:t>
            </a:fld>
            <a:endParaRPr lang="en-GB" noProof="0" dirty="0"/>
          </a:p>
        </p:txBody>
      </p:sp>
    </p:spTree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The Altera Cyclone V FPGA uses a more complex FPGA logic blocks called Adaptive Logic Modules (ALMs).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noProof="0" dirty="0"/>
              <a:t>The Altera </a:t>
            </a:r>
            <a:r>
              <a:rPr lang="en-GB" b="1" noProof="0" dirty="0"/>
              <a:t>Cyclone V</a:t>
            </a:r>
            <a:r>
              <a:rPr lang="en-GB" noProof="0" dirty="0"/>
              <a:t> FPGA uses a more complex FPGA logic blocks called Adaptive Logic Modules (ALMs).</a:t>
            </a:r>
          </a:p>
        </p:txBody>
      </p:sp>
      <p:sp>
        <p:nvSpPr>
          <p:cNvPr id="62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 lang="en-GB" noProof="0"/>
              <a:t>24</a:t>
            </a:fld>
            <a:endParaRPr lang="en-GB" noProof="0" dirty="0"/>
          </a:p>
        </p:txBody>
      </p:sp>
      <p:pic>
        <p:nvPicPr>
          <p:cNvPr id="625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1950" y="3943350"/>
            <a:ext cx="6862335" cy="5174107"/>
          </a:xfrm>
          <a:prstGeom prst="rect">
            <a:avLst/>
          </a:prstGeom>
          <a:ln w="12700">
            <a:miter lim="400000"/>
          </a:ln>
        </p:spPr>
      </p:pic>
      <p:sp>
        <p:nvSpPr>
          <p:cNvPr id="626" name="The device we use (5CSEMA5F31C6N) has 32000 ALMs. That's roughly equivalent to 85000 4-LUTs, or about 2000 32-bit binary adders.…"/>
          <p:cNvSpPr txBox="1"/>
          <p:nvPr/>
        </p:nvSpPr>
        <p:spPr>
          <a:xfrm>
            <a:off x="968348" y="3746500"/>
            <a:ext cx="4331399" cy="5943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marL="444500" indent="-444500" algn="l">
              <a:spcBef>
                <a:spcPts val="4200"/>
              </a:spcBef>
              <a:buSzPct val="145000"/>
              <a:buChar char="•"/>
            </a:pPr>
            <a:r>
              <a:rPr lang="en-GB" noProof="0" dirty="0"/>
              <a:t>The device we use (5CSEMA5F31C6N) has 32000 ALMs. That's roughly equivalent to 85000 4-LUTs, or about 2000 32-bit binary adders.</a:t>
            </a:r>
          </a:p>
          <a:p>
            <a:pPr marL="444500" indent="-444500" algn="l">
              <a:spcBef>
                <a:spcPts val="4200"/>
              </a:spcBef>
              <a:buSzPct val="145000"/>
              <a:buChar char="•"/>
            </a:pPr>
            <a:r>
              <a:rPr lang="en-GB" noProof="0" dirty="0"/>
              <a:t>Not that this particularly matters for FPGA </a:t>
            </a:r>
            <a:r>
              <a:rPr lang="en-GB" i="1" noProof="0" dirty="0"/>
              <a:t>users</a:t>
            </a:r>
            <a:r>
              <a:rPr lang="en-GB" noProof="0" dirty="0"/>
              <a:t>.</a:t>
            </a:r>
          </a:p>
        </p:txBody>
      </p:sp>
      <p:sp>
        <p:nvSpPr>
          <p:cNvPr id="627" name="Cyclone V FPGA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noProof="0" dirty="0"/>
              <a:t>Cyclone V FPGA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6" grpId="1" animBg="1" advAuto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Cyclone V FPGA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noProof="0" dirty="0"/>
              <a:t>Cyclone V FPGA</a:t>
            </a:r>
          </a:p>
        </p:txBody>
      </p:sp>
      <p:sp>
        <p:nvSpPr>
          <p:cNvPr id="63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 lang="en-GB" noProof="0"/>
              <a:t>25</a:t>
            </a:fld>
            <a:endParaRPr lang="en-GB" noProof="0" dirty="0"/>
          </a:p>
        </p:txBody>
      </p:sp>
      <p:pic>
        <p:nvPicPr>
          <p:cNvPr id="631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2111" y="4232745"/>
            <a:ext cx="9720578" cy="5216616"/>
          </a:xfrm>
          <a:prstGeom prst="rect">
            <a:avLst/>
          </a:prstGeom>
          <a:ln w="12700">
            <a:miter lim="400000"/>
          </a:ln>
        </p:spPr>
      </p:pic>
      <p:sp>
        <p:nvSpPr>
          <p:cNvPr id="632" name="The Cyclone V also has 4MB of embedded memory, 87 DSP blocks (for multiply-accumulate), a 2-core ARM processor, and hard logic for interfacing with PCIe and external memory."/>
          <p:cNvSpPr txBox="1">
            <a:spLocks noGrp="1"/>
          </p:cNvSpPr>
          <p:nvPr>
            <p:ph type="body" idx="1"/>
          </p:nvPr>
        </p:nvSpPr>
        <p:spPr>
          <a:xfrm>
            <a:off x="952500" y="2448055"/>
            <a:ext cx="11711315" cy="6286500"/>
          </a:xfrm>
          <a:prstGeom prst="rect">
            <a:avLst/>
          </a:prstGeom>
        </p:spPr>
        <p:txBody>
          <a:bodyPr/>
          <a:lstStyle/>
          <a:p>
            <a:r>
              <a:rPr lang="en-GB" noProof="0" dirty="0"/>
              <a:t>The Cyclone V also has 4MB of embedded memory, 87 DSP blocks (for multiply-accumulate), a 2-core ARM processor, and hard logic for interfacing with PCIe and external memory.</a:t>
            </a:r>
          </a:p>
        </p:txBody>
      </p:sp>
    </p:spTree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The DE1-SoC board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noProof="0" dirty="0"/>
              <a:t>The DE1-SoC board</a:t>
            </a:r>
          </a:p>
        </p:txBody>
      </p:sp>
      <p:sp>
        <p:nvSpPr>
          <p:cNvPr id="635" name="Everything you need to test basic designs involving switches, 7-segment displays, and even VGA output."/>
          <p:cNvSpPr txBox="1">
            <a:spLocks noGrp="1"/>
          </p:cNvSpPr>
          <p:nvPr>
            <p:ph type="body" sz="quarter" idx="1"/>
          </p:nvPr>
        </p:nvSpPr>
        <p:spPr>
          <a:xfrm>
            <a:off x="457200" y="2686050"/>
            <a:ext cx="4497934" cy="6286500"/>
          </a:xfrm>
          <a:prstGeom prst="rect">
            <a:avLst/>
          </a:prstGeom>
        </p:spPr>
        <p:txBody>
          <a:bodyPr/>
          <a:lstStyle/>
          <a:p>
            <a:r>
              <a:rPr lang="en-GB" noProof="0" dirty="0"/>
              <a:t>Everything you need to test basic designs involving switches, 7-segment displays, and even VGA output.</a:t>
            </a:r>
          </a:p>
        </p:txBody>
      </p:sp>
      <p:sp>
        <p:nvSpPr>
          <p:cNvPr id="63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 lang="en-GB" noProof="0"/>
              <a:t>26</a:t>
            </a:fld>
            <a:endParaRPr lang="en-GB" noProof="0" dirty="0"/>
          </a:p>
        </p:txBody>
      </p:sp>
      <p:pic>
        <p:nvPicPr>
          <p:cNvPr id="637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867400"/>
            <a:ext cx="4340020" cy="3379839"/>
          </a:xfrm>
          <a:prstGeom prst="rect">
            <a:avLst/>
          </a:prstGeom>
          <a:ln w="12700">
            <a:miter lim="400000"/>
          </a:ln>
        </p:spPr>
      </p:pic>
      <p:pic>
        <p:nvPicPr>
          <p:cNvPr id="638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2277" y="2374900"/>
            <a:ext cx="7650553" cy="62865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Add-on board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noProof="0" dirty="0"/>
              <a:t>Add-on board</a:t>
            </a:r>
          </a:p>
        </p:txBody>
      </p:sp>
      <p:sp>
        <p:nvSpPr>
          <p:cNvPr id="641" name="Provides analogue inputs (from microphone) and outputs (to headphone jack).…"/>
          <p:cNvSpPr txBox="1">
            <a:spLocks noGrp="1"/>
          </p:cNvSpPr>
          <p:nvPr>
            <p:ph type="body" sz="half" idx="1"/>
          </p:nvPr>
        </p:nvSpPr>
        <p:spPr>
          <a:xfrm>
            <a:off x="952500" y="2686050"/>
            <a:ext cx="6275090" cy="6286500"/>
          </a:xfrm>
          <a:prstGeom prst="rect">
            <a:avLst/>
          </a:prstGeom>
        </p:spPr>
        <p:txBody>
          <a:bodyPr/>
          <a:lstStyle/>
          <a:p>
            <a:r>
              <a:rPr lang="en-GB" noProof="0" dirty="0"/>
              <a:t>Provides analogue inputs (from microphone) and outputs (to headphone jack).</a:t>
            </a:r>
          </a:p>
          <a:p>
            <a:r>
              <a:rPr lang="en-GB" noProof="0" dirty="0"/>
              <a:t>Will feature in the third and fourth parts of the lab – you can ignore it for now.</a:t>
            </a:r>
          </a:p>
        </p:txBody>
      </p:sp>
      <p:sp>
        <p:nvSpPr>
          <p:cNvPr id="64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 lang="en-GB" noProof="0"/>
              <a:t>27</a:t>
            </a:fld>
            <a:endParaRPr lang="en-GB" noProof="0" dirty="0"/>
          </a:p>
        </p:txBody>
      </p:sp>
      <p:pic>
        <p:nvPicPr>
          <p:cNvPr id="643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9401" y="2444750"/>
            <a:ext cx="4418949" cy="67691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Design Tool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noProof="0" dirty="0"/>
              <a:t>Design Tools</a:t>
            </a:r>
          </a:p>
        </p:txBody>
      </p:sp>
      <p:sp>
        <p:nvSpPr>
          <p:cNvPr id="646" name="We use Altera Quartus II to design for FPGA.…"/>
          <p:cNvSpPr txBox="1">
            <a:spLocks noGrp="1"/>
          </p:cNvSpPr>
          <p:nvPr>
            <p:ph type="body" sz="half" idx="1"/>
          </p:nvPr>
        </p:nvSpPr>
        <p:spPr>
          <a:xfrm>
            <a:off x="952500" y="2686050"/>
            <a:ext cx="6787258" cy="6286500"/>
          </a:xfrm>
          <a:prstGeom prst="rect">
            <a:avLst/>
          </a:prstGeom>
        </p:spPr>
        <p:txBody>
          <a:bodyPr/>
          <a:lstStyle/>
          <a:p>
            <a:r>
              <a:rPr lang="en-GB" noProof="0" dirty="0"/>
              <a:t>We use </a:t>
            </a:r>
            <a:r>
              <a:rPr lang="en-GB" b="1" noProof="0" dirty="0"/>
              <a:t>Altera Quartus II</a:t>
            </a:r>
            <a:r>
              <a:rPr lang="en-GB" noProof="0" dirty="0"/>
              <a:t> to design for FPGA.</a:t>
            </a:r>
          </a:p>
          <a:p>
            <a:r>
              <a:rPr lang="en-GB" noProof="0" dirty="0"/>
              <a:t>Features include: design entry, compilation from HDL, synthesis, simulation, timing analysis, power analysis, project management.</a:t>
            </a:r>
          </a:p>
          <a:p>
            <a:r>
              <a:rPr lang="en-GB" noProof="0" dirty="0"/>
              <a:t>The software is installed on all the PCs in the department.</a:t>
            </a:r>
          </a:p>
        </p:txBody>
      </p:sp>
      <p:sp>
        <p:nvSpPr>
          <p:cNvPr id="64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 lang="en-GB" noProof="0"/>
              <a:t>28</a:t>
            </a:fld>
            <a:endParaRPr lang="en-GB" noProof="0" dirty="0"/>
          </a:p>
        </p:txBody>
      </p:sp>
      <p:pic>
        <p:nvPicPr>
          <p:cNvPr id="648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7777" y="2385197"/>
            <a:ext cx="3751324" cy="688820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Verilo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noProof="0" dirty="0"/>
              <a:t>SystemVerilog</a:t>
            </a:r>
          </a:p>
        </p:txBody>
      </p:sp>
      <p:sp>
        <p:nvSpPr>
          <p:cNvPr id="65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 lang="en-GB" noProof="0"/>
              <a:t>29</a:t>
            </a:fld>
            <a:endParaRPr lang="en-GB" noProof="0" dirty="0"/>
          </a:p>
        </p:txBody>
      </p:sp>
    </p:spTree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Verilo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noProof="0" dirty="0"/>
              <a:t>SystemVerilog</a:t>
            </a:r>
          </a:p>
        </p:txBody>
      </p:sp>
      <p:sp>
        <p:nvSpPr>
          <p:cNvPr id="654" name="A hardware description language based on C syntax.…"/>
          <p:cNvSpPr txBox="1">
            <a:spLocks noGrp="1"/>
          </p:cNvSpPr>
          <p:nvPr>
            <p:ph type="body" idx="1"/>
          </p:nvPr>
        </p:nvSpPr>
        <p:spPr>
          <a:xfrm>
            <a:off x="952500" y="2686050"/>
            <a:ext cx="11349284" cy="6286500"/>
          </a:xfrm>
          <a:prstGeom prst="rect">
            <a:avLst/>
          </a:prstGeom>
        </p:spPr>
        <p:txBody>
          <a:bodyPr/>
          <a:lstStyle/>
          <a:p>
            <a:r>
              <a:rPr lang="en-GB" noProof="0" dirty="0"/>
              <a:t>A </a:t>
            </a:r>
            <a:r>
              <a:rPr lang="en-GB" b="1" noProof="0" dirty="0"/>
              <a:t>hardware description language</a:t>
            </a:r>
            <a:r>
              <a:rPr lang="en-GB" noProof="0" dirty="0"/>
              <a:t> based on C syntax.</a:t>
            </a:r>
          </a:p>
          <a:p>
            <a:r>
              <a:rPr lang="en-GB" noProof="0" dirty="0"/>
              <a:t>An extension of Verilog (early 2000’s) – types + verification</a:t>
            </a:r>
          </a:p>
          <a:p>
            <a:r>
              <a:rPr lang="en-GB" noProof="0" dirty="0"/>
              <a:t>Description can be at </a:t>
            </a:r>
            <a:r>
              <a:rPr lang="en-GB" b="1" noProof="0" dirty="0"/>
              <a:t>behavioural level</a:t>
            </a:r>
            <a:r>
              <a:rPr lang="en-GB" noProof="0" dirty="0"/>
              <a:t>, </a:t>
            </a:r>
            <a:r>
              <a:rPr lang="en-GB" b="1" noProof="0" dirty="0"/>
              <a:t>register-transfer level</a:t>
            </a:r>
            <a:r>
              <a:rPr lang="en-GB" noProof="0" dirty="0"/>
              <a:t> (RTL), or </a:t>
            </a:r>
            <a:r>
              <a:rPr lang="en-GB" b="1" noProof="0" dirty="0"/>
              <a:t>gate level</a:t>
            </a:r>
            <a:r>
              <a:rPr lang="en-GB" noProof="0" dirty="0"/>
              <a:t>.</a:t>
            </a:r>
          </a:p>
          <a:p>
            <a:r>
              <a:rPr lang="en-GB" noProof="0" dirty="0"/>
              <a:t>Closest competitor, VHDL. </a:t>
            </a:r>
          </a:p>
          <a:p>
            <a:r>
              <a:rPr lang="en-GB" noProof="0" dirty="0"/>
              <a:t>Other HDLs include Chisel and </a:t>
            </a:r>
            <a:r>
              <a:rPr lang="en-GB" noProof="0" dirty="0" err="1"/>
              <a:t>Bluespec</a:t>
            </a:r>
            <a:r>
              <a:rPr lang="en-GB" noProof="0" dirty="0"/>
              <a:t>.</a:t>
            </a:r>
          </a:p>
        </p:txBody>
      </p:sp>
      <p:sp>
        <p:nvSpPr>
          <p:cNvPr id="65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 lang="en-GB" noProof="0"/>
              <a:t>30</a:t>
            </a:fld>
            <a:endParaRPr lang="en-GB" noProof="0" dirty="0"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6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6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6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4" grpId="1" build="p" bldLvl="5" animBg="1" advAuto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Schematic vs HDL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noProof="0" dirty="0"/>
              <a:t>Schematic vs HDL</a:t>
            </a:r>
          </a:p>
        </p:txBody>
      </p:sp>
      <p:sp>
        <p:nvSpPr>
          <p:cNvPr id="658" name="Schematics:…"/>
          <p:cNvSpPr txBox="1">
            <a:spLocks noGrp="1"/>
          </p:cNvSpPr>
          <p:nvPr>
            <p:ph type="body" sz="half" idx="1"/>
          </p:nvPr>
        </p:nvSpPr>
        <p:spPr>
          <a:xfrm>
            <a:off x="952500" y="2686050"/>
            <a:ext cx="5203429" cy="6286500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  <a:defRPr b="1"/>
            </a:pPr>
            <a:r>
              <a:rPr lang="en-GB" noProof="0" dirty="0"/>
              <a:t>Schematics:</a:t>
            </a:r>
          </a:p>
          <a:p>
            <a:pPr>
              <a:buChar char="✓"/>
            </a:pPr>
            <a:r>
              <a:rPr lang="en-GB" noProof="0" dirty="0"/>
              <a:t>Provide overview</a:t>
            </a:r>
          </a:p>
          <a:p>
            <a:pPr>
              <a:buChar char="✓"/>
            </a:pPr>
            <a:r>
              <a:rPr lang="en-GB" noProof="0" dirty="0"/>
              <a:t>Direct connection to hardware</a:t>
            </a:r>
          </a:p>
          <a:p>
            <a:pPr>
              <a:buChar char="✓"/>
            </a:pPr>
            <a:r>
              <a:rPr lang="en-GB" noProof="0" dirty="0"/>
              <a:t>No programming needed</a:t>
            </a:r>
          </a:p>
        </p:txBody>
      </p:sp>
      <p:sp>
        <p:nvSpPr>
          <p:cNvPr id="65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 lang="en-GB" noProof="0"/>
              <a:t>31</a:t>
            </a:fld>
            <a:endParaRPr lang="en-GB" noProof="0" dirty="0"/>
          </a:p>
        </p:txBody>
      </p:sp>
      <p:sp>
        <p:nvSpPr>
          <p:cNvPr id="660" name="HDL:…"/>
          <p:cNvSpPr txBox="1"/>
          <p:nvPr/>
        </p:nvSpPr>
        <p:spPr>
          <a:xfrm>
            <a:off x="7006166" y="2686050"/>
            <a:ext cx="5203430" cy="628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pPr algn="l">
              <a:spcBef>
                <a:spcPts val="4200"/>
              </a:spcBef>
              <a:defRPr b="1"/>
            </a:pPr>
            <a:r>
              <a:rPr lang="en-GB" noProof="0" dirty="0"/>
              <a:t>HDL:</a:t>
            </a:r>
          </a:p>
          <a:p>
            <a:pPr marL="444500" indent="-444500" algn="l">
              <a:spcBef>
                <a:spcPts val="4200"/>
              </a:spcBef>
              <a:buSzPct val="145000"/>
              <a:buChar char="✓"/>
            </a:pPr>
            <a:r>
              <a:rPr lang="en-GB" noProof="0" dirty="0"/>
              <a:t>Flexible and </a:t>
            </a:r>
            <a:r>
              <a:rPr lang="en-GB" noProof="0" dirty="0" err="1"/>
              <a:t>parameterisable</a:t>
            </a:r>
            <a:endParaRPr lang="en-GB" noProof="0" dirty="0"/>
          </a:p>
          <a:p>
            <a:pPr marL="444500" indent="-444500" algn="l">
              <a:spcBef>
                <a:spcPts val="4200"/>
              </a:spcBef>
              <a:buSzPct val="145000"/>
              <a:buChar char="✓"/>
            </a:pPr>
            <a:r>
              <a:rPr lang="en-GB" noProof="0" dirty="0"/>
              <a:t>Simple textual format</a:t>
            </a:r>
          </a:p>
          <a:p>
            <a:pPr marL="444500" indent="-444500" algn="l">
              <a:spcBef>
                <a:spcPts val="4200"/>
              </a:spcBef>
              <a:buSzPct val="145000"/>
              <a:buChar char="✓"/>
            </a:pPr>
            <a:r>
              <a:rPr lang="en-GB" noProof="0" dirty="0"/>
              <a:t>Connection to high-level languages</a:t>
            </a:r>
          </a:p>
        </p:txBody>
      </p:sp>
    </p:spTree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Verilog modules"/>
          <p:cNvSpPr txBox="1">
            <a:spLocks noGrp="1"/>
          </p:cNvSpPr>
          <p:nvPr>
            <p:ph type="title"/>
          </p:nvPr>
        </p:nvSpPr>
        <p:spPr>
          <a:xfrm>
            <a:off x="727155" y="534908"/>
            <a:ext cx="11550489" cy="2159000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en-GB" noProof="0" dirty="0"/>
              <a:t>SystemVerilog modules</a:t>
            </a:r>
          </a:p>
        </p:txBody>
      </p:sp>
      <p:sp>
        <p:nvSpPr>
          <p:cNvPr id="663" name="A Verilog design consists of many interconnected modules.…"/>
          <p:cNvSpPr txBox="1">
            <a:spLocks noGrp="1"/>
          </p:cNvSpPr>
          <p:nvPr>
            <p:ph type="body" idx="1"/>
          </p:nvPr>
        </p:nvSpPr>
        <p:spPr>
          <a:xfrm>
            <a:off x="952499" y="2305949"/>
            <a:ext cx="11603057" cy="6286500"/>
          </a:xfrm>
          <a:prstGeom prst="rect">
            <a:avLst/>
          </a:prstGeom>
        </p:spPr>
        <p:txBody>
          <a:bodyPr/>
          <a:lstStyle/>
          <a:p>
            <a:r>
              <a:rPr lang="en-GB" noProof="0" dirty="0"/>
              <a:t>A SystemVerilog design consists of many interconnected </a:t>
            </a:r>
            <a:r>
              <a:rPr lang="en-GB" b="1" noProof="0" dirty="0"/>
              <a:t>modules</a:t>
            </a:r>
            <a:r>
              <a:rPr lang="en-GB" noProof="0" dirty="0"/>
              <a:t>. </a:t>
            </a:r>
          </a:p>
          <a:p>
            <a:r>
              <a:rPr lang="en-GB" noProof="0" dirty="0"/>
              <a:t>A module contains computations, assignments, and other modules.</a:t>
            </a:r>
          </a:p>
        </p:txBody>
      </p:sp>
      <p:sp>
        <p:nvSpPr>
          <p:cNvPr id="66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 lang="en-GB" noProof="0"/>
              <a:t>32</a:t>
            </a:fld>
            <a:endParaRPr lang="en-GB" noProof="0" dirty="0"/>
          </a:p>
        </p:txBody>
      </p:sp>
      <p:pic>
        <p:nvPicPr>
          <p:cNvPr id="665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248" y="4826274"/>
            <a:ext cx="3388294" cy="2447101"/>
          </a:xfrm>
          <a:prstGeom prst="rect">
            <a:avLst/>
          </a:prstGeom>
          <a:ln w="12700">
            <a:miter lim="400000"/>
          </a:ln>
        </p:spPr>
      </p:pic>
      <p:graphicFrame>
        <p:nvGraphicFramePr>
          <p:cNvPr id="666" name="Table 1"/>
          <p:cNvGraphicFramePr/>
          <p:nvPr>
            <p:extLst>
              <p:ext uri="{D42A27DB-BD31-4B8C-83A1-F6EECF244321}">
                <p14:modId xmlns:p14="http://schemas.microsoft.com/office/powerpoint/2010/main" val="2809524358"/>
              </p:ext>
            </p:extLst>
          </p:nvPr>
        </p:nvGraphicFramePr>
        <p:xfrm>
          <a:off x="4187954" y="4627649"/>
          <a:ext cx="2875293" cy="4871672"/>
        </p:xfrm>
        <a:graphic>
          <a:graphicData uri="http://schemas.openxmlformats.org/drawingml/2006/table">
            <a:tbl>
              <a:tblPr firstRow="1">
                <a:tableStyleId>{4A9BC294-FFE2-49D5-8D69-9E1BD2C41BD5}</a:tableStyleId>
              </a:tblPr>
              <a:tblGrid>
                <a:gridCol w="503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7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7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78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3842">
                <a:tc>
                  <a:txBody>
                    <a:bodyPr/>
                    <a:lstStyle/>
                    <a:p>
                      <a:pPr algn="ctr" defTabSz="914400">
                        <a:tabLst>
                          <a:tab pos="1181100" algn="l"/>
                        </a:tabLst>
                        <a:defRPr sz="1800" b="0"/>
                      </a:pPr>
                      <a:r>
                        <a:rPr lang="en-GB" sz="1500" b="1" noProof="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D6D5D5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tabLst>
                          <a:tab pos="1181100" algn="l"/>
                        </a:tabLst>
                        <a:defRPr sz="1800" b="0"/>
                      </a:pPr>
                      <a:r>
                        <a:rPr lang="en-GB" sz="1500" b="1" noProof="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D6D5D5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tabLst>
                          <a:tab pos="1181100" algn="l"/>
                        </a:tabLst>
                        <a:defRPr sz="1800" b="0"/>
                      </a:pPr>
                      <a:r>
                        <a:rPr lang="en-GB" sz="1500" b="1" noProof="0" dirty="0" err="1">
                          <a:latin typeface="Arial"/>
                          <a:ea typeface="Arial"/>
                          <a:cs typeface="Arial"/>
                          <a:sym typeface="Arial"/>
                        </a:rPr>
                        <a:t>sel</a:t>
                      </a:r>
                      <a:endParaRPr lang="en-GB" sz="1500" b="1" noProof="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D6D5D5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tabLst>
                          <a:tab pos="1181100" algn="l"/>
                        </a:tabLst>
                        <a:defRPr sz="1800" b="0"/>
                      </a:pPr>
                      <a:r>
                        <a:rPr lang="en-GB" sz="1500" b="1" noProof="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out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D6D5D5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tabLst>
                          <a:tab pos="1181100" algn="l"/>
                        </a:tabLst>
                        <a:defRPr sz="1800" b="0"/>
                      </a:pPr>
                      <a:r>
                        <a:rPr lang="en-GB" sz="1500" b="1" noProof="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outbar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D6D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842"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lang="en-GB" noProof="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lang="en-GB" noProof="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lang="en-GB" noProof="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lang="en-GB" noProof="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lang="en-GB" noProof="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842"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lang="en-GB" noProof="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lang="en-GB" noProof="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lang="en-GB" noProof="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lang="en-GB" noProof="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lang="en-GB" noProof="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842"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lang="en-GB" noProof="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lang="en-GB" noProof="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lang="en-GB" noProof="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lang="en-GB" noProof="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lang="en-GB" noProof="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842"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lang="en-GB" noProof="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lang="en-GB" noProof="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lang="en-GB" noProof="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lang="en-GB" noProof="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lang="en-GB" noProof="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842"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lang="en-GB" noProof="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lang="en-GB" noProof="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lang="en-GB" noProof="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lang="en-GB" noProof="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lang="en-GB" noProof="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3842"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lang="en-GB" noProof="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lang="en-GB" noProof="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lang="en-GB" noProof="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lang="en-GB" noProof="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lang="en-GB" noProof="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3842"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lang="en-GB" noProof="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lang="en-GB" noProof="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lang="en-GB" noProof="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lang="en-GB" noProof="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lang="en-GB" noProof="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3842"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lang="en-GB" noProof="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lang="en-GB" noProof="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lang="en-GB" noProof="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lang="en-GB" noProof="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lang="en-GB" noProof="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3842"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lang="en-GB" noProof="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lang="en-GB" noProof="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lang="en-GB" noProof="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lang="en-GB" noProof="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lang="en-GB" noProof="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3842"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lang="en-GB" noProof="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lang="en-GB" noProof="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lang="en-GB" noProof="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lang="en-GB" noProof="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lang="en-GB" noProof="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3842"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lang="en-GB" noProof="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lang="en-GB" noProof="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lang="en-GB" noProof="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lang="en-GB" noProof="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lang="en-GB" noProof="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3842"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lang="en-GB" noProof="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lang="en-GB" noProof="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lang="en-GB" noProof="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lang="en-GB" noProof="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lang="en-GB" noProof="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3842"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lang="en-GB" noProof="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lang="en-GB" noProof="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lang="en-GB" noProof="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lang="en-GB" noProof="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lang="en-GB" noProof="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3842"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lang="en-GB" noProof="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lang="en-GB" noProof="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lang="en-GB" noProof="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lang="en-GB" noProof="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lang="en-GB" noProof="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83842"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lang="en-GB" noProof="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lang="en-GB" noProof="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lang="en-GB" noProof="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lang="en-GB" noProof="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lang="en-GB" noProof="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83842"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lang="en-GB" noProof="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lang="en-GB" noProof="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lang="en-GB" noProof="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lang="en-GB" noProof="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1800"/>
                      </a:pPr>
                      <a:r>
                        <a:rPr lang="en-GB" noProof="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667" name="// Function: 2-to-1 multiplexer…"/>
          <p:cNvSpPr txBox="1"/>
          <p:nvPr/>
        </p:nvSpPr>
        <p:spPr>
          <a:xfrm>
            <a:off x="7357889" y="5370938"/>
            <a:ext cx="5079917" cy="3041858"/>
          </a:xfrm>
          <a:prstGeom prst="rect">
            <a:avLst/>
          </a:prstGeom>
          <a:solidFill>
            <a:srgbClr val="E9E6B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2300"/>
            </a:pPr>
            <a:r>
              <a:rPr lang="en-GB" i="1" noProof="0" dirty="0">
                <a:solidFill>
                  <a:schemeClr val="accent3">
                    <a:hueOff val="362282"/>
                    <a:satOff val="31803"/>
                    <a:lumOff val="-18242"/>
                  </a:schemeClr>
                </a:solidFill>
              </a:rPr>
              <a:t>// Function: 2-to-1 multiplexer</a:t>
            </a:r>
          </a:p>
          <a:p>
            <a:pPr algn="l">
              <a:defRPr sz="2100" b="1">
                <a:solidFill>
                  <a:srgbClr val="EC008C"/>
                </a:solidFill>
                <a:latin typeface="Courier New"/>
                <a:ea typeface="Courier New"/>
                <a:cs typeface="Courier New"/>
              </a:defRPr>
            </a:pPr>
            <a:r>
              <a:rPr lang="en-GB" sz="2400" dirty="0">
                <a:solidFill>
                  <a:srgbClr val="EC008C"/>
                </a:solidFill>
                <a:latin typeface="Courier New"/>
                <a:ea typeface="Courier New"/>
                <a:cs typeface="Courier New"/>
              </a:rPr>
              <a:t>module mux2to1 (</a:t>
            </a:r>
          </a:p>
          <a:p>
            <a:pPr algn="l">
              <a:defRPr sz="2100" b="1">
                <a:solidFill>
                  <a:srgbClr val="EC008C"/>
                </a:solidFill>
                <a:latin typeface="Courier New"/>
                <a:ea typeface="Courier New"/>
                <a:cs typeface="Courier New"/>
              </a:defRPr>
            </a:pPr>
            <a:r>
              <a:rPr lang="en-GB" sz="2400" dirty="0">
                <a:solidFill>
                  <a:srgbClr val="EC008C"/>
                </a:solidFill>
                <a:latin typeface="Courier New"/>
                <a:ea typeface="Courier New"/>
                <a:cs typeface="Courier New"/>
              </a:rPr>
              <a:t>  output logic out, outbar,</a:t>
            </a:r>
          </a:p>
          <a:p>
            <a:pPr algn="l">
              <a:defRPr sz="2100" b="1">
                <a:solidFill>
                  <a:srgbClr val="EC008C"/>
                </a:solidFill>
                <a:latin typeface="Courier New"/>
                <a:ea typeface="Courier New"/>
                <a:cs typeface="Courier New"/>
              </a:defRPr>
            </a:pPr>
            <a:r>
              <a:rPr lang="en-GB" sz="2400" dirty="0">
                <a:solidFill>
                  <a:srgbClr val="EC008C"/>
                </a:solidFill>
                <a:latin typeface="Courier New"/>
                <a:ea typeface="Courier New"/>
                <a:cs typeface="Courier New"/>
              </a:rPr>
              <a:t>  input  logic a, b, </a:t>
            </a:r>
            <a:r>
              <a:rPr lang="en-GB" sz="2400" dirty="0" err="1">
                <a:solidFill>
                  <a:srgbClr val="EC008C"/>
                </a:solidFill>
                <a:latin typeface="Courier New"/>
                <a:ea typeface="Courier New"/>
                <a:cs typeface="Courier New"/>
              </a:rPr>
              <a:t>sel</a:t>
            </a:r>
            <a:endParaRPr lang="en-GB" sz="2400" dirty="0">
              <a:solidFill>
                <a:srgbClr val="EC008C"/>
              </a:solidFill>
              <a:latin typeface="Courier New"/>
              <a:ea typeface="Courier New"/>
              <a:cs typeface="Courier New"/>
            </a:endParaRPr>
          </a:p>
          <a:p>
            <a:pPr algn="l">
              <a:defRPr sz="2100" b="1">
                <a:solidFill>
                  <a:srgbClr val="EC008C"/>
                </a:solidFill>
                <a:latin typeface="Courier New"/>
                <a:ea typeface="Courier New"/>
                <a:cs typeface="Courier New"/>
              </a:defRPr>
            </a:pPr>
            <a:r>
              <a:rPr lang="en-GB" sz="2400" dirty="0">
                <a:solidFill>
                  <a:srgbClr val="EC008C"/>
                </a:solidFill>
                <a:latin typeface="Courier New"/>
                <a:ea typeface="Courier New"/>
                <a:cs typeface="Courier New"/>
              </a:rPr>
              <a:t>);</a:t>
            </a:r>
          </a:p>
          <a:p>
            <a:pPr algn="l">
              <a:defRPr sz="2100" b="1">
                <a:solidFill>
                  <a:srgbClr val="EC008C"/>
                </a:solidFill>
                <a:latin typeface="Courier New"/>
                <a:ea typeface="Courier New"/>
                <a:cs typeface="Courier New"/>
              </a:defRPr>
            </a:pPr>
            <a:r>
              <a:rPr lang="en-GB" sz="2400" dirty="0">
                <a:solidFill>
                  <a:srgbClr val="EC008C"/>
                </a:solidFill>
                <a:latin typeface="Courier New"/>
                <a:ea typeface="Courier New"/>
                <a:cs typeface="Courier New"/>
              </a:rPr>
              <a:t>  assign out = </a:t>
            </a:r>
            <a:r>
              <a:rPr lang="en-GB" sz="2400" dirty="0" err="1">
                <a:solidFill>
                  <a:srgbClr val="EC008C"/>
                </a:solidFill>
                <a:latin typeface="Courier New"/>
                <a:ea typeface="Courier New"/>
                <a:cs typeface="Courier New"/>
              </a:rPr>
              <a:t>sel</a:t>
            </a:r>
            <a:r>
              <a:rPr lang="en-GB" sz="2400" dirty="0">
                <a:solidFill>
                  <a:srgbClr val="EC008C"/>
                </a:solidFill>
                <a:latin typeface="Courier New"/>
                <a:ea typeface="Courier New"/>
                <a:cs typeface="Courier New"/>
              </a:rPr>
              <a:t> ? a : b;</a:t>
            </a:r>
          </a:p>
          <a:p>
            <a:pPr algn="l">
              <a:defRPr sz="2100" b="1">
                <a:solidFill>
                  <a:srgbClr val="EC008C"/>
                </a:solidFill>
                <a:latin typeface="Courier New"/>
                <a:ea typeface="Courier New"/>
                <a:cs typeface="Courier New"/>
              </a:defRPr>
            </a:pPr>
            <a:r>
              <a:rPr lang="en-GB" sz="2400" dirty="0">
                <a:solidFill>
                  <a:srgbClr val="EC008C"/>
                </a:solidFill>
                <a:latin typeface="Courier New"/>
                <a:ea typeface="Courier New"/>
                <a:cs typeface="Courier New"/>
              </a:rPr>
              <a:t>  assign outbar = ~out;</a:t>
            </a:r>
          </a:p>
          <a:p>
            <a:pPr algn="l">
              <a:defRPr sz="2100" b="1">
                <a:solidFill>
                  <a:srgbClr val="EC008C"/>
                </a:solidFill>
                <a:latin typeface="Courier New"/>
                <a:ea typeface="Courier New"/>
                <a:cs typeface="Courier New"/>
              </a:defRPr>
            </a:pPr>
            <a:r>
              <a:rPr lang="en-GB" sz="2400" dirty="0" err="1">
                <a:solidFill>
                  <a:srgbClr val="EC008C"/>
                </a:solidFill>
                <a:latin typeface="Courier New"/>
                <a:ea typeface="Courier New"/>
                <a:cs typeface="Courier New"/>
              </a:rPr>
              <a:t>endmodule</a:t>
            </a:r>
            <a:endParaRPr lang="en-GB" sz="2400" dirty="0">
              <a:solidFill>
                <a:srgbClr val="EC008C"/>
              </a:solidFill>
              <a:latin typeface="Courier New"/>
              <a:ea typeface="Courier New"/>
              <a:cs typeface="Courier New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" grpId="1" animBg="1" advAuto="0"/>
      <p:bldP spid="666" grpId="2" animBg="1" advAuto="0"/>
      <p:bldP spid="667" grpId="3" animBg="1" advAuto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// Function: 2-to-1 multiplexer…">
            <a:extLst>
              <a:ext uri="{FF2B5EF4-FFF2-40B4-BE49-F238E27FC236}">
                <a16:creationId xmlns:a16="http://schemas.microsoft.com/office/drawing/2014/main" id="{20C6593F-275F-0EFC-D5F3-41FE21679C4E}"/>
              </a:ext>
            </a:extLst>
          </p:cNvPr>
          <p:cNvSpPr txBox="1"/>
          <p:nvPr/>
        </p:nvSpPr>
        <p:spPr>
          <a:xfrm>
            <a:off x="7357889" y="5370938"/>
            <a:ext cx="5079917" cy="3041858"/>
          </a:xfrm>
          <a:prstGeom prst="rect">
            <a:avLst/>
          </a:prstGeom>
          <a:solidFill>
            <a:srgbClr val="E9E6B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2300"/>
            </a:pPr>
            <a:r>
              <a:rPr lang="en-GB" i="1" noProof="0" dirty="0">
                <a:solidFill>
                  <a:schemeClr val="accent3">
                    <a:hueOff val="362282"/>
                    <a:satOff val="31803"/>
                    <a:lumOff val="-18242"/>
                  </a:schemeClr>
                </a:solidFill>
              </a:rPr>
              <a:t>// Function: 2-to-1 multiplexer</a:t>
            </a:r>
          </a:p>
          <a:p>
            <a:pPr algn="l">
              <a:defRPr sz="2100" b="1">
                <a:solidFill>
                  <a:srgbClr val="EC008C"/>
                </a:solidFill>
                <a:latin typeface="Courier New"/>
                <a:ea typeface="Courier New"/>
                <a:cs typeface="Courier New"/>
              </a:defRPr>
            </a:pPr>
            <a:r>
              <a:rPr lang="en-GB" sz="2400" dirty="0">
                <a:solidFill>
                  <a:srgbClr val="EC008C"/>
                </a:solidFill>
                <a:latin typeface="Courier New"/>
                <a:ea typeface="Courier New"/>
                <a:cs typeface="Courier New"/>
              </a:rPr>
              <a:t>module mux2to1 (</a:t>
            </a:r>
          </a:p>
          <a:p>
            <a:pPr algn="l">
              <a:defRPr sz="2100" b="1">
                <a:solidFill>
                  <a:srgbClr val="EC008C"/>
                </a:solidFill>
                <a:latin typeface="Courier New"/>
                <a:ea typeface="Courier New"/>
                <a:cs typeface="Courier New"/>
              </a:defRPr>
            </a:pPr>
            <a:r>
              <a:rPr lang="en-GB" sz="2400" dirty="0">
                <a:solidFill>
                  <a:srgbClr val="EC008C"/>
                </a:solidFill>
                <a:latin typeface="Courier New"/>
                <a:ea typeface="Courier New"/>
                <a:cs typeface="Courier New"/>
              </a:rPr>
              <a:t>  output logic out, outbar,</a:t>
            </a:r>
          </a:p>
          <a:p>
            <a:pPr algn="l">
              <a:defRPr sz="2100" b="1">
                <a:solidFill>
                  <a:srgbClr val="EC008C"/>
                </a:solidFill>
                <a:latin typeface="Courier New"/>
                <a:ea typeface="Courier New"/>
                <a:cs typeface="Courier New"/>
              </a:defRPr>
            </a:pPr>
            <a:r>
              <a:rPr lang="en-GB" sz="2400" dirty="0">
                <a:solidFill>
                  <a:srgbClr val="EC008C"/>
                </a:solidFill>
                <a:latin typeface="Courier New"/>
                <a:ea typeface="Courier New"/>
                <a:cs typeface="Courier New"/>
              </a:rPr>
              <a:t>  input  logic a, b, </a:t>
            </a:r>
            <a:r>
              <a:rPr lang="en-GB" sz="2400" dirty="0" err="1">
                <a:solidFill>
                  <a:srgbClr val="EC008C"/>
                </a:solidFill>
                <a:latin typeface="Courier New"/>
                <a:ea typeface="Courier New"/>
                <a:cs typeface="Courier New"/>
              </a:rPr>
              <a:t>sel</a:t>
            </a:r>
            <a:endParaRPr lang="en-GB" sz="2400" dirty="0">
              <a:solidFill>
                <a:srgbClr val="EC008C"/>
              </a:solidFill>
              <a:latin typeface="Courier New"/>
              <a:ea typeface="Courier New"/>
              <a:cs typeface="Courier New"/>
            </a:endParaRPr>
          </a:p>
          <a:p>
            <a:pPr algn="l">
              <a:defRPr sz="2100" b="1">
                <a:solidFill>
                  <a:srgbClr val="EC008C"/>
                </a:solidFill>
                <a:latin typeface="Courier New"/>
                <a:ea typeface="Courier New"/>
                <a:cs typeface="Courier New"/>
              </a:defRPr>
            </a:pPr>
            <a:r>
              <a:rPr lang="en-GB" sz="2400" dirty="0">
                <a:solidFill>
                  <a:srgbClr val="EC008C"/>
                </a:solidFill>
                <a:latin typeface="Courier New"/>
                <a:ea typeface="Courier New"/>
                <a:cs typeface="Courier New"/>
              </a:rPr>
              <a:t>);</a:t>
            </a:r>
          </a:p>
          <a:p>
            <a:pPr algn="l">
              <a:defRPr sz="2100" b="1">
                <a:solidFill>
                  <a:srgbClr val="EC008C"/>
                </a:solidFill>
                <a:latin typeface="Courier New"/>
                <a:ea typeface="Courier New"/>
                <a:cs typeface="Courier New"/>
              </a:defRPr>
            </a:pPr>
            <a:r>
              <a:rPr lang="en-GB" sz="2400" dirty="0">
                <a:solidFill>
                  <a:srgbClr val="EC008C"/>
                </a:solidFill>
                <a:latin typeface="Courier New"/>
                <a:ea typeface="Courier New"/>
                <a:cs typeface="Courier New"/>
              </a:rPr>
              <a:t>  assign out = </a:t>
            </a:r>
            <a:r>
              <a:rPr lang="en-GB" sz="2400" dirty="0" err="1">
                <a:solidFill>
                  <a:srgbClr val="EC008C"/>
                </a:solidFill>
                <a:latin typeface="Courier New"/>
                <a:ea typeface="Courier New"/>
                <a:cs typeface="Courier New"/>
              </a:rPr>
              <a:t>sel</a:t>
            </a:r>
            <a:r>
              <a:rPr lang="en-GB" sz="2400" dirty="0">
                <a:solidFill>
                  <a:srgbClr val="EC008C"/>
                </a:solidFill>
                <a:latin typeface="Courier New"/>
                <a:ea typeface="Courier New"/>
                <a:cs typeface="Courier New"/>
              </a:rPr>
              <a:t> ? a : b;</a:t>
            </a:r>
          </a:p>
          <a:p>
            <a:pPr algn="l">
              <a:defRPr sz="2100" b="1">
                <a:solidFill>
                  <a:srgbClr val="EC008C"/>
                </a:solidFill>
                <a:latin typeface="Courier New"/>
                <a:ea typeface="Courier New"/>
                <a:cs typeface="Courier New"/>
              </a:defRPr>
            </a:pPr>
            <a:r>
              <a:rPr lang="en-GB" sz="2400" dirty="0">
                <a:solidFill>
                  <a:srgbClr val="EC008C"/>
                </a:solidFill>
                <a:latin typeface="Courier New"/>
                <a:ea typeface="Courier New"/>
                <a:cs typeface="Courier New"/>
              </a:rPr>
              <a:t>  assign outbar = ~out;</a:t>
            </a:r>
          </a:p>
          <a:p>
            <a:pPr algn="l">
              <a:defRPr sz="2100" b="1">
                <a:solidFill>
                  <a:srgbClr val="EC008C"/>
                </a:solidFill>
                <a:latin typeface="Courier New"/>
                <a:ea typeface="Courier New"/>
                <a:cs typeface="Courier New"/>
              </a:defRPr>
            </a:pPr>
            <a:r>
              <a:rPr lang="en-GB" sz="2400" dirty="0" err="1">
                <a:solidFill>
                  <a:srgbClr val="EC008C"/>
                </a:solidFill>
                <a:latin typeface="Courier New"/>
                <a:ea typeface="Courier New"/>
                <a:cs typeface="Courier New"/>
              </a:rPr>
              <a:t>endmodule</a:t>
            </a:r>
            <a:endParaRPr lang="en-GB" sz="2400" dirty="0">
              <a:solidFill>
                <a:srgbClr val="EC008C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670" name="Verilog syntax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noProof="0" dirty="0"/>
              <a:t>Verilog syntax</a:t>
            </a:r>
          </a:p>
        </p:txBody>
      </p:sp>
      <p:sp>
        <p:nvSpPr>
          <p:cNvPr id="67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 lang="en-GB" noProof="0"/>
              <a:t>33</a:t>
            </a:fld>
            <a:endParaRPr lang="en-GB" noProof="0" dirty="0"/>
          </a:p>
        </p:txBody>
      </p:sp>
      <p:grpSp>
        <p:nvGrpSpPr>
          <p:cNvPr id="674" name="Group"/>
          <p:cNvGrpSpPr/>
          <p:nvPr/>
        </p:nvGrpSpPr>
        <p:grpSpPr>
          <a:xfrm>
            <a:off x="346791" y="2502105"/>
            <a:ext cx="7373692" cy="3948798"/>
            <a:chOff x="0" y="-88470"/>
            <a:chExt cx="7457077" cy="3753126"/>
          </a:xfrm>
        </p:grpSpPr>
        <p:sp>
          <p:nvSpPr>
            <p:cNvPr id="672" name="Specify port as input/output/inout"/>
            <p:cNvSpPr txBox="1"/>
            <p:nvPr/>
          </p:nvSpPr>
          <p:spPr>
            <a:xfrm>
              <a:off x="0" y="-88470"/>
              <a:ext cx="4395790" cy="108747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/>
            <a:p>
              <a:r>
                <a:rPr lang="en-GB" noProof="0" dirty="0"/>
                <a:t>Specify port as </a:t>
              </a:r>
              <a:r>
                <a:rPr lang="en-GB" noProof="0" dirty="0">
                  <a:solidFill>
                    <a:schemeClr val="accent6">
                      <a:satOff val="-15808"/>
                      <a:lumOff val="-17557"/>
                    </a:schemeClr>
                  </a:solidFill>
                  <a:latin typeface="Courier"/>
                  <a:ea typeface="Courier"/>
                  <a:cs typeface="Courier"/>
                  <a:sym typeface="Courier"/>
                </a:rPr>
                <a:t>input</a:t>
              </a:r>
              <a:r>
                <a:rPr lang="en-GB" noProof="0" dirty="0"/>
                <a:t>/</a:t>
              </a:r>
              <a:r>
                <a:rPr lang="en-GB" noProof="0" dirty="0">
                  <a:solidFill>
                    <a:schemeClr val="accent6">
                      <a:satOff val="-15808"/>
                      <a:lumOff val="-17557"/>
                    </a:schemeClr>
                  </a:solidFill>
                  <a:latin typeface="Courier"/>
                  <a:ea typeface="Courier"/>
                  <a:cs typeface="Courier"/>
                  <a:sym typeface="Courier"/>
                </a:rPr>
                <a:t>output</a:t>
              </a:r>
              <a:r>
                <a:rPr lang="en-GB" noProof="0" dirty="0"/>
                <a:t>/</a:t>
              </a:r>
              <a:r>
                <a:rPr lang="en-GB" noProof="0" dirty="0" err="1">
                  <a:solidFill>
                    <a:schemeClr val="accent6">
                      <a:satOff val="-15808"/>
                      <a:lumOff val="-17557"/>
                    </a:schemeClr>
                  </a:solidFill>
                  <a:latin typeface="Courier"/>
                  <a:ea typeface="Courier"/>
                  <a:cs typeface="Courier"/>
                  <a:sym typeface="Courier"/>
                </a:rPr>
                <a:t>inout</a:t>
              </a:r>
              <a:endParaRPr lang="en-GB" noProof="0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endParaRPr>
            </a:p>
          </p:txBody>
        </p:sp>
        <p:sp>
          <p:nvSpPr>
            <p:cNvPr id="673" name="Line"/>
            <p:cNvSpPr/>
            <p:nvPr/>
          </p:nvSpPr>
          <p:spPr>
            <a:xfrm>
              <a:off x="3701302" y="914979"/>
              <a:ext cx="3755775" cy="2749677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 lang="en-GB" noProof="0" dirty="0"/>
            </a:p>
          </p:txBody>
        </p:sp>
      </p:grpSp>
      <p:grpSp>
        <p:nvGrpSpPr>
          <p:cNvPr id="677" name="Group"/>
          <p:cNvGrpSpPr/>
          <p:nvPr/>
        </p:nvGrpSpPr>
        <p:grpSpPr>
          <a:xfrm>
            <a:off x="406057" y="4785560"/>
            <a:ext cx="7515906" cy="2563289"/>
            <a:chOff x="0" y="-260349"/>
            <a:chExt cx="7515904" cy="2563288"/>
          </a:xfrm>
        </p:grpSpPr>
        <p:sp>
          <p:nvSpPr>
            <p:cNvPr id="675" name="Express module's behaviour. Each statement executes in parallel. Order doesn't matter."/>
            <p:cNvSpPr txBox="1"/>
            <p:nvPr/>
          </p:nvSpPr>
          <p:spPr>
            <a:xfrm>
              <a:off x="0" y="-260350"/>
              <a:ext cx="5280535" cy="2032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/>
            <a:p>
              <a:r>
                <a:rPr lang="en-GB" noProof="0" dirty="0"/>
                <a:t>Express module's behaviour. Each statement executes in parallel. Order doesn't matter.</a:t>
              </a:r>
            </a:p>
          </p:txBody>
        </p:sp>
        <p:sp>
          <p:nvSpPr>
            <p:cNvPr id="676" name="Line"/>
            <p:cNvSpPr/>
            <p:nvPr/>
          </p:nvSpPr>
          <p:spPr>
            <a:xfrm>
              <a:off x="5372940" y="1154366"/>
              <a:ext cx="2142965" cy="114857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 lang="en-GB" noProof="0" dirty="0"/>
            </a:p>
          </p:txBody>
        </p:sp>
      </p:grpSp>
      <p:grpSp>
        <p:nvGrpSpPr>
          <p:cNvPr id="680" name="Group"/>
          <p:cNvGrpSpPr/>
          <p:nvPr/>
        </p:nvGrpSpPr>
        <p:grpSpPr>
          <a:xfrm>
            <a:off x="5215124" y="2543074"/>
            <a:ext cx="3265048" cy="3290543"/>
            <a:chOff x="0" y="-15975"/>
            <a:chExt cx="3265047" cy="3290542"/>
          </a:xfrm>
        </p:grpSpPr>
        <p:sp>
          <p:nvSpPr>
            <p:cNvPr id="678" name="Declare module, list its ports, terminate with ;"/>
            <p:cNvSpPr txBox="1"/>
            <p:nvPr/>
          </p:nvSpPr>
          <p:spPr>
            <a:xfrm>
              <a:off x="0" y="-15975"/>
              <a:ext cx="3265047" cy="15559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/>
            <a:p>
              <a:r>
                <a:rPr lang="en-GB" noProof="0" dirty="0"/>
                <a:t>Declare module, list its ports, terminate with </a:t>
              </a:r>
              <a:r>
                <a:rPr lang="en-GB" noProof="0" dirty="0">
                  <a:solidFill>
                    <a:schemeClr val="accent6">
                      <a:satOff val="-15808"/>
                      <a:lumOff val="-17557"/>
                    </a:schemeClr>
                  </a:solidFill>
                  <a:latin typeface="Courier"/>
                  <a:ea typeface="Courier"/>
                  <a:cs typeface="Courier"/>
                  <a:sym typeface="Courier"/>
                </a:rPr>
                <a:t>;</a:t>
              </a:r>
            </a:p>
          </p:txBody>
        </p:sp>
        <p:sp>
          <p:nvSpPr>
            <p:cNvPr id="679" name="Line"/>
            <p:cNvSpPr/>
            <p:nvPr/>
          </p:nvSpPr>
          <p:spPr>
            <a:xfrm>
              <a:off x="2149381" y="1525819"/>
              <a:ext cx="488213" cy="1748748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 lang="en-GB" noProof="0" dirty="0"/>
            </a:p>
          </p:txBody>
        </p:sp>
      </p:grpSp>
      <p:grpSp>
        <p:nvGrpSpPr>
          <p:cNvPr id="683" name="Group"/>
          <p:cNvGrpSpPr/>
          <p:nvPr/>
        </p:nvGrpSpPr>
        <p:grpSpPr>
          <a:xfrm>
            <a:off x="8705589" y="2777311"/>
            <a:ext cx="3780733" cy="2535742"/>
            <a:chOff x="-186462" y="-16688"/>
            <a:chExt cx="3780731" cy="2535740"/>
          </a:xfrm>
        </p:grpSpPr>
        <p:sp>
          <p:nvSpPr>
            <p:cNvPr id="681" name="Comments can also use /* ... */"/>
            <p:cNvSpPr txBox="1"/>
            <p:nvPr/>
          </p:nvSpPr>
          <p:spPr>
            <a:xfrm>
              <a:off x="-186462" y="-16688"/>
              <a:ext cx="3780731" cy="108747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/>
            <a:p>
              <a:r>
                <a:rPr lang="en-GB" noProof="0" dirty="0"/>
                <a:t>Comments can also use </a:t>
              </a:r>
              <a:r>
                <a:rPr lang="en-GB" noProof="0" dirty="0">
                  <a:solidFill>
                    <a:schemeClr val="accent6">
                      <a:satOff val="-15808"/>
                      <a:lumOff val="-17557"/>
                    </a:schemeClr>
                  </a:solidFill>
                  <a:latin typeface="Courier"/>
                  <a:ea typeface="Courier"/>
                  <a:cs typeface="Courier"/>
                  <a:sym typeface="Courier"/>
                </a:rPr>
                <a:t>/* ... */</a:t>
              </a:r>
            </a:p>
          </p:txBody>
        </p:sp>
        <p:sp>
          <p:nvSpPr>
            <p:cNvPr id="682" name="Line"/>
            <p:cNvSpPr/>
            <p:nvPr/>
          </p:nvSpPr>
          <p:spPr>
            <a:xfrm flipH="1">
              <a:off x="1458436" y="1143084"/>
              <a:ext cx="571853" cy="1375968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 lang="en-GB" noProof="0" dirty="0"/>
            </a:p>
          </p:txBody>
        </p:sp>
      </p:grpSp>
      <p:grpSp>
        <p:nvGrpSpPr>
          <p:cNvPr id="686" name="Group"/>
          <p:cNvGrpSpPr/>
          <p:nvPr/>
        </p:nvGrpSpPr>
        <p:grpSpPr>
          <a:xfrm>
            <a:off x="5579191" y="8138111"/>
            <a:ext cx="7007603" cy="1459791"/>
            <a:chOff x="0" y="0"/>
            <a:chExt cx="7007602" cy="1459789"/>
          </a:xfrm>
        </p:grpSpPr>
        <p:sp>
          <p:nvSpPr>
            <p:cNvPr id="684" name="Other operators include: &amp;, |, +, -, *"/>
            <p:cNvSpPr txBox="1"/>
            <p:nvPr/>
          </p:nvSpPr>
          <p:spPr>
            <a:xfrm>
              <a:off x="0" y="869041"/>
              <a:ext cx="7007603" cy="5907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/>
            <a:p>
              <a:r>
                <a:rPr lang="en-GB" noProof="0" dirty="0"/>
                <a:t>Other operators include: </a:t>
              </a:r>
              <a:r>
                <a:rPr lang="en-GB" noProof="0" dirty="0">
                  <a:solidFill>
                    <a:schemeClr val="accent6">
                      <a:satOff val="-15808"/>
                      <a:lumOff val="-17557"/>
                    </a:schemeClr>
                  </a:solidFill>
                  <a:latin typeface="Courier"/>
                  <a:ea typeface="Courier"/>
                  <a:cs typeface="Courier"/>
                  <a:sym typeface="Courier"/>
                </a:rPr>
                <a:t>&amp;</a:t>
              </a:r>
              <a:r>
                <a:rPr lang="en-GB" noProof="0" dirty="0"/>
                <a:t>, </a:t>
              </a:r>
              <a:r>
                <a:rPr lang="en-GB" noProof="0" dirty="0">
                  <a:solidFill>
                    <a:schemeClr val="accent6">
                      <a:satOff val="-15808"/>
                      <a:lumOff val="-17557"/>
                    </a:schemeClr>
                  </a:solidFill>
                  <a:latin typeface="Courier"/>
                  <a:ea typeface="Courier"/>
                  <a:cs typeface="Courier"/>
                  <a:sym typeface="Courier"/>
                </a:rPr>
                <a:t>|</a:t>
              </a:r>
              <a:r>
                <a:rPr lang="en-GB" noProof="0" dirty="0"/>
                <a:t>, </a:t>
              </a:r>
              <a:r>
                <a:rPr lang="en-GB" noProof="0" dirty="0">
                  <a:solidFill>
                    <a:schemeClr val="accent6">
                      <a:satOff val="-15808"/>
                      <a:lumOff val="-17557"/>
                    </a:schemeClr>
                  </a:solidFill>
                  <a:latin typeface="Courier"/>
                  <a:ea typeface="Courier"/>
                  <a:cs typeface="Courier"/>
                  <a:sym typeface="Courier"/>
                </a:rPr>
                <a:t>+</a:t>
              </a:r>
              <a:r>
                <a:rPr lang="en-GB" noProof="0" dirty="0"/>
                <a:t>, </a:t>
              </a:r>
              <a:r>
                <a:rPr lang="en-GB" noProof="0" dirty="0">
                  <a:solidFill>
                    <a:schemeClr val="accent6">
                      <a:satOff val="-15808"/>
                      <a:lumOff val="-17557"/>
                    </a:schemeClr>
                  </a:solidFill>
                  <a:latin typeface="Courier"/>
                  <a:ea typeface="Courier"/>
                  <a:cs typeface="Courier"/>
                  <a:sym typeface="Courier"/>
                </a:rPr>
                <a:t>-</a:t>
              </a:r>
              <a:r>
                <a:rPr lang="en-GB" noProof="0" dirty="0"/>
                <a:t>, </a:t>
              </a:r>
              <a:r>
                <a:rPr lang="en-GB" noProof="0" dirty="0">
                  <a:solidFill>
                    <a:schemeClr val="accent6">
                      <a:satOff val="-15808"/>
                      <a:lumOff val="-17557"/>
                    </a:schemeClr>
                  </a:solidFill>
                  <a:latin typeface="Courier"/>
                  <a:ea typeface="Courier"/>
                  <a:cs typeface="Courier"/>
                  <a:sym typeface="Courier"/>
                </a:rPr>
                <a:t>*</a:t>
              </a:r>
            </a:p>
          </p:txBody>
        </p:sp>
        <p:sp>
          <p:nvSpPr>
            <p:cNvPr id="685" name="Line"/>
            <p:cNvSpPr/>
            <p:nvPr/>
          </p:nvSpPr>
          <p:spPr>
            <a:xfrm flipV="1">
              <a:off x="4831067" y="-1"/>
              <a:ext cx="568172" cy="79119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 lang="en-GB" noProof="0" dirty="0"/>
            </a:p>
          </p:txBody>
        </p:sp>
      </p:grpSp>
      <p:grpSp>
        <p:nvGrpSpPr>
          <p:cNvPr id="689" name="Group"/>
          <p:cNvGrpSpPr/>
          <p:nvPr/>
        </p:nvGrpSpPr>
        <p:grpSpPr>
          <a:xfrm>
            <a:off x="406057" y="8025824"/>
            <a:ext cx="7253440" cy="537384"/>
            <a:chOff x="0" y="967109"/>
            <a:chExt cx="7253438" cy="537382"/>
          </a:xfrm>
        </p:grpSpPr>
        <p:sp>
          <p:nvSpPr>
            <p:cNvPr id="687" name="This is continuous assignment. Output responds to changes in input immediately."/>
            <p:cNvSpPr/>
            <p:nvPr/>
          </p:nvSpPr>
          <p:spPr>
            <a:xfrm>
              <a:off x="0" y="1016000"/>
              <a:ext cx="5280535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/>
            <a:p>
              <a:r>
                <a:rPr lang="en-GB" noProof="0" dirty="0"/>
                <a:t>This is continuous assignment. Output responds to changes in input </a:t>
              </a:r>
              <a:r>
                <a:rPr lang="en-GB" b="1" noProof="0" dirty="0"/>
                <a:t>immediately</a:t>
              </a:r>
              <a:r>
                <a:rPr lang="en-GB" noProof="0" dirty="0"/>
                <a:t>.</a:t>
              </a:r>
            </a:p>
          </p:txBody>
        </p:sp>
        <p:sp>
          <p:nvSpPr>
            <p:cNvPr id="688" name="Line"/>
            <p:cNvSpPr/>
            <p:nvPr/>
          </p:nvSpPr>
          <p:spPr>
            <a:xfrm flipV="1">
              <a:off x="4785704" y="967109"/>
              <a:ext cx="2467735" cy="537384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 lang="en-GB" noProof="0" dirty="0"/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4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5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6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 advAuto="0"/>
      <p:bldP spid="674" grpId="3" animBg="1" advAuto="0"/>
      <p:bldP spid="677" grpId="4" animBg="1" advAuto="0"/>
      <p:bldP spid="680" grpId="2" animBg="1" advAuto="0"/>
      <p:bldP spid="683" grpId="1" animBg="1" advAuto="0"/>
      <p:bldP spid="686" grpId="6" animBg="1" advAuto="0"/>
      <p:bldP spid="689" grpId="5" animBg="1" advAuto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ate-level descrip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noProof="0" dirty="0"/>
              <a:t>Gate-level description</a:t>
            </a:r>
          </a:p>
        </p:txBody>
      </p:sp>
      <p:sp>
        <p:nvSpPr>
          <p:cNvPr id="692" name="Built-in logic gates include: and, nand, or, nor, xor, xnor, not, buf."/>
          <p:cNvSpPr txBox="1">
            <a:spLocks noGrp="1"/>
          </p:cNvSpPr>
          <p:nvPr>
            <p:ph type="body" sz="quarter" idx="1"/>
          </p:nvPr>
        </p:nvSpPr>
        <p:spPr>
          <a:xfrm>
            <a:off x="952500" y="2686050"/>
            <a:ext cx="11099800" cy="1416315"/>
          </a:xfrm>
          <a:prstGeom prst="rect">
            <a:avLst/>
          </a:prstGeom>
        </p:spPr>
        <p:txBody>
          <a:bodyPr/>
          <a:lstStyle/>
          <a:p>
            <a:r>
              <a:rPr lang="en-GB" noProof="0" dirty="0"/>
              <a:t>Built-in logic gates include: </a:t>
            </a:r>
            <a:r>
              <a:rPr lang="en-GB" noProof="0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and</a:t>
            </a:r>
            <a:r>
              <a:rPr lang="en-GB" noProof="0" dirty="0"/>
              <a:t>, </a:t>
            </a:r>
            <a:r>
              <a:rPr lang="en-GB" noProof="0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nand</a:t>
            </a:r>
            <a:r>
              <a:rPr lang="en-GB" noProof="0" dirty="0"/>
              <a:t>, </a:t>
            </a:r>
            <a:r>
              <a:rPr lang="en-GB" noProof="0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or</a:t>
            </a:r>
            <a:r>
              <a:rPr lang="en-GB" noProof="0" dirty="0"/>
              <a:t>, </a:t>
            </a:r>
            <a:r>
              <a:rPr lang="en-GB" noProof="0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nor</a:t>
            </a:r>
            <a:r>
              <a:rPr lang="en-GB" noProof="0" dirty="0"/>
              <a:t>, </a:t>
            </a:r>
            <a:r>
              <a:rPr lang="en-GB" noProof="0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xor</a:t>
            </a:r>
            <a:r>
              <a:rPr lang="en-GB" noProof="0" dirty="0"/>
              <a:t>, </a:t>
            </a:r>
            <a:r>
              <a:rPr lang="en-GB" noProof="0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xnor</a:t>
            </a:r>
            <a:r>
              <a:rPr lang="en-GB" noProof="0" dirty="0"/>
              <a:t>, </a:t>
            </a:r>
            <a:r>
              <a:rPr lang="en-GB" noProof="0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not</a:t>
            </a:r>
            <a:r>
              <a:rPr lang="en-GB" noProof="0" dirty="0"/>
              <a:t>, </a:t>
            </a:r>
            <a:r>
              <a:rPr lang="en-GB" noProof="0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buf</a:t>
            </a:r>
            <a:r>
              <a:rPr lang="en-GB" noProof="0" dirty="0"/>
              <a:t>.</a:t>
            </a:r>
          </a:p>
        </p:txBody>
      </p:sp>
      <p:sp>
        <p:nvSpPr>
          <p:cNvPr id="69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 lang="en-GB" noProof="0"/>
              <a:t>34</a:t>
            </a:fld>
            <a:endParaRPr lang="en-GB" noProof="0" dirty="0"/>
          </a:p>
        </p:txBody>
      </p:sp>
      <p:grpSp>
        <p:nvGrpSpPr>
          <p:cNvPr id="700" name="Group"/>
          <p:cNvGrpSpPr/>
          <p:nvPr/>
        </p:nvGrpSpPr>
        <p:grpSpPr>
          <a:xfrm>
            <a:off x="7027333" y="4161366"/>
            <a:ext cx="5668257" cy="2500702"/>
            <a:chOff x="0" y="0"/>
            <a:chExt cx="5668255" cy="2500701"/>
          </a:xfrm>
        </p:grpSpPr>
        <p:pic>
          <p:nvPicPr>
            <p:cNvPr id="694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5668256" cy="250070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695" name="a1"/>
            <p:cNvSpPr txBox="1"/>
            <p:nvPr/>
          </p:nvSpPr>
          <p:spPr>
            <a:xfrm>
              <a:off x="1428718" y="118533"/>
              <a:ext cx="495364" cy="482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500">
                  <a:solidFill>
                    <a:schemeClr val="accent6">
                      <a:satOff val="-15808"/>
                      <a:lumOff val="-17557"/>
                    </a:schemeClr>
                  </a:solidFill>
                  <a:latin typeface="Courier"/>
                  <a:ea typeface="Courier"/>
                  <a:cs typeface="Courier"/>
                  <a:sym typeface="Courier"/>
                </a:defRPr>
              </a:lvl1pPr>
            </a:lstStyle>
            <a:p>
              <a:pPr>
                <a:defRPr>
                  <a:solidFill>
                    <a:srgbClr val="000000"/>
                  </a:solidFill>
                  <a:latin typeface="+mn-lt"/>
                  <a:ea typeface="+mn-ea"/>
                  <a:cs typeface="+mn-cs"/>
                  <a:sym typeface="Helvetica"/>
                </a:defRPr>
              </a:pPr>
              <a:r>
                <a:rPr lang="en-GB" noProof="0" dirty="0">
                  <a:solidFill>
                    <a:schemeClr val="accent6">
                      <a:satOff val="-15808"/>
                      <a:lumOff val="-17557"/>
                    </a:schemeClr>
                  </a:solidFill>
                  <a:latin typeface="Courier"/>
                  <a:ea typeface="Courier"/>
                  <a:cs typeface="Courier"/>
                  <a:sym typeface="Courier"/>
                </a:rPr>
                <a:t>a1</a:t>
              </a:r>
            </a:p>
          </p:txBody>
        </p:sp>
        <p:sp>
          <p:nvSpPr>
            <p:cNvPr id="696" name="a2"/>
            <p:cNvSpPr txBox="1"/>
            <p:nvPr/>
          </p:nvSpPr>
          <p:spPr>
            <a:xfrm>
              <a:off x="1428718" y="1938866"/>
              <a:ext cx="495364" cy="482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500">
                  <a:solidFill>
                    <a:schemeClr val="accent6">
                      <a:satOff val="-15808"/>
                      <a:lumOff val="-17557"/>
                    </a:schemeClr>
                  </a:solidFill>
                  <a:latin typeface="Courier"/>
                  <a:ea typeface="Courier"/>
                  <a:cs typeface="Courier"/>
                  <a:sym typeface="Courier"/>
                </a:defRPr>
              </a:lvl1pPr>
            </a:lstStyle>
            <a:p>
              <a:pPr>
                <a:defRPr>
                  <a:solidFill>
                    <a:srgbClr val="000000"/>
                  </a:solidFill>
                  <a:latin typeface="+mn-lt"/>
                  <a:ea typeface="+mn-ea"/>
                  <a:cs typeface="+mn-cs"/>
                  <a:sym typeface="Helvetica"/>
                </a:defRPr>
              </a:pPr>
              <a:r>
                <a:rPr lang="en-GB" noProof="0" dirty="0">
                  <a:solidFill>
                    <a:schemeClr val="accent6">
                      <a:satOff val="-15808"/>
                      <a:lumOff val="-17557"/>
                    </a:schemeClr>
                  </a:solidFill>
                  <a:latin typeface="Courier"/>
                  <a:ea typeface="Courier"/>
                  <a:cs typeface="Courier"/>
                  <a:sym typeface="Courier"/>
                </a:rPr>
                <a:t>a2</a:t>
              </a:r>
            </a:p>
          </p:txBody>
        </p:sp>
        <p:sp>
          <p:nvSpPr>
            <p:cNvPr id="697" name="o1"/>
            <p:cNvSpPr txBox="1"/>
            <p:nvPr/>
          </p:nvSpPr>
          <p:spPr>
            <a:xfrm>
              <a:off x="3134752" y="1047150"/>
              <a:ext cx="495363" cy="482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500">
                  <a:solidFill>
                    <a:schemeClr val="accent6">
                      <a:satOff val="-15808"/>
                      <a:lumOff val="-17557"/>
                    </a:schemeClr>
                  </a:solidFill>
                  <a:latin typeface="Courier"/>
                  <a:ea typeface="Courier"/>
                  <a:cs typeface="Courier"/>
                  <a:sym typeface="Courier"/>
                </a:defRPr>
              </a:lvl1pPr>
            </a:lstStyle>
            <a:p>
              <a:pPr>
                <a:defRPr>
                  <a:solidFill>
                    <a:srgbClr val="000000"/>
                  </a:solidFill>
                  <a:latin typeface="+mn-lt"/>
                  <a:ea typeface="+mn-ea"/>
                  <a:cs typeface="+mn-cs"/>
                  <a:sym typeface="Helvetica"/>
                </a:defRPr>
              </a:pPr>
              <a:r>
                <a:rPr lang="en-GB" noProof="0" dirty="0">
                  <a:solidFill>
                    <a:schemeClr val="accent6">
                      <a:satOff val="-15808"/>
                      <a:lumOff val="-17557"/>
                    </a:schemeClr>
                  </a:solidFill>
                  <a:latin typeface="Courier"/>
                  <a:ea typeface="Courier"/>
                  <a:cs typeface="Courier"/>
                  <a:sym typeface="Courier"/>
                </a:rPr>
                <a:t>o1</a:t>
              </a:r>
            </a:p>
          </p:txBody>
        </p:sp>
        <p:sp>
          <p:nvSpPr>
            <p:cNvPr id="698" name="i1"/>
            <p:cNvSpPr txBox="1"/>
            <p:nvPr/>
          </p:nvSpPr>
          <p:spPr>
            <a:xfrm>
              <a:off x="852985" y="1169917"/>
              <a:ext cx="495363" cy="482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500">
                  <a:solidFill>
                    <a:schemeClr val="accent6">
                      <a:satOff val="-15808"/>
                      <a:lumOff val="-17557"/>
                    </a:schemeClr>
                  </a:solidFill>
                  <a:latin typeface="Courier"/>
                  <a:ea typeface="Courier"/>
                  <a:cs typeface="Courier"/>
                  <a:sym typeface="Courier"/>
                </a:defRPr>
              </a:lvl1pPr>
            </a:lstStyle>
            <a:p>
              <a:pPr>
                <a:defRPr>
                  <a:solidFill>
                    <a:srgbClr val="000000"/>
                  </a:solidFill>
                  <a:latin typeface="+mn-lt"/>
                  <a:ea typeface="+mn-ea"/>
                  <a:cs typeface="+mn-cs"/>
                  <a:sym typeface="Helvetica"/>
                </a:defRPr>
              </a:pPr>
              <a:r>
                <a:rPr lang="en-GB" noProof="0" dirty="0">
                  <a:solidFill>
                    <a:schemeClr val="accent6">
                      <a:satOff val="-15808"/>
                      <a:lumOff val="-17557"/>
                    </a:schemeClr>
                  </a:solidFill>
                  <a:latin typeface="Courier"/>
                  <a:ea typeface="Courier"/>
                  <a:cs typeface="Courier"/>
                  <a:sym typeface="Courier"/>
                </a:rPr>
                <a:t>i1</a:t>
              </a:r>
            </a:p>
          </p:txBody>
        </p:sp>
        <p:sp>
          <p:nvSpPr>
            <p:cNvPr id="699" name="i2"/>
            <p:cNvSpPr txBox="1"/>
            <p:nvPr/>
          </p:nvSpPr>
          <p:spPr>
            <a:xfrm>
              <a:off x="4044918" y="1938866"/>
              <a:ext cx="495364" cy="482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500">
                  <a:solidFill>
                    <a:schemeClr val="accent6">
                      <a:satOff val="-15808"/>
                      <a:lumOff val="-17557"/>
                    </a:schemeClr>
                  </a:solidFill>
                  <a:latin typeface="Courier"/>
                  <a:ea typeface="Courier"/>
                  <a:cs typeface="Courier"/>
                  <a:sym typeface="Courier"/>
                </a:defRPr>
              </a:lvl1pPr>
            </a:lstStyle>
            <a:p>
              <a:pPr>
                <a:defRPr>
                  <a:solidFill>
                    <a:srgbClr val="000000"/>
                  </a:solidFill>
                  <a:latin typeface="+mn-lt"/>
                  <a:ea typeface="+mn-ea"/>
                  <a:cs typeface="+mn-cs"/>
                  <a:sym typeface="Helvetica"/>
                </a:defRPr>
              </a:pPr>
              <a:r>
                <a:rPr lang="en-GB" noProof="0" dirty="0">
                  <a:solidFill>
                    <a:schemeClr val="accent6">
                      <a:satOff val="-15808"/>
                      <a:lumOff val="-17557"/>
                    </a:schemeClr>
                  </a:solidFill>
                  <a:latin typeface="Courier"/>
                  <a:ea typeface="Courier"/>
                  <a:cs typeface="Courier"/>
                  <a:sym typeface="Courier"/>
                </a:rPr>
                <a:t>i2</a:t>
              </a:r>
            </a:p>
          </p:txBody>
        </p:sp>
      </p:grpSp>
      <p:sp>
        <p:nvSpPr>
          <p:cNvPr id="701" name="In practice, &quot;gate-level description&quot; depends on what primitives are provided by your target chip."/>
          <p:cNvSpPr txBox="1"/>
          <p:nvPr/>
        </p:nvSpPr>
        <p:spPr>
          <a:xfrm>
            <a:off x="6737415" y="7042802"/>
            <a:ext cx="6052763" cy="3212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>
            <a:lvl1pPr marL="444500" indent="-444500" algn="l">
              <a:spcBef>
                <a:spcPts val="4200"/>
              </a:spcBef>
              <a:buSzPct val="145000"/>
              <a:buChar char="•"/>
            </a:lvl1pPr>
          </a:lstStyle>
          <a:p>
            <a:r>
              <a:rPr lang="en-GB" noProof="0" dirty="0"/>
              <a:t>In practice, "gate-level description" depends on what primitives are provided by your target chip.</a:t>
            </a:r>
          </a:p>
        </p:txBody>
      </p:sp>
      <p:sp>
        <p:nvSpPr>
          <p:cNvPr id="702" name="// Function: 2-to-1 multiplexer as gates…"/>
          <p:cNvSpPr txBox="1"/>
          <p:nvPr/>
        </p:nvSpPr>
        <p:spPr>
          <a:xfrm>
            <a:off x="736956" y="4208941"/>
            <a:ext cx="5107167" cy="4519186"/>
          </a:xfrm>
          <a:prstGeom prst="rect">
            <a:avLst/>
          </a:prstGeom>
          <a:solidFill>
            <a:srgbClr val="E9E6B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2300"/>
            </a:pPr>
            <a:r>
              <a:rPr lang="en-GB" i="1" noProof="0" dirty="0">
                <a:solidFill>
                  <a:schemeClr val="accent3">
                    <a:hueOff val="362282"/>
                    <a:satOff val="31803"/>
                    <a:lumOff val="-18242"/>
                  </a:schemeClr>
                </a:solidFill>
              </a:rPr>
              <a:t>// Function: 2-to-1 multiplexer as gates</a:t>
            </a:r>
          </a:p>
          <a:p>
            <a:pPr algn="l">
              <a:defRPr sz="2025" b="1">
                <a:solidFill>
                  <a:srgbClr val="EC008C"/>
                </a:solidFill>
                <a:latin typeface="Courier New"/>
                <a:ea typeface="Courier New"/>
                <a:cs typeface="Courier New"/>
              </a:defRPr>
            </a:pPr>
            <a:r>
              <a:rPr lang="en-GB" sz="2400" b="1" dirty="0">
                <a:solidFill>
                  <a:srgbClr val="EC008C"/>
                </a:solidFill>
                <a:latin typeface="Courier New"/>
                <a:ea typeface="Courier New"/>
                <a:cs typeface="Courier New"/>
              </a:rPr>
              <a:t>module </a:t>
            </a:r>
            <a:r>
              <a:rPr lang="en-GB" sz="2400" b="1" dirty="0" err="1">
                <a:solidFill>
                  <a:srgbClr val="EC008C"/>
                </a:solidFill>
                <a:latin typeface="Courier New"/>
                <a:ea typeface="Courier New"/>
                <a:cs typeface="Courier New"/>
              </a:rPr>
              <a:t>mux_gate</a:t>
            </a:r>
            <a:r>
              <a:rPr lang="en-GB" sz="2400" b="1" dirty="0">
                <a:solidFill>
                  <a:srgbClr val="EC008C"/>
                </a:solidFill>
                <a:latin typeface="Courier New"/>
                <a:ea typeface="Courier New"/>
                <a:cs typeface="Courier New"/>
              </a:rPr>
              <a:t> (</a:t>
            </a:r>
          </a:p>
          <a:p>
            <a:pPr algn="l">
              <a:defRPr sz="2025" b="1">
                <a:solidFill>
                  <a:srgbClr val="EC008C"/>
                </a:solidFill>
                <a:latin typeface="Courier New"/>
                <a:ea typeface="Courier New"/>
                <a:cs typeface="Courier New"/>
              </a:defRPr>
            </a:pPr>
            <a:r>
              <a:rPr lang="en-GB" sz="2400" b="1" dirty="0">
                <a:solidFill>
                  <a:srgbClr val="EC008C"/>
                </a:solidFill>
                <a:latin typeface="Courier New"/>
                <a:ea typeface="Courier New"/>
                <a:cs typeface="Courier New"/>
              </a:rPr>
              <a:t>  input  logic a, b, </a:t>
            </a:r>
            <a:r>
              <a:rPr lang="en-GB" sz="2400" b="1" dirty="0" err="1">
                <a:solidFill>
                  <a:srgbClr val="EC008C"/>
                </a:solidFill>
                <a:latin typeface="Courier New"/>
                <a:ea typeface="Courier New"/>
                <a:cs typeface="Courier New"/>
              </a:rPr>
              <a:t>sel</a:t>
            </a:r>
            <a:r>
              <a:rPr lang="en-GB" sz="2400" b="1" dirty="0">
                <a:solidFill>
                  <a:srgbClr val="EC008C"/>
                </a:solidFill>
                <a:latin typeface="Courier New"/>
                <a:ea typeface="Courier New"/>
                <a:cs typeface="Courier New"/>
              </a:rPr>
              <a:t>,</a:t>
            </a:r>
          </a:p>
          <a:p>
            <a:pPr algn="l">
              <a:defRPr sz="2025" b="1">
                <a:solidFill>
                  <a:srgbClr val="EC008C"/>
                </a:solidFill>
                <a:latin typeface="Courier New"/>
                <a:ea typeface="Courier New"/>
                <a:cs typeface="Courier New"/>
              </a:defRPr>
            </a:pPr>
            <a:r>
              <a:rPr lang="en-GB" sz="2400" b="1" dirty="0">
                <a:solidFill>
                  <a:srgbClr val="EC008C"/>
                </a:solidFill>
                <a:latin typeface="Courier New"/>
                <a:ea typeface="Courier New"/>
                <a:cs typeface="Courier New"/>
              </a:rPr>
              <a:t>  output logic out, outbar</a:t>
            </a:r>
          </a:p>
          <a:p>
            <a:pPr algn="l">
              <a:defRPr sz="2025" b="1">
                <a:solidFill>
                  <a:srgbClr val="EC008C"/>
                </a:solidFill>
                <a:latin typeface="Courier New"/>
                <a:ea typeface="Courier New"/>
                <a:cs typeface="Courier New"/>
              </a:defRPr>
            </a:pPr>
            <a:r>
              <a:rPr lang="en-GB" sz="2400" b="1" dirty="0">
                <a:solidFill>
                  <a:srgbClr val="EC008C"/>
                </a:solidFill>
                <a:latin typeface="Courier New"/>
                <a:ea typeface="Courier New"/>
                <a:cs typeface="Courier New"/>
              </a:rPr>
              <a:t>);</a:t>
            </a:r>
          </a:p>
          <a:p>
            <a:pPr algn="l">
              <a:defRPr sz="2025" b="1">
                <a:solidFill>
                  <a:srgbClr val="EC008C"/>
                </a:solidFill>
                <a:latin typeface="Courier New"/>
                <a:ea typeface="Courier New"/>
                <a:cs typeface="Courier New"/>
              </a:defRPr>
            </a:pPr>
            <a:r>
              <a:rPr lang="en-GB" sz="2400" b="1" dirty="0">
                <a:solidFill>
                  <a:srgbClr val="EC008C"/>
                </a:solidFill>
                <a:latin typeface="Courier New"/>
                <a:ea typeface="Courier New"/>
                <a:cs typeface="Courier New"/>
              </a:rPr>
              <a:t>  logic out1, out2, </a:t>
            </a:r>
            <a:r>
              <a:rPr lang="en-GB" sz="2400" b="1" dirty="0" err="1">
                <a:solidFill>
                  <a:srgbClr val="EC008C"/>
                </a:solidFill>
                <a:latin typeface="Courier New"/>
                <a:ea typeface="Courier New"/>
                <a:cs typeface="Courier New"/>
              </a:rPr>
              <a:t>selb</a:t>
            </a:r>
            <a:r>
              <a:rPr lang="en-GB" sz="2400" b="1" dirty="0">
                <a:solidFill>
                  <a:srgbClr val="EC008C"/>
                </a:solidFill>
                <a:latin typeface="Courier New"/>
                <a:ea typeface="Courier New"/>
                <a:cs typeface="Courier New"/>
              </a:rPr>
              <a:t>;</a:t>
            </a:r>
          </a:p>
          <a:p>
            <a:pPr algn="l">
              <a:defRPr sz="2025" b="1">
                <a:solidFill>
                  <a:srgbClr val="EC008C"/>
                </a:solidFill>
                <a:latin typeface="Courier New"/>
                <a:ea typeface="Courier New"/>
                <a:cs typeface="Courier New"/>
              </a:defRPr>
            </a:pPr>
            <a:r>
              <a:rPr lang="en-GB" sz="2400" b="1" dirty="0">
                <a:solidFill>
                  <a:srgbClr val="EC008C"/>
                </a:solidFill>
                <a:latin typeface="Courier New"/>
                <a:ea typeface="Courier New"/>
                <a:cs typeface="Courier New"/>
              </a:rPr>
              <a:t>  not i1 (</a:t>
            </a:r>
            <a:r>
              <a:rPr lang="en-GB" sz="2400" b="1" dirty="0" err="1">
                <a:solidFill>
                  <a:srgbClr val="EC008C"/>
                </a:solidFill>
                <a:latin typeface="Courier New"/>
                <a:ea typeface="Courier New"/>
                <a:cs typeface="Courier New"/>
              </a:rPr>
              <a:t>selb</a:t>
            </a:r>
            <a:r>
              <a:rPr lang="en-GB" sz="2400" b="1" dirty="0">
                <a:solidFill>
                  <a:srgbClr val="EC008C"/>
                </a:solidFill>
                <a:latin typeface="Courier New"/>
                <a:ea typeface="Courier New"/>
                <a:cs typeface="Courier New"/>
              </a:rPr>
              <a:t>, </a:t>
            </a:r>
            <a:r>
              <a:rPr lang="en-GB" sz="2400" b="1" dirty="0" err="1">
                <a:solidFill>
                  <a:srgbClr val="EC008C"/>
                </a:solidFill>
                <a:latin typeface="Courier New"/>
                <a:ea typeface="Courier New"/>
                <a:cs typeface="Courier New"/>
              </a:rPr>
              <a:t>sel</a:t>
            </a:r>
            <a:r>
              <a:rPr lang="en-GB" sz="2400" b="1" dirty="0">
                <a:solidFill>
                  <a:srgbClr val="EC008C"/>
                </a:solidFill>
                <a:latin typeface="Courier New"/>
                <a:ea typeface="Courier New"/>
                <a:cs typeface="Courier New"/>
              </a:rPr>
              <a:t>);</a:t>
            </a:r>
          </a:p>
          <a:p>
            <a:pPr algn="l">
              <a:defRPr sz="2025" b="1">
                <a:solidFill>
                  <a:srgbClr val="EC008C"/>
                </a:solidFill>
                <a:latin typeface="Courier New"/>
                <a:ea typeface="Courier New"/>
                <a:cs typeface="Courier New"/>
              </a:defRPr>
            </a:pPr>
            <a:r>
              <a:rPr lang="en-GB" sz="2400" b="1" dirty="0">
                <a:solidFill>
                  <a:srgbClr val="EC008C"/>
                </a:solidFill>
                <a:latin typeface="Courier New"/>
                <a:ea typeface="Courier New"/>
                <a:cs typeface="Courier New"/>
              </a:rPr>
              <a:t>  and a1 (out1, a, </a:t>
            </a:r>
            <a:r>
              <a:rPr lang="en-GB" sz="2400" b="1" dirty="0" err="1">
                <a:solidFill>
                  <a:srgbClr val="EC008C"/>
                </a:solidFill>
                <a:latin typeface="Courier New"/>
                <a:ea typeface="Courier New"/>
                <a:cs typeface="Courier New"/>
              </a:rPr>
              <a:t>sel</a:t>
            </a:r>
            <a:r>
              <a:rPr lang="en-GB" sz="2400" b="1" dirty="0">
                <a:solidFill>
                  <a:srgbClr val="EC008C"/>
                </a:solidFill>
                <a:latin typeface="Courier New"/>
                <a:ea typeface="Courier New"/>
                <a:cs typeface="Courier New"/>
              </a:rPr>
              <a:t>);</a:t>
            </a:r>
          </a:p>
          <a:p>
            <a:pPr algn="l">
              <a:defRPr sz="2025" b="1">
                <a:solidFill>
                  <a:srgbClr val="EC008C"/>
                </a:solidFill>
                <a:latin typeface="Courier New"/>
                <a:ea typeface="Courier New"/>
                <a:cs typeface="Courier New"/>
              </a:defRPr>
            </a:pPr>
            <a:r>
              <a:rPr lang="en-GB" sz="2400" b="1" dirty="0">
                <a:solidFill>
                  <a:srgbClr val="EC008C"/>
                </a:solidFill>
                <a:latin typeface="Courier New"/>
                <a:ea typeface="Courier New"/>
                <a:cs typeface="Courier New"/>
              </a:rPr>
              <a:t>  and a2 (out2, b, </a:t>
            </a:r>
            <a:r>
              <a:rPr lang="en-GB" sz="2400" b="1" dirty="0" err="1">
                <a:solidFill>
                  <a:srgbClr val="EC008C"/>
                </a:solidFill>
                <a:latin typeface="Courier New"/>
                <a:ea typeface="Courier New"/>
                <a:cs typeface="Courier New"/>
              </a:rPr>
              <a:t>selb</a:t>
            </a:r>
            <a:r>
              <a:rPr lang="en-GB" sz="2400" b="1" dirty="0">
                <a:solidFill>
                  <a:srgbClr val="EC008C"/>
                </a:solidFill>
                <a:latin typeface="Courier New"/>
                <a:ea typeface="Courier New"/>
                <a:cs typeface="Courier New"/>
              </a:rPr>
              <a:t>);</a:t>
            </a:r>
          </a:p>
          <a:p>
            <a:pPr algn="l">
              <a:defRPr sz="2025" b="1">
                <a:solidFill>
                  <a:srgbClr val="EC008C"/>
                </a:solidFill>
                <a:latin typeface="Courier New"/>
                <a:ea typeface="Courier New"/>
                <a:cs typeface="Courier New"/>
              </a:defRPr>
            </a:pPr>
            <a:r>
              <a:rPr lang="en-GB" sz="2400" b="1" dirty="0">
                <a:solidFill>
                  <a:srgbClr val="EC008C"/>
                </a:solidFill>
                <a:latin typeface="Courier New"/>
                <a:ea typeface="Courier New"/>
                <a:cs typeface="Courier New"/>
              </a:rPr>
              <a:t>  or  o1 (out, out1, out2);</a:t>
            </a:r>
          </a:p>
          <a:p>
            <a:pPr algn="l">
              <a:defRPr sz="2025" b="1">
                <a:solidFill>
                  <a:srgbClr val="EC008C"/>
                </a:solidFill>
                <a:latin typeface="Courier New"/>
                <a:ea typeface="Courier New"/>
                <a:cs typeface="Courier New"/>
              </a:defRPr>
            </a:pPr>
            <a:r>
              <a:rPr lang="en-GB" sz="2400" b="1" dirty="0">
                <a:solidFill>
                  <a:srgbClr val="EC008C"/>
                </a:solidFill>
                <a:latin typeface="Courier New"/>
                <a:ea typeface="Courier New"/>
                <a:cs typeface="Courier New"/>
              </a:rPr>
              <a:t>  not i2 (outbar, out);</a:t>
            </a:r>
          </a:p>
          <a:p>
            <a:pPr algn="l">
              <a:defRPr sz="2025" b="1">
                <a:solidFill>
                  <a:srgbClr val="EC008C"/>
                </a:solidFill>
                <a:latin typeface="Courier New"/>
                <a:ea typeface="Courier New"/>
                <a:cs typeface="Courier New"/>
              </a:defRPr>
            </a:pPr>
            <a:r>
              <a:rPr lang="en-GB" sz="2400" b="1" dirty="0" err="1">
                <a:solidFill>
                  <a:srgbClr val="EC008C"/>
                </a:solidFill>
                <a:latin typeface="Courier New"/>
                <a:ea typeface="Courier New"/>
                <a:cs typeface="Courier New"/>
              </a:rPr>
              <a:t>endmodule</a:t>
            </a:r>
            <a:endParaRPr lang="en-GB" sz="2400" b="1" dirty="0">
              <a:solidFill>
                <a:srgbClr val="EC008C"/>
              </a:solidFill>
              <a:latin typeface="Courier New"/>
              <a:ea typeface="Courier New"/>
              <a:cs typeface="Courier New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4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2" grpId="1" animBg="1" advAuto="0"/>
      <p:bldP spid="700" grpId="3" animBg="1" advAuto="0"/>
      <p:bldP spid="701" grpId="4" animBg="1" advAuto="0"/>
      <p:bldP spid="702" grpId="2" animBg="1" advAuto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module mux2to1 (out, outbar,…"/>
          <p:cNvSpPr txBox="1"/>
          <p:nvPr/>
        </p:nvSpPr>
        <p:spPr>
          <a:xfrm>
            <a:off x="694276" y="3917022"/>
            <a:ext cx="4257576" cy="3180358"/>
          </a:xfrm>
          <a:prstGeom prst="rect">
            <a:avLst/>
          </a:prstGeom>
          <a:solidFill>
            <a:srgbClr val="E9E6B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2400" b="1">
                <a:solidFill>
                  <a:srgbClr val="EC008C"/>
                </a:solidFill>
                <a:latin typeface="Courier New"/>
                <a:ea typeface="Courier New"/>
                <a:cs typeface="Courier New"/>
              </a:defRPr>
            </a:pPr>
            <a:r>
              <a:rPr lang="en-GB" sz="2000" b="1" dirty="0">
                <a:solidFill>
                  <a:srgbClr val="EC008C"/>
                </a:solidFill>
                <a:latin typeface="Courier New"/>
                <a:ea typeface="Courier New"/>
                <a:cs typeface="Courier New"/>
              </a:rPr>
              <a:t>module mux2to1 (</a:t>
            </a:r>
          </a:p>
          <a:p>
            <a:pPr algn="l">
              <a:defRPr sz="2400" b="1">
                <a:solidFill>
                  <a:srgbClr val="EC008C"/>
                </a:solidFill>
                <a:latin typeface="Courier New"/>
                <a:ea typeface="Courier New"/>
                <a:cs typeface="Courier New"/>
              </a:defRPr>
            </a:pPr>
            <a:r>
              <a:rPr lang="en-GB" sz="2000" b="1" dirty="0">
                <a:solidFill>
                  <a:srgbClr val="EC008C"/>
                </a:solidFill>
                <a:latin typeface="Courier New"/>
                <a:ea typeface="Courier New"/>
                <a:cs typeface="Courier New"/>
              </a:rPr>
              <a:t>  input  logic a, b, </a:t>
            </a:r>
            <a:r>
              <a:rPr lang="en-GB" sz="2000" b="1" dirty="0" err="1">
                <a:solidFill>
                  <a:srgbClr val="EC008C"/>
                </a:solidFill>
                <a:latin typeface="Courier New"/>
                <a:ea typeface="Courier New"/>
                <a:cs typeface="Courier New"/>
              </a:rPr>
              <a:t>sel</a:t>
            </a:r>
            <a:r>
              <a:rPr lang="en-GB" sz="2000" b="1" dirty="0">
                <a:solidFill>
                  <a:srgbClr val="EC008C"/>
                </a:solidFill>
                <a:latin typeface="Courier New"/>
                <a:ea typeface="Courier New"/>
                <a:cs typeface="Courier New"/>
              </a:rPr>
              <a:t>,</a:t>
            </a:r>
          </a:p>
          <a:p>
            <a:pPr algn="l">
              <a:defRPr sz="2400" b="1">
                <a:solidFill>
                  <a:srgbClr val="EC008C"/>
                </a:solidFill>
                <a:latin typeface="Courier New"/>
                <a:ea typeface="Courier New"/>
                <a:cs typeface="Courier New"/>
              </a:defRPr>
            </a:pPr>
            <a:r>
              <a:rPr lang="en-GB" sz="2000" b="1" dirty="0">
                <a:solidFill>
                  <a:srgbClr val="EC008C"/>
                </a:solidFill>
                <a:latin typeface="Courier New"/>
                <a:ea typeface="Courier New"/>
                <a:cs typeface="Courier New"/>
              </a:rPr>
              <a:t>  output logic out, outbar</a:t>
            </a:r>
          </a:p>
          <a:p>
            <a:pPr algn="l">
              <a:defRPr sz="2400" b="1">
                <a:solidFill>
                  <a:srgbClr val="EC008C"/>
                </a:solidFill>
                <a:latin typeface="Courier New"/>
                <a:ea typeface="Courier New"/>
                <a:cs typeface="Courier New"/>
              </a:defRPr>
            </a:pPr>
            <a:r>
              <a:rPr lang="en-GB" sz="2000" b="1" dirty="0">
                <a:solidFill>
                  <a:srgbClr val="EC008C"/>
                </a:solidFill>
                <a:latin typeface="Courier New"/>
                <a:ea typeface="Courier New"/>
                <a:cs typeface="Courier New"/>
              </a:rPr>
              <a:t>);</a:t>
            </a:r>
          </a:p>
          <a:p>
            <a:pPr algn="l">
              <a:defRPr sz="2400" b="1">
                <a:solidFill>
                  <a:srgbClr val="EC008C"/>
                </a:solidFill>
                <a:latin typeface="Courier New"/>
                <a:ea typeface="Courier New"/>
                <a:cs typeface="Courier New"/>
              </a:defRPr>
            </a:pPr>
            <a:r>
              <a:rPr lang="en-GB" sz="2000" b="1" dirty="0">
                <a:solidFill>
                  <a:srgbClr val="EC008C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lang="en-GB" sz="2000" b="1" dirty="0" err="1">
                <a:solidFill>
                  <a:srgbClr val="EC008C"/>
                </a:solidFill>
                <a:latin typeface="Courier New"/>
                <a:ea typeface="Courier New"/>
                <a:cs typeface="Courier New"/>
              </a:rPr>
              <a:t>always_comb</a:t>
            </a:r>
            <a:r>
              <a:rPr lang="en-GB" sz="2000" b="1" dirty="0">
                <a:solidFill>
                  <a:srgbClr val="EC008C"/>
                </a:solidFill>
                <a:latin typeface="Courier New"/>
                <a:ea typeface="Courier New"/>
                <a:cs typeface="Courier New"/>
              </a:rPr>
              <a:t> begin</a:t>
            </a:r>
          </a:p>
          <a:p>
            <a:pPr algn="l">
              <a:defRPr sz="2400" b="1">
                <a:solidFill>
                  <a:srgbClr val="EC008C"/>
                </a:solidFill>
                <a:latin typeface="Courier New"/>
                <a:ea typeface="Courier New"/>
                <a:cs typeface="Courier New"/>
              </a:defRPr>
            </a:pPr>
            <a:r>
              <a:rPr lang="en-GB" sz="2000" b="1" dirty="0">
                <a:solidFill>
                  <a:srgbClr val="EC008C"/>
                </a:solidFill>
                <a:latin typeface="Courier New"/>
                <a:ea typeface="Courier New"/>
                <a:cs typeface="Courier New"/>
              </a:rPr>
              <a:t>    if (</a:t>
            </a:r>
            <a:r>
              <a:rPr lang="en-GB" sz="2000" b="1" dirty="0" err="1">
                <a:solidFill>
                  <a:srgbClr val="EC008C"/>
                </a:solidFill>
                <a:latin typeface="Courier New"/>
                <a:ea typeface="Courier New"/>
                <a:cs typeface="Courier New"/>
              </a:rPr>
              <a:t>sel</a:t>
            </a:r>
            <a:r>
              <a:rPr lang="en-GB" sz="2000" b="1" dirty="0">
                <a:solidFill>
                  <a:srgbClr val="EC008C"/>
                </a:solidFill>
                <a:latin typeface="Courier New"/>
                <a:ea typeface="Courier New"/>
                <a:cs typeface="Courier New"/>
              </a:rPr>
              <a:t>) out = a;</a:t>
            </a:r>
          </a:p>
          <a:p>
            <a:pPr algn="l">
              <a:defRPr sz="2400" b="1">
                <a:solidFill>
                  <a:srgbClr val="EC008C"/>
                </a:solidFill>
                <a:latin typeface="Courier New"/>
                <a:ea typeface="Courier New"/>
                <a:cs typeface="Courier New"/>
              </a:defRPr>
            </a:pPr>
            <a:r>
              <a:rPr lang="en-GB" sz="2000" b="1" dirty="0">
                <a:solidFill>
                  <a:srgbClr val="EC008C"/>
                </a:solidFill>
                <a:latin typeface="Courier New"/>
                <a:ea typeface="Courier New"/>
                <a:cs typeface="Courier New"/>
              </a:rPr>
              <a:t>    else     out = b;</a:t>
            </a:r>
          </a:p>
          <a:p>
            <a:pPr algn="l">
              <a:defRPr sz="2400" b="1">
                <a:solidFill>
                  <a:srgbClr val="EC008C"/>
                </a:solidFill>
                <a:latin typeface="Courier New"/>
                <a:ea typeface="Courier New"/>
                <a:cs typeface="Courier New"/>
              </a:defRPr>
            </a:pPr>
            <a:r>
              <a:rPr lang="en-GB" sz="2000" b="1" dirty="0">
                <a:solidFill>
                  <a:srgbClr val="EC008C"/>
                </a:solidFill>
                <a:latin typeface="Courier New"/>
                <a:ea typeface="Courier New"/>
                <a:cs typeface="Courier New"/>
              </a:rPr>
              <a:t>    outbar = ~out;</a:t>
            </a:r>
          </a:p>
          <a:p>
            <a:pPr algn="l">
              <a:defRPr sz="2400" b="1">
                <a:solidFill>
                  <a:srgbClr val="EC008C"/>
                </a:solidFill>
                <a:latin typeface="Courier New"/>
                <a:ea typeface="Courier New"/>
                <a:cs typeface="Courier New"/>
              </a:defRPr>
            </a:pPr>
            <a:r>
              <a:rPr lang="en-GB" sz="2000" b="1" dirty="0">
                <a:solidFill>
                  <a:srgbClr val="EC008C"/>
                </a:solidFill>
                <a:latin typeface="Courier New"/>
                <a:ea typeface="Courier New"/>
                <a:cs typeface="Courier New"/>
              </a:rPr>
              <a:t>  end</a:t>
            </a:r>
          </a:p>
          <a:p>
            <a:pPr algn="l">
              <a:defRPr sz="2400" b="1">
                <a:solidFill>
                  <a:srgbClr val="EC008C"/>
                </a:solidFill>
                <a:latin typeface="Courier New"/>
                <a:ea typeface="Courier New"/>
                <a:cs typeface="Courier New"/>
              </a:defRPr>
            </a:pPr>
            <a:r>
              <a:rPr lang="en-GB" sz="2000" b="1" dirty="0" err="1">
                <a:solidFill>
                  <a:srgbClr val="EC008C"/>
                </a:solidFill>
                <a:latin typeface="Courier New"/>
                <a:ea typeface="Courier New"/>
                <a:cs typeface="Courier New"/>
              </a:rPr>
              <a:t>endmodule</a:t>
            </a:r>
            <a:endParaRPr lang="en-GB" sz="2000" b="1" dirty="0">
              <a:solidFill>
                <a:srgbClr val="EC008C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705" name="Always block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noProof="0" dirty="0"/>
              <a:t>Combinational blocks</a:t>
            </a:r>
          </a:p>
        </p:txBody>
      </p:sp>
      <p:sp>
        <p:nvSpPr>
          <p:cNvPr id="706" name="Verilog provides always blocks for defining sequential logic."/>
          <p:cNvSpPr txBox="1">
            <a:spLocks noGrp="1"/>
          </p:cNvSpPr>
          <p:nvPr>
            <p:ph type="body" sz="quarter" idx="1"/>
          </p:nvPr>
        </p:nvSpPr>
        <p:spPr>
          <a:xfrm>
            <a:off x="952499" y="2686050"/>
            <a:ext cx="11267087" cy="917279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422275" indent="-422275" defTabSz="554990">
              <a:spcBef>
                <a:spcPts val="3900"/>
              </a:spcBef>
              <a:defRPr sz="3040"/>
            </a:pPr>
            <a:r>
              <a:rPr lang="en-GB" noProof="0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always_comb</a:t>
            </a:r>
            <a:r>
              <a:rPr lang="en-GB" noProof="0" dirty="0"/>
              <a:t> blocks define </a:t>
            </a:r>
            <a:r>
              <a:rPr lang="en-GB" b="1" noProof="0" dirty="0"/>
              <a:t>combinational </a:t>
            </a:r>
            <a:r>
              <a:rPr lang="en-GB" noProof="0" dirty="0"/>
              <a:t>logic – no “state”</a:t>
            </a:r>
          </a:p>
        </p:txBody>
      </p:sp>
      <p:sp>
        <p:nvSpPr>
          <p:cNvPr id="70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 lang="en-GB" noProof="0"/>
              <a:t>35</a:t>
            </a:fld>
            <a:endParaRPr lang="en-GB" noProof="0" dirty="0"/>
          </a:p>
        </p:txBody>
      </p:sp>
      <p:sp>
        <p:nvSpPr>
          <p:cNvPr id="709" name="Executed in sequence (order matters!)"/>
          <p:cNvSpPr txBox="1"/>
          <p:nvPr/>
        </p:nvSpPr>
        <p:spPr>
          <a:xfrm>
            <a:off x="857395" y="7478115"/>
            <a:ext cx="10008296" cy="15799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numCol="1" anchor="ctr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GB" noProof="0" dirty="0"/>
              <a:t>Blocking assignments (=)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GB" dirty="0"/>
              <a:t>Statements run in order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GB" noProof="0" dirty="0"/>
              <a:t>Incomplete assignments leads to unintended latch</a:t>
            </a:r>
          </a:p>
        </p:txBody>
      </p:sp>
      <p:sp>
        <p:nvSpPr>
          <p:cNvPr id="711" name="Can also contain case and for"/>
          <p:cNvSpPr txBox="1"/>
          <p:nvPr/>
        </p:nvSpPr>
        <p:spPr>
          <a:xfrm>
            <a:off x="8210606" y="5628669"/>
            <a:ext cx="3888167" cy="10874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numCol="1" anchor="ctr">
            <a:spAutoFit/>
          </a:bodyPr>
          <a:lstStyle/>
          <a:p>
            <a:r>
              <a:rPr lang="en-GB" noProof="0" dirty="0"/>
              <a:t>Can also contain </a:t>
            </a:r>
            <a:r>
              <a:rPr lang="en-GB" b="1" noProof="0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case</a:t>
            </a:r>
            <a:r>
              <a:rPr lang="en-GB" noProof="0" dirty="0"/>
              <a:t> and </a:t>
            </a:r>
            <a:r>
              <a:rPr lang="en-GB" b="1" noProof="0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for</a:t>
            </a:r>
          </a:p>
        </p:txBody>
      </p:sp>
      <p:sp>
        <p:nvSpPr>
          <p:cNvPr id="712" name="Line"/>
          <p:cNvSpPr/>
          <p:nvPr/>
        </p:nvSpPr>
        <p:spPr>
          <a:xfrm flipH="1" flipV="1">
            <a:off x="4140769" y="5912285"/>
            <a:ext cx="4257578" cy="300388"/>
          </a:xfrm>
          <a:prstGeom prst="lin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 w="med" len="med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pPr>
              <a:defRPr sz="2100" b="1"/>
            </a:pPr>
            <a:endParaRPr lang="en-GB" noProof="0" dirty="0"/>
          </a:p>
        </p:txBody>
      </p:sp>
      <p:sp>
        <p:nvSpPr>
          <p:cNvPr id="714" name="Sensitivity list"/>
          <p:cNvSpPr txBox="1"/>
          <p:nvPr/>
        </p:nvSpPr>
        <p:spPr>
          <a:xfrm>
            <a:off x="7870776" y="4555281"/>
            <a:ext cx="4632212" cy="59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numCol="1" anchor="ctr">
            <a:spAutoFit/>
          </a:bodyPr>
          <a:lstStyle/>
          <a:p>
            <a:r>
              <a:rPr lang="en-GB" noProof="0" dirty="0"/>
              <a:t>Automatic sensitivity list</a:t>
            </a:r>
          </a:p>
        </p:txBody>
      </p:sp>
      <p:sp>
        <p:nvSpPr>
          <p:cNvPr id="715" name="Line"/>
          <p:cNvSpPr/>
          <p:nvPr/>
        </p:nvSpPr>
        <p:spPr>
          <a:xfrm flipH="1">
            <a:off x="3732755" y="4876801"/>
            <a:ext cx="4257577" cy="437644"/>
          </a:xfrm>
          <a:prstGeom prst="lin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 w="med" len="med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pPr>
              <a:defRPr sz="2100" b="1"/>
            </a:pPr>
            <a:endParaRPr lang="en-GB" noProof="0" dirty="0"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4" grpId="2" animBg="1" advAuto="0"/>
      <p:bldP spid="706" grpId="1" animBg="1" advAuto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Always block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noProof="0" dirty="0" err="1"/>
              <a:t>always_comb</a:t>
            </a:r>
            <a:r>
              <a:rPr lang="en-GB" noProof="0" dirty="0"/>
              <a:t> blocks</a:t>
            </a:r>
          </a:p>
        </p:txBody>
      </p:sp>
      <p:sp>
        <p:nvSpPr>
          <p:cNvPr id="722" name="Can mix procedural and continuous assignments.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noProof="0" dirty="0"/>
              <a:t>Can mix procedural and continuous assignments. </a:t>
            </a:r>
          </a:p>
        </p:txBody>
      </p:sp>
      <p:sp>
        <p:nvSpPr>
          <p:cNvPr id="72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 lang="en-GB" noProof="0"/>
              <a:t>36</a:t>
            </a:fld>
            <a:endParaRPr lang="en-GB" noProof="0" dirty="0"/>
          </a:p>
        </p:txBody>
      </p:sp>
      <p:sp>
        <p:nvSpPr>
          <p:cNvPr id="724" name="module mux2to1 (out, outbar,…"/>
          <p:cNvSpPr txBox="1"/>
          <p:nvPr/>
        </p:nvSpPr>
        <p:spPr>
          <a:xfrm>
            <a:off x="405752" y="4957427"/>
            <a:ext cx="5079917" cy="3795911"/>
          </a:xfrm>
          <a:prstGeom prst="rect">
            <a:avLst/>
          </a:prstGeom>
          <a:solidFill>
            <a:srgbClr val="E9E6B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2250" b="1">
                <a:solidFill>
                  <a:srgbClr val="EC008C"/>
                </a:solidFill>
                <a:latin typeface="Courier New"/>
                <a:ea typeface="Courier New"/>
                <a:cs typeface="Courier New"/>
              </a:defRPr>
            </a:pPr>
            <a:r>
              <a:rPr lang="en-GB" sz="2400" b="1" dirty="0">
                <a:solidFill>
                  <a:srgbClr val="EC008C"/>
                </a:solidFill>
                <a:latin typeface="Courier New"/>
                <a:ea typeface="Courier New"/>
                <a:cs typeface="Courier New"/>
              </a:rPr>
              <a:t>module mux2to1 (</a:t>
            </a:r>
          </a:p>
          <a:p>
            <a:pPr algn="l">
              <a:defRPr sz="2250" b="1">
                <a:solidFill>
                  <a:srgbClr val="EC008C"/>
                </a:solidFill>
                <a:latin typeface="Courier New"/>
                <a:ea typeface="Courier New"/>
                <a:cs typeface="Courier New"/>
              </a:defRPr>
            </a:pPr>
            <a:r>
              <a:rPr lang="en-GB" sz="2400" b="1" dirty="0">
                <a:solidFill>
                  <a:srgbClr val="EC008C"/>
                </a:solidFill>
                <a:latin typeface="Courier New"/>
                <a:ea typeface="Courier New"/>
                <a:cs typeface="Courier New"/>
              </a:rPr>
              <a:t>  input  logic a, b, </a:t>
            </a:r>
            <a:r>
              <a:rPr lang="en-GB" sz="2400" b="1" dirty="0" err="1">
                <a:solidFill>
                  <a:srgbClr val="EC008C"/>
                </a:solidFill>
                <a:latin typeface="Courier New"/>
                <a:ea typeface="Courier New"/>
                <a:cs typeface="Courier New"/>
              </a:rPr>
              <a:t>sel</a:t>
            </a:r>
            <a:r>
              <a:rPr lang="en-GB" sz="2400" b="1" dirty="0">
                <a:solidFill>
                  <a:srgbClr val="EC008C"/>
                </a:solidFill>
                <a:latin typeface="Courier New"/>
                <a:ea typeface="Courier New"/>
                <a:cs typeface="Courier New"/>
              </a:rPr>
              <a:t>,</a:t>
            </a:r>
          </a:p>
          <a:p>
            <a:pPr algn="l">
              <a:defRPr sz="2250" b="1">
                <a:solidFill>
                  <a:srgbClr val="EC008C"/>
                </a:solidFill>
                <a:latin typeface="Courier New"/>
                <a:ea typeface="Courier New"/>
                <a:cs typeface="Courier New"/>
              </a:defRPr>
            </a:pPr>
            <a:r>
              <a:rPr lang="en-GB" sz="2400" b="1" dirty="0">
                <a:solidFill>
                  <a:srgbClr val="EC008C"/>
                </a:solidFill>
                <a:latin typeface="Courier New"/>
                <a:ea typeface="Courier New"/>
                <a:cs typeface="Courier New"/>
              </a:rPr>
              <a:t>  output logic out, outbar</a:t>
            </a:r>
          </a:p>
          <a:p>
            <a:pPr algn="l">
              <a:defRPr sz="2250" b="1">
                <a:solidFill>
                  <a:srgbClr val="EC008C"/>
                </a:solidFill>
                <a:latin typeface="Courier New"/>
                <a:ea typeface="Courier New"/>
                <a:cs typeface="Courier New"/>
              </a:defRPr>
            </a:pPr>
            <a:r>
              <a:rPr lang="en-GB" sz="2400" b="1" dirty="0">
                <a:solidFill>
                  <a:srgbClr val="EC008C"/>
                </a:solidFill>
                <a:latin typeface="Courier New"/>
                <a:ea typeface="Courier New"/>
                <a:cs typeface="Courier New"/>
              </a:rPr>
              <a:t>);</a:t>
            </a:r>
          </a:p>
          <a:p>
            <a:pPr algn="l">
              <a:defRPr sz="2250" b="1">
                <a:solidFill>
                  <a:srgbClr val="EC008C"/>
                </a:solidFill>
                <a:latin typeface="Courier New"/>
                <a:ea typeface="Courier New"/>
                <a:cs typeface="Courier New"/>
              </a:defRPr>
            </a:pPr>
            <a:r>
              <a:rPr lang="en-GB" sz="2400" b="1" dirty="0">
                <a:solidFill>
                  <a:srgbClr val="EC008C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lang="en-GB" sz="2400" b="1" dirty="0" err="1">
                <a:solidFill>
                  <a:srgbClr val="EC008C"/>
                </a:solidFill>
                <a:latin typeface="Courier New"/>
                <a:ea typeface="Courier New"/>
                <a:cs typeface="Courier New"/>
              </a:rPr>
              <a:t>always_comb</a:t>
            </a:r>
            <a:r>
              <a:rPr lang="en-GB" sz="2400" b="1" dirty="0">
                <a:solidFill>
                  <a:srgbClr val="EC008C"/>
                </a:solidFill>
                <a:latin typeface="Courier New"/>
                <a:ea typeface="Courier New"/>
                <a:cs typeface="Courier New"/>
              </a:rPr>
              <a:t> begin</a:t>
            </a:r>
          </a:p>
          <a:p>
            <a:pPr algn="l">
              <a:defRPr sz="2250" b="1">
                <a:solidFill>
                  <a:srgbClr val="EC008C"/>
                </a:solidFill>
                <a:latin typeface="Courier New"/>
                <a:ea typeface="Courier New"/>
                <a:cs typeface="Courier New"/>
              </a:defRPr>
            </a:pPr>
            <a:r>
              <a:rPr lang="en-GB" sz="2400" b="1" dirty="0">
                <a:solidFill>
                  <a:srgbClr val="EC008C"/>
                </a:solidFill>
                <a:latin typeface="Courier New"/>
                <a:ea typeface="Courier New"/>
                <a:cs typeface="Courier New"/>
              </a:rPr>
              <a:t>    if (</a:t>
            </a:r>
            <a:r>
              <a:rPr lang="en-GB" sz="2400" b="1" dirty="0" err="1">
                <a:solidFill>
                  <a:srgbClr val="EC008C"/>
                </a:solidFill>
                <a:latin typeface="Courier New"/>
                <a:ea typeface="Courier New"/>
                <a:cs typeface="Courier New"/>
              </a:rPr>
              <a:t>sel</a:t>
            </a:r>
            <a:r>
              <a:rPr lang="en-GB" sz="2400" b="1" dirty="0">
                <a:solidFill>
                  <a:srgbClr val="EC008C"/>
                </a:solidFill>
                <a:latin typeface="Courier New"/>
                <a:ea typeface="Courier New"/>
                <a:cs typeface="Courier New"/>
              </a:rPr>
              <a:t>) out = a;</a:t>
            </a:r>
          </a:p>
          <a:p>
            <a:pPr algn="l">
              <a:defRPr sz="2250" b="1">
                <a:solidFill>
                  <a:srgbClr val="EC008C"/>
                </a:solidFill>
                <a:latin typeface="Courier New"/>
                <a:ea typeface="Courier New"/>
                <a:cs typeface="Courier New"/>
              </a:defRPr>
            </a:pPr>
            <a:r>
              <a:rPr lang="en-GB" sz="2400" b="1" dirty="0">
                <a:solidFill>
                  <a:srgbClr val="EC008C"/>
                </a:solidFill>
                <a:latin typeface="Courier New"/>
                <a:ea typeface="Courier New"/>
                <a:cs typeface="Courier New"/>
              </a:rPr>
              <a:t>    else     out = b;</a:t>
            </a:r>
          </a:p>
          <a:p>
            <a:pPr algn="l">
              <a:defRPr sz="2250" b="1">
                <a:solidFill>
                  <a:srgbClr val="EC008C"/>
                </a:solidFill>
                <a:latin typeface="Courier New"/>
                <a:ea typeface="Courier New"/>
                <a:cs typeface="Courier New"/>
              </a:defRPr>
            </a:pPr>
            <a:r>
              <a:rPr lang="en-GB" sz="2400" b="1" dirty="0">
                <a:solidFill>
                  <a:srgbClr val="EC008C"/>
                </a:solidFill>
                <a:latin typeface="Courier New"/>
                <a:ea typeface="Courier New"/>
                <a:cs typeface="Courier New"/>
              </a:rPr>
              <a:t>    outbar = ~out;</a:t>
            </a:r>
          </a:p>
          <a:p>
            <a:pPr algn="l">
              <a:defRPr sz="2250" b="1">
                <a:solidFill>
                  <a:srgbClr val="EC008C"/>
                </a:solidFill>
                <a:latin typeface="Courier New"/>
                <a:ea typeface="Courier New"/>
                <a:cs typeface="Courier New"/>
              </a:defRPr>
            </a:pPr>
            <a:r>
              <a:rPr lang="en-GB" sz="2400" b="1" dirty="0">
                <a:solidFill>
                  <a:srgbClr val="EC008C"/>
                </a:solidFill>
                <a:latin typeface="Courier New"/>
                <a:ea typeface="Courier New"/>
                <a:cs typeface="Courier New"/>
              </a:rPr>
              <a:t>  end</a:t>
            </a:r>
          </a:p>
          <a:p>
            <a:pPr algn="l">
              <a:defRPr sz="2250" b="1">
                <a:solidFill>
                  <a:srgbClr val="EC008C"/>
                </a:solidFill>
                <a:latin typeface="Courier New"/>
                <a:ea typeface="Courier New"/>
                <a:cs typeface="Courier New"/>
              </a:defRPr>
            </a:pPr>
            <a:r>
              <a:rPr lang="en-GB" sz="2400" b="1" dirty="0" err="1">
                <a:solidFill>
                  <a:srgbClr val="EC008C"/>
                </a:solidFill>
                <a:latin typeface="Courier New"/>
                <a:ea typeface="Courier New"/>
                <a:cs typeface="Courier New"/>
              </a:rPr>
              <a:t>endmodule</a:t>
            </a:r>
            <a:endParaRPr lang="en-GB" sz="2400" b="1" dirty="0">
              <a:solidFill>
                <a:srgbClr val="EC008C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725" name="module mux2to1 (out, outbar,…"/>
          <p:cNvSpPr txBox="1"/>
          <p:nvPr/>
        </p:nvSpPr>
        <p:spPr>
          <a:xfrm>
            <a:off x="7036525" y="4957427"/>
            <a:ext cx="5079917" cy="3795911"/>
          </a:xfrm>
          <a:prstGeom prst="rect">
            <a:avLst/>
          </a:prstGeom>
          <a:solidFill>
            <a:srgbClr val="E9E6B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2250" b="1">
                <a:solidFill>
                  <a:srgbClr val="EC008C"/>
                </a:solidFill>
                <a:latin typeface="Courier New"/>
                <a:ea typeface="Courier New"/>
                <a:cs typeface="Courier New"/>
              </a:defRPr>
            </a:pPr>
            <a:r>
              <a:rPr lang="en-GB" sz="2400" b="1" dirty="0">
                <a:solidFill>
                  <a:srgbClr val="EC008C"/>
                </a:solidFill>
                <a:latin typeface="Courier New"/>
                <a:ea typeface="Courier New"/>
                <a:cs typeface="Courier New"/>
              </a:rPr>
              <a:t>module mux2to1 (</a:t>
            </a:r>
          </a:p>
          <a:p>
            <a:pPr algn="l">
              <a:defRPr sz="2250" b="1">
                <a:solidFill>
                  <a:srgbClr val="EC008C"/>
                </a:solidFill>
                <a:latin typeface="Courier New"/>
                <a:ea typeface="Courier New"/>
                <a:cs typeface="Courier New"/>
              </a:defRPr>
            </a:pPr>
            <a:r>
              <a:rPr lang="en-GB" sz="2400" b="1" dirty="0">
                <a:solidFill>
                  <a:srgbClr val="EC008C"/>
                </a:solidFill>
                <a:latin typeface="Courier New"/>
                <a:ea typeface="Courier New"/>
                <a:cs typeface="Courier New"/>
              </a:rPr>
              <a:t>  input  logic a, b, </a:t>
            </a:r>
            <a:r>
              <a:rPr lang="en-GB" sz="2400" b="1" dirty="0" err="1">
                <a:solidFill>
                  <a:srgbClr val="EC008C"/>
                </a:solidFill>
                <a:latin typeface="Courier New"/>
                <a:ea typeface="Courier New"/>
                <a:cs typeface="Courier New"/>
              </a:rPr>
              <a:t>sel</a:t>
            </a:r>
            <a:r>
              <a:rPr lang="en-GB" sz="2400" b="1" dirty="0">
                <a:solidFill>
                  <a:srgbClr val="EC008C"/>
                </a:solidFill>
                <a:latin typeface="Courier New"/>
                <a:ea typeface="Courier New"/>
                <a:cs typeface="Courier New"/>
              </a:rPr>
              <a:t>,</a:t>
            </a:r>
          </a:p>
          <a:p>
            <a:pPr algn="l">
              <a:defRPr sz="2250" b="1">
                <a:solidFill>
                  <a:srgbClr val="EC008C"/>
                </a:solidFill>
                <a:latin typeface="Courier New"/>
                <a:ea typeface="Courier New"/>
                <a:cs typeface="Courier New"/>
              </a:defRPr>
            </a:pPr>
            <a:r>
              <a:rPr lang="en-GB" sz="2400" b="1" dirty="0">
                <a:solidFill>
                  <a:srgbClr val="EC008C"/>
                </a:solidFill>
                <a:latin typeface="Courier New"/>
                <a:ea typeface="Courier New"/>
                <a:cs typeface="Courier New"/>
              </a:rPr>
              <a:t>  output logic out, outbar</a:t>
            </a:r>
          </a:p>
          <a:p>
            <a:pPr algn="l">
              <a:defRPr sz="2250" b="1">
                <a:solidFill>
                  <a:srgbClr val="EC008C"/>
                </a:solidFill>
                <a:latin typeface="Courier New"/>
                <a:ea typeface="Courier New"/>
                <a:cs typeface="Courier New"/>
              </a:defRPr>
            </a:pPr>
            <a:r>
              <a:rPr lang="en-GB" sz="2400" b="1" dirty="0">
                <a:solidFill>
                  <a:srgbClr val="EC008C"/>
                </a:solidFill>
                <a:latin typeface="Courier New"/>
                <a:ea typeface="Courier New"/>
                <a:cs typeface="Courier New"/>
              </a:rPr>
              <a:t>);</a:t>
            </a:r>
          </a:p>
          <a:p>
            <a:pPr algn="l">
              <a:defRPr sz="2250" b="1">
                <a:solidFill>
                  <a:srgbClr val="EC008C"/>
                </a:solidFill>
                <a:latin typeface="Courier New"/>
                <a:ea typeface="Courier New"/>
                <a:cs typeface="Courier New"/>
              </a:defRPr>
            </a:pPr>
            <a:r>
              <a:rPr lang="en-GB" sz="2400" b="1" dirty="0">
                <a:solidFill>
                  <a:srgbClr val="EC008C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lang="en-GB" sz="2400" b="1" dirty="0" err="1">
                <a:solidFill>
                  <a:srgbClr val="EC008C"/>
                </a:solidFill>
                <a:latin typeface="Courier New"/>
                <a:ea typeface="Courier New"/>
                <a:cs typeface="Courier New"/>
              </a:rPr>
              <a:t>always_comb</a:t>
            </a:r>
            <a:r>
              <a:rPr lang="en-GB" sz="2400" b="1" dirty="0">
                <a:solidFill>
                  <a:srgbClr val="EC008C"/>
                </a:solidFill>
                <a:latin typeface="Courier New"/>
                <a:ea typeface="Courier New"/>
                <a:cs typeface="Courier New"/>
              </a:rPr>
              <a:t> begin</a:t>
            </a:r>
          </a:p>
          <a:p>
            <a:pPr algn="l">
              <a:defRPr sz="2250" b="1">
                <a:solidFill>
                  <a:srgbClr val="EC008C"/>
                </a:solidFill>
                <a:latin typeface="Courier New"/>
                <a:ea typeface="Courier New"/>
                <a:cs typeface="Courier New"/>
              </a:defRPr>
            </a:pPr>
            <a:r>
              <a:rPr lang="en-GB" sz="2400" b="1" dirty="0">
                <a:solidFill>
                  <a:srgbClr val="EC008C"/>
                </a:solidFill>
                <a:latin typeface="Courier New"/>
                <a:ea typeface="Courier New"/>
                <a:cs typeface="Courier New"/>
              </a:rPr>
              <a:t>    if (</a:t>
            </a:r>
            <a:r>
              <a:rPr lang="en-GB" sz="2400" b="1" dirty="0" err="1">
                <a:solidFill>
                  <a:srgbClr val="EC008C"/>
                </a:solidFill>
                <a:latin typeface="Courier New"/>
                <a:ea typeface="Courier New"/>
                <a:cs typeface="Courier New"/>
              </a:rPr>
              <a:t>sel</a:t>
            </a:r>
            <a:r>
              <a:rPr lang="en-GB" sz="2400" b="1" dirty="0">
                <a:solidFill>
                  <a:srgbClr val="EC008C"/>
                </a:solidFill>
                <a:latin typeface="Courier New"/>
                <a:ea typeface="Courier New"/>
                <a:cs typeface="Courier New"/>
              </a:rPr>
              <a:t>) out = a;</a:t>
            </a:r>
          </a:p>
          <a:p>
            <a:pPr algn="l">
              <a:defRPr sz="2250" b="1">
                <a:solidFill>
                  <a:srgbClr val="EC008C"/>
                </a:solidFill>
                <a:latin typeface="Courier New"/>
                <a:ea typeface="Courier New"/>
                <a:cs typeface="Courier New"/>
              </a:defRPr>
            </a:pPr>
            <a:r>
              <a:rPr lang="en-GB" sz="2400" b="1" dirty="0">
                <a:solidFill>
                  <a:srgbClr val="EC008C"/>
                </a:solidFill>
                <a:latin typeface="Courier New"/>
                <a:ea typeface="Courier New"/>
                <a:cs typeface="Courier New"/>
              </a:rPr>
              <a:t>    else     out = b;</a:t>
            </a:r>
          </a:p>
          <a:p>
            <a:pPr algn="l">
              <a:defRPr sz="2250" b="1">
                <a:solidFill>
                  <a:srgbClr val="EC008C"/>
                </a:solidFill>
                <a:latin typeface="Courier New"/>
                <a:ea typeface="Courier New"/>
                <a:cs typeface="Courier New"/>
              </a:defRPr>
            </a:pPr>
            <a:r>
              <a:rPr lang="en-GB" sz="2400" b="1" dirty="0">
                <a:solidFill>
                  <a:srgbClr val="EC008C"/>
                </a:solidFill>
                <a:latin typeface="Courier New"/>
                <a:ea typeface="Courier New"/>
                <a:cs typeface="Courier New"/>
              </a:rPr>
              <a:t>  end</a:t>
            </a:r>
          </a:p>
          <a:p>
            <a:pPr algn="l">
              <a:defRPr sz="2250" b="1">
                <a:solidFill>
                  <a:srgbClr val="EC008C"/>
                </a:solidFill>
                <a:latin typeface="Courier New"/>
                <a:ea typeface="Courier New"/>
                <a:cs typeface="Courier New"/>
              </a:defRPr>
            </a:pPr>
            <a:r>
              <a:rPr lang="en-GB" sz="2400" b="1" dirty="0">
                <a:solidFill>
                  <a:srgbClr val="EC008C"/>
                </a:solidFill>
                <a:latin typeface="Courier New"/>
                <a:ea typeface="Courier New"/>
                <a:cs typeface="Courier New"/>
              </a:rPr>
              <a:t>  assign outbar = ~out;</a:t>
            </a:r>
          </a:p>
          <a:p>
            <a:pPr algn="l">
              <a:defRPr sz="2250" b="1">
                <a:solidFill>
                  <a:srgbClr val="EC008C"/>
                </a:solidFill>
                <a:latin typeface="Courier New"/>
                <a:ea typeface="Courier New"/>
                <a:cs typeface="Courier New"/>
              </a:defRPr>
            </a:pPr>
            <a:r>
              <a:rPr lang="en-GB" sz="2400" b="1" dirty="0" err="1">
                <a:solidFill>
                  <a:srgbClr val="EC008C"/>
                </a:solidFill>
                <a:latin typeface="Courier New"/>
                <a:ea typeface="Courier New"/>
                <a:cs typeface="Courier New"/>
              </a:rPr>
              <a:t>endmodule</a:t>
            </a:r>
            <a:endParaRPr lang="en-GB" sz="2400" b="1" dirty="0">
              <a:solidFill>
                <a:srgbClr val="EC008C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2" name="Punched Tape 1">
            <a:extLst>
              <a:ext uri="{FF2B5EF4-FFF2-40B4-BE49-F238E27FC236}">
                <a16:creationId xmlns:a16="http://schemas.microsoft.com/office/drawing/2014/main" id="{DF138972-B17B-4EE4-B5C8-B66202E7FF13}"/>
              </a:ext>
            </a:extLst>
          </p:cNvPr>
          <p:cNvSpPr/>
          <p:nvPr/>
        </p:nvSpPr>
        <p:spPr>
          <a:xfrm>
            <a:off x="5660107" y="6112987"/>
            <a:ext cx="1201979" cy="339947"/>
          </a:xfrm>
          <a:prstGeom prst="flowChartPunchedTape">
            <a:avLst/>
          </a:prstGeom>
          <a:solidFill>
            <a:srgbClr val="6E8627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21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  <p:sp>
        <p:nvSpPr>
          <p:cNvPr id="4" name="Punched Tape 3">
            <a:extLst>
              <a:ext uri="{FF2B5EF4-FFF2-40B4-BE49-F238E27FC236}">
                <a16:creationId xmlns:a16="http://schemas.microsoft.com/office/drawing/2014/main" id="{790DE476-8A9E-047B-8E23-F40B8E6B81C1}"/>
              </a:ext>
            </a:extLst>
          </p:cNvPr>
          <p:cNvSpPr/>
          <p:nvPr/>
        </p:nvSpPr>
        <p:spPr>
          <a:xfrm>
            <a:off x="5660107" y="6515435"/>
            <a:ext cx="1201979" cy="339947"/>
          </a:xfrm>
          <a:prstGeom prst="flowChartPunchedTape">
            <a:avLst/>
          </a:prstGeom>
          <a:solidFill>
            <a:srgbClr val="6E8627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21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</p:spTree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Numerical constant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noProof="0" dirty="0"/>
              <a:t>Numerical constants</a:t>
            </a:r>
          </a:p>
        </p:txBody>
      </p:sp>
      <p:sp>
        <p:nvSpPr>
          <p:cNvPr id="728" name="Format is &lt;size&gt;'&lt;signedness&gt;&lt;base&gt;&lt;number&gt;…"/>
          <p:cNvSpPr txBox="1">
            <a:spLocks noGrp="1"/>
          </p:cNvSpPr>
          <p:nvPr>
            <p:ph type="body" idx="1"/>
          </p:nvPr>
        </p:nvSpPr>
        <p:spPr>
          <a:xfrm>
            <a:off x="601249" y="2435528"/>
            <a:ext cx="12012461" cy="695899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GB" noProof="0" dirty="0"/>
              <a:t>Format is </a:t>
            </a:r>
            <a:r>
              <a:rPr lang="en-GB" i="1" noProof="0" dirty="0"/>
              <a:t>&lt;size&gt;</a:t>
            </a:r>
            <a:r>
              <a:rPr lang="en-GB" noProof="0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'</a:t>
            </a:r>
            <a:r>
              <a:rPr lang="en-GB" i="1" noProof="0" dirty="0"/>
              <a:t>&lt;</a:t>
            </a:r>
            <a:r>
              <a:rPr lang="en-GB" i="1" noProof="0" dirty="0" err="1"/>
              <a:t>signedness</a:t>
            </a:r>
            <a:r>
              <a:rPr lang="en-GB" i="1" noProof="0" dirty="0"/>
              <a:t>&gt;&lt;base&gt;&lt;number&gt;</a:t>
            </a:r>
          </a:p>
          <a:p>
            <a:r>
              <a:rPr lang="en-GB" i="1" noProof="0" dirty="0"/>
              <a:t>&lt;size&gt;</a:t>
            </a:r>
            <a:r>
              <a:rPr lang="en-GB" noProof="0" dirty="0"/>
              <a:t> defaults to </a:t>
            </a:r>
            <a:r>
              <a:rPr lang="en-GB" noProof="0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32</a:t>
            </a:r>
            <a:r>
              <a:rPr lang="en-GB" noProof="0" dirty="0"/>
              <a:t>.</a:t>
            </a:r>
          </a:p>
          <a:p>
            <a:r>
              <a:rPr lang="en-GB" i="1" noProof="0" dirty="0"/>
              <a:t>&lt;base&gt;</a:t>
            </a:r>
            <a:r>
              <a:rPr lang="en-GB" noProof="0" dirty="0"/>
              <a:t> is either </a:t>
            </a:r>
            <a:r>
              <a:rPr lang="en-GB" noProof="0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b</a:t>
            </a:r>
            <a:r>
              <a:rPr lang="en-GB" noProof="0" dirty="0"/>
              <a:t> (binary=2), </a:t>
            </a:r>
            <a:r>
              <a:rPr lang="en-GB" noProof="0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o</a:t>
            </a:r>
            <a:r>
              <a:rPr lang="en-GB" noProof="0" dirty="0"/>
              <a:t> (octal=8), </a:t>
            </a:r>
            <a:r>
              <a:rPr lang="en-GB" noProof="0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d</a:t>
            </a:r>
            <a:r>
              <a:rPr lang="en-GB" noProof="0" dirty="0"/>
              <a:t> (decimal=10), or</a:t>
            </a:r>
            <a:br>
              <a:rPr lang="en-GB" noProof="0" dirty="0"/>
            </a:br>
            <a:r>
              <a:rPr lang="en-GB" noProof="0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h</a:t>
            </a:r>
            <a:r>
              <a:rPr lang="en-GB" noProof="0" dirty="0"/>
              <a:t> (hexadecimal=16). Decimal is the default.</a:t>
            </a:r>
          </a:p>
          <a:p>
            <a:r>
              <a:rPr lang="en-GB" i="1" noProof="0" dirty="0"/>
              <a:t>&lt;</a:t>
            </a:r>
            <a:r>
              <a:rPr lang="en-GB" i="1" noProof="0" dirty="0" err="1"/>
              <a:t>signedness</a:t>
            </a:r>
            <a:r>
              <a:rPr lang="en-GB" i="1" noProof="0" dirty="0"/>
              <a:t>&gt;</a:t>
            </a:r>
            <a:r>
              <a:rPr lang="en-GB" noProof="0" dirty="0"/>
              <a:t> is either blank (unsigned, default) or </a:t>
            </a:r>
            <a:r>
              <a:rPr lang="en-GB" noProof="0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s</a:t>
            </a:r>
            <a:r>
              <a:rPr lang="en-GB" noProof="0" dirty="0"/>
              <a:t> (signed).</a:t>
            </a:r>
          </a:p>
          <a:p>
            <a:r>
              <a:rPr lang="en-GB" noProof="0" dirty="0"/>
              <a:t>Examples: </a:t>
            </a:r>
            <a:r>
              <a:rPr lang="en-GB" noProof="0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2'b10</a:t>
            </a:r>
            <a:r>
              <a:rPr lang="en-GB" noProof="0" dirty="0"/>
              <a:t>, </a:t>
            </a:r>
            <a:r>
              <a:rPr lang="en-GB" noProof="0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'b10</a:t>
            </a:r>
            <a:r>
              <a:rPr lang="en-GB" noProof="0" dirty="0"/>
              <a:t>, </a:t>
            </a:r>
            <a:r>
              <a:rPr lang="en-GB" noProof="0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31</a:t>
            </a:r>
            <a:r>
              <a:rPr lang="en-GB" noProof="0" dirty="0"/>
              <a:t>, </a:t>
            </a:r>
            <a:r>
              <a:rPr lang="en-GB" noProof="0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8'hAf</a:t>
            </a:r>
            <a:r>
              <a:rPr lang="en-GB" noProof="0" dirty="0"/>
              <a:t>, </a:t>
            </a:r>
            <a:r>
              <a:rPr lang="en-GB" noProof="0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2'sb10</a:t>
            </a:r>
          </a:p>
          <a:p>
            <a:pPr marL="0" indent="0">
              <a:spcBef>
                <a:spcPts val="0"/>
              </a:spcBef>
              <a:buNone/>
              <a:defRPr sz="27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GB" dirty="0">
              <a:ea typeface="Arial"/>
              <a:cs typeface="Arial"/>
            </a:endParaRPr>
          </a:p>
          <a:p>
            <a:pPr marL="0" indent="0">
              <a:spcBef>
                <a:spcPts val="0"/>
              </a:spcBef>
              <a:buNone/>
              <a:defRPr sz="27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en-GB" dirty="0">
                <a:latin typeface="Courier New" panose="02070309020205020404" pitchFamily="49" charset="0"/>
                <a:ea typeface="Arial"/>
                <a:cs typeface="Courier New" panose="02070309020205020404" pitchFamily="49" charset="0"/>
              </a:rPr>
              <a:t>logic [7:0] zeros = '0;    // 00000000</a:t>
            </a:r>
          </a:p>
          <a:p>
            <a:pPr marL="0" indent="0">
              <a:spcBef>
                <a:spcPts val="0"/>
              </a:spcBef>
              <a:buNone/>
              <a:defRPr sz="27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en-GB" dirty="0">
                <a:latin typeface="Courier New" panose="02070309020205020404" pitchFamily="49" charset="0"/>
                <a:ea typeface="Arial"/>
                <a:cs typeface="Courier New" panose="02070309020205020404" pitchFamily="49" charset="0"/>
              </a:rPr>
              <a:t>logic [7:0] ones  = '1;    // 11111111</a:t>
            </a:r>
          </a:p>
          <a:p>
            <a:pPr marL="0" indent="0">
              <a:spcBef>
                <a:spcPts val="0"/>
              </a:spcBef>
              <a:buNone/>
              <a:defRPr sz="27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GB" dirty="0">
              <a:latin typeface="Arial"/>
              <a:ea typeface="Arial"/>
              <a:cs typeface="Arial"/>
            </a:endParaRPr>
          </a:p>
        </p:txBody>
      </p:sp>
      <p:sp>
        <p:nvSpPr>
          <p:cNvPr id="72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 lang="en-GB" noProof="0"/>
              <a:t>37</a:t>
            </a:fld>
            <a:endParaRPr lang="en-GB" noProof="0" dirty="0"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8" grpId="0" build="p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Aside: signed number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566674">
              <a:defRPr sz="7760"/>
            </a:lvl1pPr>
          </a:lstStyle>
          <a:p>
            <a:r>
              <a:rPr lang="en-GB" noProof="0" dirty="0"/>
              <a:t>Aside: signed numbers</a:t>
            </a:r>
          </a:p>
        </p:txBody>
      </p:sp>
      <p:sp>
        <p:nvSpPr>
          <p:cNvPr id="75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 lang="en-GB" noProof="0"/>
              <a:t>38</a:t>
            </a:fld>
            <a:endParaRPr lang="en-GB" noProof="0" dirty="0"/>
          </a:p>
        </p:txBody>
      </p:sp>
      <p:grpSp>
        <p:nvGrpSpPr>
          <p:cNvPr id="760" name="Group"/>
          <p:cNvGrpSpPr/>
          <p:nvPr/>
        </p:nvGrpSpPr>
        <p:grpSpPr>
          <a:xfrm>
            <a:off x="721353" y="2258310"/>
            <a:ext cx="2780311" cy="6637269"/>
            <a:chOff x="-88206" y="-6351"/>
            <a:chExt cx="2780309" cy="6637267"/>
          </a:xfrm>
        </p:grpSpPr>
        <p:graphicFrame>
          <p:nvGraphicFramePr>
            <p:cNvPr id="758" name="Table 1"/>
            <p:cNvGraphicFramePr/>
            <p:nvPr>
              <p:extLst>
                <p:ext uri="{D42A27DB-BD31-4B8C-83A1-F6EECF244321}">
                  <p14:modId xmlns:p14="http://schemas.microsoft.com/office/powerpoint/2010/main" val="4224147502"/>
                </p:ext>
              </p:extLst>
            </p:nvPr>
          </p:nvGraphicFramePr>
          <p:xfrm>
            <a:off x="444826" y="777597"/>
            <a:ext cx="1714241" cy="5853319"/>
          </p:xfrm>
          <a:graphic>
            <a:graphicData uri="http://schemas.openxmlformats.org/drawingml/2006/table">
              <a:tbl>
                <a:tblPr firstRow="1">
                  <a:tableStyleId>{4A9BC294-FFE2-49D5-8D69-9E1BD2C41BD5}</a:tableStyleId>
                </a:tblPr>
                <a:tblGrid>
                  <a:gridCol w="22860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228600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228600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228600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  <a:gridCol w="799842">
                    <a:extLst>
                      <a:ext uri="{9D8B030D-6E8A-4147-A177-3AD203B41FA5}">
                        <a16:colId xmlns:a16="http://schemas.microsoft.com/office/drawing/2014/main" val="20004"/>
                      </a:ext>
                    </a:extLst>
                  </a:gridCol>
                </a:tblGrid>
                <a:tr h="344313">
                  <a:tc>
                    <a:txBody>
                      <a:bodyPr/>
                      <a:lstStyle/>
                      <a:p>
                        <a:pPr defTabSz="914400">
                          <a:tabLst>
                            <a:tab pos="1181100" algn="l"/>
                          </a:tabLst>
                          <a:defRPr sz="1800" b="0"/>
                        </a:pPr>
                        <a:r>
                          <a:rPr lang="en-GB" sz="1500" b="1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8</a:t>
                        </a:r>
                      </a:p>
                    </a:txBody>
                    <a:tcPr marL="50800" marR="50800" marT="50800" marB="5080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D6D5D5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tabLst>
                            <a:tab pos="1181100" algn="l"/>
                          </a:tabLst>
                          <a:defRPr sz="1800" b="0"/>
                        </a:pPr>
                        <a:r>
                          <a:rPr lang="en-GB" sz="1500" b="1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4</a:t>
                        </a:r>
                      </a:p>
                    </a:txBody>
                    <a:tcPr marL="50800" marR="50800" marT="50800" marB="5080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D6D5D5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tabLst>
                            <a:tab pos="1181100" algn="l"/>
                          </a:tabLst>
                          <a:defRPr sz="1800" b="0"/>
                        </a:pPr>
                        <a:r>
                          <a:rPr lang="en-GB" sz="1500" b="1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2</a:t>
                        </a:r>
                      </a:p>
                    </a:txBody>
                    <a:tcPr marL="50800" marR="50800" marT="50800" marB="5080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D6D5D5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tabLst>
                            <a:tab pos="1181100" algn="l"/>
                          </a:tabLst>
                          <a:defRPr sz="1800" b="0"/>
                        </a:pPr>
                        <a:r>
                          <a:rPr lang="en-GB" sz="1500" b="1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50800" marR="50800" marT="50800" marB="5080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D6D5D5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tabLst>
                            <a:tab pos="1181100" algn="l"/>
                          </a:tabLst>
                          <a:defRPr sz="1800" b="0"/>
                        </a:pPr>
                        <a:r>
                          <a:rPr lang="en-GB" sz="1500" b="1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value</a:t>
                        </a:r>
                      </a:p>
                    </a:txBody>
                    <a:tcPr marL="50800" marR="50800" marT="50800" marB="5080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D6D5D5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344313"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344313"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  <a:tr h="344313"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2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3"/>
                    </a:ext>
                  </a:extLst>
                </a:tr>
                <a:tr h="344313"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3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4"/>
                    </a:ext>
                  </a:extLst>
                </a:tr>
                <a:tr h="344313"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4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5"/>
                    </a:ext>
                  </a:extLst>
                </a:tr>
                <a:tr h="344313"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5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6"/>
                    </a:ext>
                  </a:extLst>
                </a:tr>
                <a:tr h="344313"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6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7"/>
                    </a:ext>
                  </a:extLst>
                </a:tr>
                <a:tr h="344313"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7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8"/>
                    </a:ext>
                  </a:extLst>
                </a:tr>
                <a:tr h="344313"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8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9"/>
                    </a:ext>
                  </a:extLst>
                </a:tr>
                <a:tr h="344313"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9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10"/>
                    </a:ext>
                  </a:extLst>
                </a:tr>
                <a:tr h="344313"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11"/>
                    </a:ext>
                  </a:extLst>
                </a:tr>
                <a:tr h="344313"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12"/>
                    </a:ext>
                  </a:extLst>
                </a:tr>
                <a:tr h="344313"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12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13"/>
                    </a:ext>
                  </a:extLst>
                </a:tr>
                <a:tr h="344313"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13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14"/>
                    </a:ext>
                  </a:extLst>
                </a:tr>
                <a:tr h="344313"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14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15"/>
                    </a:ext>
                  </a:extLst>
                </a:tr>
                <a:tr h="344313"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15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16"/>
                    </a:ext>
                  </a:extLst>
                </a:tr>
              </a:tbl>
            </a:graphicData>
          </a:graphic>
        </p:graphicFrame>
        <p:sp>
          <p:nvSpPr>
            <p:cNvPr id="759" name="4-bit unsigned:"/>
            <p:cNvSpPr txBox="1"/>
            <p:nvPr/>
          </p:nvSpPr>
          <p:spPr>
            <a:xfrm>
              <a:off x="-88206" y="-6351"/>
              <a:ext cx="2780309" cy="584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rPr lang="en-GB" noProof="0" dirty="0"/>
                <a:t>4-bit unsigned:</a:t>
              </a:r>
            </a:p>
          </p:txBody>
        </p:sp>
      </p:grpSp>
      <p:grpSp>
        <p:nvGrpSpPr>
          <p:cNvPr id="763" name="Group"/>
          <p:cNvGrpSpPr/>
          <p:nvPr/>
        </p:nvGrpSpPr>
        <p:grpSpPr>
          <a:xfrm>
            <a:off x="4507903" y="2258310"/>
            <a:ext cx="3988994" cy="6637269"/>
            <a:chOff x="-139899" y="-6351"/>
            <a:chExt cx="3988992" cy="6637267"/>
          </a:xfrm>
        </p:grpSpPr>
        <p:graphicFrame>
          <p:nvGraphicFramePr>
            <p:cNvPr id="761" name="Table 1-1"/>
            <p:cNvGraphicFramePr/>
            <p:nvPr>
              <p:extLst>
                <p:ext uri="{D42A27DB-BD31-4B8C-83A1-F6EECF244321}">
                  <p14:modId xmlns:p14="http://schemas.microsoft.com/office/powerpoint/2010/main" val="2079973650"/>
                </p:ext>
              </p:extLst>
            </p:nvPr>
          </p:nvGraphicFramePr>
          <p:xfrm>
            <a:off x="997475" y="777597"/>
            <a:ext cx="1714241" cy="5853319"/>
          </p:xfrm>
          <a:graphic>
            <a:graphicData uri="http://schemas.openxmlformats.org/drawingml/2006/table">
              <a:tbl>
                <a:tblPr firstRow="1">
                  <a:tableStyleId>{4A9BC294-FFE2-49D5-8D69-9E1BD2C41BD5}</a:tableStyleId>
                </a:tblPr>
                <a:tblGrid>
                  <a:gridCol w="22860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228600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228600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228600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  <a:gridCol w="799842">
                    <a:extLst>
                      <a:ext uri="{9D8B030D-6E8A-4147-A177-3AD203B41FA5}">
                        <a16:colId xmlns:a16="http://schemas.microsoft.com/office/drawing/2014/main" val="20004"/>
                      </a:ext>
                    </a:extLst>
                  </a:gridCol>
                </a:tblGrid>
                <a:tr h="344313">
                  <a:tc>
                    <a:txBody>
                      <a:bodyPr/>
                      <a:lstStyle/>
                      <a:p>
                        <a:pPr defTabSz="914400">
                          <a:tabLst>
                            <a:tab pos="1181100" algn="l"/>
                          </a:tabLst>
                          <a:defRPr sz="1800" b="0"/>
                        </a:pPr>
                        <a:r>
                          <a:rPr lang="en-GB" sz="1500" b="1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s</a:t>
                        </a:r>
                      </a:p>
                    </a:txBody>
                    <a:tcPr marL="50800" marR="50800" marT="50800" marB="5080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D6D5D5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tabLst>
                            <a:tab pos="1181100" algn="l"/>
                          </a:tabLst>
                          <a:defRPr sz="1800" b="0"/>
                        </a:pPr>
                        <a:r>
                          <a:rPr lang="en-GB" sz="1500" b="1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4</a:t>
                        </a:r>
                      </a:p>
                    </a:txBody>
                    <a:tcPr marL="50800" marR="50800" marT="50800" marB="5080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D6D5D5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tabLst>
                            <a:tab pos="1181100" algn="l"/>
                          </a:tabLst>
                          <a:defRPr sz="1800" b="0"/>
                        </a:pPr>
                        <a:r>
                          <a:rPr lang="en-GB" sz="1500" b="1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2</a:t>
                        </a:r>
                      </a:p>
                    </a:txBody>
                    <a:tcPr marL="50800" marR="50800" marT="50800" marB="5080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D6D5D5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tabLst>
                            <a:tab pos="1181100" algn="l"/>
                          </a:tabLst>
                          <a:defRPr sz="1800" b="0"/>
                        </a:pPr>
                        <a:r>
                          <a:rPr lang="en-GB" sz="1500" b="1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50800" marR="50800" marT="50800" marB="5080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D6D5D5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tabLst>
                            <a:tab pos="1181100" algn="l"/>
                          </a:tabLst>
                          <a:defRPr sz="1800" b="0"/>
                        </a:pPr>
                        <a:r>
                          <a:rPr lang="en-GB" sz="1500" b="1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value</a:t>
                        </a:r>
                      </a:p>
                    </a:txBody>
                    <a:tcPr marL="50800" marR="50800" marT="50800" marB="5080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D6D5D5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344313"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344313"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  <a:tr h="344313"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2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3"/>
                    </a:ext>
                  </a:extLst>
                </a:tr>
                <a:tr h="344313"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3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4"/>
                    </a:ext>
                  </a:extLst>
                </a:tr>
                <a:tr h="344313"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4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5"/>
                    </a:ext>
                  </a:extLst>
                </a:tr>
                <a:tr h="344313"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5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6"/>
                    </a:ext>
                  </a:extLst>
                </a:tr>
                <a:tr h="344313"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6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7"/>
                    </a:ext>
                  </a:extLst>
                </a:tr>
                <a:tr h="344313"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7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8"/>
                    </a:ext>
                  </a:extLst>
                </a:tr>
                <a:tr h="344313"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9"/>
                    </a:ext>
                  </a:extLst>
                </a:tr>
                <a:tr h="344313"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-1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10"/>
                    </a:ext>
                  </a:extLst>
                </a:tr>
                <a:tr h="344313"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-2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11"/>
                    </a:ext>
                  </a:extLst>
                </a:tr>
                <a:tr h="344313"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-3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12"/>
                    </a:ext>
                  </a:extLst>
                </a:tr>
                <a:tr h="344313"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-4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13"/>
                    </a:ext>
                  </a:extLst>
                </a:tr>
                <a:tr h="344313"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-5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14"/>
                    </a:ext>
                  </a:extLst>
                </a:tr>
                <a:tr h="344313"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-6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15"/>
                    </a:ext>
                  </a:extLst>
                </a:tr>
                <a:tr h="344313"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-7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16"/>
                    </a:ext>
                  </a:extLst>
                </a:tr>
              </a:tbl>
            </a:graphicData>
          </a:graphic>
        </p:graphicFrame>
        <p:sp>
          <p:nvSpPr>
            <p:cNvPr id="762" name="sign + 3-bit unsigned:"/>
            <p:cNvSpPr txBox="1"/>
            <p:nvPr/>
          </p:nvSpPr>
          <p:spPr>
            <a:xfrm>
              <a:off x="-139899" y="-6351"/>
              <a:ext cx="3988992" cy="584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rPr lang="en-GB" noProof="0" dirty="0"/>
                <a:t>sign + 3-bit unsigned:</a:t>
              </a:r>
            </a:p>
          </p:txBody>
        </p:sp>
      </p:grpSp>
      <p:grpSp>
        <p:nvGrpSpPr>
          <p:cNvPr id="766" name="Group"/>
          <p:cNvGrpSpPr/>
          <p:nvPr/>
        </p:nvGrpSpPr>
        <p:grpSpPr>
          <a:xfrm>
            <a:off x="8917646" y="2258310"/>
            <a:ext cx="3963990" cy="6637269"/>
            <a:chOff x="-146646" y="-6351"/>
            <a:chExt cx="3963989" cy="6637267"/>
          </a:xfrm>
        </p:grpSpPr>
        <p:graphicFrame>
          <p:nvGraphicFramePr>
            <p:cNvPr id="764" name="Table 1-1-1"/>
            <p:cNvGraphicFramePr/>
            <p:nvPr>
              <p:extLst>
                <p:ext uri="{D42A27DB-BD31-4B8C-83A1-F6EECF244321}">
                  <p14:modId xmlns:p14="http://schemas.microsoft.com/office/powerpoint/2010/main" val="3571436405"/>
                </p:ext>
              </p:extLst>
            </p:nvPr>
          </p:nvGraphicFramePr>
          <p:xfrm>
            <a:off x="978227" y="777597"/>
            <a:ext cx="1809492" cy="5853319"/>
          </p:xfrm>
          <a:graphic>
            <a:graphicData uri="http://schemas.openxmlformats.org/drawingml/2006/table">
              <a:tbl>
                <a:tblPr firstRow="1">
                  <a:tableStyleId>{4A9BC294-FFE2-49D5-8D69-9E1BD2C41BD5}</a:tableStyleId>
                </a:tblPr>
                <a:tblGrid>
                  <a:gridCol w="32385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228600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228600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228600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  <a:gridCol w="799842">
                    <a:extLst>
                      <a:ext uri="{9D8B030D-6E8A-4147-A177-3AD203B41FA5}">
                        <a16:colId xmlns:a16="http://schemas.microsoft.com/office/drawing/2014/main" val="20004"/>
                      </a:ext>
                    </a:extLst>
                  </a:gridCol>
                </a:tblGrid>
                <a:tr h="344313">
                  <a:tc>
                    <a:txBody>
                      <a:bodyPr/>
                      <a:lstStyle/>
                      <a:p>
                        <a:pPr defTabSz="914400">
                          <a:tabLst>
                            <a:tab pos="1181100" algn="l"/>
                          </a:tabLst>
                          <a:defRPr sz="1800" b="0"/>
                        </a:pPr>
                        <a:r>
                          <a:rPr lang="en-GB" sz="1500" b="1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-8</a:t>
                        </a:r>
                      </a:p>
                    </a:txBody>
                    <a:tcPr marL="50800" marR="50800" marT="50800" marB="5080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D6D5D5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tabLst>
                            <a:tab pos="1181100" algn="l"/>
                          </a:tabLst>
                          <a:defRPr sz="1800" b="0"/>
                        </a:pPr>
                        <a:r>
                          <a:rPr lang="en-GB" sz="1500" b="1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4</a:t>
                        </a:r>
                      </a:p>
                    </a:txBody>
                    <a:tcPr marL="50800" marR="50800" marT="50800" marB="5080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D6D5D5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tabLst>
                            <a:tab pos="1181100" algn="l"/>
                          </a:tabLst>
                          <a:defRPr sz="1800" b="0"/>
                        </a:pPr>
                        <a:r>
                          <a:rPr lang="en-GB" sz="1500" b="1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2</a:t>
                        </a:r>
                      </a:p>
                    </a:txBody>
                    <a:tcPr marL="50800" marR="50800" marT="50800" marB="5080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D6D5D5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tabLst>
                            <a:tab pos="1181100" algn="l"/>
                          </a:tabLst>
                          <a:defRPr sz="1800" b="0"/>
                        </a:pPr>
                        <a:r>
                          <a:rPr lang="en-GB" sz="1500" b="1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50800" marR="50800" marT="50800" marB="5080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D6D5D5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tabLst>
                            <a:tab pos="1181100" algn="l"/>
                          </a:tabLst>
                          <a:defRPr sz="1800" b="0"/>
                        </a:pPr>
                        <a:r>
                          <a:rPr lang="en-GB" sz="1500" b="1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value</a:t>
                        </a:r>
                      </a:p>
                    </a:txBody>
                    <a:tcPr marL="50800" marR="50800" marT="50800" marB="5080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D6D5D5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344313"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344313"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  <a:tr h="344313"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2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3"/>
                    </a:ext>
                  </a:extLst>
                </a:tr>
                <a:tr h="344313"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3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4"/>
                    </a:ext>
                  </a:extLst>
                </a:tr>
                <a:tr h="344313"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4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5"/>
                    </a:ext>
                  </a:extLst>
                </a:tr>
                <a:tr h="344313"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5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6"/>
                    </a:ext>
                  </a:extLst>
                </a:tr>
                <a:tr h="344313"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6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7"/>
                    </a:ext>
                  </a:extLst>
                </a:tr>
                <a:tr h="344313"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7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8"/>
                    </a:ext>
                  </a:extLst>
                </a:tr>
                <a:tr h="344313"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-8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9"/>
                    </a:ext>
                  </a:extLst>
                </a:tr>
                <a:tr h="344313"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-7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10"/>
                    </a:ext>
                  </a:extLst>
                </a:tr>
                <a:tr h="344313"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-6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11"/>
                    </a:ext>
                  </a:extLst>
                </a:tr>
                <a:tr h="344313"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-5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12"/>
                    </a:ext>
                  </a:extLst>
                </a:tr>
                <a:tr h="344313"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-4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13"/>
                    </a:ext>
                  </a:extLst>
                </a:tr>
                <a:tr h="344313"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-3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14"/>
                    </a:ext>
                  </a:extLst>
                </a:tr>
                <a:tr h="344313"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-2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15"/>
                    </a:ext>
                  </a:extLst>
                </a:tr>
                <a:tr h="344313"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-1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16"/>
                    </a:ext>
                  </a:extLst>
                </a:tr>
              </a:tbl>
            </a:graphicData>
          </a:graphic>
        </p:graphicFrame>
        <p:sp>
          <p:nvSpPr>
            <p:cNvPr id="765" name="4-bit 2's complement:"/>
            <p:cNvSpPr txBox="1"/>
            <p:nvPr/>
          </p:nvSpPr>
          <p:spPr>
            <a:xfrm>
              <a:off x="-146646" y="-6351"/>
              <a:ext cx="3963989" cy="584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rPr lang="en-GB" noProof="0" dirty="0"/>
                <a:t>4-bit 2's complement: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0" grpId="1" animBg="1" advAuto="0"/>
      <p:bldP spid="763" grpId="2" animBg="1" advAuto="0"/>
      <p:bldP spid="766" grpId="3" animBg="1" advAuto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F62566-8F62-A194-81C4-930625CC4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Aside: signed numbers">
            <a:extLst>
              <a:ext uri="{FF2B5EF4-FFF2-40B4-BE49-F238E27FC236}">
                <a16:creationId xmlns:a16="http://schemas.microsoft.com/office/drawing/2014/main" id="{6877CF23-45B2-3F20-263A-A4D0347B9B2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566674">
              <a:defRPr sz="7760"/>
            </a:lvl1pPr>
          </a:lstStyle>
          <a:p>
            <a:r>
              <a:rPr lang="en-GB" dirty="0"/>
              <a:t>Question?</a:t>
            </a:r>
            <a:endParaRPr lang="en-GB" noProof="0" dirty="0"/>
          </a:p>
        </p:txBody>
      </p:sp>
      <p:sp>
        <p:nvSpPr>
          <p:cNvPr id="757" name="Slide Number">
            <a:extLst>
              <a:ext uri="{FF2B5EF4-FFF2-40B4-BE49-F238E27FC236}">
                <a16:creationId xmlns:a16="http://schemas.microsoft.com/office/drawing/2014/main" id="{A26858A5-6B0A-551A-E836-D526EB90B43B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 lang="en-GB" noProof="0"/>
              <a:t>39</a:t>
            </a:fld>
            <a:endParaRPr lang="en-GB" noProof="0" dirty="0"/>
          </a:p>
        </p:txBody>
      </p:sp>
      <p:grpSp>
        <p:nvGrpSpPr>
          <p:cNvPr id="763" name="Group">
            <a:extLst>
              <a:ext uri="{FF2B5EF4-FFF2-40B4-BE49-F238E27FC236}">
                <a16:creationId xmlns:a16="http://schemas.microsoft.com/office/drawing/2014/main" id="{EFF1C625-C615-9652-391F-1A8A3377F8F6}"/>
              </a:ext>
            </a:extLst>
          </p:cNvPr>
          <p:cNvGrpSpPr/>
          <p:nvPr/>
        </p:nvGrpSpPr>
        <p:grpSpPr>
          <a:xfrm>
            <a:off x="4724529" y="2258310"/>
            <a:ext cx="3988994" cy="6637269"/>
            <a:chOff x="-139899" y="-6351"/>
            <a:chExt cx="3988992" cy="6637267"/>
          </a:xfrm>
        </p:grpSpPr>
        <p:graphicFrame>
          <p:nvGraphicFramePr>
            <p:cNvPr id="761" name="Table 1-1">
              <a:extLst>
                <a:ext uri="{FF2B5EF4-FFF2-40B4-BE49-F238E27FC236}">
                  <a16:creationId xmlns:a16="http://schemas.microsoft.com/office/drawing/2014/main" id="{84EDAE7B-BFCE-EC9D-F0C3-7A1D44580967}"/>
                </a:ext>
              </a:extLst>
            </p:cNvPr>
            <p:cNvGraphicFramePr/>
            <p:nvPr/>
          </p:nvGraphicFramePr>
          <p:xfrm>
            <a:off x="997475" y="777597"/>
            <a:ext cx="1714241" cy="5853319"/>
          </p:xfrm>
          <a:graphic>
            <a:graphicData uri="http://schemas.openxmlformats.org/drawingml/2006/table">
              <a:tbl>
                <a:tblPr firstRow="1">
                  <a:tableStyleId>{4A9BC294-FFE2-49D5-8D69-9E1BD2C41BD5}</a:tableStyleId>
                </a:tblPr>
                <a:tblGrid>
                  <a:gridCol w="22860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228600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228600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228600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  <a:gridCol w="799842">
                    <a:extLst>
                      <a:ext uri="{9D8B030D-6E8A-4147-A177-3AD203B41FA5}">
                        <a16:colId xmlns:a16="http://schemas.microsoft.com/office/drawing/2014/main" val="20004"/>
                      </a:ext>
                    </a:extLst>
                  </a:gridCol>
                </a:tblGrid>
                <a:tr h="344313">
                  <a:tc>
                    <a:txBody>
                      <a:bodyPr/>
                      <a:lstStyle/>
                      <a:p>
                        <a:pPr defTabSz="914400">
                          <a:tabLst>
                            <a:tab pos="1181100" algn="l"/>
                          </a:tabLst>
                          <a:defRPr sz="1800" b="0"/>
                        </a:pPr>
                        <a:r>
                          <a:rPr lang="en-GB" sz="1500" b="1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s</a:t>
                        </a:r>
                      </a:p>
                    </a:txBody>
                    <a:tcPr marL="50800" marR="50800" marT="50800" marB="5080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D6D5D5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tabLst>
                            <a:tab pos="1181100" algn="l"/>
                          </a:tabLst>
                          <a:defRPr sz="1800" b="0"/>
                        </a:pPr>
                        <a:r>
                          <a:rPr lang="en-GB" sz="1500" b="1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4</a:t>
                        </a:r>
                      </a:p>
                    </a:txBody>
                    <a:tcPr marL="50800" marR="50800" marT="50800" marB="5080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D6D5D5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tabLst>
                            <a:tab pos="1181100" algn="l"/>
                          </a:tabLst>
                          <a:defRPr sz="1800" b="0"/>
                        </a:pPr>
                        <a:r>
                          <a:rPr lang="en-GB" sz="1500" b="1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2</a:t>
                        </a:r>
                      </a:p>
                    </a:txBody>
                    <a:tcPr marL="50800" marR="50800" marT="50800" marB="5080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D6D5D5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tabLst>
                            <a:tab pos="1181100" algn="l"/>
                          </a:tabLst>
                          <a:defRPr sz="1800" b="0"/>
                        </a:pPr>
                        <a:r>
                          <a:rPr lang="en-GB" sz="1500" b="1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50800" marR="50800" marT="50800" marB="5080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D6D5D5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tabLst>
                            <a:tab pos="1181100" algn="l"/>
                          </a:tabLst>
                          <a:defRPr sz="1800" b="0"/>
                        </a:pPr>
                        <a:r>
                          <a:rPr lang="en-GB" sz="1500" b="1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value</a:t>
                        </a:r>
                      </a:p>
                    </a:txBody>
                    <a:tcPr marL="50800" marR="50800" marT="50800" marB="5080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D6D5D5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344313"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344313"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  <a:tr h="344313"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2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3"/>
                    </a:ext>
                  </a:extLst>
                </a:tr>
                <a:tr h="344313"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3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4"/>
                    </a:ext>
                  </a:extLst>
                </a:tr>
                <a:tr h="344313"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4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5"/>
                    </a:ext>
                  </a:extLst>
                </a:tr>
                <a:tr h="344313"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5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6"/>
                    </a:ext>
                  </a:extLst>
                </a:tr>
                <a:tr h="344313"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6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7"/>
                    </a:ext>
                  </a:extLst>
                </a:tr>
                <a:tr h="344313"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7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8"/>
                    </a:ext>
                  </a:extLst>
                </a:tr>
                <a:tr h="344313"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9"/>
                    </a:ext>
                  </a:extLst>
                </a:tr>
                <a:tr h="344313"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-1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10"/>
                    </a:ext>
                  </a:extLst>
                </a:tr>
                <a:tr h="344313"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-2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11"/>
                    </a:ext>
                  </a:extLst>
                </a:tr>
                <a:tr h="344313"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-3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12"/>
                    </a:ext>
                  </a:extLst>
                </a:tr>
                <a:tr h="344313"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-4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13"/>
                    </a:ext>
                  </a:extLst>
                </a:tr>
                <a:tr h="344313"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-5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14"/>
                    </a:ext>
                  </a:extLst>
                </a:tr>
                <a:tr h="344313"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-6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15"/>
                    </a:ext>
                  </a:extLst>
                </a:tr>
                <a:tr h="344313"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-7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16"/>
                    </a:ext>
                  </a:extLst>
                </a:tr>
              </a:tbl>
            </a:graphicData>
          </a:graphic>
        </p:graphicFrame>
        <p:sp>
          <p:nvSpPr>
            <p:cNvPr id="762" name="sign + 3-bit unsigned:">
              <a:extLst>
                <a:ext uri="{FF2B5EF4-FFF2-40B4-BE49-F238E27FC236}">
                  <a16:creationId xmlns:a16="http://schemas.microsoft.com/office/drawing/2014/main" id="{C55DEE19-C295-12F9-B12D-F9EFC1CE4149}"/>
                </a:ext>
              </a:extLst>
            </p:cNvPr>
            <p:cNvSpPr txBox="1"/>
            <p:nvPr/>
          </p:nvSpPr>
          <p:spPr>
            <a:xfrm>
              <a:off x="-139899" y="-6351"/>
              <a:ext cx="3988992" cy="584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rPr lang="en-GB" noProof="0" dirty="0"/>
                <a:t>sign + 3-bit unsigned:</a:t>
              </a:r>
            </a:p>
          </p:txBody>
        </p:sp>
      </p:grpSp>
      <p:grpSp>
        <p:nvGrpSpPr>
          <p:cNvPr id="766" name="Group">
            <a:extLst>
              <a:ext uri="{FF2B5EF4-FFF2-40B4-BE49-F238E27FC236}">
                <a16:creationId xmlns:a16="http://schemas.microsoft.com/office/drawing/2014/main" id="{664A7FFA-7ED5-86C1-C111-96D5C1739342}"/>
              </a:ext>
            </a:extLst>
          </p:cNvPr>
          <p:cNvGrpSpPr/>
          <p:nvPr/>
        </p:nvGrpSpPr>
        <p:grpSpPr>
          <a:xfrm>
            <a:off x="8917646" y="2258310"/>
            <a:ext cx="3963990" cy="6637269"/>
            <a:chOff x="-146646" y="-6351"/>
            <a:chExt cx="3963989" cy="6637267"/>
          </a:xfrm>
        </p:grpSpPr>
        <p:graphicFrame>
          <p:nvGraphicFramePr>
            <p:cNvPr id="764" name="Table 1-1-1">
              <a:extLst>
                <a:ext uri="{FF2B5EF4-FFF2-40B4-BE49-F238E27FC236}">
                  <a16:creationId xmlns:a16="http://schemas.microsoft.com/office/drawing/2014/main" id="{CEC769B6-D70F-0B85-7DC0-DDE3562B13CE}"/>
                </a:ext>
              </a:extLst>
            </p:cNvPr>
            <p:cNvGraphicFramePr/>
            <p:nvPr/>
          </p:nvGraphicFramePr>
          <p:xfrm>
            <a:off x="978227" y="777597"/>
            <a:ext cx="1809492" cy="5853319"/>
          </p:xfrm>
          <a:graphic>
            <a:graphicData uri="http://schemas.openxmlformats.org/drawingml/2006/table">
              <a:tbl>
                <a:tblPr firstRow="1">
                  <a:tableStyleId>{4A9BC294-FFE2-49D5-8D69-9E1BD2C41BD5}</a:tableStyleId>
                </a:tblPr>
                <a:tblGrid>
                  <a:gridCol w="32385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228600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228600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228600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  <a:gridCol w="799842">
                    <a:extLst>
                      <a:ext uri="{9D8B030D-6E8A-4147-A177-3AD203B41FA5}">
                        <a16:colId xmlns:a16="http://schemas.microsoft.com/office/drawing/2014/main" val="20004"/>
                      </a:ext>
                    </a:extLst>
                  </a:gridCol>
                </a:tblGrid>
                <a:tr h="344313">
                  <a:tc>
                    <a:txBody>
                      <a:bodyPr/>
                      <a:lstStyle/>
                      <a:p>
                        <a:pPr defTabSz="914400">
                          <a:tabLst>
                            <a:tab pos="1181100" algn="l"/>
                          </a:tabLst>
                          <a:defRPr sz="1800" b="0"/>
                        </a:pPr>
                        <a:r>
                          <a:rPr lang="en-GB" sz="1500" b="1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-8</a:t>
                        </a:r>
                      </a:p>
                    </a:txBody>
                    <a:tcPr marL="50800" marR="50800" marT="50800" marB="5080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D6D5D5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tabLst>
                            <a:tab pos="1181100" algn="l"/>
                          </a:tabLst>
                          <a:defRPr sz="1800" b="0"/>
                        </a:pPr>
                        <a:r>
                          <a:rPr lang="en-GB" sz="1500" b="1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4</a:t>
                        </a:r>
                      </a:p>
                    </a:txBody>
                    <a:tcPr marL="50800" marR="50800" marT="50800" marB="5080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D6D5D5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tabLst>
                            <a:tab pos="1181100" algn="l"/>
                          </a:tabLst>
                          <a:defRPr sz="1800" b="0"/>
                        </a:pPr>
                        <a:r>
                          <a:rPr lang="en-GB" sz="1500" b="1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2</a:t>
                        </a:r>
                      </a:p>
                    </a:txBody>
                    <a:tcPr marL="50800" marR="50800" marT="50800" marB="5080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D6D5D5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tabLst>
                            <a:tab pos="1181100" algn="l"/>
                          </a:tabLst>
                          <a:defRPr sz="1800" b="0"/>
                        </a:pPr>
                        <a:r>
                          <a:rPr lang="en-GB" sz="1500" b="1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50800" marR="50800" marT="50800" marB="5080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D6D5D5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defTabSz="914400">
                          <a:tabLst>
                            <a:tab pos="1181100" algn="l"/>
                          </a:tabLst>
                          <a:defRPr sz="1800" b="0"/>
                        </a:pPr>
                        <a:r>
                          <a:rPr lang="en-GB" sz="1500" b="1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value</a:t>
                        </a:r>
                      </a:p>
                    </a:txBody>
                    <a:tcPr marL="50800" marR="50800" marT="50800" marB="5080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D6D5D5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344313"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344313"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  <a:tr h="344313"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2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3"/>
                    </a:ext>
                  </a:extLst>
                </a:tr>
                <a:tr h="344313"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3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4"/>
                    </a:ext>
                  </a:extLst>
                </a:tr>
                <a:tr h="344313"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4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5"/>
                    </a:ext>
                  </a:extLst>
                </a:tr>
                <a:tr h="344313"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5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6"/>
                    </a:ext>
                  </a:extLst>
                </a:tr>
                <a:tr h="344313"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6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7"/>
                    </a:ext>
                  </a:extLst>
                </a:tr>
                <a:tr h="344313"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7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8"/>
                    </a:ext>
                  </a:extLst>
                </a:tr>
                <a:tr h="344313"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-8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9"/>
                    </a:ext>
                  </a:extLst>
                </a:tr>
                <a:tr h="344313"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-7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10"/>
                    </a:ext>
                  </a:extLst>
                </a:tr>
                <a:tr h="344313"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-6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11"/>
                    </a:ext>
                  </a:extLst>
                </a:tr>
                <a:tr h="344313"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-5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12"/>
                    </a:ext>
                  </a:extLst>
                </a:tr>
                <a:tr h="344313"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-4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13"/>
                    </a:ext>
                  </a:extLst>
                </a:tr>
                <a:tr h="344313"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-3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14"/>
                    </a:ext>
                  </a:extLst>
                </a:tr>
                <a:tr h="344313"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-2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15"/>
                    </a:ext>
                  </a:extLst>
                </a:tr>
                <a:tr h="344313"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spcBef>
                            <a:spcPts val="4200"/>
                          </a:spcBef>
                          <a:defRPr sz="1800"/>
                        </a:pPr>
                        <a:r>
                          <a:rPr lang="en-GB" noProof="0" dirty="0"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-1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FFFFFF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16"/>
                    </a:ext>
                  </a:extLst>
                </a:tr>
              </a:tbl>
            </a:graphicData>
          </a:graphic>
        </p:graphicFrame>
        <p:sp>
          <p:nvSpPr>
            <p:cNvPr id="765" name="4-bit 2's complement:">
              <a:extLst>
                <a:ext uri="{FF2B5EF4-FFF2-40B4-BE49-F238E27FC236}">
                  <a16:creationId xmlns:a16="http://schemas.microsoft.com/office/drawing/2014/main" id="{8D741E7A-8F53-0F4E-3223-CF1050D4F717}"/>
                </a:ext>
              </a:extLst>
            </p:cNvPr>
            <p:cNvSpPr txBox="1"/>
            <p:nvPr/>
          </p:nvSpPr>
          <p:spPr>
            <a:xfrm>
              <a:off x="-146646" y="-6351"/>
              <a:ext cx="3963989" cy="584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rPr lang="en-GB" noProof="0" dirty="0"/>
                <a:t>4-bit 2's complement: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F51779B6-543D-53D4-9569-81112141051A}"/>
              </a:ext>
            </a:extLst>
          </p:cNvPr>
          <p:cNvSpPr txBox="1"/>
          <p:nvPr/>
        </p:nvSpPr>
        <p:spPr>
          <a:xfrm>
            <a:off x="0" y="5331170"/>
            <a:ext cx="5714947" cy="15799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514350" marR="0" indent="-51435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</a:pPr>
            <a:r>
              <a:rPr kumimoji="0" lang="en-GB" sz="3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Why do we usually prefer 2’s complement?</a:t>
            </a:r>
          </a:p>
          <a:p>
            <a:pPr marL="514350" marR="0" indent="-51435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</a:pPr>
            <a:r>
              <a:rPr kumimoji="0" lang="en-GB" sz="3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Why can’t we represent +8?</a:t>
            </a:r>
          </a:p>
        </p:txBody>
      </p:sp>
    </p:spTree>
    <p:extLst>
      <p:ext uri="{BB962C8B-B14F-4D97-AF65-F5344CB8AC3E}">
        <p14:creationId xmlns:p14="http://schemas.microsoft.com/office/powerpoint/2010/main" val="3497837507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3" grpId="0" animBg="1" advAuto="0"/>
      <p:bldP spid="766" grpId="0" animBg="1" advAuto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Bus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noProof="0" dirty="0"/>
              <a:t>Buses</a:t>
            </a:r>
          </a:p>
        </p:txBody>
      </p:sp>
      <p:sp>
        <p:nvSpPr>
          <p:cNvPr id="769" name="Concatenate wires into a bus using {...} syntax. E.g.:   input [15:0] x;   output [15:0] y;   assign y = { x[7:0], x[15:8] };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noProof="0" dirty="0"/>
              <a:t>Concatenate wires into a </a:t>
            </a:r>
            <a:r>
              <a:rPr lang="en-GB" b="1" noProof="0" dirty="0"/>
              <a:t>bus</a:t>
            </a:r>
            <a:r>
              <a:rPr lang="en-GB" noProof="0" dirty="0"/>
              <a:t> using </a:t>
            </a:r>
            <a:r>
              <a:rPr lang="en-GB" noProof="0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{...}</a:t>
            </a:r>
            <a:r>
              <a:rPr lang="en-GB" noProof="0" dirty="0"/>
              <a:t> syntax. E.g.:</a:t>
            </a:r>
            <a:br>
              <a:rPr lang="en-GB" noProof="0" dirty="0"/>
            </a:br>
            <a:r>
              <a:rPr lang="en-GB" noProof="0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</a:t>
            </a:r>
            <a:r>
              <a:rPr lang="en-GB" b="1" noProof="0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input  logic</a:t>
            </a:r>
            <a:r>
              <a:rPr lang="en-GB" noProof="0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[15:0] x;</a:t>
            </a:r>
            <a:br>
              <a:rPr lang="en-GB" noProof="0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</a:br>
            <a:r>
              <a:rPr lang="en-GB" noProof="0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</a:t>
            </a:r>
            <a:r>
              <a:rPr lang="en-GB" b="1" noProof="0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output</a:t>
            </a:r>
            <a:r>
              <a:rPr lang="en-GB" noProof="0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</a:t>
            </a:r>
            <a:r>
              <a:rPr lang="en-GB" b="1" noProof="0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logic</a:t>
            </a:r>
            <a:r>
              <a:rPr lang="en-GB" noProof="0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[15:0] y;</a:t>
            </a:r>
            <a:br>
              <a:rPr lang="en-GB" noProof="0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</a:br>
            <a:r>
              <a:rPr lang="en-GB" noProof="0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</a:t>
            </a:r>
            <a:r>
              <a:rPr lang="en-GB" b="1" noProof="0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assign</a:t>
            </a:r>
            <a:r>
              <a:rPr lang="en-GB" noProof="0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y = { x[7:0], x[15:8] };</a:t>
            </a:r>
          </a:p>
          <a:p>
            <a:r>
              <a:rPr lang="en-GB" noProof="0" dirty="0"/>
              <a:t>An 8-bit multiplexer:</a:t>
            </a:r>
          </a:p>
        </p:txBody>
      </p:sp>
      <p:sp>
        <p:nvSpPr>
          <p:cNvPr id="77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 lang="en-GB" noProof="0"/>
              <a:t>40</a:t>
            </a:fld>
            <a:endParaRPr lang="en-GB" noProof="0" dirty="0"/>
          </a:p>
        </p:txBody>
      </p:sp>
      <p:pic>
        <p:nvPicPr>
          <p:cNvPr id="771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525" y="6112538"/>
            <a:ext cx="4779741" cy="3105209"/>
          </a:xfrm>
          <a:prstGeom prst="rect">
            <a:avLst/>
          </a:prstGeom>
          <a:ln w="12700">
            <a:miter lim="400000"/>
          </a:ln>
        </p:spPr>
      </p:pic>
      <p:sp>
        <p:nvSpPr>
          <p:cNvPr id="772" name="module mux2to1 (out, outbar,…"/>
          <p:cNvSpPr txBox="1"/>
          <p:nvPr/>
        </p:nvSpPr>
        <p:spPr>
          <a:xfrm>
            <a:off x="6515412" y="5052504"/>
            <a:ext cx="6185989" cy="4165243"/>
          </a:xfrm>
          <a:prstGeom prst="rect">
            <a:avLst/>
          </a:prstGeom>
          <a:solidFill>
            <a:srgbClr val="E9E6B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2025" b="1">
                <a:solidFill>
                  <a:srgbClr val="EC008C"/>
                </a:solidFill>
                <a:latin typeface="Courier New"/>
                <a:ea typeface="Courier New"/>
                <a:cs typeface="Courier New"/>
              </a:defRPr>
            </a:pPr>
            <a:r>
              <a:rPr lang="en-GB" sz="2400" b="1" dirty="0">
                <a:solidFill>
                  <a:srgbClr val="EC008C"/>
                </a:solidFill>
                <a:latin typeface="Courier New"/>
                <a:ea typeface="Courier New"/>
                <a:cs typeface="Courier New"/>
              </a:rPr>
              <a:t>module mux2to1 (</a:t>
            </a:r>
          </a:p>
          <a:p>
            <a:pPr algn="l">
              <a:defRPr sz="2025" b="1">
                <a:solidFill>
                  <a:srgbClr val="EC008C"/>
                </a:solidFill>
                <a:latin typeface="Courier New"/>
                <a:ea typeface="Courier New"/>
                <a:cs typeface="Courier New"/>
              </a:defRPr>
            </a:pPr>
            <a:r>
              <a:rPr lang="en-GB" sz="2400" b="1" dirty="0">
                <a:solidFill>
                  <a:srgbClr val="EC008C"/>
                </a:solidFill>
                <a:latin typeface="Courier New"/>
                <a:ea typeface="Courier New"/>
                <a:cs typeface="Courier New"/>
              </a:rPr>
              <a:t>  input  logic [7:0] a, b,</a:t>
            </a:r>
          </a:p>
          <a:p>
            <a:pPr algn="l">
              <a:defRPr sz="2025" b="1">
                <a:solidFill>
                  <a:srgbClr val="EC008C"/>
                </a:solidFill>
                <a:latin typeface="Courier New"/>
                <a:ea typeface="Courier New"/>
                <a:cs typeface="Courier New"/>
              </a:defRPr>
            </a:pPr>
            <a:r>
              <a:rPr lang="en-GB" sz="2400" b="1" dirty="0">
                <a:solidFill>
                  <a:srgbClr val="EC008C"/>
                </a:solidFill>
                <a:latin typeface="Courier New"/>
                <a:ea typeface="Courier New"/>
                <a:cs typeface="Courier New"/>
              </a:rPr>
              <a:t>  input  logic </a:t>
            </a:r>
            <a:r>
              <a:rPr lang="en-GB" sz="2400" b="1" dirty="0" err="1">
                <a:solidFill>
                  <a:srgbClr val="EC008C"/>
                </a:solidFill>
                <a:latin typeface="Courier New"/>
                <a:ea typeface="Courier New"/>
                <a:cs typeface="Courier New"/>
              </a:rPr>
              <a:t>sel</a:t>
            </a:r>
            <a:r>
              <a:rPr lang="en-GB" sz="2400" b="1" dirty="0">
                <a:solidFill>
                  <a:srgbClr val="EC008C"/>
                </a:solidFill>
                <a:latin typeface="Courier New"/>
                <a:ea typeface="Courier New"/>
                <a:cs typeface="Courier New"/>
              </a:rPr>
              <a:t>,</a:t>
            </a:r>
          </a:p>
          <a:p>
            <a:pPr algn="l">
              <a:defRPr sz="2025" b="1">
                <a:solidFill>
                  <a:srgbClr val="EC008C"/>
                </a:solidFill>
                <a:latin typeface="Courier New"/>
                <a:ea typeface="Courier New"/>
                <a:cs typeface="Courier New"/>
              </a:defRPr>
            </a:pPr>
            <a:r>
              <a:rPr lang="en-GB" sz="2400" b="1" dirty="0">
                <a:solidFill>
                  <a:srgbClr val="EC008C"/>
                </a:solidFill>
                <a:latin typeface="Courier New"/>
                <a:ea typeface="Courier New"/>
                <a:cs typeface="Courier New"/>
              </a:rPr>
              <a:t>  output logic [7:0] out, outbar</a:t>
            </a:r>
          </a:p>
          <a:p>
            <a:pPr algn="l">
              <a:defRPr sz="2025" b="1">
                <a:solidFill>
                  <a:srgbClr val="EC008C"/>
                </a:solidFill>
                <a:latin typeface="Courier New"/>
                <a:ea typeface="Courier New"/>
                <a:cs typeface="Courier New"/>
              </a:defRPr>
            </a:pPr>
            <a:r>
              <a:rPr lang="en-GB" sz="2400" b="1" dirty="0">
                <a:solidFill>
                  <a:srgbClr val="EC008C"/>
                </a:solidFill>
                <a:latin typeface="Courier New"/>
                <a:ea typeface="Courier New"/>
                <a:cs typeface="Courier New"/>
              </a:rPr>
              <a:t>);</a:t>
            </a:r>
          </a:p>
          <a:p>
            <a:pPr algn="l">
              <a:defRPr sz="2025" b="1">
                <a:solidFill>
                  <a:srgbClr val="EC008C"/>
                </a:solidFill>
                <a:latin typeface="Courier New"/>
                <a:ea typeface="Courier New"/>
                <a:cs typeface="Courier New"/>
              </a:defRPr>
            </a:pPr>
            <a:r>
              <a:rPr lang="en-GB" sz="2400" b="1" dirty="0">
                <a:solidFill>
                  <a:srgbClr val="EC008C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lang="en-GB" sz="2400" b="1" dirty="0" err="1">
                <a:solidFill>
                  <a:srgbClr val="EC008C"/>
                </a:solidFill>
                <a:latin typeface="Courier New"/>
                <a:ea typeface="Courier New"/>
                <a:cs typeface="Courier New"/>
              </a:rPr>
              <a:t>always_comb</a:t>
            </a:r>
            <a:r>
              <a:rPr lang="en-GB" sz="2400" b="1" dirty="0">
                <a:solidFill>
                  <a:srgbClr val="EC008C"/>
                </a:solidFill>
                <a:latin typeface="Courier New"/>
                <a:ea typeface="Courier New"/>
                <a:cs typeface="Courier New"/>
              </a:rPr>
              <a:t> begin</a:t>
            </a:r>
          </a:p>
          <a:p>
            <a:pPr algn="l">
              <a:defRPr sz="2025" b="1">
                <a:solidFill>
                  <a:srgbClr val="EC008C"/>
                </a:solidFill>
                <a:latin typeface="Courier New"/>
                <a:ea typeface="Courier New"/>
                <a:cs typeface="Courier New"/>
              </a:defRPr>
            </a:pPr>
            <a:r>
              <a:rPr lang="en-GB" sz="2400" b="1" dirty="0">
                <a:solidFill>
                  <a:srgbClr val="EC008C"/>
                </a:solidFill>
                <a:latin typeface="Courier New"/>
                <a:ea typeface="Courier New"/>
                <a:cs typeface="Courier New"/>
              </a:rPr>
              <a:t>    if (</a:t>
            </a:r>
            <a:r>
              <a:rPr lang="en-GB" sz="2400" b="1" dirty="0" err="1">
                <a:solidFill>
                  <a:srgbClr val="EC008C"/>
                </a:solidFill>
                <a:latin typeface="Courier New"/>
                <a:ea typeface="Courier New"/>
                <a:cs typeface="Courier New"/>
              </a:rPr>
              <a:t>sel</a:t>
            </a:r>
            <a:r>
              <a:rPr lang="en-GB" sz="2400" b="1" dirty="0">
                <a:solidFill>
                  <a:srgbClr val="EC008C"/>
                </a:solidFill>
                <a:latin typeface="Courier New"/>
                <a:ea typeface="Courier New"/>
                <a:cs typeface="Courier New"/>
              </a:rPr>
              <a:t>) out = a;</a:t>
            </a:r>
          </a:p>
          <a:p>
            <a:pPr algn="l">
              <a:defRPr sz="2025" b="1">
                <a:solidFill>
                  <a:srgbClr val="EC008C"/>
                </a:solidFill>
                <a:latin typeface="Courier New"/>
                <a:ea typeface="Courier New"/>
                <a:cs typeface="Courier New"/>
              </a:defRPr>
            </a:pPr>
            <a:r>
              <a:rPr lang="en-GB" sz="2400" b="1" dirty="0">
                <a:solidFill>
                  <a:srgbClr val="EC008C"/>
                </a:solidFill>
                <a:latin typeface="Courier New"/>
                <a:ea typeface="Courier New"/>
                <a:cs typeface="Courier New"/>
              </a:rPr>
              <a:t>    else     out = b;</a:t>
            </a:r>
          </a:p>
          <a:p>
            <a:pPr algn="l">
              <a:defRPr sz="2025" b="1">
                <a:solidFill>
                  <a:srgbClr val="EC008C"/>
                </a:solidFill>
                <a:latin typeface="Courier New"/>
                <a:ea typeface="Courier New"/>
                <a:cs typeface="Courier New"/>
              </a:defRPr>
            </a:pPr>
            <a:r>
              <a:rPr lang="en-GB" sz="2400" b="1" dirty="0">
                <a:solidFill>
                  <a:srgbClr val="EC008C"/>
                </a:solidFill>
                <a:latin typeface="Courier New"/>
                <a:ea typeface="Courier New"/>
                <a:cs typeface="Courier New"/>
              </a:rPr>
              <a:t>  end</a:t>
            </a:r>
          </a:p>
          <a:p>
            <a:pPr algn="l">
              <a:defRPr sz="2025" b="1">
                <a:solidFill>
                  <a:srgbClr val="EC008C"/>
                </a:solidFill>
                <a:latin typeface="Courier New"/>
                <a:ea typeface="Courier New"/>
                <a:cs typeface="Courier New"/>
              </a:defRPr>
            </a:pPr>
            <a:r>
              <a:rPr lang="en-GB" sz="2400" b="1" dirty="0">
                <a:solidFill>
                  <a:srgbClr val="EC008C"/>
                </a:solidFill>
                <a:latin typeface="Courier New"/>
                <a:ea typeface="Courier New"/>
                <a:cs typeface="Courier New"/>
              </a:rPr>
              <a:t>  assign outbar = ~out;</a:t>
            </a:r>
          </a:p>
          <a:p>
            <a:pPr algn="l">
              <a:defRPr sz="2025" b="1">
                <a:solidFill>
                  <a:srgbClr val="EC008C"/>
                </a:solidFill>
                <a:latin typeface="Courier New"/>
                <a:ea typeface="Courier New"/>
                <a:cs typeface="Courier New"/>
              </a:defRPr>
            </a:pPr>
            <a:r>
              <a:rPr lang="en-GB" sz="2400" b="1" dirty="0" err="1">
                <a:solidFill>
                  <a:srgbClr val="EC008C"/>
                </a:solidFill>
                <a:latin typeface="Courier New"/>
                <a:ea typeface="Courier New"/>
                <a:cs typeface="Courier New"/>
              </a:rPr>
              <a:t>endmodule</a:t>
            </a:r>
            <a:endParaRPr lang="en-GB" sz="2400" b="1" dirty="0">
              <a:solidFill>
                <a:srgbClr val="EC008C"/>
              </a:solidFill>
              <a:latin typeface="Courier New"/>
              <a:ea typeface="Courier New"/>
              <a:cs typeface="Courier New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76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7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7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9" grpId="1" build="p" bldLvl="5" animBg="1" advAuto="0"/>
      <p:bldP spid="771" grpId="2" animBg="1" advAuto="0"/>
      <p:bldP spid="772" grpId="3" animBg="1" advAuto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Case statement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noProof="0" dirty="0"/>
              <a:t>Case statements</a:t>
            </a:r>
          </a:p>
        </p:txBody>
      </p:sp>
      <p:sp>
        <p:nvSpPr>
          <p:cNvPr id="77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 lang="en-GB" noProof="0"/>
              <a:t>41</a:t>
            </a:fld>
            <a:endParaRPr lang="en-GB" noProof="0" dirty="0"/>
          </a:p>
        </p:txBody>
      </p:sp>
      <p:sp>
        <p:nvSpPr>
          <p:cNvPr id="779" name="always @ (a or b or sel)…"/>
          <p:cNvSpPr txBox="1"/>
          <p:nvPr/>
        </p:nvSpPr>
        <p:spPr>
          <a:xfrm>
            <a:off x="1448156" y="5252151"/>
            <a:ext cx="3452868" cy="1518364"/>
          </a:xfrm>
          <a:prstGeom prst="rect">
            <a:avLst/>
          </a:prstGeom>
          <a:solidFill>
            <a:srgbClr val="E9E6B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2300"/>
            </a:pPr>
            <a:r>
              <a:rPr lang="en-GB" b="1" noProof="0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always_comb</a:t>
            </a:r>
            <a:r>
              <a:rPr lang="en-GB" b="1" noProof="0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begin</a:t>
            </a:r>
            <a:endParaRPr lang="en-GB" noProof="0" dirty="0">
              <a:solidFill>
                <a:schemeClr val="accent6">
                  <a:satOff val="-15808"/>
                  <a:lumOff val="-17557"/>
                </a:schemeClr>
              </a:solidFill>
              <a:latin typeface="Courier"/>
              <a:ea typeface="Courier"/>
              <a:cs typeface="Courier"/>
              <a:sym typeface="Courier"/>
            </a:endParaRPr>
          </a:p>
          <a:p>
            <a:pPr algn="l">
              <a:defRPr sz="2300"/>
            </a:pPr>
            <a:r>
              <a:rPr lang="en-GB" noProof="0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</a:t>
            </a:r>
            <a:r>
              <a:rPr lang="en-GB" b="1" noProof="0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if</a:t>
            </a:r>
            <a:r>
              <a:rPr lang="en-GB" noProof="0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(</a:t>
            </a:r>
            <a:r>
              <a:rPr lang="en-GB" noProof="0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sel</a:t>
            </a:r>
            <a:r>
              <a:rPr lang="en-GB" noProof="0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) out = a;</a:t>
            </a:r>
          </a:p>
          <a:p>
            <a:pPr algn="l">
              <a:defRPr sz="2300"/>
            </a:pPr>
            <a:r>
              <a:rPr lang="en-GB" noProof="0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</a:t>
            </a:r>
            <a:r>
              <a:rPr lang="en-GB" b="1" noProof="0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else</a:t>
            </a:r>
            <a:r>
              <a:rPr lang="en-GB" noProof="0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out = b;</a:t>
            </a:r>
          </a:p>
          <a:p>
            <a:pPr algn="l">
              <a:defRPr sz="2300"/>
            </a:pPr>
            <a:r>
              <a:rPr lang="en-GB" b="1" noProof="0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end</a:t>
            </a:r>
          </a:p>
        </p:txBody>
      </p:sp>
      <p:sp>
        <p:nvSpPr>
          <p:cNvPr id="780" name="always @ (a or b or sel)…"/>
          <p:cNvSpPr txBox="1"/>
          <p:nvPr/>
        </p:nvSpPr>
        <p:spPr>
          <a:xfrm>
            <a:off x="7133472" y="4967870"/>
            <a:ext cx="3276538" cy="2226250"/>
          </a:xfrm>
          <a:prstGeom prst="rect">
            <a:avLst/>
          </a:prstGeom>
          <a:solidFill>
            <a:srgbClr val="E9E6B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2300"/>
            </a:pPr>
            <a:r>
              <a:rPr lang="en-GB" b="1" noProof="0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always_comb</a:t>
            </a:r>
            <a:r>
              <a:rPr lang="en-GB" b="1" noProof="0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begin</a:t>
            </a:r>
          </a:p>
          <a:p>
            <a:pPr algn="l">
              <a:defRPr sz="2300"/>
            </a:pPr>
            <a:r>
              <a:rPr lang="en-GB" b="1" noProof="0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case</a:t>
            </a:r>
            <a:r>
              <a:rPr lang="en-GB" noProof="0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(</a:t>
            </a:r>
            <a:r>
              <a:rPr lang="en-GB" noProof="0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sel</a:t>
            </a:r>
            <a:r>
              <a:rPr lang="en-GB" noProof="0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)</a:t>
            </a:r>
          </a:p>
          <a:p>
            <a:pPr algn="l">
              <a:defRPr sz="2300"/>
            </a:pPr>
            <a:r>
              <a:rPr lang="en-GB" noProof="0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1'b0: out = b;</a:t>
            </a:r>
          </a:p>
          <a:p>
            <a:pPr algn="l">
              <a:defRPr sz="2300"/>
            </a:pPr>
            <a:r>
              <a:rPr lang="en-GB" noProof="0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1'b1: out = a;</a:t>
            </a:r>
          </a:p>
          <a:p>
            <a:pPr algn="l">
              <a:defRPr sz="2300"/>
            </a:pPr>
            <a:r>
              <a:rPr lang="en-GB" noProof="0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</a:t>
            </a:r>
            <a:r>
              <a:rPr lang="en-GB" b="1" noProof="0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endcase</a:t>
            </a:r>
            <a:endParaRPr lang="en-GB" noProof="0" dirty="0">
              <a:solidFill>
                <a:schemeClr val="accent6">
                  <a:satOff val="-15808"/>
                  <a:lumOff val="-17557"/>
                </a:schemeClr>
              </a:solidFill>
              <a:latin typeface="Courier"/>
              <a:ea typeface="Courier"/>
              <a:cs typeface="Courier"/>
              <a:sym typeface="Courier"/>
            </a:endParaRPr>
          </a:p>
          <a:p>
            <a:pPr algn="l">
              <a:defRPr sz="2300"/>
            </a:pPr>
            <a:r>
              <a:rPr lang="en-GB" b="1" noProof="0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end</a:t>
            </a:r>
          </a:p>
        </p:txBody>
      </p:sp>
      <p:sp>
        <p:nvSpPr>
          <p:cNvPr id="781" name="Arrow"/>
          <p:cNvSpPr/>
          <p:nvPr/>
        </p:nvSpPr>
        <p:spPr>
          <a:xfrm>
            <a:off x="5871328" y="5586547"/>
            <a:ext cx="1262144" cy="1210882"/>
          </a:xfrm>
          <a:prstGeom prst="rightArrow">
            <a:avLst>
              <a:gd name="adj1" fmla="val 32000"/>
              <a:gd name="adj2" fmla="val 67125"/>
            </a:avLst>
          </a:prstGeom>
          <a:solidFill>
            <a:srgbClr val="6E8627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 lang="en-GB" noProof="0" dirty="0"/>
          </a:p>
        </p:txBody>
      </p:sp>
    </p:spTree>
  </p:cSld>
  <p:clrMapOvr>
    <a:masterClrMapping/>
  </p:clrMapOvr>
  <p:transition spd="med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Putting it all together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noProof="0" dirty="0"/>
              <a:t>Putting it all together</a:t>
            </a:r>
          </a:p>
        </p:txBody>
      </p:sp>
      <p:sp>
        <p:nvSpPr>
          <p:cNvPr id="78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 lang="en-GB" noProof="0"/>
              <a:t>42</a:t>
            </a:fld>
            <a:endParaRPr lang="en-GB" noProof="0" dirty="0"/>
          </a:p>
        </p:txBody>
      </p:sp>
    </p:spTree>
  </p:cSld>
  <p:clrMapOvr>
    <a:masterClrMapping/>
  </p:clrMapOvr>
  <p:transition spd="med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7-seg decoder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noProof="0" dirty="0"/>
              <a:t>7-seg decoder</a:t>
            </a:r>
          </a:p>
        </p:txBody>
      </p:sp>
      <p:sp>
        <p:nvSpPr>
          <p:cNvPr id="78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 lang="en-GB" noProof="0"/>
              <a:t>43</a:t>
            </a:fld>
            <a:endParaRPr lang="en-GB" noProof="0" dirty="0"/>
          </a:p>
        </p:txBody>
      </p:sp>
      <p:pic>
        <p:nvPicPr>
          <p:cNvPr id="788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2436283"/>
            <a:ext cx="4755329" cy="1571144"/>
          </a:xfrm>
          <a:prstGeom prst="rect">
            <a:avLst/>
          </a:prstGeom>
          <a:ln w="12700">
            <a:miter lim="400000"/>
          </a:ln>
        </p:spPr>
      </p:pic>
      <p:pic>
        <p:nvPicPr>
          <p:cNvPr id="789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7766" y="2476500"/>
            <a:ext cx="6995936" cy="354866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792" name="Group"/>
          <p:cNvGrpSpPr/>
          <p:nvPr/>
        </p:nvGrpSpPr>
        <p:grpSpPr>
          <a:xfrm>
            <a:off x="683683" y="5010150"/>
            <a:ext cx="4873863" cy="2693016"/>
            <a:chOff x="0" y="0"/>
            <a:chExt cx="4873861" cy="2693015"/>
          </a:xfrm>
        </p:grpSpPr>
        <p:pic>
          <p:nvPicPr>
            <p:cNvPr id="790" name="Image" descr="Image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0"/>
              <a:ext cx="4873862" cy="269301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791" name="Rectangle"/>
            <p:cNvSpPr/>
            <p:nvPr/>
          </p:nvSpPr>
          <p:spPr>
            <a:xfrm>
              <a:off x="1263769" y="813107"/>
              <a:ext cx="3504573" cy="1798083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 lang="en-GB" noProof="0" dirty="0"/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8" grpId="1" animBg="1" advAuto="0"/>
      <p:bldP spid="789" grpId="2" animBg="1" advAuto="0"/>
      <p:bldP spid="792" grpId="3" animBg="1" advAuto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7-seg decoder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noProof="0" dirty="0"/>
              <a:t>7-seg decoder</a:t>
            </a:r>
          </a:p>
        </p:txBody>
      </p:sp>
      <p:sp>
        <p:nvSpPr>
          <p:cNvPr id="79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 lang="en-GB" noProof="0"/>
              <a:t>44</a:t>
            </a:fld>
            <a:endParaRPr lang="en-GB" noProof="0" dirty="0"/>
          </a:p>
        </p:txBody>
      </p:sp>
      <p:pic>
        <p:nvPicPr>
          <p:cNvPr id="796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2436283"/>
            <a:ext cx="4755329" cy="1571144"/>
          </a:xfrm>
          <a:prstGeom prst="rect">
            <a:avLst/>
          </a:prstGeom>
          <a:ln w="12700">
            <a:miter lim="400000"/>
          </a:ln>
        </p:spPr>
      </p:pic>
      <p:pic>
        <p:nvPicPr>
          <p:cNvPr id="797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7766" y="2476500"/>
            <a:ext cx="6995936" cy="3548663"/>
          </a:xfrm>
          <a:prstGeom prst="rect">
            <a:avLst/>
          </a:prstGeom>
          <a:ln w="12700">
            <a:miter lim="400000"/>
          </a:ln>
        </p:spPr>
      </p:pic>
      <p:pic>
        <p:nvPicPr>
          <p:cNvPr id="798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682" y="4381827"/>
            <a:ext cx="4873863" cy="2693016"/>
          </a:xfrm>
          <a:prstGeom prst="rect">
            <a:avLst/>
          </a:prstGeom>
          <a:ln w="12700">
            <a:miter lim="400000"/>
          </a:ln>
        </p:spPr>
      </p:pic>
      <p:sp>
        <p:nvSpPr>
          <p:cNvPr id="799" name="Rounded Rectangle"/>
          <p:cNvSpPr/>
          <p:nvPr/>
        </p:nvSpPr>
        <p:spPr>
          <a:xfrm>
            <a:off x="1969888" y="5171211"/>
            <a:ext cx="820077" cy="9441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225" y="0"/>
                </a:moveTo>
                <a:lnTo>
                  <a:pt x="6375" y="0"/>
                </a:lnTo>
                <a:cubicBezTo>
                  <a:pt x="4505" y="0"/>
                  <a:pt x="3382" y="0"/>
                  <a:pt x="2634" y="271"/>
                </a:cubicBezTo>
                <a:cubicBezTo>
                  <a:pt x="1555" y="612"/>
                  <a:pt x="705" y="1351"/>
                  <a:pt x="312" y="2288"/>
                </a:cubicBezTo>
                <a:cubicBezTo>
                  <a:pt x="0" y="2938"/>
                  <a:pt x="0" y="3913"/>
                  <a:pt x="0" y="5538"/>
                </a:cubicBezTo>
                <a:lnTo>
                  <a:pt x="0" y="16062"/>
                </a:lnTo>
                <a:cubicBezTo>
                  <a:pt x="0" y="17687"/>
                  <a:pt x="0" y="18662"/>
                  <a:pt x="312" y="19312"/>
                </a:cubicBezTo>
                <a:cubicBezTo>
                  <a:pt x="705" y="20249"/>
                  <a:pt x="1555" y="20988"/>
                  <a:pt x="2634" y="21329"/>
                </a:cubicBezTo>
                <a:cubicBezTo>
                  <a:pt x="3382" y="21600"/>
                  <a:pt x="4505" y="21600"/>
                  <a:pt x="6375" y="21600"/>
                </a:cubicBezTo>
                <a:lnTo>
                  <a:pt x="15225" y="21600"/>
                </a:lnTo>
                <a:cubicBezTo>
                  <a:pt x="17095" y="21600"/>
                  <a:pt x="18218" y="21600"/>
                  <a:pt x="18966" y="21329"/>
                </a:cubicBezTo>
                <a:cubicBezTo>
                  <a:pt x="20045" y="20988"/>
                  <a:pt x="20895" y="20249"/>
                  <a:pt x="21288" y="19312"/>
                </a:cubicBezTo>
                <a:cubicBezTo>
                  <a:pt x="21600" y="18662"/>
                  <a:pt x="21600" y="17687"/>
                  <a:pt x="21600" y="16062"/>
                </a:cubicBezTo>
                <a:lnTo>
                  <a:pt x="21600" y="5538"/>
                </a:lnTo>
                <a:cubicBezTo>
                  <a:pt x="21600" y="3913"/>
                  <a:pt x="21600" y="2938"/>
                  <a:pt x="21288" y="2288"/>
                </a:cubicBezTo>
                <a:cubicBezTo>
                  <a:pt x="20895" y="1351"/>
                  <a:pt x="20045" y="612"/>
                  <a:pt x="18966" y="271"/>
                </a:cubicBezTo>
                <a:cubicBezTo>
                  <a:pt x="18218" y="0"/>
                  <a:pt x="17095" y="0"/>
                  <a:pt x="15225" y="0"/>
                </a:cubicBezTo>
                <a:close/>
              </a:path>
            </a:pathLst>
          </a:custGeom>
          <a:ln w="508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 lang="en-GB" noProof="0" dirty="0"/>
          </a:p>
        </p:txBody>
      </p:sp>
      <p:sp>
        <p:nvSpPr>
          <p:cNvPr id="800" name="Rounded Rectangle"/>
          <p:cNvSpPr/>
          <p:nvPr/>
        </p:nvSpPr>
        <p:spPr>
          <a:xfrm>
            <a:off x="3669042" y="5169756"/>
            <a:ext cx="931797" cy="49298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989" y="0"/>
                </a:moveTo>
                <a:lnTo>
                  <a:pt x="5611" y="0"/>
                </a:lnTo>
                <a:cubicBezTo>
                  <a:pt x="3964" y="0"/>
                  <a:pt x="2977" y="0"/>
                  <a:pt x="2318" y="520"/>
                </a:cubicBezTo>
                <a:cubicBezTo>
                  <a:pt x="1368" y="1173"/>
                  <a:pt x="621" y="2587"/>
                  <a:pt x="275" y="4381"/>
                </a:cubicBezTo>
                <a:cubicBezTo>
                  <a:pt x="0" y="5626"/>
                  <a:pt x="0" y="7493"/>
                  <a:pt x="0" y="10606"/>
                </a:cubicBezTo>
                <a:lnTo>
                  <a:pt x="0" y="10994"/>
                </a:lnTo>
                <a:cubicBezTo>
                  <a:pt x="0" y="14107"/>
                  <a:pt x="0" y="15974"/>
                  <a:pt x="275" y="17219"/>
                </a:cubicBezTo>
                <a:cubicBezTo>
                  <a:pt x="621" y="19013"/>
                  <a:pt x="1368" y="20427"/>
                  <a:pt x="2318" y="21080"/>
                </a:cubicBezTo>
                <a:cubicBezTo>
                  <a:pt x="2977" y="21600"/>
                  <a:pt x="3964" y="21600"/>
                  <a:pt x="5611" y="21600"/>
                </a:cubicBezTo>
                <a:lnTo>
                  <a:pt x="15989" y="21600"/>
                </a:lnTo>
                <a:cubicBezTo>
                  <a:pt x="17636" y="21600"/>
                  <a:pt x="18623" y="21600"/>
                  <a:pt x="19282" y="21080"/>
                </a:cubicBezTo>
                <a:cubicBezTo>
                  <a:pt x="20232" y="20427"/>
                  <a:pt x="20979" y="19013"/>
                  <a:pt x="21325" y="17219"/>
                </a:cubicBezTo>
                <a:cubicBezTo>
                  <a:pt x="21600" y="15974"/>
                  <a:pt x="21600" y="14107"/>
                  <a:pt x="21600" y="10994"/>
                </a:cubicBezTo>
                <a:lnTo>
                  <a:pt x="21600" y="10606"/>
                </a:lnTo>
                <a:cubicBezTo>
                  <a:pt x="21600" y="7493"/>
                  <a:pt x="21600" y="5626"/>
                  <a:pt x="21325" y="4381"/>
                </a:cubicBezTo>
                <a:cubicBezTo>
                  <a:pt x="20979" y="2587"/>
                  <a:pt x="20232" y="1173"/>
                  <a:pt x="19282" y="520"/>
                </a:cubicBezTo>
                <a:cubicBezTo>
                  <a:pt x="18623" y="0"/>
                  <a:pt x="17636" y="0"/>
                  <a:pt x="15989" y="0"/>
                </a:cubicBezTo>
                <a:close/>
              </a:path>
            </a:pathLst>
          </a:custGeom>
          <a:ln w="50800">
            <a:solidFill>
              <a:schemeClr val="accent3">
                <a:hueOff val="362282"/>
                <a:satOff val="31803"/>
                <a:lumOff val="-18242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 lang="en-GB" noProof="0" dirty="0"/>
          </a:p>
        </p:txBody>
      </p:sp>
      <p:sp>
        <p:nvSpPr>
          <p:cNvPr id="801" name="Rounded Rectangle"/>
          <p:cNvSpPr/>
          <p:nvPr/>
        </p:nvSpPr>
        <p:spPr>
          <a:xfrm>
            <a:off x="2784275" y="6078335"/>
            <a:ext cx="931797" cy="49298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989" y="0"/>
                </a:moveTo>
                <a:lnTo>
                  <a:pt x="5611" y="0"/>
                </a:lnTo>
                <a:cubicBezTo>
                  <a:pt x="3964" y="0"/>
                  <a:pt x="2977" y="0"/>
                  <a:pt x="2318" y="520"/>
                </a:cubicBezTo>
                <a:cubicBezTo>
                  <a:pt x="1368" y="1173"/>
                  <a:pt x="621" y="2587"/>
                  <a:pt x="275" y="4381"/>
                </a:cubicBezTo>
                <a:cubicBezTo>
                  <a:pt x="0" y="5626"/>
                  <a:pt x="0" y="7493"/>
                  <a:pt x="0" y="10606"/>
                </a:cubicBezTo>
                <a:lnTo>
                  <a:pt x="0" y="10994"/>
                </a:lnTo>
                <a:cubicBezTo>
                  <a:pt x="0" y="14107"/>
                  <a:pt x="0" y="15974"/>
                  <a:pt x="275" y="17219"/>
                </a:cubicBezTo>
                <a:cubicBezTo>
                  <a:pt x="621" y="19013"/>
                  <a:pt x="1368" y="20427"/>
                  <a:pt x="2318" y="21080"/>
                </a:cubicBezTo>
                <a:cubicBezTo>
                  <a:pt x="2977" y="21600"/>
                  <a:pt x="3964" y="21600"/>
                  <a:pt x="5611" y="21600"/>
                </a:cubicBezTo>
                <a:lnTo>
                  <a:pt x="15989" y="21600"/>
                </a:lnTo>
                <a:cubicBezTo>
                  <a:pt x="17636" y="21600"/>
                  <a:pt x="18623" y="21600"/>
                  <a:pt x="19282" y="21080"/>
                </a:cubicBezTo>
                <a:cubicBezTo>
                  <a:pt x="20232" y="20427"/>
                  <a:pt x="20979" y="19013"/>
                  <a:pt x="21325" y="17219"/>
                </a:cubicBezTo>
                <a:cubicBezTo>
                  <a:pt x="21600" y="15974"/>
                  <a:pt x="21600" y="14107"/>
                  <a:pt x="21600" y="10994"/>
                </a:cubicBezTo>
                <a:lnTo>
                  <a:pt x="21600" y="10606"/>
                </a:lnTo>
                <a:cubicBezTo>
                  <a:pt x="21600" y="7493"/>
                  <a:pt x="21600" y="5626"/>
                  <a:pt x="21325" y="4381"/>
                </a:cubicBezTo>
                <a:cubicBezTo>
                  <a:pt x="20979" y="2587"/>
                  <a:pt x="20232" y="1173"/>
                  <a:pt x="19282" y="520"/>
                </a:cubicBezTo>
                <a:cubicBezTo>
                  <a:pt x="18623" y="0"/>
                  <a:pt x="17636" y="0"/>
                  <a:pt x="15989" y="0"/>
                </a:cubicBezTo>
                <a:close/>
              </a:path>
            </a:pathLst>
          </a:custGeom>
          <a:ln w="50800">
            <a:solidFill>
              <a:schemeClr val="accent1">
                <a:lumOff val="-13575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 lang="en-GB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3636109-56ED-53C9-4C0C-FDDBFED19A42}"/>
                  </a:ext>
                </a:extLst>
              </p:cNvPr>
              <p:cNvSpPr txBox="1"/>
              <p:nvPr/>
            </p:nvSpPr>
            <p:spPr>
              <a:xfrm>
                <a:off x="28829" y="7796366"/>
                <a:ext cx="12870985" cy="56528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0" lang="en-GB" sz="3000" b="0" i="1" u="none" strike="noStrike" cap="none" spc="0" normalizeH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panose="02040503050406030204" pitchFamily="18" charset="0"/>
                          <a:sym typeface="Helvetica"/>
                        </a:rPr>
                        <m:t>𝑜𝑢𝑡</m:t>
                      </m:r>
                      <m:r>
                        <a:rPr kumimoji="0" lang="en-GB" sz="3000" b="0" i="1" u="none" strike="noStrike" cap="none" spc="0" normalizeH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panose="02040503050406030204" pitchFamily="18" charset="0"/>
                          <a:sym typeface="Helvetica"/>
                        </a:rPr>
                        <m:t>6=</m:t>
                      </m:r>
                      <m:d>
                        <m:dPr>
                          <m:ctrlPr>
                            <a:rPr kumimoji="0" lang="en-GB" sz="3000" b="0" i="1" u="none" strike="noStrike" cap="none" spc="0" normalizeH="0" smtClean="0">
                              <a:ln>
                                <a:noFill/>
                              </a:ln>
                              <a:solidFill>
                                <a:srgbClr val="EF230A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sym typeface="Helvetica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kumimoji="0" lang="en-GB" sz="3000" b="0" i="1" u="none" strike="noStrike" cap="none" spc="0" normalizeH="0" smtClean="0">
                                  <a:ln>
                                    <a:noFill/>
                                  </a:ln>
                                  <a:solidFill>
                                    <a:srgbClr val="EF230A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"/>
                                </a:rPr>
                              </m:ctrlPr>
                            </m:accPr>
                            <m:e>
                              <m:r>
                                <a:rPr kumimoji="0" lang="en-GB" sz="3000" b="0" i="1" u="none" strike="noStrike" cap="none" spc="0" normalizeH="0" smtClean="0">
                                  <a:ln>
                                    <a:noFill/>
                                  </a:ln>
                                  <a:solidFill>
                                    <a:srgbClr val="EF230A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"/>
                                </a:rPr>
                                <m:t>𝑖𝑛</m:t>
                              </m:r>
                              <m:r>
                                <a:rPr kumimoji="0" lang="en-GB" sz="3000" b="0" i="1" u="none" strike="noStrike" cap="none" spc="0" normalizeH="0" smtClean="0">
                                  <a:ln>
                                    <a:noFill/>
                                  </a:ln>
                                  <a:solidFill>
                                    <a:srgbClr val="EF230A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Helvetica"/>
                                </a:rPr>
                                <m:t>3</m:t>
                              </m:r>
                            </m:e>
                          </m:acc>
                          <m:r>
                            <a:rPr kumimoji="0" lang="en-GB" sz="3000" b="0" i="1" u="none" strike="noStrike" cap="none" spc="0" normalizeH="0" smtClean="0">
                              <a:ln>
                                <a:noFill/>
                              </a:ln>
                              <a:solidFill>
                                <a:srgbClr val="EF230A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sym typeface="Helvetica"/>
                            </a:rPr>
                            <m:t>∧</m:t>
                          </m:r>
                          <m:acc>
                            <m:accPr>
                              <m:chr m:val="̅"/>
                              <m:ctrlPr>
                                <a:rPr lang="en-GB" sz="3000" i="1">
                                  <a:solidFill>
                                    <a:srgbClr val="EF230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3000" i="1">
                                  <a:solidFill>
                                    <a:srgbClr val="EF230A"/>
                                  </a:solidFill>
                                  <a:latin typeface="Cambria Math" panose="02040503050406030204" pitchFamily="18" charset="0"/>
                                </a:rPr>
                                <m:t>𝑖𝑛</m:t>
                              </m:r>
                              <m:r>
                                <a:rPr lang="en-GB" sz="3000" b="0" i="1" smtClean="0">
                                  <a:solidFill>
                                    <a:srgbClr val="EF230A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acc>
                          <m:r>
                            <a:rPr lang="en-GB" sz="3000" b="0" i="1" smtClean="0">
                              <a:solidFill>
                                <a:srgbClr val="EF230A"/>
                              </a:solidFill>
                              <a:latin typeface="Cambria Math" panose="02040503050406030204" pitchFamily="18" charset="0"/>
                            </a:rPr>
                            <m:t>∧</m:t>
                          </m:r>
                          <m:acc>
                            <m:accPr>
                              <m:chr m:val="̅"/>
                              <m:ctrlPr>
                                <a:rPr lang="en-GB" sz="3000" i="1">
                                  <a:solidFill>
                                    <a:srgbClr val="EF230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3000" i="1">
                                  <a:solidFill>
                                    <a:srgbClr val="EF230A"/>
                                  </a:solidFill>
                                  <a:latin typeface="Cambria Math" panose="02040503050406030204" pitchFamily="18" charset="0"/>
                                </a:rPr>
                                <m:t>𝑖𝑛</m:t>
                              </m:r>
                              <m:r>
                                <a:rPr lang="en-GB" sz="3000" b="0" i="1" smtClean="0">
                                  <a:solidFill>
                                    <a:srgbClr val="EF230A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acc>
                        </m:e>
                      </m:d>
                      <m:r>
                        <a:rPr lang="en-GB" sz="3000" b="0" i="1" smtClean="0">
                          <a:latin typeface="Cambria Math" panose="02040503050406030204" pitchFamily="18" charset="0"/>
                        </a:rPr>
                        <m:t>∨</m:t>
                      </m:r>
                      <m:d>
                        <m:dPr>
                          <m:ctrlPr>
                            <a:rPr lang="en-GB" sz="3000" b="0" i="1" smtClean="0">
                              <a:solidFill>
                                <a:srgbClr val="1EB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000" b="0" i="1" smtClean="0">
                              <a:solidFill>
                                <a:srgbClr val="1EB000"/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  <m:r>
                            <a:rPr lang="en-GB" sz="3000" b="0" i="1" smtClean="0">
                              <a:solidFill>
                                <a:srgbClr val="1EB000"/>
                              </a:solidFill>
                              <a:latin typeface="Cambria Math" panose="02040503050406030204" pitchFamily="18" charset="0"/>
                            </a:rPr>
                            <m:t>3∧</m:t>
                          </m:r>
                          <m:r>
                            <a:rPr lang="en-GB" sz="3000" b="0" i="1" smtClean="0">
                              <a:solidFill>
                                <a:srgbClr val="1EB000"/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  <m:r>
                            <a:rPr lang="en-GB" sz="3000" b="0" i="1" smtClean="0">
                              <a:solidFill>
                                <a:srgbClr val="1EB000"/>
                              </a:solidFill>
                              <a:latin typeface="Cambria Math" panose="02040503050406030204" pitchFamily="18" charset="0"/>
                            </a:rPr>
                            <m:t>2∧</m:t>
                          </m:r>
                          <m:acc>
                            <m:accPr>
                              <m:chr m:val="̅"/>
                              <m:ctrlPr>
                                <a:rPr lang="en-GB" sz="3000" i="1">
                                  <a:solidFill>
                                    <a:srgbClr val="1EB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3000" i="1">
                                  <a:solidFill>
                                    <a:srgbClr val="1EB000"/>
                                  </a:solidFill>
                                  <a:latin typeface="Cambria Math" panose="02040503050406030204" pitchFamily="18" charset="0"/>
                                </a:rPr>
                                <m:t>𝑖𝑛</m:t>
                              </m:r>
                              <m:r>
                                <a:rPr lang="en-GB" sz="3000" b="0" i="1" smtClean="0">
                                  <a:solidFill>
                                    <a:srgbClr val="1EB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acc>
                          <m:r>
                            <a:rPr lang="en-GB" sz="3000" b="0" i="1" smtClean="0">
                              <a:solidFill>
                                <a:srgbClr val="1EB000"/>
                              </a:solidFill>
                              <a:latin typeface="Cambria Math" panose="02040503050406030204" pitchFamily="18" charset="0"/>
                            </a:rPr>
                            <m:t>∧</m:t>
                          </m:r>
                          <m:acc>
                            <m:accPr>
                              <m:chr m:val="̅"/>
                              <m:ctrlPr>
                                <a:rPr lang="en-GB" sz="3000" i="1">
                                  <a:solidFill>
                                    <a:srgbClr val="1EB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3000" i="1">
                                  <a:solidFill>
                                    <a:srgbClr val="1EB000"/>
                                  </a:solidFill>
                                  <a:latin typeface="Cambria Math" panose="02040503050406030204" pitchFamily="18" charset="0"/>
                                </a:rPr>
                                <m:t>𝑖𝑛</m:t>
                              </m:r>
                              <m:r>
                                <a:rPr lang="en-GB" sz="3000" b="0" i="1" smtClean="0">
                                  <a:solidFill>
                                    <a:srgbClr val="1EB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acc>
                        </m:e>
                      </m:d>
                      <m:r>
                        <a:rPr lang="en-GB" sz="3000" b="0" i="1" smtClean="0">
                          <a:latin typeface="Cambria Math" panose="02040503050406030204" pitchFamily="18" charset="0"/>
                        </a:rPr>
                        <m:t>∨</m:t>
                      </m:r>
                      <m:d>
                        <m:dPr>
                          <m:ctrlPr>
                            <a:rPr lang="en-GB" sz="3000" i="1">
                              <a:solidFill>
                                <a:srgbClr val="1676BA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GB" sz="3000" i="1">
                                  <a:solidFill>
                                    <a:srgbClr val="1676B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3000" i="1">
                                  <a:solidFill>
                                    <a:srgbClr val="1676BA"/>
                                  </a:solidFill>
                                  <a:latin typeface="Cambria Math" panose="02040503050406030204" pitchFamily="18" charset="0"/>
                                </a:rPr>
                                <m:t>𝑖𝑛</m:t>
                              </m:r>
                              <m:r>
                                <a:rPr lang="en-GB" sz="3000" i="1">
                                  <a:solidFill>
                                    <a:srgbClr val="1676BA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acc>
                          <m:r>
                            <a:rPr lang="en-GB" sz="3000" b="0" i="1" smtClean="0">
                              <a:solidFill>
                                <a:srgbClr val="1676BA"/>
                              </a:solidFill>
                              <a:latin typeface="Cambria Math" panose="02040503050406030204" pitchFamily="18" charset="0"/>
                            </a:rPr>
                            <m:t>∧</m:t>
                          </m:r>
                          <m:r>
                            <a:rPr lang="en-GB" sz="3000" b="0" i="1" smtClean="0">
                              <a:solidFill>
                                <a:srgbClr val="1676BA"/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  <m:r>
                            <a:rPr lang="en-GB" sz="3000" b="0" i="1" smtClean="0">
                              <a:solidFill>
                                <a:srgbClr val="1676BA"/>
                              </a:solidFill>
                              <a:latin typeface="Cambria Math" panose="02040503050406030204" pitchFamily="18" charset="0"/>
                            </a:rPr>
                            <m:t>2∧</m:t>
                          </m:r>
                          <m:r>
                            <a:rPr lang="en-GB" sz="3000" b="0" i="1" smtClean="0">
                              <a:solidFill>
                                <a:srgbClr val="1676BA"/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  <m:r>
                            <a:rPr lang="en-GB" sz="3000" b="0" i="1" smtClean="0">
                              <a:solidFill>
                                <a:srgbClr val="1676BA"/>
                              </a:solidFill>
                              <a:latin typeface="Cambria Math" panose="02040503050406030204" pitchFamily="18" charset="0"/>
                            </a:rPr>
                            <m:t>1∧</m:t>
                          </m:r>
                          <m:r>
                            <a:rPr lang="en-GB" sz="3000" b="0" i="1" smtClean="0">
                              <a:solidFill>
                                <a:srgbClr val="1676BA"/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  <m:r>
                            <a:rPr lang="en-GB" sz="3000" b="0" i="1" smtClean="0">
                              <a:solidFill>
                                <a:srgbClr val="1676BA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kumimoji="0" lang="en-GB" sz="3000" b="0" i="0" u="none" strike="noStrike" cap="none" spc="0" normalizeH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sym typeface="Helvetica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3636109-56ED-53C9-4C0C-FDDBFED19A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29" y="7796366"/>
                <a:ext cx="12870985" cy="56528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9" grpId="1" animBg="1" advAuto="0"/>
      <p:bldP spid="800" grpId="3" animBg="1" advAuto="0"/>
      <p:bldP spid="801" grpId="2" animBg="1" advAuto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First attemp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noProof="0" dirty="0"/>
              <a:t>First attempt</a:t>
            </a:r>
          </a:p>
        </p:txBody>
      </p:sp>
      <p:sp>
        <p:nvSpPr>
          <p:cNvPr id="81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 lang="en-GB" noProof="0"/>
              <a:t>45</a:t>
            </a:fld>
            <a:endParaRPr lang="en-GB" noProof="0" dirty="0"/>
          </a:p>
        </p:txBody>
      </p:sp>
      <p:sp>
        <p:nvSpPr>
          <p:cNvPr id="813" name="Draw a schematic: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noProof="0" dirty="0"/>
              <a:t>Draw a schematic:</a:t>
            </a:r>
          </a:p>
        </p:txBody>
      </p:sp>
      <p:pic>
        <p:nvPicPr>
          <p:cNvPr id="814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7366" y="3296639"/>
            <a:ext cx="7990068" cy="604653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4" grpId="1" animBg="1" advAuto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ate-level description: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noProof="0" dirty="0"/>
              <a:t>Gate-level description:</a:t>
            </a:r>
          </a:p>
        </p:txBody>
      </p:sp>
      <p:sp>
        <p:nvSpPr>
          <p:cNvPr id="817" name="Second attemp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noProof="0" dirty="0"/>
              <a:t>Second attempt</a:t>
            </a:r>
          </a:p>
        </p:txBody>
      </p:sp>
      <p:sp>
        <p:nvSpPr>
          <p:cNvPr id="81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 lang="en-GB" noProof="0"/>
              <a:t>46</a:t>
            </a:fld>
            <a:endParaRPr lang="en-GB" noProof="0" dirty="0"/>
          </a:p>
        </p:txBody>
      </p:sp>
      <p:pic>
        <p:nvPicPr>
          <p:cNvPr id="819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9283" y="2458941"/>
            <a:ext cx="5787749" cy="4835718"/>
          </a:xfrm>
          <a:prstGeom prst="rect">
            <a:avLst/>
          </a:prstGeom>
          <a:ln w="12700">
            <a:miter lim="400000"/>
          </a:ln>
        </p:spPr>
      </p:pic>
      <p:sp>
        <p:nvSpPr>
          <p:cNvPr id="820" name="Arrow"/>
          <p:cNvSpPr/>
          <p:nvPr/>
        </p:nvSpPr>
        <p:spPr>
          <a:xfrm rot="8159187">
            <a:off x="2916876" y="5564473"/>
            <a:ext cx="3225035" cy="1270001"/>
          </a:xfrm>
          <a:prstGeom prst="rightArrow">
            <a:avLst>
              <a:gd name="adj1" fmla="val 32000"/>
              <a:gd name="adj2" fmla="val 64000"/>
            </a:avLst>
          </a:prstGeom>
          <a:solidFill>
            <a:srgbClr val="6E8627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 lang="en-GB" noProof="0" dirty="0"/>
          </a:p>
        </p:txBody>
      </p:sp>
      <p:sp>
        <p:nvSpPr>
          <p:cNvPr id="821" name="and AND1 (A, ~in[3], ~in[2] ~in[1]);…"/>
          <p:cNvSpPr txBox="1"/>
          <p:nvPr/>
        </p:nvSpPr>
        <p:spPr>
          <a:xfrm>
            <a:off x="793309" y="7580130"/>
            <a:ext cx="6996281" cy="1371601"/>
          </a:xfrm>
          <a:prstGeom prst="rect">
            <a:avLst/>
          </a:prstGeom>
          <a:solidFill>
            <a:srgbClr val="E9E6B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2100"/>
            </a:pPr>
            <a:r>
              <a:rPr lang="en-GB" b="1" noProof="0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and</a:t>
            </a:r>
            <a:r>
              <a:rPr lang="en-GB" noProof="0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AND1 (A, ~in[3], ~in[2] ~in[1]);</a:t>
            </a:r>
          </a:p>
          <a:p>
            <a:pPr algn="l">
              <a:defRPr sz="2100"/>
            </a:pPr>
            <a:r>
              <a:rPr lang="en-GB" b="1" noProof="0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and</a:t>
            </a:r>
            <a:r>
              <a:rPr lang="en-GB" noProof="0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AND2 (B, ~in[3], in[2], in[1], in[0]);</a:t>
            </a:r>
          </a:p>
          <a:p>
            <a:pPr algn="l">
              <a:defRPr sz="2100"/>
            </a:pPr>
            <a:r>
              <a:rPr lang="en-GB" b="1" noProof="0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and</a:t>
            </a:r>
            <a:r>
              <a:rPr lang="en-GB" noProof="0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AND3 (C, in[3], in[2], ~in[1], ~in[0]);</a:t>
            </a:r>
          </a:p>
          <a:p>
            <a:pPr algn="l">
              <a:defRPr sz="2100"/>
            </a:pPr>
            <a:r>
              <a:rPr lang="en-GB" b="1" noProof="0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or</a:t>
            </a:r>
            <a:r>
              <a:rPr lang="en-GB" noProof="0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OR1 (out[6], A, B, C);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" fill="hold"/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" grpId="1" animBg="1" advAuto="0"/>
      <p:bldP spid="820" grpId="2" animBg="1" advAuto="0"/>
      <p:bldP spid="821" grpId="3" animBg="1" advAuto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Third attemp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noProof="0" dirty="0"/>
              <a:t>Third attempt</a:t>
            </a:r>
          </a:p>
        </p:txBody>
      </p:sp>
      <p:sp>
        <p:nvSpPr>
          <p:cNvPr id="824" name="Use continuous assignment: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noProof="0" dirty="0"/>
              <a:t>Use continuous assignment:</a:t>
            </a:r>
          </a:p>
        </p:txBody>
      </p:sp>
      <p:sp>
        <p:nvSpPr>
          <p:cNvPr id="82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 lang="en-GB" noProof="0"/>
              <a:t>47</a:t>
            </a:fld>
            <a:endParaRPr lang="en-GB" noProof="0" dirty="0"/>
          </a:p>
        </p:txBody>
      </p:sp>
      <p:sp>
        <p:nvSpPr>
          <p:cNvPr id="829" name="and AND1 (A, ~in[3], ~in[2] ~in[1]);…"/>
          <p:cNvSpPr txBox="1"/>
          <p:nvPr/>
        </p:nvSpPr>
        <p:spPr>
          <a:xfrm>
            <a:off x="948402" y="3737280"/>
            <a:ext cx="6996281" cy="1371601"/>
          </a:xfrm>
          <a:prstGeom prst="rect">
            <a:avLst/>
          </a:prstGeom>
          <a:solidFill>
            <a:srgbClr val="E9E6B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2100"/>
            </a:pPr>
            <a:r>
              <a:rPr lang="en-GB" b="1" noProof="0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and</a:t>
            </a:r>
            <a:r>
              <a:rPr lang="en-GB" noProof="0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AND1 (A, ~in[3], ~in[2] ~in[1]);</a:t>
            </a:r>
          </a:p>
          <a:p>
            <a:pPr algn="l">
              <a:defRPr sz="2100"/>
            </a:pPr>
            <a:r>
              <a:rPr lang="en-GB" b="1" noProof="0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and</a:t>
            </a:r>
            <a:r>
              <a:rPr lang="en-GB" noProof="0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AND2 (B, ~in[3], in[2], in[1], in[0]);</a:t>
            </a:r>
          </a:p>
          <a:p>
            <a:pPr algn="l">
              <a:defRPr sz="2100"/>
            </a:pPr>
            <a:r>
              <a:rPr lang="en-GB" b="1" noProof="0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and</a:t>
            </a:r>
            <a:r>
              <a:rPr lang="en-GB" noProof="0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AND3 (C, in[3], in[2], ~in[1], ~in[0]);</a:t>
            </a:r>
          </a:p>
          <a:p>
            <a:pPr algn="l">
              <a:defRPr sz="2100"/>
            </a:pPr>
            <a:r>
              <a:rPr lang="en-GB" b="1" noProof="0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or</a:t>
            </a:r>
            <a:r>
              <a:rPr lang="en-GB" noProof="0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OR1 (out[6], A, B, C);</a:t>
            </a:r>
          </a:p>
        </p:txBody>
      </p:sp>
      <p:sp>
        <p:nvSpPr>
          <p:cNvPr id="3" name="SV_37">
            <a:extLst>
              <a:ext uri="{FF2B5EF4-FFF2-40B4-BE49-F238E27FC236}">
                <a16:creationId xmlns:a16="http://schemas.microsoft.com/office/drawing/2014/main" id="{79199ADC-70EA-9A77-B357-5110C8FE533F}"/>
              </a:ext>
            </a:extLst>
          </p:cNvPr>
          <p:cNvSpPr>
            <a:spLocks noGrp="1"/>
          </p:cNvSpPr>
          <p:nvPr/>
        </p:nvSpPr>
        <p:spPr>
          <a:xfrm>
            <a:off x="948402" y="7539851"/>
            <a:ext cx="10620375" cy="1258461"/>
          </a:xfrm>
          <a:prstGeom prst="rect">
            <a:avLst/>
          </a:prstGeom>
          <a:solidFill>
            <a:srgbClr val="E9E8C1"/>
          </a:solidFill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175" b="1">
                <a:solidFill>
                  <a:srgbClr val="EC008C"/>
                </a:solidFill>
                <a:latin typeface="Courier New"/>
                <a:ea typeface="Courier New"/>
                <a:cs typeface="Courier New"/>
              </a:defRPr>
            </a:pPr>
            <a:r>
              <a:rPr sz="2175" dirty="0">
                <a:solidFill>
                  <a:srgbClr val="EC008C"/>
                </a:solidFill>
                <a:latin typeface="Courier New"/>
                <a:ea typeface="Courier New"/>
                <a:cs typeface="Courier New"/>
              </a:rPr>
              <a:t>assign out[6] = (~in[3] &amp; ~in[2] &amp; ~in[1])</a:t>
            </a:r>
          </a:p>
          <a:p>
            <a:pPr algn="l">
              <a:defRPr sz="2175" b="1">
                <a:solidFill>
                  <a:srgbClr val="EC008C"/>
                </a:solidFill>
                <a:latin typeface="Courier New"/>
                <a:ea typeface="Courier New"/>
                <a:cs typeface="Courier New"/>
              </a:defRPr>
            </a:pPr>
            <a:r>
              <a:rPr sz="2175" dirty="0">
                <a:solidFill>
                  <a:srgbClr val="EC008C"/>
                </a:solidFill>
                <a:latin typeface="Courier New"/>
                <a:ea typeface="Courier New"/>
                <a:cs typeface="Courier New"/>
              </a:rPr>
              <a:t>              | (~in[3] &amp;  in[2] &amp;  in[1] &amp;  in[0])</a:t>
            </a:r>
          </a:p>
          <a:p>
            <a:pPr algn="l">
              <a:defRPr sz="2175" b="1">
                <a:solidFill>
                  <a:srgbClr val="EC008C"/>
                </a:solidFill>
                <a:latin typeface="Courier New"/>
                <a:ea typeface="Courier New"/>
                <a:cs typeface="Courier New"/>
              </a:defRPr>
            </a:pPr>
            <a:r>
              <a:rPr sz="2175" dirty="0">
                <a:solidFill>
                  <a:srgbClr val="EC008C"/>
                </a:solidFill>
                <a:latin typeface="Courier New"/>
                <a:ea typeface="Courier New"/>
                <a:cs typeface="Courier New"/>
              </a:rPr>
              <a:t>              | ( in[3] &amp;  in[2] &amp; ~in[1] &amp; ~in[0]);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ED3F9EBA-7355-81CA-FB4C-5255EEBB8D1C}"/>
              </a:ext>
            </a:extLst>
          </p:cNvPr>
          <p:cNvSpPr/>
          <p:nvPr/>
        </p:nvSpPr>
        <p:spPr>
          <a:xfrm rot="5400000">
            <a:off x="4169811" y="5613701"/>
            <a:ext cx="1782573" cy="1092819"/>
          </a:xfrm>
          <a:prstGeom prst="rightArrow">
            <a:avLst/>
          </a:prstGeom>
          <a:solidFill>
            <a:srgbClr val="6E8627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21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:a14="http://schemas.microsoft.com/office/drawing/2010/main" xmlns:m="http://schemas.openxmlformats.org/officeDocument/2006/math" xmlns=""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 lang="en-GB" noProof="0"/>
              <a:t>48</a:t>
            </a:fld>
            <a:endParaRPr lang="en-GB" noProof="0" dirty="0"/>
          </a:p>
        </p:txBody>
      </p:sp>
      <p:pic>
        <p:nvPicPr>
          <p:cNvPr id="83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127" y="1103769"/>
            <a:ext cx="12265274" cy="817053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Fourth attemp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noProof="0" dirty="0"/>
              <a:t>Fourth attempt</a:t>
            </a:r>
          </a:p>
        </p:txBody>
      </p:sp>
      <p:sp>
        <p:nvSpPr>
          <p:cNvPr id="83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 lang="en-GB" noProof="0"/>
              <a:t>49</a:t>
            </a:fld>
            <a:endParaRPr lang="en-GB" noProof="0" dirty="0"/>
          </a:p>
        </p:txBody>
      </p:sp>
      <p:pic>
        <p:nvPicPr>
          <p:cNvPr id="837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2850" y="2451100"/>
            <a:ext cx="3611600" cy="6890333"/>
          </a:xfrm>
          <a:prstGeom prst="rect">
            <a:avLst/>
          </a:prstGeom>
          <a:ln w="12700">
            <a:miter lim="400000"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034F546-DFD2-3AE4-6634-14FB24B862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300" y="2705100"/>
            <a:ext cx="7772400" cy="6155917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AC4A8-1512-90E0-8EA5-FC385C180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259" y="546100"/>
            <a:ext cx="12054467" cy="2159000"/>
          </a:xfrm>
        </p:spPr>
        <p:txBody>
          <a:bodyPr>
            <a:normAutofit/>
          </a:bodyPr>
          <a:lstStyle/>
          <a:p>
            <a:r>
              <a:rPr lang="en-GB" dirty="0"/>
              <a:t>SystemVerilog to FPGA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009EB5-EF5C-C787-B87A-24FDEEAF04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9722" y="2705100"/>
            <a:ext cx="7518400" cy="61341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B76B37E-CE67-CA71-A855-93131CC412F3}"/>
              </a:ext>
            </a:extLst>
          </p:cNvPr>
          <p:cNvSpPr txBox="1"/>
          <p:nvPr/>
        </p:nvSpPr>
        <p:spPr>
          <a:xfrm>
            <a:off x="223024" y="3919648"/>
            <a:ext cx="2642839" cy="102592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GB" sz="2000" b="1" i="0" u="sng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Elaboration:</a:t>
            </a:r>
            <a:r>
              <a:rPr kumimoji="0" lang="en-GB" sz="2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 check syntax, instantiate modules etc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2C68CB-F0C5-0CD5-D1AF-F7709A9C973F}"/>
              </a:ext>
            </a:extLst>
          </p:cNvPr>
          <p:cNvSpPr txBox="1"/>
          <p:nvPr/>
        </p:nvSpPr>
        <p:spPr>
          <a:xfrm>
            <a:off x="223023" y="6591609"/>
            <a:ext cx="3010831" cy="102592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GB" sz="2000" b="1" i="0" u="sng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Synthesis:</a:t>
            </a:r>
            <a:r>
              <a:rPr kumimoji="0" lang="en-GB" sz="2000" i="0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 map to gates, logic optimisation, infer registers, much more…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7E40ED-2BC9-2995-0D6F-3673772C0C68}"/>
              </a:ext>
            </a:extLst>
          </p:cNvPr>
          <p:cNvSpPr txBox="1"/>
          <p:nvPr/>
        </p:nvSpPr>
        <p:spPr>
          <a:xfrm>
            <a:off x="9510131" y="3777173"/>
            <a:ext cx="3585738" cy="13336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GB" sz="2000" b="1" i="0" u="sng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Place &amp; Route:</a:t>
            </a:r>
            <a:r>
              <a:rPr kumimoji="0" lang="en-GB" sz="2000" i="0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 fix gate locations and wire them up, assign to FPGA-specific blocks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FFA071-45C4-4540-1F18-20E01A9D8461}"/>
              </a:ext>
            </a:extLst>
          </p:cNvPr>
          <p:cNvSpPr txBox="1"/>
          <p:nvPr/>
        </p:nvSpPr>
        <p:spPr>
          <a:xfrm>
            <a:off x="9419062" y="6462074"/>
            <a:ext cx="3585738" cy="102592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GB" sz="2000" b="1" i="0" u="sng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Assembler:</a:t>
            </a:r>
            <a:r>
              <a:rPr kumimoji="0" lang="en-GB" sz="2000" i="0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 produce </a:t>
            </a:r>
            <a:r>
              <a:rPr kumimoji="0" lang="en-GB" sz="2000" i="0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bitpattern</a:t>
            </a:r>
            <a:r>
              <a:rPr kumimoji="0" lang="en-GB" sz="2000" i="0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 to configure the FPGA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3807EB-628A-F60D-FFA1-A03DDEF56B8F}"/>
              </a:ext>
            </a:extLst>
          </p:cNvPr>
          <p:cNvSpPr txBox="1"/>
          <p:nvPr/>
        </p:nvSpPr>
        <p:spPr>
          <a:xfrm rot="16200000">
            <a:off x="4338442" y="5566965"/>
            <a:ext cx="3010831" cy="4103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GB" sz="2000" b="1" i="0" u="sng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Technology Mapping</a:t>
            </a:r>
            <a:endParaRPr kumimoji="0" lang="en-GB" sz="2000" i="0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  <p:sp>
        <p:nvSpPr>
          <p:cNvPr id="10" name="Terminator 9">
            <a:extLst>
              <a:ext uri="{FF2B5EF4-FFF2-40B4-BE49-F238E27FC236}">
                <a16:creationId xmlns:a16="http://schemas.microsoft.com/office/drawing/2014/main" id="{8E141E00-231C-FA4C-137D-5103A92BC5E9}"/>
              </a:ext>
            </a:extLst>
          </p:cNvPr>
          <p:cNvSpPr/>
          <p:nvPr/>
        </p:nvSpPr>
        <p:spPr>
          <a:xfrm>
            <a:off x="2359722" y="8608804"/>
            <a:ext cx="2252546" cy="598696"/>
          </a:xfrm>
          <a:prstGeom prst="flowChartTerminator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GB" sz="21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AND/OR/XOR</a:t>
            </a:r>
          </a:p>
        </p:txBody>
      </p:sp>
      <p:sp>
        <p:nvSpPr>
          <p:cNvPr id="11" name="Terminator 10">
            <a:extLst>
              <a:ext uri="{FF2B5EF4-FFF2-40B4-BE49-F238E27FC236}">
                <a16:creationId xmlns:a16="http://schemas.microsoft.com/office/drawing/2014/main" id="{02246CFA-F8E4-BD82-70F9-EB111E56993C}"/>
              </a:ext>
            </a:extLst>
          </p:cNvPr>
          <p:cNvSpPr/>
          <p:nvPr/>
        </p:nvSpPr>
        <p:spPr>
          <a:xfrm>
            <a:off x="7625576" y="2343092"/>
            <a:ext cx="2252546" cy="598696"/>
          </a:xfrm>
          <a:prstGeom prst="flowChartTerminator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GB" sz="21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LUTs/DSPs</a:t>
            </a:r>
          </a:p>
        </p:txBody>
      </p:sp>
    </p:spTree>
    <p:extLst>
      <p:ext uri="{BB962C8B-B14F-4D97-AF65-F5344CB8AC3E}">
        <p14:creationId xmlns:p14="http://schemas.microsoft.com/office/powerpoint/2010/main" val="982191443"/>
      </p:ext>
    </p:extLst>
  </p:cSld>
  <p:clrMapOvr>
    <a:masterClrMapping/>
  </p:clrMapOvr>
  <p:transition spd="med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Lab group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noProof="0" dirty="0"/>
              <a:t>Lab groups</a:t>
            </a:r>
          </a:p>
        </p:txBody>
      </p:sp>
      <p:sp>
        <p:nvSpPr>
          <p:cNvPr id="844" name="Andreas Michaelides + Jinzhao Han…"/>
          <p:cNvSpPr txBox="1">
            <a:spLocks noGrp="1"/>
          </p:cNvSpPr>
          <p:nvPr>
            <p:ph type="body" sz="half" idx="1"/>
          </p:nvPr>
        </p:nvSpPr>
        <p:spPr>
          <a:xfrm>
            <a:off x="3125456" y="2597150"/>
            <a:ext cx="6753888" cy="6286500"/>
          </a:xfrm>
          <a:prstGeom prst="rect">
            <a:avLst/>
          </a:prstGeom>
        </p:spPr>
        <p:txBody>
          <a:bodyPr/>
          <a:lstStyle/>
          <a:p>
            <a:pPr marL="590550" indent="-590550" defTabSz="543305">
              <a:spcBef>
                <a:spcPts val="0"/>
              </a:spcBef>
              <a:buSzPct val="100000"/>
              <a:buAutoNum type="arabicPeriod"/>
              <a:defRPr sz="2976"/>
            </a:pPr>
            <a:endParaRPr lang="en-GB" noProof="0" dirty="0"/>
          </a:p>
        </p:txBody>
      </p:sp>
      <p:sp>
        <p:nvSpPr>
          <p:cNvPr id="84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616097" y="31750"/>
            <a:ext cx="283717" cy="4064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 lang="en-GB" noProof="0"/>
              <a:t>51</a:t>
            </a:fld>
            <a:endParaRPr lang="en-GB" noProof="0" dirty="0"/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Helvetica"/>
        <a:ea typeface="Helvetica"/>
        <a:cs typeface="Helvetica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6E8627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1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Helvetica"/>
        <a:ea typeface="Helvetica"/>
        <a:cs typeface="Helvetica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6E8627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1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1514</TotalTime>
  <Words>3006</Words>
  <Application>Microsoft Macintosh PowerPoint</Application>
  <PresentationFormat>Custom</PresentationFormat>
  <Paragraphs>1000</Paragraphs>
  <Slides>51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9" baseType="lpstr">
      <vt:lpstr>Arial</vt:lpstr>
      <vt:lpstr>Cambria Math</vt:lpstr>
      <vt:lpstr>Courier</vt:lpstr>
      <vt:lpstr>Courier New</vt:lpstr>
      <vt:lpstr>Helvetica</vt:lpstr>
      <vt:lpstr>Helvetica Neue</vt:lpstr>
      <vt:lpstr>Helvetica Neue Thin</vt:lpstr>
      <vt:lpstr>White</vt:lpstr>
      <vt:lpstr>Mastering  Digital Design</vt:lpstr>
      <vt:lpstr>Before we start</vt:lpstr>
      <vt:lpstr>Module aims</vt:lpstr>
      <vt:lpstr>Format</vt:lpstr>
      <vt:lpstr>Grading</vt:lpstr>
      <vt:lpstr>Assessment</vt:lpstr>
      <vt:lpstr>Admin</vt:lpstr>
      <vt:lpstr>Labs – by tomorrow!!</vt:lpstr>
      <vt:lpstr>To do</vt:lpstr>
      <vt:lpstr>Credits</vt:lpstr>
      <vt:lpstr>Digital Design</vt:lpstr>
      <vt:lpstr>The old days</vt:lpstr>
      <vt:lpstr>Early integrated circuits</vt:lpstr>
      <vt:lpstr>Full-custom ICs</vt:lpstr>
      <vt:lpstr>Field-programmable  gate arrays (FPGAs)</vt:lpstr>
      <vt:lpstr>Logic blocks</vt:lpstr>
      <vt:lpstr>Multiplexer (MUX)</vt:lpstr>
      <vt:lpstr>Logic blocks</vt:lpstr>
      <vt:lpstr>Field-programmable  gate arrays (FPGAs)</vt:lpstr>
      <vt:lpstr>Programmable routing</vt:lpstr>
      <vt:lpstr>Programmable routing</vt:lpstr>
      <vt:lpstr>Question?</vt:lpstr>
      <vt:lpstr>Configuring an FPGA</vt:lpstr>
      <vt:lpstr>Cyclone V FPGA</vt:lpstr>
      <vt:lpstr>Cyclone V FPGA</vt:lpstr>
      <vt:lpstr>The DE1-SoC board</vt:lpstr>
      <vt:lpstr>Add-on board</vt:lpstr>
      <vt:lpstr>Design Tools</vt:lpstr>
      <vt:lpstr>SystemVerilog</vt:lpstr>
      <vt:lpstr>SystemVerilog</vt:lpstr>
      <vt:lpstr>Schematic vs HDL</vt:lpstr>
      <vt:lpstr>SystemVerilog modules</vt:lpstr>
      <vt:lpstr>Verilog syntax</vt:lpstr>
      <vt:lpstr>Gate-level description</vt:lpstr>
      <vt:lpstr>Combinational blocks</vt:lpstr>
      <vt:lpstr>always_comb blocks</vt:lpstr>
      <vt:lpstr>Numerical constants</vt:lpstr>
      <vt:lpstr>Aside: signed numbers</vt:lpstr>
      <vt:lpstr>Question?</vt:lpstr>
      <vt:lpstr>Buses</vt:lpstr>
      <vt:lpstr>Case statements</vt:lpstr>
      <vt:lpstr>Putting it all together</vt:lpstr>
      <vt:lpstr>7-seg decoder</vt:lpstr>
      <vt:lpstr>7-seg decoder</vt:lpstr>
      <vt:lpstr>First attempt</vt:lpstr>
      <vt:lpstr>Second attempt</vt:lpstr>
      <vt:lpstr>Third attempt</vt:lpstr>
      <vt:lpstr>PowerPoint Presentation</vt:lpstr>
      <vt:lpstr>Fourth attempt</vt:lpstr>
      <vt:lpstr>SystemVerilog to FPGA </vt:lpstr>
      <vt:lpstr>Lab groups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Coward, Samuel R</cp:lastModifiedBy>
  <cp:revision>17</cp:revision>
  <dcterms:modified xsi:type="dcterms:W3CDTF">2026-10-02T15:49:34Z</dcterms:modified>
</cp:coreProperties>
</file>