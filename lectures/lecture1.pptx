
<file path=[Content_Types].xml><?xml version="1.0" encoding="utf-8"?>
<Types xmlns="http://schemas.openxmlformats.org/package/2006/content-types">
  <Default Extension="jp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tif" ContentType="image/ti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256" r:id="rId2"/>
    <p:sldId id="309" r:id="rId3"/>
    <p:sldId id="257" r:id="rId4"/>
    <p:sldId id="258" r:id="rId5"/>
    <p:sldId id="259" r:id="rId6"/>
    <p:sldId id="260" r:id="rId7"/>
    <p:sldId id="261" r:id="rId8"/>
    <p:sldId id="31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1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5" r:id="rId39"/>
    <p:sldId id="312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8" r:id="rId51"/>
    <p:sldId id="307" r:id="rId5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230A"/>
    <a:srgbClr val="1676BA"/>
    <a:srgbClr val="1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775"/>
  </p:normalViewPr>
  <p:slideViewPr>
    <p:cSldViewPr snapToGrid="0">
      <p:cViewPr varScale="1">
        <p:scale>
          <a:sx n="79" d="100"/>
          <a:sy n="79" d="100"/>
        </p:scale>
        <p:origin x="221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95-B845-84A9-4238CA3FB8D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95-B845-84A9-4238CA3FB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58236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5068837" y="25400"/>
            <a:ext cx="28671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org&amp;utm_campaign=index&amp;utm_content=origi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imperial.cloud.panopto.eu/Panopto/Pages/Sessions/List.aspx#folderID=%2249ede8da-f812-488a-b541-b489011edf9d%22" TargetMode="External"/><Relationship Id="rId2" Type="http://schemas.openxmlformats.org/officeDocument/2006/relationships/hyperlink" Target="https://github.com/Mastering-Digital-Design/Lab-Module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0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1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Lecture 1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Mastering </a:t>
            </a:r>
            <a:br>
              <a:rPr lang="en-GB" noProof="0" dirty="0"/>
            </a:br>
            <a:r>
              <a:rPr lang="en-GB" noProof="0" dirty="0"/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2861180" y="4614322"/>
            <a:ext cx="7282443" cy="702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with SystemVerilog on FPGAs</a:t>
            </a:r>
          </a:p>
        </p:txBody>
      </p:sp>
      <p:sp>
        <p:nvSpPr>
          <p:cNvPr id="65" name="Slides by John Wickerson"/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rPr lang="en-GB" noProof="0" dirty="0"/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DF7D7-55C3-4988-5742-F1ADEC87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start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69FD8-64BD-43BD-EB4F-88375EAFE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2450957"/>
            <a:ext cx="11480800" cy="2715509"/>
          </a:xfrm>
        </p:spPr>
        <p:txBody>
          <a:bodyPr>
            <a:normAutofit/>
          </a:bodyPr>
          <a:lstStyle/>
          <a:p>
            <a:r>
              <a:rPr lang="en-GB" dirty="0"/>
              <a:t>Please ask questions during lectures</a:t>
            </a:r>
          </a:p>
          <a:p>
            <a:r>
              <a:rPr lang="en-GB" dirty="0"/>
              <a:t>If you can’t understand me – say something I will enunciate</a:t>
            </a:r>
          </a:p>
          <a:p>
            <a:r>
              <a:rPr lang="en-GB" dirty="0"/>
              <a:t>AI usage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54A17B-2B9C-5670-E022-E1BEF1D04183}"/>
              </a:ext>
            </a:extLst>
          </p:cNvPr>
          <p:cNvSpPr txBox="1"/>
          <p:nvPr/>
        </p:nvSpPr>
        <p:spPr>
          <a:xfrm>
            <a:off x="971550" y="6706652"/>
            <a:ext cx="1943100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Maths</a:t>
            </a:r>
          </a:p>
        </p:txBody>
      </p:sp>
      <p:pic>
        <p:nvPicPr>
          <p:cNvPr id="5" name="Picture 4" descr="Download University of Cambridge Logo in SVG Vector or PNG File Format -  Logo.wine">
            <a:extLst>
              <a:ext uri="{FF2B5EF4-FFF2-40B4-BE49-F238E27FC236}">
                <a16:creationId xmlns:a16="http://schemas.microsoft.com/office/drawing/2014/main" id="{A36798DB-1CDE-3CA0-9A75-039CD2093B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026"/>
          <a:stretch>
            <a:fillRect/>
          </a:stretch>
        </p:blipFill>
        <p:spPr>
          <a:xfrm>
            <a:off x="-154494" y="4473005"/>
            <a:ext cx="3886200" cy="1838816"/>
          </a:xfrm>
          <a:prstGeom prst="rect">
            <a:avLst/>
          </a:prstGeom>
        </p:spPr>
      </p:pic>
      <p:pic>
        <p:nvPicPr>
          <p:cNvPr id="7" name="Picture 6" descr="Brilliant Young Mathematician Approaches Big Blackboard Stock Photo  1101286919 | Shutterstock">
            <a:extLst>
              <a:ext uri="{FF2B5EF4-FFF2-40B4-BE49-F238E27FC236}">
                <a16:creationId xmlns:a16="http://schemas.microsoft.com/office/drawing/2014/main" id="{AC0E14FF-13AC-FA04-C5F0-8F7F5F42CC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33"/>
          <a:stretch>
            <a:fillRect/>
          </a:stretch>
        </p:blipFill>
        <p:spPr>
          <a:xfrm>
            <a:off x="135444" y="7547908"/>
            <a:ext cx="3750756" cy="1929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E88925-CCCD-3B13-5017-A390FE139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045" y="5057259"/>
            <a:ext cx="2784021" cy="11445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619B51-D1D5-1C7D-E21E-BCBDCD93CEB3}"/>
              </a:ext>
            </a:extLst>
          </p:cNvPr>
          <p:cNvSpPr txBox="1"/>
          <p:nvPr/>
        </p:nvSpPr>
        <p:spPr>
          <a:xfrm>
            <a:off x="3228975" y="4581691"/>
            <a:ext cx="6523264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b="0" dirty="0">
                <a:effectLst/>
              </a:rPr>
              <a:t> 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FAC447-5888-AB53-7CC7-9C06A186D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74050">
            <a:off x="3987318" y="7269696"/>
            <a:ext cx="4406042" cy="22374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C635DD-35E0-4310-E340-7922A56D8447}"/>
              </a:ext>
            </a:extLst>
          </p:cNvPr>
          <p:cNvSpPr txBox="1"/>
          <p:nvPr/>
        </p:nvSpPr>
        <p:spPr>
          <a:xfrm>
            <a:off x="4698440" y="6461558"/>
            <a:ext cx="2784022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4800" dirty="0"/>
              <a:t>RTL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17" name="Picture 16" descr="File:Imperial College London new logo.png - Wikimedia Commons">
            <a:extLst>
              <a:ext uri="{FF2B5EF4-FFF2-40B4-BE49-F238E27FC236}">
                <a16:creationId xmlns:a16="http://schemas.microsoft.com/office/drawing/2014/main" id="{6B751090-0705-5DEF-6266-46691E63F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7316" y="5392413"/>
            <a:ext cx="4904241" cy="538706"/>
          </a:xfrm>
          <a:prstGeom prst="rect">
            <a:avLst/>
          </a:prstGeom>
        </p:spPr>
      </p:pic>
      <p:pic>
        <p:nvPicPr>
          <p:cNvPr id="18" name="Picture 17" descr="EDA Tools For Circuit Design">
            <a:extLst>
              <a:ext uri="{FF2B5EF4-FFF2-40B4-BE49-F238E27FC236}">
                <a16:creationId xmlns:a16="http://schemas.microsoft.com/office/drawing/2014/main" id="{2756F668-1C21-65FB-F6AC-330B73632E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8972" y="7043057"/>
            <a:ext cx="3738548" cy="260630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CA96D4B-4312-F7B5-8DA1-CC8CEF2E0D41}"/>
              </a:ext>
            </a:extLst>
          </p:cNvPr>
          <p:cNvSpPr txBox="1"/>
          <p:nvPr/>
        </p:nvSpPr>
        <p:spPr>
          <a:xfrm>
            <a:off x="7617906" y="6201801"/>
            <a:ext cx="5009725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EDA Researc</a:t>
            </a:r>
            <a:r>
              <a:rPr lang="en-GB" sz="4800" dirty="0"/>
              <a:t>h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7392112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Module aims</a:t>
            </a:r>
          </a:p>
        </p:txBody>
      </p:sp>
      <p:sp>
        <p:nvSpPr>
          <p:cNvPr id="68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ensure that all MSc students reach a </a:t>
            </a:r>
            <a:r>
              <a:rPr lang="en-GB" b="1" noProof="0" dirty="0"/>
              <a:t>common competence level</a:t>
            </a:r>
            <a:r>
              <a:rPr lang="en-GB" noProof="0" dirty="0"/>
              <a:t> in RTL design using FPGAs in a hardware description language.</a:t>
            </a:r>
          </a:p>
          <a:p>
            <a:r>
              <a:rPr lang="en-GB" noProof="0" dirty="0"/>
              <a:t>To act as a </a:t>
            </a:r>
            <a:r>
              <a:rPr lang="en-GB" b="1" noProof="0" dirty="0"/>
              <a:t>revision exercise</a:t>
            </a:r>
            <a:r>
              <a:rPr lang="en-GB" noProof="0" dirty="0"/>
              <a:t> for those already competent in SystemVerilog and FPGAs.</a:t>
            </a:r>
          </a:p>
        </p:txBody>
      </p:sp>
      <p:sp>
        <p:nvSpPr>
          <p:cNvPr id="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rma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Format</a:t>
            </a:r>
          </a:p>
        </p:txBody>
      </p:sp>
      <p:sp>
        <p:nvSpPr>
          <p:cNvPr id="72" name="The lab experiment is divided into four part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lab experiment is divided into four parts. </a:t>
            </a:r>
          </a:p>
          <a:p>
            <a:r>
              <a:rPr lang="en-GB" noProof="0" dirty="0"/>
              <a:t>It is hoped that you will finish one part each week.</a:t>
            </a:r>
          </a:p>
          <a:p>
            <a:r>
              <a:rPr lang="en-GB" noProof="0" dirty="0"/>
              <a:t>Each part has clearly defined Learning Outcomes.</a:t>
            </a:r>
          </a:p>
          <a:p>
            <a:r>
              <a:rPr lang="en-GB" noProof="0" dirty="0"/>
              <a:t>These lectures will supplement the lab with some background information.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Grading</a:t>
            </a:r>
          </a:p>
        </p:txBody>
      </p:sp>
      <p:sp>
        <p:nvSpPr>
          <p:cNvPr id="76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lab is part of the Coursework component of the MSc course. </a:t>
            </a:r>
          </a:p>
          <a:p>
            <a:r>
              <a:rPr lang="en-GB" noProof="0" dirty="0"/>
              <a:t>You must pass this component, but it does not count towards your final MSc grade.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</a:t>
            </a:fld>
            <a:endParaRPr lang="en-GB" noProof="0" dirty="0"/>
          </a:p>
        </p:txBody>
      </p:sp>
      <p:sp>
        <p:nvSpPr>
          <p:cNvPr id="78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9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1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Coursework</a:t>
            </a:r>
          </a:p>
        </p:txBody>
      </p:sp>
      <p:sp>
        <p:nvSpPr>
          <p:cNvPr id="83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Exams</a:t>
            </a:r>
          </a:p>
        </p:txBody>
      </p:sp>
      <p:sp>
        <p:nvSpPr>
          <p:cNvPr id="84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Project</a:t>
            </a:r>
          </a:p>
        </p:txBody>
      </p:sp>
      <p:sp>
        <p:nvSpPr>
          <p:cNvPr id="85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rPr lang="en-GB" noProof="0" dirty="0"/>
              <a:t>This lab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88" name="Assessment will be via a short oral interview. This will assess:…"/>
          <p:cNvSpPr txBox="1">
            <a:spLocks noGrp="1"/>
          </p:cNvSpPr>
          <p:nvPr>
            <p:ph type="body" idx="1"/>
          </p:nvPr>
        </p:nvSpPr>
        <p:spPr>
          <a:xfrm>
            <a:off x="587829" y="2686050"/>
            <a:ext cx="12056421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 will be via a short </a:t>
            </a:r>
            <a:r>
              <a:rPr lang="en-GB" b="1" noProof="0" dirty="0"/>
              <a:t>oral interview</a:t>
            </a:r>
            <a:r>
              <a:rPr lang="en-GB" noProof="0" dirty="0"/>
              <a:t>. This will assess: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whether you have used a logbook (electronic or paper) to help you learn through planning and reflection.</a:t>
            </a:r>
          </a:p>
          <a:p>
            <a:r>
              <a:rPr lang="en-GB" noProof="0" dirty="0"/>
              <a:t>Please have your equipment set up and ready to demo.</a:t>
            </a:r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6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Admin</a:t>
            </a:r>
          </a:p>
        </p:txBody>
      </p:sp>
      <p:sp>
        <p:nvSpPr>
          <p:cNvPr id="92" name="Lectures: Mondays at 1400–1600, starting 13rd Oct, for 4 week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2935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noProof="0" dirty="0"/>
              <a:t>Lectures (1hr): </a:t>
            </a:r>
            <a:r>
              <a:rPr lang="en-GB" noProof="0" dirty="0"/>
              <a:t>Mondays at 14:00–15:00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5</a:t>
            </a:r>
            <a:r>
              <a:rPr lang="en-GB" baseline="30000" noProof="0" dirty="0"/>
              <a:t>th</a:t>
            </a:r>
            <a:r>
              <a:rPr lang="en-GB" noProof="0" dirty="0"/>
              <a:t>, 19</a:t>
            </a:r>
            <a:r>
              <a:rPr lang="en-GB" baseline="30000" noProof="0" dirty="0"/>
              <a:t>th</a:t>
            </a:r>
            <a:r>
              <a:rPr lang="en-GB" dirty="0"/>
              <a:t>, 26</a:t>
            </a:r>
            <a:r>
              <a:rPr lang="en-GB" baseline="30000" dirty="0"/>
              <a:t>th</a:t>
            </a:r>
            <a:r>
              <a:rPr lang="en-GB" dirty="0"/>
              <a:t> </a:t>
            </a:r>
            <a:r>
              <a:rPr lang="en-GB" noProof="0" dirty="0"/>
              <a:t>October</a:t>
            </a:r>
            <a:r>
              <a:rPr lang="en-GB" dirty="0"/>
              <a:t> &amp; </a:t>
            </a:r>
            <a:r>
              <a:rPr lang="en-GB" noProof="0" dirty="0"/>
              <a:t>2</a:t>
            </a:r>
            <a:r>
              <a:rPr lang="en-GB" baseline="30000" noProof="0" dirty="0"/>
              <a:t>nd</a:t>
            </a:r>
            <a:r>
              <a:rPr lang="en-GB" noProof="0" dirty="0"/>
              <a:t> November</a:t>
            </a:r>
          </a:p>
          <a:p>
            <a:pPr marL="444500" lvl="1" indent="0">
              <a:spcBef>
                <a:spcPts val="0"/>
              </a:spcBef>
              <a:buNone/>
            </a:pPr>
            <a:endParaRPr lang="en-GB" noProof="0" dirty="0"/>
          </a:p>
          <a:p>
            <a:pPr>
              <a:spcBef>
                <a:spcPts val="0"/>
              </a:spcBef>
            </a:pPr>
            <a:r>
              <a:rPr lang="en-GB" b="1" dirty="0"/>
              <a:t>Labs (3 hrs):</a:t>
            </a:r>
            <a:r>
              <a:rPr lang="en-GB" dirty="0"/>
              <a:t> Tuesday at 9:00 – 12:00 </a:t>
            </a:r>
          </a:p>
          <a:p>
            <a:pPr lvl="1">
              <a:spcBef>
                <a:spcPts val="0"/>
              </a:spcBef>
            </a:pPr>
            <a:r>
              <a:rPr lang="en-GB" dirty="0"/>
              <a:t>6</a:t>
            </a:r>
            <a:r>
              <a:rPr lang="en-GB" baseline="30000" dirty="0"/>
              <a:t>th</a:t>
            </a:r>
            <a:r>
              <a:rPr lang="en-GB" dirty="0"/>
              <a:t>, 20</a:t>
            </a:r>
            <a:r>
              <a:rPr lang="en-GB" baseline="30000" dirty="0"/>
              <a:t>th</a:t>
            </a:r>
            <a:r>
              <a:rPr lang="en-GB" dirty="0"/>
              <a:t>, 27</a:t>
            </a:r>
            <a:r>
              <a:rPr lang="en-GB" baseline="30000" dirty="0"/>
              <a:t>th</a:t>
            </a:r>
            <a:r>
              <a:rPr lang="en-GB" dirty="0"/>
              <a:t> October &amp; 3</a:t>
            </a:r>
            <a:r>
              <a:rPr lang="en-GB" baseline="30000" dirty="0"/>
              <a:t>rd</a:t>
            </a:r>
            <a:r>
              <a:rPr lang="en-GB" dirty="0"/>
              <a:t> November</a:t>
            </a:r>
          </a:p>
          <a:p>
            <a:pPr>
              <a:spcBef>
                <a:spcPts val="2400"/>
              </a:spcBef>
            </a:pPr>
            <a:r>
              <a:rPr lang="en-GB" b="1" noProof="0" dirty="0"/>
              <a:t>Assessment: </a:t>
            </a:r>
            <a:r>
              <a:rPr lang="en-GB" noProof="0" dirty="0"/>
              <a:t>Tuesday 10</a:t>
            </a:r>
            <a:r>
              <a:rPr lang="en-GB" baseline="30000" noProof="0" dirty="0"/>
              <a:t>th</a:t>
            </a:r>
            <a:r>
              <a:rPr lang="en-GB" noProof="0" dirty="0"/>
              <a:t> November at </a:t>
            </a:r>
            <a:r>
              <a:rPr lang="en-GB" dirty="0"/>
              <a:t>9</a:t>
            </a:r>
            <a:r>
              <a:rPr lang="en-GB" noProof="0" dirty="0"/>
              <a:t>:00 to 11:00</a:t>
            </a:r>
          </a:p>
          <a:p>
            <a:r>
              <a:rPr lang="en-GB" b="1" noProof="0" dirty="0"/>
              <a:t>Course webpage (link on Canvas):</a:t>
            </a:r>
            <a:br>
              <a:rPr lang="en-GB" noProof="0" dirty="0"/>
            </a:br>
            <a:r>
              <a:rPr lang="en-GB" u="sng" noProof="0" dirty="0">
                <a:hlinkClick r:id="rId2"/>
              </a:rPr>
              <a:t>https://github.com/Mastering-Digital-Design/Lab-Module</a:t>
            </a:r>
          </a:p>
          <a:p>
            <a:r>
              <a:rPr lang="en-GB" dirty="0">
                <a:hlinkClick r:id="rId3"/>
              </a:rPr>
              <a:t>Panopto Link</a:t>
            </a:r>
            <a:endParaRPr lang="en-GB" dirty="0"/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1" build="p" bldLvl="5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F4033-9889-C349-22A6-E53A4B68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Labs – by tomorrow!!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6F29D-1C3B-3510-05A9-E5C3AAE80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Pair up – and tell me who is paired up</a:t>
            </a:r>
          </a:p>
          <a:p>
            <a:r>
              <a:rPr lang="en-GB" dirty="0"/>
              <a:t>Visit Level 1 Stores and collect the following:</a:t>
            </a:r>
          </a:p>
          <a:p>
            <a:pPr lvl="1"/>
            <a:r>
              <a:rPr lang="en-GB" dirty="0"/>
              <a:t>DE1-SoC board</a:t>
            </a:r>
          </a:p>
          <a:p>
            <a:pPr lvl="1"/>
            <a:r>
              <a:rPr lang="en-GB" dirty="0"/>
              <a:t>Analogue I/O extension board (PKYC v1.0)</a:t>
            </a:r>
          </a:p>
          <a:p>
            <a:pPr lvl="1"/>
            <a:r>
              <a:rPr lang="en-GB" dirty="0"/>
              <a:t>Wired earphones (if you don’t have your own)</a:t>
            </a:r>
          </a:p>
        </p:txBody>
      </p:sp>
    </p:spTree>
    <p:extLst>
      <p:ext uri="{BB962C8B-B14F-4D97-AF65-F5344CB8AC3E}">
        <p14:creationId xmlns:p14="http://schemas.microsoft.com/office/powerpoint/2010/main" val="12064632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o d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do</a:t>
            </a:r>
          </a:p>
        </p:txBody>
      </p:sp>
      <p:sp>
        <p:nvSpPr>
          <p:cNvPr id="96" name="Group yourselves into pair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Group yourselves into pairs.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Record who is in your pair in the spreadsheet on Teams.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Collect a DE1-SoC board from Stores (Level 1 of the EEE building), one per pair. You'll need to have your college card with you.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Do the exercises, with support from the GTAs on ??? mornings, and keep a logbook along the way.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Come (as a pair) to your 15-minute viva (with your logbook) near the end of this term.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red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Credits</a:t>
            </a:r>
          </a:p>
        </p:txBody>
      </p:sp>
      <p:sp>
        <p:nvSpPr>
          <p:cNvPr id="100" name="This course was conceived and designed by Professor Peter Cheung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course was conceived and designed by </a:t>
            </a:r>
            <a:r>
              <a:rPr lang="en-GB" b="1" noProof="0" dirty="0"/>
              <a:t>Professor Peter Cheung</a:t>
            </a:r>
            <a:r>
              <a:rPr lang="en-GB" noProof="0" dirty="0"/>
              <a:t>.</a:t>
            </a: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endParaRPr lang="en-GB" noProof="0" dirty="0"/>
          </a:p>
          <a:p>
            <a:r>
              <a:rPr lang="en-GB" noProof="0" dirty="0"/>
              <a:t>Any errors in the lectures are mine. (And please do let me know if you find any!)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10</a:t>
            </a:fld>
            <a:endParaRPr lang="en-GB" noProof="0" dirty="0"/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00" y="3784600"/>
            <a:ext cx="2463800" cy="3302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igital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Digital Design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he old day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old days</a:t>
            </a:r>
          </a:p>
        </p:txBody>
      </p:sp>
      <p:sp>
        <p:nvSpPr>
          <p:cNvPr id="108" name="Discrete logic, built from individual gates or packages containing small digital building blocks (e.g. a 1-bit adder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068243" cy="6286500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b="1" noProof="0" dirty="0"/>
              <a:t>Discrete logic</a:t>
            </a:r>
            <a:r>
              <a:rPr lang="en-GB" noProof="0" dirty="0"/>
              <a:t>, built from individual gates or packages containing small digital building blocks (e.g. a 1-bit adder).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Thanks to De Morgan, we can build </a:t>
            </a:r>
            <a:r>
              <a:rPr lang="en-GB" i="1" noProof="0" dirty="0"/>
              <a:t>anything</a:t>
            </a:r>
            <a:r>
              <a:rPr lang="en-GB" noProof="0" dirty="0"/>
              <a:t> using 2-input NAND gates!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But this is tedious, expensive, and prone to wiring errors.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12</a:t>
            </a:fld>
            <a:endParaRPr lang="en-GB" noProof="0" dirty="0"/>
          </a:p>
        </p:txBody>
      </p:sp>
      <p:pic>
        <p:nvPicPr>
          <p:cNvPr id="11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74" y="5552016"/>
            <a:ext cx="5211629" cy="3465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63" y="2750338"/>
            <a:ext cx="3659915" cy="19401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1" build="p" bldLvl="5" animBg="1" advAuto="0"/>
      <p:bldP spid="110" grpId="3" animBg="1" advAuto="0"/>
      <p:bldP spid="111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Early integrat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54990">
              <a:defRPr sz="7600"/>
            </a:lvl1pPr>
          </a:lstStyle>
          <a:p>
            <a:r>
              <a:rPr lang="en-GB" noProof="0" dirty="0"/>
              <a:t>Early integrated circuits</a:t>
            </a:r>
          </a:p>
        </p:txBody>
      </p:sp>
      <p:sp>
        <p:nvSpPr>
          <p:cNvPr id="114" name="Rows of gates, connected to form application-specific integrated circuits (ASICs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858643" cy="6286500"/>
          </a:xfrm>
          <a:prstGeom prst="rect">
            <a:avLst/>
          </a:prstGeom>
        </p:spPr>
        <p:txBody>
          <a:bodyPr/>
          <a:lstStyle/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Rows of gates, connected to form </a:t>
            </a:r>
            <a:r>
              <a:rPr lang="en-GB" b="1" noProof="0" dirty="0"/>
              <a:t>application-specific integrated circuits</a:t>
            </a:r>
            <a:r>
              <a:rPr lang="en-GB" noProof="0" dirty="0"/>
              <a:t> (ASICs).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Can be </a:t>
            </a:r>
            <a:r>
              <a:rPr lang="en-GB" b="1" noProof="0" dirty="0"/>
              <a:t>full-custom</a:t>
            </a:r>
            <a:r>
              <a:rPr lang="en-GB" noProof="0" dirty="0"/>
              <a:t> (fabricated from scratch), or </a:t>
            </a:r>
            <a:r>
              <a:rPr lang="en-GB" b="1" noProof="0" dirty="0"/>
              <a:t>semi-custom</a:t>
            </a:r>
            <a:r>
              <a:rPr lang="en-GB" noProof="0" dirty="0"/>
              <a:t> (can only adjust the wiring between rows).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Functionality cannot be later changed.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13</a:t>
            </a:fld>
            <a:endParaRPr lang="en-GB" noProof="0" dirty="0"/>
          </a:p>
        </p:txBody>
      </p:sp>
      <p:pic>
        <p:nvPicPr>
          <p:cNvPr id="11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298" y="2647950"/>
            <a:ext cx="6799435" cy="58183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1" build="p" bldLvl="5" animBg="1" advAuto="0"/>
      <p:bldP spid="116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ull-custom 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Full-custom ICs</a:t>
            </a:r>
          </a:p>
        </p:txBody>
      </p:sp>
      <p:sp>
        <p:nvSpPr>
          <p:cNvPr id="119" name="Here is an Apple A12 processor from the iPhone XS. It has about 6.9 billion transistors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3434209" cy="6286500"/>
          </a:xfrm>
          <a:prstGeom prst="rect">
            <a:avLst/>
          </a:prstGeom>
        </p:spPr>
        <p:txBody>
          <a:bodyPr/>
          <a:lstStyle/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Here is an </a:t>
            </a:r>
            <a:r>
              <a:rPr lang="en-GB" b="1" noProof="0" dirty="0"/>
              <a:t>Apple A12</a:t>
            </a:r>
            <a:r>
              <a:rPr lang="en-GB" noProof="0" dirty="0"/>
              <a:t> processor from the </a:t>
            </a:r>
            <a:r>
              <a:rPr lang="en-GB" b="1" noProof="0" dirty="0"/>
              <a:t>iPhone XS</a:t>
            </a:r>
            <a:r>
              <a:rPr lang="en-GB" noProof="0" dirty="0"/>
              <a:t>. It has about 6.9 billion transistors.</a:t>
            </a:r>
          </a:p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Very expensive to design and manufacture, so not viable unless the market is very large.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21715" y="31750"/>
            <a:ext cx="378099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14</a:t>
            </a:fld>
            <a:endParaRPr lang="en-GB" noProof="0" dirty="0"/>
          </a:p>
        </p:txBody>
      </p:sp>
      <p:grpSp>
        <p:nvGrpSpPr>
          <p:cNvPr id="126" name="Group"/>
          <p:cNvGrpSpPr/>
          <p:nvPr/>
        </p:nvGrpSpPr>
        <p:grpSpPr>
          <a:xfrm>
            <a:off x="5138337" y="2108199"/>
            <a:ext cx="7103434" cy="6908801"/>
            <a:chOff x="0" y="-6350"/>
            <a:chExt cx="7103433" cy="6908800"/>
          </a:xfrm>
        </p:grpSpPr>
        <p:pic>
          <p:nvPicPr>
            <p:cNvPr id="121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28765"/>
              <a:ext cx="7045056" cy="59941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2" name="https://www.techinsights.com/blog/apple-iphone-xs-max-teardown"/>
            <p:cNvSpPr txBox="1"/>
            <p:nvPr/>
          </p:nvSpPr>
          <p:spPr>
            <a:xfrm>
              <a:off x="2558892" y="6623050"/>
              <a:ext cx="4544542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 defTabSz="457200">
                <a:defRPr sz="1200"/>
              </a:lvl1pPr>
            </a:lstStyle>
            <a:p>
              <a:r>
                <a:rPr lang="en-GB" noProof="0" dirty="0"/>
                <a:t>https://</a:t>
              </a:r>
              <a:r>
                <a:rPr lang="en-GB" noProof="0" dirty="0" err="1"/>
                <a:t>www.techinsights.com</a:t>
              </a:r>
              <a:r>
                <a:rPr lang="en-GB" noProof="0" dirty="0"/>
                <a:t>/blog/apple-</a:t>
              </a:r>
              <a:r>
                <a:rPr lang="en-GB" noProof="0" dirty="0" err="1"/>
                <a:t>iphone</a:t>
              </a:r>
              <a:r>
                <a:rPr lang="en-GB" noProof="0" dirty="0"/>
                <a:t>-</a:t>
              </a:r>
              <a:r>
                <a:rPr lang="en-GB" noProof="0" dirty="0" err="1"/>
                <a:t>xs</a:t>
              </a:r>
              <a:r>
                <a:rPr lang="en-GB" noProof="0" dirty="0"/>
                <a:t>-max-teardown</a:t>
              </a:r>
            </a:p>
          </p:txBody>
        </p:sp>
        <p:sp>
          <p:nvSpPr>
            <p:cNvPr id="123" name="~9mm"/>
            <p:cNvSpPr txBox="1"/>
            <p:nvPr/>
          </p:nvSpPr>
          <p:spPr>
            <a:xfrm>
              <a:off x="2895167" y="-6351"/>
              <a:ext cx="12547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~9mm</a:t>
              </a:r>
            </a:p>
          </p:txBody>
        </p:sp>
        <p:sp>
          <p:nvSpPr>
            <p:cNvPr id="124" name="Line"/>
            <p:cNvSpPr/>
            <p:nvPr/>
          </p:nvSpPr>
          <p:spPr>
            <a:xfrm flipH="1" flipV="1">
              <a:off x="23815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125" name="Line"/>
            <p:cNvSpPr/>
            <p:nvPr/>
          </p:nvSpPr>
          <p:spPr>
            <a:xfrm>
              <a:off x="4090944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1" build="p" bldLvl="5" animBg="1" advAuto="0"/>
      <p:bldP spid="126" grpId="2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129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</a:t>
            </a:r>
            <a:r>
              <a:rPr lang="en-GB" b="1" noProof="0" dirty="0"/>
              <a:t>Microsemi</a:t>
            </a:r>
            <a:r>
              <a:rPr lang="en-GB" noProof="0" dirty="0"/>
              <a:t> (now part of </a:t>
            </a:r>
            <a:r>
              <a:rPr lang="en-GB" b="1" noProof="0" dirty="0"/>
              <a:t>Microchip</a:t>
            </a:r>
            <a:r>
              <a:rPr lang="en-GB" noProof="0" dirty="0"/>
              <a:t>),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15</a:t>
            </a:fld>
            <a:endParaRPr lang="en-GB" noProof="0" dirty="0"/>
          </a:p>
        </p:txBody>
      </p:sp>
      <p:grpSp>
        <p:nvGrpSpPr>
          <p:cNvPr id="239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135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131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2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3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4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0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136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7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8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9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5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14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3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4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0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146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7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8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9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5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151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2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3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4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0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15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9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5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161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2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3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4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0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16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5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17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0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17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5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18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1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18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7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19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3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19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9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20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15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21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21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21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2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222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3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4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5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6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7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8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9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0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1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2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3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234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5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236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7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238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1" build="p" bldLvl="5" animBg="1" advAuto="0"/>
      <p:bldP spid="239" grpId="2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42" name="Also called logic elemen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154091" cy="6286500"/>
          </a:xfrm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Also called </a:t>
            </a:r>
            <a:r>
              <a:rPr lang="en-GB" i="1" noProof="0" dirty="0"/>
              <a:t>logic elements</a:t>
            </a:r>
            <a:r>
              <a:rPr lang="en-GB" noProof="0" dirty="0"/>
              <a:t>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Based around </a:t>
            </a:r>
            <a:r>
              <a:rPr lang="en-GB" b="1" noProof="0" dirty="0"/>
              <a:t>look-up tables</a:t>
            </a:r>
            <a:r>
              <a:rPr lang="en-GB" noProof="0" dirty="0"/>
              <a:t> (LUTs), usually with 4 inputs. 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Optional flipflop (FF) at the output.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These can implement </a:t>
            </a:r>
            <a:r>
              <a:rPr lang="en-GB" i="1" noProof="0" dirty="0"/>
              <a:t>any</a:t>
            </a:r>
            <a:r>
              <a:rPr lang="en-GB" noProof="0" dirty="0"/>
              <a:t> 4-input Boolean function (truth table).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16</a:t>
            </a:fld>
            <a:endParaRPr lang="en-GB" noProof="0" dirty="0"/>
          </a:p>
        </p:txBody>
      </p:sp>
      <p:grpSp>
        <p:nvGrpSpPr>
          <p:cNvPr id="270" name="Group"/>
          <p:cNvGrpSpPr/>
          <p:nvPr/>
        </p:nvGrpSpPr>
        <p:grpSpPr>
          <a:xfrm>
            <a:off x="4991054" y="2302872"/>
            <a:ext cx="8002507" cy="3753195"/>
            <a:chOff x="-24128" y="0"/>
            <a:chExt cx="8002506" cy="3753193"/>
          </a:xfrm>
        </p:grpSpPr>
        <p:sp>
          <p:nvSpPr>
            <p:cNvPr id="244" name="Rectangle"/>
            <p:cNvSpPr/>
            <p:nvPr/>
          </p:nvSpPr>
          <p:spPr>
            <a:xfrm>
              <a:off x="1597187" y="0"/>
              <a:ext cx="5450092" cy="3753194"/>
            </a:xfrm>
            <a:prstGeom prst="rect">
              <a:avLst/>
            </a:prstGeom>
            <a:solidFill>
              <a:srgbClr val="FFFFFF"/>
            </a:solidFill>
            <a:ln w="88900" cap="flat">
              <a:solidFill>
                <a:srgbClr val="6E8627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5" name="LUT"/>
            <p:cNvSpPr/>
            <p:nvPr/>
          </p:nvSpPr>
          <p:spPr>
            <a:xfrm>
              <a:off x="2376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LUT</a:t>
              </a:r>
            </a:p>
          </p:txBody>
        </p:sp>
        <p:sp>
          <p:nvSpPr>
            <p:cNvPr id="246" name="FF"/>
            <p:cNvSpPr/>
            <p:nvPr/>
          </p:nvSpPr>
          <p:spPr>
            <a:xfrm>
              <a:off x="4281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FF</a:t>
              </a:r>
            </a:p>
          </p:txBody>
        </p:sp>
        <p:sp>
          <p:nvSpPr>
            <p:cNvPr id="247" name="Shape"/>
            <p:cNvSpPr/>
            <p:nvPr/>
          </p:nvSpPr>
          <p:spPr>
            <a:xfrm>
              <a:off x="5936510" y="888472"/>
              <a:ext cx="841589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8" name="Line"/>
            <p:cNvSpPr/>
            <p:nvPr/>
          </p:nvSpPr>
          <p:spPr>
            <a:xfrm>
              <a:off x="737917" y="89752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9" name="Line"/>
            <p:cNvSpPr/>
            <p:nvPr/>
          </p:nvSpPr>
          <p:spPr>
            <a:xfrm>
              <a:off x="737917" y="1202252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0" name="Line"/>
            <p:cNvSpPr/>
            <p:nvPr/>
          </p:nvSpPr>
          <p:spPr>
            <a:xfrm>
              <a:off x="737917" y="1506978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1" name="Line"/>
            <p:cNvSpPr/>
            <p:nvPr/>
          </p:nvSpPr>
          <p:spPr>
            <a:xfrm>
              <a:off x="737917" y="180557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2" name="Line"/>
            <p:cNvSpPr/>
            <p:nvPr/>
          </p:nvSpPr>
          <p:spPr>
            <a:xfrm flipV="1">
              <a:off x="4662217" y="1996077"/>
              <a:ext cx="1" cy="5904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3" name="Line"/>
            <p:cNvSpPr/>
            <p:nvPr/>
          </p:nvSpPr>
          <p:spPr>
            <a:xfrm flipV="1">
              <a:off x="5041655" y="1996077"/>
              <a:ext cx="1564" cy="852215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4" name="Line"/>
            <p:cNvSpPr/>
            <p:nvPr/>
          </p:nvSpPr>
          <p:spPr>
            <a:xfrm>
              <a:off x="735491" y="2573927"/>
              <a:ext cx="393476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5" name="Line"/>
            <p:cNvSpPr/>
            <p:nvPr/>
          </p:nvSpPr>
          <p:spPr>
            <a:xfrm>
              <a:off x="735491" y="2846977"/>
              <a:ext cx="43112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6" name="Line"/>
            <p:cNvSpPr/>
            <p:nvPr/>
          </p:nvSpPr>
          <p:spPr>
            <a:xfrm>
              <a:off x="55227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7" name="Line"/>
            <p:cNvSpPr/>
            <p:nvPr/>
          </p:nvSpPr>
          <p:spPr>
            <a:xfrm>
              <a:off x="36431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8" name="Line"/>
            <p:cNvSpPr/>
            <p:nvPr/>
          </p:nvSpPr>
          <p:spPr>
            <a:xfrm flipV="1">
              <a:off x="3891199" y="427627"/>
              <a:ext cx="1" cy="9398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9" name="Line"/>
            <p:cNvSpPr/>
            <p:nvPr/>
          </p:nvSpPr>
          <p:spPr>
            <a:xfrm flipH="1" flipV="1">
              <a:off x="3883519" y="427627"/>
              <a:ext cx="197205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0" name="Line"/>
            <p:cNvSpPr/>
            <p:nvPr/>
          </p:nvSpPr>
          <p:spPr>
            <a:xfrm>
              <a:off x="5855570" y="427627"/>
              <a:ext cx="1" cy="74201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1" name="Line"/>
            <p:cNvSpPr/>
            <p:nvPr/>
          </p:nvSpPr>
          <p:spPr>
            <a:xfrm>
              <a:off x="5843929" y="1176852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2" name="Line"/>
            <p:cNvSpPr/>
            <p:nvPr/>
          </p:nvSpPr>
          <p:spPr>
            <a:xfrm>
              <a:off x="6780013" y="12785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3" name="A"/>
            <p:cNvSpPr txBox="1"/>
            <p:nvPr/>
          </p:nvSpPr>
          <p:spPr>
            <a:xfrm>
              <a:off x="424638" y="662577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A</a:t>
              </a:r>
            </a:p>
          </p:txBody>
        </p:sp>
        <p:sp>
          <p:nvSpPr>
            <p:cNvPr id="264" name="B"/>
            <p:cNvSpPr txBox="1"/>
            <p:nvPr/>
          </p:nvSpPr>
          <p:spPr>
            <a:xfrm>
              <a:off x="424638" y="967302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B</a:t>
              </a:r>
            </a:p>
          </p:txBody>
        </p:sp>
        <p:sp>
          <p:nvSpPr>
            <p:cNvPr id="265" name="C"/>
            <p:cNvSpPr txBox="1"/>
            <p:nvPr/>
          </p:nvSpPr>
          <p:spPr>
            <a:xfrm>
              <a:off x="419806" y="1256302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</a:t>
              </a:r>
            </a:p>
          </p:txBody>
        </p:sp>
        <p:sp>
          <p:nvSpPr>
            <p:cNvPr id="266" name="D"/>
            <p:cNvSpPr txBox="1"/>
            <p:nvPr/>
          </p:nvSpPr>
          <p:spPr>
            <a:xfrm>
              <a:off x="416229" y="1570627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D</a:t>
              </a:r>
            </a:p>
          </p:txBody>
        </p:sp>
        <p:sp>
          <p:nvSpPr>
            <p:cNvPr id="267" name="reset"/>
            <p:cNvSpPr txBox="1"/>
            <p:nvPr/>
          </p:nvSpPr>
          <p:spPr>
            <a:xfrm>
              <a:off x="9680" y="2332627"/>
              <a:ext cx="791916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reset</a:t>
              </a:r>
            </a:p>
          </p:txBody>
        </p:sp>
        <p:sp>
          <p:nvSpPr>
            <p:cNvPr id="268" name="clock"/>
            <p:cNvSpPr txBox="1"/>
            <p:nvPr/>
          </p:nvSpPr>
          <p:spPr>
            <a:xfrm>
              <a:off x="-24129" y="2599327"/>
              <a:ext cx="80873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clock</a:t>
              </a:r>
            </a:p>
          </p:txBody>
        </p:sp>
        <p:sp>
          <p:nvSpPr>
            <p:cNvPr id="269" name="out"/>
            <p:cNvSpPr txBox="1"/>
            <p:nvPr/>
          </p:nvSpPr>
          <p:spPr>
            <a:xfrm>
              <a:off x="7440364" y="1043577"/>
              <a:ext cx="538015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out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1" build="p" bldLvl="5" animBg="1" advAuto="0"/>
      <p:bldP spid="270" grpId="2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Multiplexer (MUX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Multiplexer (MUX)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17</a:t>
            </a:fld>
            <a:endParaRPr lang="en-GB" noProof="0" dirty="0"/>
          </a:p>
        </p:txBody>
      </p:sp>
      <p:sp>
        <p:nvSpPr>
          <p:cNvPr id="274" name="Line"/>
          <p:cNvSpPr/>
          <p:nvPr/>
        </p:nvSpPr>
        <p:spPr>
          <a:xfrm>
            <a:off x="6525487" y="3455082"/>
            <a:ext cx="1" cy="128981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5" name="Line"/>
          <p:cNvSpPr/>
          <p:nvPr/>
        </p:nvSpPr>
        <p:spPr>
          <a:xfrm>
            <a:off x="6983336" y="5215943"/>
            <a:ext cx="706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6" name="Line"/>
          <p:cNvSpPr/>
          <p:nvPr/>
        </p:nvSpPr>
        <p:spPr>
          <a:xfrm>
            <a:off x="5315403" y="47976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7" name="Line"/>
          <p:cNvSpPr/>
          <p:nvPr/>
        </p:nvSpPr>
        <p:spPr>
          <a:xfrm>
            <a:off x="5315403" y="56612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8" name="MUX"/>
          <p:cNvSpPr/>
          <p:nvPr/>
        </p:nvSpPr>
        <p:spPr>
          <a:xfrm>
            <a:off x="5808193" y="4151866"/>
            <a:ext cx="1434588" cy="2129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7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79" name="in3"/>
          <p:cNvSpPr txBox="1"/>
          <p:nvPr/>
        </p:nvSpPr>
        <p:spPr>
          <a:xfrm>
            <a:off x="6197172" y="2957801"/>
            <a:ext cx="65663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in3</a:t>
            </a:r>
          </a:p>
        </p:txBody>
      </p:sp>
      <p:sp>
        <p:nvSpPr>
          <p:cNvPr id="280" name="in1"/>
          <p:cNvSpPr txBox="1"/>
          <p:nvPr/>
        </p:nvSpPr>
        <p:spPr>
          <a:xfrm>
            <a:off x="4633151" y="45055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in1</a:t>
            </a:r>
          </a:p>
        </p:txBody>
      </p:sp>
      <p:sp>
        <p:nvSpPr>
          <p:cNvPr id="281" name="in2"/>
          <p:cNvSpPr txBox="1"/>
          <p:nvPr/>
        </p:nvSpPr>
        <p:spPr>
          <a:xfrm>
            <a:off x="4633151" y="53691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in2</a:t>
            </a:r>
          </a:p>
        </p:txBody>
      </p:sp>
      <p:sp>
        <p:nvSpPr>
          <p:cNvPr id="282" name="out"/>
          <p:cNvSpPr txBox="1"/>
          <p:nvPr/>
        </p:nvSpPr>
        <p:spPr>
          <a:xfrm>
            <a:off x="7749881" y="4923843"/>
            <a:ext cx="67925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out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"/>
          <p:cNvSpPr/>
          <p:nvPr/>
        </p:nvSpPr>
        <p:spPr>
          <a:xfrm>
            <a:off x="6833185" y="2768992"/>
            <a:ext cx="5346701" cy="66358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5" name="Line"/>
          <p:cNvSpPr/>
          <p:nvPr/>
        </p:nvSpPr>
        <p:spPr>
          <a:xfrm>
            <a:off x="11543153" y="2636352"/>
            <a:ext cx="1" cy="33475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6" name="Line"/>
          <p:cNvSpPr/>
          <p:nvPr/>
        </p:nvSpPr>
        <p:spPr>
          <a:xfrm flipH="1">
            <a:off x="10433684" y="2638956"/>
            <a:ext cx="1" cy="490448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7" name="Line"/>
          <p:cNvSpPr/>
          <p:nvPr/>
        </p:nvSpPr>
        <p:spPr>
          <a:xfrm flipH="1">
            <a:off x="9402772" y="2635874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8" name="Line"/>
          <p:cNvSpPr/>
          <p:nvPr/>
        </p:nvSpPr>
        <p:spPr>
          <a:xfrm flipH="1">
            <a:off x="8263408" y="2636352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9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18</a:t>
            </a:fld>
            <a:endParaRPr lang="en-GB" noProof="0" dirty="0"/>
          </a:p>
        </p:txBody>
      </p:sp>
      <p:sp>
        <p:nvSpPr>
          <p:cNvPr id="291" name="MUX"/>
          <p:cNvSpPr/>
          <p:nvPr/>
        </p:nvSpPr>
        <p:spPr>
          <a:xfrm>
            <a:off x="7981652" y="30055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2" name="MUX"/>
          <p:cNvSpPr/>
          <p:nvPr/>
        </p:nvSpPr>
        <p:spPr>
          <a:xfrm>
            <a:off x="7981652" y="37929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3" name="MUX"/>
          <p:cNvSpPr/>
          <p:nvPr/>
        </p:nvSpPr>
        <p:spPr>
          <a:xfrm>
            <a:off x="7981652" y="4580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4" name="MUX"/>
          <p:cNvSpPr/>
          <p:nvPr/>
        </p:nvSpPr>
        <p:spPr>
          <a:xfrm>
            <a:off x="7981652" y="5367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5" name="MUX"/>
          <p:cNvSpPr/>
          <p:nvPr/>
        </p:nvSpPr>
        <p:spPr>
          <a:xfrm>
            <a:off x="7981652" y="6155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6" name="MUX"/>
          <p:cNvSpPr/>
          <p:nvPr/>
        </p:nvSpPr>
        <p:spPr>
          <a:xfrm>
            <a:off x="7981652" y="69425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7" name="MUX"/>
          <p:cNvSpPr/>
          <p:nvPr/>
        </p:nvSpPr>
        <p:spPr>
          <a:xfrm>
            <a:off x="7981652" y="77299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8" name="MUX"/>
          <p:cNvSpPr/>
          <p:nvPr/>
        </p:nvSpPr>
        <p:spPr>
          <a:xfrm>
            <a:off x="7981652" y="8517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9" name="Rectangle"/>
          <p:cNvSpPr/>
          <p:nvPr/>
        </p:nvSpPr>
        <p:spPr>
          <a:xfrm>
            <a:off x="7137400" y="2956456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0" name="Rectangle"/>
          <p:cNvSpPr/>
          <p:nvPr/>
        </p:nvSpPr>
        <p:spPr>
          <a:xfrm>
            <a:off x="7137400" y="333745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1" name="Rectangle"/>
          <p:cNvSpPr/>
          <p:nvPr/>
        </p:nvSpPr>
        <p:spPr>
          <a:xfrm>
            <a:off x="7137400" y="3744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2" name="Rectangle"/>
          <p:cNvSpPr/>
          <p:nvPr/>
        </p:nvSpPr>
        <p:spPr>
          <a:xfrm>
            <a:off x="7137400" y="4125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3" name="Rectangle"/>
          <p:cNvSpPr/>
          <p:nvPr/>
        </p:nvSpPr>
        <p:spPr>
          <a:xfrm>
            <a:off x="7137400" y="4526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4" name="Rectangle"/>
          <p:cNvSpPr/>
          <p:nvPr/>
        </p:nvSpPr>
        <p:spPr>
          <a:xfrm>
            <a:off x="7137400" y="4907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5" name="Rectangle"/>
          <p:cNvSpPr/>
          <p:nvPr/>
        </p:nvSpPr>
        <p:spPr>
          <a:xfrm>
            <a:off x="7137400" y="5314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6" name="Rectangle"/>
          <p:cNvSpPr/>
          <p:nvPr/>
        </p:nvSpPr>
        <p:spPr>
          <a:xfrm>
            <a:off x="7137400" y="5695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7" name="Rectangle"/>
          <p:cNvSpPr/>
          <p:nvPr/>
        </p:nvSpPr>
        <p:spPr>
          <a:xfrm>
            <a:off x="7137400" y="6095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8" name="Rectangle"/>
          <p:cNvSpPr/>
          <p:nvPr/>
        </p:nvSpPr>
        <p:spPr>
          <a:xfrm>
            <a:off x="7137400" y="6476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9" name="Rectangle"/>
          <p:cNvSpPr/>
          <p:nvPr/>
        </p:nvSpPr>
        <p:spPr>
          <a:xfrm>
            <a:off x="7137400" y="6884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0" name="Rectangle"/>
          <p:cNvSpPr/>
          <p:nvPr/>
        </p:nvSpPr>
        <p:spPr>
          <a:xfrm>
            <a:off x="7137400" y="7265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1" name="Rectangle"/>
          <p:cNvSpPr/>
          <p:nvPr/>
        </p:nvSpPr>
        <p:spPr>
          <a:xfrm>
            <a:off x="7137400" y="7665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2" name="Rectangle"/>
          <p:cNvSpPr/>
          <p:nvPr/>
        </p:nvSpPr>
        <p:spPr>
          <a:xfrm>
            <a:off x="7137400" y="8046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3" name="Rectangle"/>
          <p:cNvSpPr/>
          <p:nvPr/>
        </p:nvSpPr>
        <p:spPr>
          <a:xfrm>
            <a:off x="7137400" y="8453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4" name="Rectangle"/>
          <p:cNvSpPr/>
          <p:nvPr/>
        </p:nvSpPr>
        <p:spPr>
          <a:xfrm>
            <a:off x="7137400" y="8834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5" name="MUX"/>
          <p:cNvSpPr/>
          <p:nvPr/>
        </p:nvSpPr>
        <p:spPr>
          <a:xfrm>
            <a:off x="9064297" y="34246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6" name="MUX"/>
          <p:cNvSpPr/>
          <p:nvPr/>
        </p:nvSpPr>
        <p:spPr>
          <a:xfrm>
            <a:off x="9064297" y="5012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7" name="MUX"/>
          <p:cNvSpPr/>
          <p:nvPr/>
        </p:nvSpPr>
        <p:spPr>
          <a:xfrm>
            <a:off x="9064297" y="6510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8" name="MUX"/>
          <p:cNvSpPr/>
          <p:nvPr/>
        </p:nvSpPr>
        <p:spPr>
          <a:xfrm>
            <a:off x="9064297" y="8187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9" name="MUX"/>
          <p:cNvSpPr/>
          <p:nvPr/>
        </p:nvSpPr>
        <p:spPr>
          <a:xfrm>
            <a:off x="10169197" y="4250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0" name="MUX"/>
          <p:cNvSpPr/>
          <p:nvPr/>
        </p:nvSpPr>
        <p:spPr>
          <a:xfrm>
            <a:off x="10169197" y="7374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1" name="MUX"/>
          <p:cNvSpPr/>
          <p:nvPr/>
        </p:nvSpPr>
        <p:spPr>
          <a:xfrm>
            <a:off x="11261397" y="57868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2" name="Line"/>
          <p:cNvSpPr/>
          <p:nvPr/>
        </p:nvSpPr>
        <p:spPr>
          <a:xfrm>
            <a:off x="7465466" y="3133313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3" name="Line"/>
          <p:cNvSpPr/>
          <p:nvPr/>
        </p:nvSpPr>
        <p:spPr>
          <a:xfrm>
            <a:off x="7465466" y="3455109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4" name="Line"/>
          <p:cNvSpPr/>
          <p:nvPr/>
        </p:nvSpPr>
        <p:spPr>
          <a:xfrm>
            <a:off x="7465466" y="39124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5" name="Line"/>
          <p:cNvSpPr/>
          <p:nvPr/>
        </p:nvSpPr>
        <p:spPr>
          <a:xfrm>
            <a:off x="7465466" y="42342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6" name="Line"/>
          <p:cNvSpPr/>
          <p:nvPr/>
        </p:nvSpPr>
        <p:spPr>
          <a:xfrm>
            <a:off x="7465466" y="46998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7" name="Line"/>
          <p:cNvSpPr/>
          <p:nvPr/>
        </p:nvSpPr>
        <p:spPr>
          <a:xfrm>
            <a:off x="7465466" y="50216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8" name="Line"/>
          <p:cNvSpPr/>
          <p:nvPr/>
        </p:nvSpPr>
        <p:spPr>
          <a:xfrm>
            <a:off x="7465466" y="54872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9" name="Line"/>
          <p:cNvSpPr/>
          <p:nvPr/>
        </p:nvSpPr>
        <p:spPr>
          <a:xfrm>
            <a:off x="7465466" y="58090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0" name="Line"/>
          <p:cNvSpPr/>
          <p:nvPr/>
        </p:nvSpPr>
        <p:spPr>
          <a:xfrm>
            <a:off x="7465466" y="6274646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1" name="Line"/>
          <p:cNvSpPr/>
          <p:nvPr/>
        </p:nvSpPr>
        <p:spPr>
          <a:xfrm>
            <a:off x="7465466" y="6596442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2" name="Line"/>
          <p:cNvSpPr/>
          <p:nvPr/>
        </p:nvSpPr>
        <p:spPr>
          <a:xfrm>
            <a:off x="7465466" y="70537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3" name="Line"/>
          <p:cNvSpPr/>
          <p:nvPr/>
        </p:nvSpPr>
        <p:spPr>
          <a:xfrm>
            <a:off x="7465466" y="73755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4" name="Line"/>
          <p:cNvSpPr/>
          <p:nvPr/>
        </p:nvSpPr>
        <p:spPr>
          <a:xfrm>
            <a:off x="7465466" y="78411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5" name="Line"/>
          <p:cNvSpPr/>
          <p:nvPr/>
        </p:nvSpPr>
        <p:spPr>
          <a:xfrm>
            <a:off x="7465466" y="81629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6" name="Line"/>
          <p:cNvSpPr/>
          <p:nvPr/>
        </p:nvSpPr>
        <p:spPr>
          <a:xfrm>
            <a:off x="7465466" y="86285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7" name="Line"/>
          <p:cNvSpPr/>
          <p:nvPr/>
        </p:nvSpPr>
        <p:spPr>
          <a:xfrm>
            <a:off x="7465466" y="89503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8" name="Line"/>
          <p:cNvSpPr/>
          <p:nvPr/>
        </p:nvSpPr>
        <p:spPr>
          <a:xfrm>
            <a:off x="8532266" y="3350857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9" name="Line"/>
          <p:cNvSpPr/>
          <p:nvPr/>
        </p:nvSpPr>
        <p:spPr>
          <a:xfrm>
            <a:off x="8532266" y="3856742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0" name="Line"/>
          <p:cNvSpPr/>
          <p:nvPr/>
        </p:nvSpPr>
        <p:spPr>
          <a:xfrm>
            <a:off x="8532266" y="4898660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1" name="Line"/>
          <p:cNvSpPr/>
          <p:nvPr/>
        </p:nvSpPr>
        <p:spPr>
          <a:xfrm>
            <a:off x="8532266" y="5404545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2" name="Line"/>
          <p:cNvSpPr/>
          <p:nvPr/>
        </p:nvSpPr>
        <p:spPr>
          <a:xfrm>
            <a:off x="8532266" y="6511505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3" name="Line"/>
          <p:cNvSpPr/>
          <p:nvPr/>
        </p:nvSpPr>
        <p:spPr>
          <a:xfrm>
            <a:off x="8532266" y="7017391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4" name="Line"/>
          <p:cNvSpPr/>
          <p:nvPr/>
        </p:nvSpPr>
        <p:spPr>
          <a:xfrm>
            <a:off x="8532266" y="8085973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5" name="Line"/>
          <p:cNvSpPr/>
          <p:nvPr/>
        </p:nvSpPr>
        <p:spPr>
          <a:xfrm>
            <a:off x="8532266" y="8591859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6" name="Line"/>
          <p:cNvSpPr/>
          <p:nvPr/>
        </p:nvSpPr>
        <p:spPr>
          <a:xfrm>
            <a:off x="9637166" y="3746994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7" name="Line"/>
          <p:cNvSpPr/>
          <p:nvPr/>
        </p:nvSpPr>
        <p:spPr>
          <a:xfrm>
            <a:off x="9637166" y="4739400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8" name="Line"/>
          <p:cNvSpPr/>
          <p:nvPr/>
        </p:nvSpPr>
        <p:spPr>
          <a:xfrm>
            <a:off x="9628991" y="6895028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9" name="Line"/>
          <p:cNvSpPr/>
          <p:nvPr/>
        </p:nvSpPr>
        <p:spPr>
          <a:xfrm>
            <a:off x="9628991" y="7887434"/>
            <a:ext cx="518419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0" name="Line"/>
          <p:cNvSpPr/>
          <p:nvPr/>
        </p:nvSpPr>
        <p:spPr>
          <a:xfrm>
            <a:off x="10733623" y="4592211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1" name="Line"/>
          <p:cNvSpPr/>
          <p:nvPr/>
        </p:nvSpPr>
        <p:spPr>
          <a:xfrm>
            <a:off x="10733623" y="6299935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2" name="Line"/>
          <p:cNvSpPr/>
          <p:nvPr/>
        </p:nvSpPr>
        <p:spPr>
          <a:xfrm>
            <a:off x="11836400" y="6133265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3" name="D"/>
          <p:cNvSpPr txBox="1"/>
          <p:nvPr/>
        </p:nvSpPr>
        <p:spPr>
          <a:xfrm>
            <a:off x="8105371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D</a:t>
            </a:r>
          </a:p>
        </p:txBody>
      </p:sp>
      <p:sp>
        <p:nvSpPr>
          <p:cNvPr id="354" name="C"/>
          <p:cNvSpPr txBox="1"/>
          <p:nvPr/>
        </p:nvSpPr>
        <p:spPr>
          <a:xfrm>
            <a:off x="9244735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C</a:t>
            </a:r>
          </a:p>
        </p:txBody>
      </p:sp>
      <p:sp>
        <p:nvSpPr>
          <p:cNvPr id="355" name="B"/>
          <p:cNvSpPr txBox="1"/>
          <p:nvPr/>
        </p:nvSpPr>
        <p:spPr>
          <a:xfrm>
            <a:off x="1027564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B</a:t>
            </a:r>
          </a:p>
        </p:txBody>
      </p:sp>
      <p:sp>
        <p:nvSpPr>
          <p:cNvPr id="356" name="A"/>
          <p:cNvSpPr txBox="1"/>
          <p:nvPr/>
        </p:nvSpPr>
        <p:spPr>
          <a:xfrm>
            <a:off x="1138511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A</a:t>
            </a:r>
          </a:p>
        </p:txBody>
      </p:sp>
      <p:sp>
        <p:nvSpPr>
          <p:cNvPr id="357" name="X"/>
          <p:cNvSpPr txBox="1"/>
          <p:nvPr/>
        </p:nvSpPr>
        <p:spPr>
          <a:xfrm>
            <a:off x="12507114" y="5917365"/>
            <a:ext cx="300658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X</a:t>
            </a:r>
          </a:p>
        </p:txBody>
      </p:sp>
      <p:graphicFrame>
        <p:nvGraphicFramePr>
          <p:cNvPr id="358" name="Table 1"/>
          <p:cNvGraphicFramePr/>
          <p:nvPr>
            <p:extLst>
              <p:ext uri="{D42A27DB-BD31-4B8C-83A1-F6EECF244321}">
                <p14:modId xmlns:p14="http://schemas.microsoft.com/office/powerpoint/2010/main" val="248043170"/>
              </p:ext>
            </p:extLst>
          </p:nvPr>
        </p:nvGraphicFramePr>
        <p:xfrm>
          <a:off x="1063754" y="2544849"/>
          <a:ext cx="5334000" cy="672595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7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61" name="4-LUT"/>
          <p:cNvSpPr txBox="1"/>
          <p:nvPr/>
        </p:nvSpPr>
        <p:spPr>
          <a:xfrm>
            <a:off x="10884230" y="8752229"/>
            <a:ext cx="1243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4-LUT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3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presetSubtype="0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8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ntr" presetSubtype="0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7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3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ntr" presetSubtype="0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" presetClass="entr" presetSubtype="0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" presetClass="entr" presetSubtype="0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6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9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" presetClass="entr" presetSubtype="0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1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presetSubtype="0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7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" presetClass="entr" presetSubtype="0" fill="hold" grpId="7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7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7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" grpId="7" animBg="1" advAuto="0"/>
      <p:bldP spid="285" grpId="23" animBg="1" advAuto="0"/>
      <p:bldP spid="286" grpId="33" animBg="1" advAuto="0"/>
      <p:bldP spid="287" grpId="38" animBg="1" advAuto="0"/>
      <p:bldP spid="288" grpId="39" animBg="1" advAuto="0"/>
      <p:bldP spid="291" grpId="9" animBg="1" advAuto="0"/>
      <p:bldP spid="292" grpId="17" animBg="1" advAuto="0"/>
      <p:bldP spid="293" grpId="25" animBg="1" advAuto="0"/>
      <p:bldP spid="294" grpId="35" animBg="1" advAuto="0"/>
      <p:bldP spid="295" grpId="46" animBg="1" advAuto="0"/>
      <p:bldP spid="296" grpId="55" animBg="1" advAuto="0"/>
      <p:bldP spid="297" grpId="62" animBg="1" advAuto="0"/>
      <p:bldP spid="298" grpId="70" animBg="1" advAuto="0"/>
      <p:bldP spid="299" grpId="8" animBg="1" advAuto="0"/>
      <p:bldP spid="300" grpId="11" animBg="1" advAuto="0"/>
      <p:bldP spid="301" grpId="15" animBg="1" advAuto="0"/>
      <p:bldP spid="302" grpId="20" animBg="1" advAuto="0"/>
      <p:bldP spid="303" grpId="24" animBg="1" advAuto="0"/>
      <p:bldP spid="304" grpId="30" animBg="1" advAuto="0"/>
      <p:bldP spid="305" grpId="34" animBg="1" advAuto="0"/>
      <p:bldP spid="306" grpId="40" animBg="1" advAuto="0"/>
      <p:bldP spid="307" grpId="43" animBg="1" advAuto="0"/>
      <p:bldP spid="308" grpId="49" animBg="1" advAuto="0"/>
      <p:bldP spid="309" grpId="53" animBg="1" advAuto="0"/>
      <p:bldP spid="310" grpId="58" animBg="1" advAuto="0"/>
      <p:bldP spid="311" grpId="61" animBg="1" advAuto="0"/>
      <p:bldP spid="312" grpId="65" animBg="1" advAuto="0"/>
      <p:bldP spid="313" grpId="69" animBg="1" advAuto="0"/>
      <p:bldP spid="314" grpId="73" animBg="1" advAuto="0"/>
      <p:bldP spid="315" grpId="13" animBg="1" advAuto="0"/>
      <p:bldP spid="316" grpId="31" animBg="1" advAuto="0"/>
      <p:bldP spid="317" grpId="50" animBg="1" advAuto="0"/>
      <p:bldP spid="318" grpId="68" animBg="1" advAuto="0"/>
      <p:bldP spid="319" grpId="22" animBg="1" advAuto="0"/>
      <p:bldP spid="320" grpId="59" animBg="1" advAuto="0"/>
      <p:bldP spid="321" grpId="41" animBg="1" advAuto="0"/>
      <p:bldP spid="322" grpId="10" animBg="1" advAuto="0"/>
      <p:bldP spid="323" grpId="14" animBg="1" advAuto="0"/>
      <p:bldP spid="324" grpId="19" animBg="1" advAuto="0"/>
      <p:bldP spid="325" grpId="21" animBg="1" advAuto="0"/>
      <p:bldP spid="326" grpId="27" animBg="1" advAuto="0"/>
      <p:bldP spid="327" grpId="32" animBg="1" advAuto="0"/>
      <p:bldP spid="328" grpId="37" animBg="1" advAuto="0"/>
      <p:bldP spid="329" grpId="42" animBg="1" advAuto="0"/>
      <p:bldP spid="330" grpId="47" animBg="1" advAuto="0"/>
      <p:bldP spid="331" grpId="52" animBg="1" advAuto="0"/>
      <p:bldP spid="332" grpId="57" animBg="1" advAuto="0"/>
      <p:bldP spid="333" grpId="60" animBg="1" advAuto="0"/>
      <p:bldP spid="334" grpId="63" animBg="1" advAuto="0"/>
      <p:bldP spid="335" grpId="67" animBg="1" advAuto="0"/>
      <p:bldP spid="336" grpId="72" animBg="1" advAuto="0"/>
      <p:bldP spid="337" grpId="74" animBg="1" advAuto="0"/>
      <p:bldP spid="338" grpId="12" animBg="1" advAuto="0"/>
      <p:bldP spid="339" grpId="18" animBg="1" advAuto="0"/>
      <p:bldP spid="340" grpId="29" animBg="1" advAuto="0"/>
      <p:bldP spid="341" grpId="36" animBg="1" advAuto="0"/>
      <p:bldP spid="342" grpId="51" animBg="1" advAuto="0"/>
      <p:bldP spid="343" grpId="56" animBg="1" advAuto="0"/>
      <p:bldP spid="344" grpId="66" animBg="1" advAuto="0"/>
      <p:bldP spid="345" grpId="71" animBg="1" advAuto="0"/>
      <p:bldP spid="346" grpId="16" animBg="1" advAuto="0"/>
      <p:bldP spid="347" grpId="28" animBg="1" advAuto="0"/>
      <p:bldP spid="348" grpId="54" animBg="1" advAuto="0"/>
      <p:bldP spid="349" grpId="64" animBg="1" advAuto="0"/>
      <p:bldP spid="350" grpId="26" animBg="1" advAuto="0"/>
      <p:bldP spid="351" grpId="48" animBg="1" advAuto="0"/>
      <p:bldP spid="352" grpId="44" animBg="1" advAuto="0"/>
      <p:bldP spid="353" grpId="3" animBg="1" advAuto="0"/>
      <p:bldP spid="354" grpId="4" animBg="1" advAuto="0"/>
      <p:bldP spid="355" grpId="5" animBg="1" advAuto="0"/>
      <p:bldP spid="356" grpId="6" animBg="1" advAuto="0"/>
      <p:bldP spid="357" grpId="45" animBg="1" advAuto="0"/>
      <p:bldP spid="358" grpId="1" animBg="1" advAuto="0"/>
      <p:bldP spid="361" grpId="76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3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19</a:t>
            </a:fld>
            <a:endParaRPr lang="en-GB" noProof="0" dirty="0"/>
          </a:p>
        </p:txBody>
      </p:sp>
      <p:grpSp>
        <p:nvGrpSpPr>
          <p:cNvPr id="473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369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365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6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7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8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4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370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1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2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3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9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37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7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8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4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380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1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2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3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9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385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6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7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8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4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39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3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9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395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6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7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8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4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40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9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4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4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41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9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41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25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42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1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42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7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43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3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43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9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44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55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45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456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7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8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9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0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1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2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3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4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5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6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7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468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9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470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71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472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474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4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20</a:t>
            </a:fld>
            <a:endParaRPr lang="en-GB" noProof="0" dirty="0"/>
          </a:p>
        </p:txBody>
      </p:sp>
      <p:sp>
        <p:nvSpPr>
          <p:cNvPr id="478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79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0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1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2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3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4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5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6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7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8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9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0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1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2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3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4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5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6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499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497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98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2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00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1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5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03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4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8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06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7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1" name="Group"/>
          <p:cNvGrpSpPr/>
          <p:nvPr/>
        </p:nvGrpSpPr>
        <p:grpSpPr>
          <a:xfrm rot="13500000">
            <a:off x="8493060" y="5899399"/>
            <a:ext cx="569722" cy="219814"/>
            <a:chOff x="0" y="0"/>
            <a:chExt cx="569721" cy="219813"/>
          </a:xfrm>
        </p:grpSpPr>
        <p:sp>
          <p:nvSpPr>
            <p:cNvPr id="50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4" name="Group"/>
          <p:cNvGrpSpPr/>
          <p:nvPr/>
        </p:nvGrpSpPr>
        <p:grpSpPr>
          <a:xfrm rot="5400000">
            <a:off x="9030589" y="4767861"/>
            <a:ext cx="569722" cy="219815"/>
            <a:chOff x="0" y="0"/>
            <a:chExt cx="569721" cy="219813"/>
          </a:xfrm>
        </p:grpSpPr>
        <p:sp>
          <p:nvSpPr>
            <p:cNvPr id="51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15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6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7" name="Line"/>
          <p:cNvSpPr/>
          <p:nvPr/>
        </p:nvSpPr>
        <p:spPr>
          <a:xfrm flipH="1">
            <a:off x="8869526" y="4801082"/>
            <a:ext cx="430062" cy="30038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8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9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0" name="Line"/>
          <p:cNvSpPr/>
          <p:nvPr/>
        </p:nvSpPr>
        <p:spPr>
          <a:xfrm flipH="1">
            <a:off x="8439074" y="6013605"/>
            <a:ext cx="309764" cy="49777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1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2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3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4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5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6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7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28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29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30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1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2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3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4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5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6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7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8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9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0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1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2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3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4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9" fill="hold"/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1" animBg="1" advAuto="0"/>
      <p:bldP spid="491" grpId="23" animBg="1" advAuto="0"/>
      <p:bldP spid="492" grpId="22" animBg="1" advAuto="0"/>
      <p:bldP spid="493" grpId="11" animBg="1" advAuto="0"/>
      <p:bldP spid="494" grpId="31" animBg="1" advAuto="0"/>
      <p:bldP spid="495" grpId="12" animBg="1" advAuto="0"/>
      <p:bldP spid="496" grpId="30" animBg="1" advAuto="0"/>
      <p:bldP spid="499" grpId="21" animBg="1" advAuto="0"/>
      <p:bldP spid="502" grpId="10" animBg="1" advAuto="0"/>
      <p:bldP spid="505" grpId="7" animBg="1" advAuto="0"/>
      <p:bldP spid="508" grpId="28" animBg="1" advAuto="0"/>
      <p:bldP spid="511" grpId="29" animBg="1" advAuto="0"/>
      <p:bldP spid="514" grpId="13" animBg="1" advAuto="0"/>
      <p:bldP spid="515" grpId="5" animBg="1" advAuto="0"/>
      <p:bldP spid="516" grpId="4" animBg="1" advAuto="0"/>
      <p:bldP spid="517" grpId="16" animBg="1" advAuto="0"/>
      <p:bldP spid="518" grpId="24" animBg="1" advAuto="0"/>
      <p:bldP spid="519" grpId="34" animBg="1" advAuto="0"/>
      <p:bldP spid="520" grpId="35" animBg="1" advAuto="0"/>
      <p:bldP spid="521" grpId="2" animBg="1" advAuto="0"/>
      <p:bldP spid="522" grpId="3" animBg="1" advAuto="0"/>
      <p:bldP spid="523" grpId="14" animBg="1" advAuto="0"/>
      <p:bldP spid="524" grpId="26" animBg="1" advAuto="0"/>
      <p:bldP spid="525" grpId="37" animBg="1" advAuto="0"/>
      <p:bldP spid="526" grpId="36" animBg="1" advAuto="0"/>
      <p:bldP spid="527" grpId="39" animBg="1" advAuto="0"/>
      <p:bldP spid="528" grpId="42" animBg="1" advAuto="0"/>
      <p:bldP spid="529" grpId="40" animBg="1" advAuto="0"/>
      <p:bldP spid="530" grpId="41" animBg="1" advAuto="0"/>
      <p:bldP spid="531" grpId="38" animBg="1" advAuto="0"/>
      <p:bldP spid="532" grpId="43" animBg="1" advAuto="0"/>
      <p:bldP spid="533" grpId="33" animBg="1" advAuto="0"/>
      <p:bldP spid="534" grpId="25" animBg="1" advAuto="0"/>
      <p:bldP spid="535" grpId="6" animBg="1" advAuto="0"/>
      <p:bldP spid="536" grpId="17" animBg="1" advAuto="0"/>
      <p:bldP spid="537" grpId="18" animBg="1" advAuto="0"/>
      <p:bldP spid="538" grpId="19" animBg="1" advAuto="0"/>
      <p:bldP spid="539" grpId="27" animBg="1" advAuto="0"/>
      <p:bldP spid="540" grpId="32" animBg="1" advAuto="0"/>
      <p:bldP spid="541" grpId="20" animBg="1" advAuto="0"/>
      <p:bldP spid="542" grpId="15" animBg="1" advAuto="0"/>
      <p:bldP spid="543" grpId="8" animBg="1" advAuto="0"/>
      <p:bldP spid="544" grpId="9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7" name="Line"/>
          <p:cNvSpPr/>
          <p:nvPr/>
        </p:nvSpPr>
        <p:spPr>
          <a:xfrm flipH="1">
            <a:off x="8953617" y="4741978"/>
            <a:ext cx="430062" cy="30038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8" name="Line"/>
          <p:cNvSpPr/>
          <p:nvPr/>
        </p:nvSpPr>
        <p:spPr>
          <a:xfrm flipH="1">
            <a:off x="8489874" y="5927800"/>
            <a:ext cx="309764" cy="49777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9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5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21</a:t>
            </a:fld>
            <a:endParaRPr lang="en-GB" noProof="0" dirty="0"/>
          </a:p>
        </p:txBody>
      </p:sp>
      <p:sp>
        <p:nvSpPr>
          <p:cNvPr id="551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2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3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4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5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6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7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8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9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0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1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2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3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4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5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6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7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8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571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56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4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7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7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75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6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80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78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9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81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2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3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4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5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6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7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8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9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0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1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2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3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4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6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7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8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9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0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1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2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3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4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5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6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7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8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612" name="Group"/>
          <p:cNvGrpSpPr/>
          <p:nvPr/>
        </p:nvGrpSpPr>
        <p:grpSpPr>
          <a:xfrm>
            <a:off x="6731843" y="2961122"/>
            <a:ext cx="2672507" cy="4907971"/>
            <a:chOff x="0" y="0"/>
            <a:chExt cx="2672506" cy="4907970"/>
          </a:xfrm>
        </p:grpSpPr>
        <p:sp>
          <p:nvSpPr>
            <p:cNvPr id="609" name="Line"/>
            <p:cNvSpPr/>
            <p:nvPr/>
          </p:nvSpPr>
          <p:spPr>
            <a:xfrm flipV="1">
              <a:off x="2672506" y="0"/>
              <a:ext cx="1" cy="4907971"/>
            </a:xfrm>
            <a:prstGeom prst="line">
              <a:avLst/>
            </a:prstGeom>
            <a:noFill/>
            <a:ln w="889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0" name="Line"/>
            <p:cNvSpPr/>
            <p:nvPr/>
          </p:nvSpPr>
          <p:spPr>
            <a:xfrm flipH="1" flipV="1">
              <a:off x="1490374" y="2388347"/>
              <a:ext cx="1177190" cy="1177190"/>
            </a:xfrm>
            <a:prstGeom prst="line">
              <a:avLst/>
            </a:prstGeom>
            <a:noFill/>
            <a:ln w="1016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1" name="Line"/>
            <p:cNvSpPr/>
            <p:nvPr/>
          </p:nvSpPr>
          <p:spPr>
            <a:xfrm>
              <a:off x="0" y="2382692"/>
              <a:ext cx="1529301" cy="1"/>
            </a:xfrm>
            <a:prstGeom prst="line">
              <a:avLst/>
            </a:prstGeom>
            <a:noFill/>
            <a:ln w="762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613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76200">
            <a:solidFill>
              <a:srgbClr val="FF26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4" name="Line"/>
          <p:cNvSpPr/>
          <p:nvPr/>
        </p:nvSpPr>
        <p:spPr>
          <a:xfrm rot="16200000">
            <a:off x="3305200" y="2992196"/>
            <a:ext cx="1820337" cy="2474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51" y="1094"/>
                </a:lnTo>
                <a:lnTo>
                  <a:pt x="1993" y="64"/>
                </a:lnTo>
                <a:lnTo>
                  <a:pt x="21600" y="0"/>
                </a:lnTo>
              </a:path>
            </a:pathLst>
          </a:custGeom>
          <a:ln w="76200">
            <a:solidFill>
              <a:srgbClr val="00F9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5" name="Line"/>
          <p:cNvSpPr/>
          <p:nvPr/>
        </p:nvSpPr>
        <p:spPr>
          <a:xfrm rot="16200000">
            <a:off x="1485409" y="5474291"/>
            <a:ext cx="1807676" cy="22954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0119" y="21574"/>
                </a:lnTo>
                <a:lnTo>
                  <a:pt x="21435" y="20573"/>
                </a:lnTo>
                <a:lnTo>
                  <a:pt x="21600" y="0"/>
                </a:lnTo>
              </a:path>
            </a:pathLst>
          </a:custGeom>
          <a:ln w="76200">
            <a:solidFill>
              <a:srgbClr val="FF40FF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6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76200">
            <a:solidFill>
              <a:srgbClr val="FF40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7" name="Line"/>
          <p:cNvSpPr/>
          <p:nvPr/>
        </p:nvSpPr>
        <p:spPr>
          <a:xfrm rot="10800000">
            <a:off x="1233538" y="3312685"/>
            <a:ext cx="2865666" cy="2945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23" y="877"/>
                </a:lnTo>
                <a:lnTo>
                  <a:pt x="1299" y="0"/>
                </a:lnTo>
                <a:lnTo>
                  <a:pt x="21600" y="60"/>
                </a:lnTo>
              </a:path>
            </a:pathLst>
          </a:custGeom>
          <a:ln w="76200">
            <a:solidFill>
              <a:srgbClr val="00FD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2" grpId="1" animBg="1" advAuto="0"/>
      <p:bldP spid="613" grpId="6" animBg="1" advAuto="0"/>
      <p:bldP spid="614" grpId="4" animBg="1" advAuto="0"/>
      <p:bldP spid="615" grpId="3" animBg="1" advAuto="0"/>
      <p:bldP spid="616" grpId="2" animBg="1" advAuto="0"/>
      <p:bldP spid="617" grpId="5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06673-A395-265F-F875-6F2156AB9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DC100-067A-523A-4B4F-33C8275C5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70198" y="2705099"/>
            <a:ext cx="751117" cy="190227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</a:p>
          <a:p>
            <a:pPr marL="0" indent="0">
              <a:buNone/>
            </a:pPr>
            <a:r>
              <a:rPr lang="en-GB" dirty="0"/>
              <a:t>B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0B441F7-C7E0-E0A5-D91D-3A35B257CD51}"/>
              </a:ext>
            </a:extLst>
          </p:cNvPr>
          <p:cNvSpPr txBox="1">
            <a:spLocks/>
          </p:cNvSpPr>
          <p:nvPr/>
        </p:nvSpPr>
        <p:spPr>
          <a:xfrm>
            <a:off x="9674680" y="2705097"/>
            <a:ext cx="919844" cy="1902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X</a:t>
            </a:r>
          </a:p>
          <a:p>
            <a:pPr marL="0" indent="0" hangingPunct="1">
              <a:buFontTx/>
              <a:buNone/>
            </a:pPr>
            <a:r>
              <a:rPr lang="en-GB" dirty="0"/>
              <a:t>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319C87-898A-783D-7750-F5DA6A03CEDF}"/>
              </a:ext>
            </a:extLst>
          </p:cNvPr>
          <p:cNvSpPr/>
          <p:nvPr/>
        </p:nvSpPr>
        <p:spPr>
          <a:xfrm>
            <a:off x="4175578" y="2705098"/>
            <a:ext cx="4653643" cy="167096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Draw Your Circuit Here?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DDD723-65FA-FE65-D6F6-A2CF746148F8}"/>
              </a:ext>
            </a:extLst>
          </p:cNvPr>
          <p:cNvCxnSpPr>
            <a:cxnSpLocks/>
          </p:cNvCxnSpPr>
          <p:nvPr/>
        </p:nvCxnSpPr>
        <p:spPr>
          <a:xfrm>
            <a:off x="3424463" y="30044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DFA696E-7AA9-D02F-A705-226B7BE3FB08}"/>
              </a:ext>
            </a:extLst>
          </p:cNvPr>
          <p:cNvCxnSpPr>
            <a:cxnSpLocks/>
          </p:cNvCxnSpPr>
          <p:nvPr/>
        </p:nvCxnSpPr>
        <p:spPr>
          <a:xfrm>
            <a:off x="3424462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4CB5DA-8EA7-F7FB-C15F-CBEB77D9405B}"/>
              </a:ext>
            </a:extLst>
          </p:cNvPr>
          <p:cNvCxnSpPr>
            <a:cxnSpLocks/>
          </p:cNvCxnSpPr>
          <p:nvPr/>
        </p:nvCxnSpPr>
        <p:spPr>
          <a:xfrm>
            <a:off x="8829221" y="29282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67E291-BAFE-7118-C610-0A088DB03085}"/>
              </a:ext>
            </a:extLst>
          </p:cNvPr>
          <p:cNvCxnSpPr>
            <a:cxnSpLocks/>
          </p:cNvCxnSpPr>
          <p:nvPr/>
        </p:nvCxnSpPr>
        <p:spPr>
          <a:xfrm>
            <a:off x="8829220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D2C890D-2A80-6217-C2DF-7C194BDD8AD3}"/>
              </a:ext>
            </a:extLst>
          </p:cNvPr>
          <p:cNvSpPr txBox="1">
            <a:spLocks/>
          </p:cNvSpPr>
          <p:nvPr/>
        </p:nvSpPr>
        <p:spPr>
          <a:xfrm>
            <a:off x="5798454" y="4876800"/>
            <a:ext cx="1778003" cy="67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C		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9C31F2-2C71-E8E3-FD94-DB56B7EA03F7}"/>
              </a:ext>
            </a:extLst>
          </p:cNvPr>
          <p:cNvCxnSpPr>
            <a:cxnSpLocks/>
          </p:cNvCxnSpPr>
          <p:nvPr/>
        </p:nvCxnSpPr>
        <p:spPr>
          <a:xfrm flipV="1">
            <a:off x="59608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D3AAAA-657B-06E2-8152-938C334DAFB6}"/>
              </a:ext>
            </a:extLst>
          </p:cNvPr>
          <p:cNvCxnSpPr>
            <a:cxnSpLocks/>
          </p:cNvCxnSpPr>
          <p:nvPr/>
        </p:nvCxnSpPr>
        <p:spPr>
          <a:xfrm flipV="1">
            <a:off x="71419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FBD70C1C-0F3B-D2F4-0C13-5FF2DB0C1849}"/>
              </a:ext>
            </a:extLst>
          </p:cNvPr>
          <p:cNvSpPr txBox="1">
            <a:spLocks/>
          </p:cNvSpPr>
          <p:nvPr/>
        </p:nvSpPr>
        <p:spPr>
          <a:xfrm>
            <a:off x="952500" y="5763988"/>
            <a:ext cx="11310256" cy="3443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1. Can you draw a circuit using MUX’s, so that I can output any of the following four combinations? </a:t>
            </a:r>
          </a:p>
          <a:p>
            <a:pPr marL="0" indent="0" algn="ctr" hangingPunct="1">
              <a:buFontTx/>
              <a:buNone/>
            </a:pPr>
            <a:r>
              <a:rPr lang="en-GB" dirty="0"/>
              <a:t>X,Y = {A,A}, {A,B}, {B,A}, {B,B} </a:t>
            </a:r>
          </a:p>
          <a:p>
            <a:pPr marL="0" indent="0" hangingPunct="1">
              <a:buFontTx/>
              <a:buNone/>
            </a:pPr>
            <a:r>
              <a:rPr lang="en-GB" dirty="0"/>
              <a:t>2. What if I remove D?</a:t>
            </a:r>
          </a:p>
        </p:txBody>
      </p:sp>
    </p:spTree>
    <p:extLst>
      <p:ext uri="{BB962C8B-B14F-4D97-AF65-F5344CB8AC3E}">
        <p14:creationId xmlns:p14="http://schemas.microsoft.com/office/powerpoint/2010/main" val="38352201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onfiguring an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Configuring an FPGA</a:t>
            </a:r>
          </a:p>
        </p:txBody>
      </p:sp>
      <p:sp>
        <p:nvSpPr>
          <p:cNvPr id="620" name="All these configuration registers are set by passing the FPGA a configuration bitstream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All these configuration registers are set by passing the FPGA a </a:t>
            </a:r>
            <a:r>
              <a:rPr lang="en-GB" b="1" noProof="0" dirty="0"/>
              <a:t>configuration</a:t>
            </a:r>
            <a:r>
              <a:rPr lang="en-GB" noProof="0" dirty="0"/>
              <a:t> </a:t>
            </a:r>
            <a:r>
              <a:rPr lang="en-GB" b="1" noProof="0" dirty="0"/>
              <a:t>bitstream</a:t>
            </a:r>
            <a:r>
              <a:rPr lang="en-GB" noProof="0" dirty="0"/>
              <a:t>.</a:t>
            </a:r>
          </a:p>
          <a:p>
            <a:r>
              <a:rPr lang="en-GB" noProof="0" dirty="0"/>
              <a:t>Powering up the board puts the FPGA chip into a "waiting" mode (LEDs flashing). You then send the board the bitstream of your design via the USB port.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The Altera Cyclone V FPGA uses a more complex FPGA logic blocks called Adaptive Logic Modules (ALMs)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Altera </a:t>
            </a:r>
            <a:r>
              <a:rPr lang="en-GB" b="1" noProof="0" dirty="0"/>
              <a:t>Cyclone V</a:t>
            </a:r>
            <a:r>
              <a:rPr lang="en-GB" noProof="0" dirty="0"/>
              <a:t> FPGA uses a more complex FPGA logic blocks called Adaptive Logic Modules (ALMs).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24</a:t>
            </a:fld>
            <a:endParaRPr lang="en-GB" noProof="0" dirty="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50" y="3943350"/>
            <a:ext cx="6862335" cy="5174107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The device we use (5CSEMA5F31C6N) has 32000 ALMs. That's roughly equivalent to 85000 4-LUTs, or about 2000 32-bit binary adders.…"/>
          <p:cNvSpPr txBox="1"/>
          <p:nvPr/>
        </p:nvSpPr>
        <p:spPr>
          <a:xfrm>
            <a:off x="968348" y="3746500"/>
            <a:ext cx="4331399" cy="594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The device we use (5CSEMA5F31C6N) has 32000 ALMs. That's roughly equivalent to 85000 4-LUTs, or about 2000 32-bit binary adders.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Not that this particularly matters for FPGA </a:t>
            </a:r>
            <a:r>
              <a:rPr lang="en-GB" i="1" noProof="0" dirty="0"/>
              <a:t>users</a:t>
            </a:r>
            <a:r>
              <a:rPr lang="en-GB" noProof="0" dirty="0"/>
              <a:t>.</a:t>
            </a:r>
          </a:p>
        </p:txBody>
      </p:sp>
      <p:sp>
        <p:nvSpPr>
          <p:cNvPr id="627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1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  <p:sp>
        <p:nvSpPr>
          <p:cNvPr id="6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25</a:t>
            </a:fld>
            <a:endParaRPr lang="en-GB" noProof="0" dirty="0"/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11" y="4232745"/>
            <a:ext cx="9720578" cy="5216616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The Cyclone V also has 4MB of embedded memory, 87 DSP blocks (for multiply-accumulate), a 2-core ARM processor, and hard logic for interfacing with PCIe and external memory."/>
          <p:cNvSpPr txBox="1">
            <a:spLocks noGrp="1"/>
          </p:cNvSpPr>
          <p:nvPr>
            <p:ph type="body" idx="1"/>
          </p:nvPr>
        </p:nvSpPr>
        <p:spPr>
          <a:xfrm>
            <a:off x="952500" y="2448055"/>
            <a:ext cx="11711315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Cyclone V also has 4MB of embedded memory, 87 DSP blocks (for multiply-accumulate), a 2-core ARM processor, and hard logic for interfacing with PCIe and external memory.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he DE1-SoC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DE1-SoC board</a:t>
            </a:r>
          </a:p>
        </p:txBody>
      </p:sp>
      <p:sp>
        <p:nvSpPr>
          <p:cNvPr id="635" name="Everything you need to test basic designs involving switches, 7-segment displays, and even VGA output."/>
          <p:cNvSpPr txBox="1">
            <a:spLocks noGrp="1"/>
          </p:cNvSpPr>
          <p:nvPr>
            <p:ph type="body" sz="quarter" idx="1"/>
          </p:nvPr>
        </p:nvSpPr>
        <p:spPr>
          <a:xfrm>
            <a:off x="457200" y="2686050"/>
            <a:ext cx="449793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Everything you need to test basic designs involving switches, 7-segment displays, and even VGA output.</a:t>
            </a:r>
          </a:p>
        </p:txBody>
      </p:sp>
      <p:sp>
        <p:nvSpPr>
          <p:cNvPr id="6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26</a:t>
            </a:fld>
            <a:endParaRPr lang="en-GB" noProof="0" dirty="0"/>
          </a:p>
        </p:txBody>
      </p:sp>
      <p:pic>
        <p:nvPicPr>
          <p:cNvPr id="6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67400"/>
            <a:ext cx="4340020" cy="33798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277" y="2374900"/>
            <a:ext cx="7650553" cy="6286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Add-on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Add-on board</a:t>
            </a:r>
          </a:p>
        </p:txBody>
      </p:sp>
      <p:sp>
        <p:nvSpPr>
          <p:cNvPr id="641" name="Provides analogue inputs (from microphone) and outputs (to headphone jack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275090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Provides analogue inputs (from microphone) and outputs (to headphone jack).</a:t>
            </a:r>
          </a:p>
          <a:p>
            <a:r>
              <a:rPr lang="en-GB" noProof="0" dirty="0"/>
              <a:t>Will feature in the third and fourth parts of the lab – you can ignore it for now.</a:t>
            </a:r>
          </a:p>
        </p:txBody>
      </p:sp>
      <p:sp>
        <p:nvSpPr>
          <p:cNvPr id="6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27</a:t>
            </a:fld>
            <a:endParaRPr lang="en-GB" noProof="0" dirty="0"/>
          </a:p>
        </p:txBody>
      </p:sp>
      <p:pic>
        <p:nvPicPr>
          <p:cNvPr id="64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01" y="2444750"/>
            <a:ext cx="4418949" cy="6769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Design To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Design Tools</a:t>
            </a:r>
          </a:p>
        </p:txBody>
      </p:sp>
      <p:sp>
        <p:nvSpPr>
          <p:cNvPr id="646" name="We use Altera Quartus II to design for FPGA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78725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We use </a:t>
            </a:r>
            <a:r>
              <a:rPr lang="en-GB" b="1" noProof="0" dirty="0"/>
              <a:t>Altera Quartus II</a:t>
            </a:r>
            <a:r>
              <a:rPr lang="en-GB" noProof="0" dirty="0"/>
              <a:t> to design for FPGA.</a:t>
            </a:r>
          </a:p>
          <a:p>
            <a:r>
              <a:rPr lang="en-GB" noProof="0" dirty="0"/>
              <a:t>Features include: design entry, compilation from HDL, synthesis, simulation, timing analysis, power analysis, project management.</a:t>
            </a:r>
          </a:p>
          <a:p>
            <a:r>
              <a:rPr lang="en-GB" noProof="0" dirty="0"/>
              <a:t>The software is installed on all the PCs in the department.</a:t>
            </a:r>
          </a:p>
        </p:txBody>
      </p:sp>
      <p:sp>
        <p:nvSpPr>
          <p:cNvPr id="6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28</a:t>
            </a:fld>
            <a:endParaRPr lang="en-GB" noProof="0" dirty="0"/>
          </a:p>
        </p:txBody>
      </p:sp>
      <p:pic>
        <p:nvPicPr>
          <p:cNvPr id="64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777" y="2385197"/>
            <a:ext cx="3751324" cy="68882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4" name="A hardware description language based on C syntax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34928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hardware description language</a:t>
            </a:r>
            <a:r>
              <a:rPr lang="en-GB" noProof="0" dirty="0"/>
              <a:t> based on C syntax.</a:t>
            </a:r>
          </a:p>
          <a:p>
            <a:r>
              <a:rPr lang="en-GB" noProof="0" dirty="0"/>
              <a:t>An extension of Verilog (early 2000’s) – types + verification</a:t>
            </a:r>
          </a:p>
          <a:p>
            <a:r>
              <a:rPr lang="en-GB" noProof="0" dirty="0"/>
              <a:t>Description can be at </a:t>
            </a:r>
            <a:r>
              <a:rPr lang="en-GB" b="1" noProof="0" dirty="0"/>
              <a:t>behavioural level</a:t>
            </a:r>
            <a:r>
              <a:rPr lang="en-GB" noProof="0" dirty="0"/>
              <a:t>, </a:t>
            </a:r>
            <a:r>
              <a:rPr lang="en-GB" b="1" noProof="0" dirty="0"/>
              <a:t>register-transfer level</a:t>
            </a:r>
            <a:r>
              <a:rPr lang="en-GB" noProof="0" dirty="0"/>
              <a:t> (RTL), or </a:t>
            </a:r>
            <a:r>
              <a:rPr lang="en-GB" b="1" noProof="0" dirty="0"/>
              <a:t>gate level</a:t>
            </a:r>
            <a:r>
              <a:rPr lang="en-GB" noProof="0" dirty="0"/>
              <a:t>.</a:t>
            </a:r>
          </a:p>
          <a:p>
            <a:r>
              <a:rPr lang="en-GB" noProof="0" dirty="0"/>
              <a:t>Closest competitor, VHDL. </a:t>
            </a:r>
          </a:p>
          <a:p>
            <a:r>
              <a:rPr lang="en-GB" noProof="0" dirty="0"/>
              <a:t>Other HDLs include Chisel and </a:t>
            </a:r>
            <a:r>
              <a:rPr lang="en-GB" noProof="0" dirty="0" err="1"/>
              <a:t>Bluespec</a:t>
            </a:r>
            <a:r>
              <a:rPr lang="en-GB" noProof="0" dirty="0"/>
              <a:t>.</a:t>
            </a:r>
          </a:p>
        </p:txBody>
      </p:sp>
      <p:sp>
        <p:nvSpPr>
          <p:cNvPr id="6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30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" grpId="1" build="p" bldLvl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chematic vs HD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Schematic vs HDL</a:t>
            </a:r>
          </a:p>
        </p:txBody>
      </p:sp>
      <p:sp>
        <p:nvSpPr>
          <p:cNvPr id="658" name="Schematics: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03429" cy="62865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/>
            </a:pPr>
            <a:r>
              <a:rPr lang="en-GB" noProof="0" dirty="0"/>
              <a:t>Schematics:</a:t>
            </a:r>
          </a:p>
          <a:p>
            <a:pPr>
              <a:buChar char="✓"/>
            </a:pPr>
            <a:r>
              <a:rPr lang="en-GB" noProof="0" dirty="0"/>
              <a:t>Provide overview</a:t>
            </a:r>
          </a:p>
          <a:p>
            <a:pPr>
              <a:buChar char="✓"/>
            </a:pPr>
            <a:r>
              <a:rPr lang="en-GB" noProof="0" dirty="0"/>
              <a:t>Direct connection to hardware</a:t>
            </a:r>
          </a:p>
          <a:p>
            <a:pPr>
              <a:buChar char="✓"/>
            </a:pPr>
            <a:r>
              <a:rPr lang="en-GB" noProof="0" dirty="0"/>
              <a:t>No programming needed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31</a:t>
            </a:fld>
            <a:endParaRPr lang="en-GB" noProof="0" dirty="0"/>
          </a:p>
        </p:txBody>
      </p:sp>
      <p:sp>
        <p:nvSpPr>
          <p:cNvPr id="660" name="HDL:…"/>
          <p:cNvSpPr txBox="1"/>
          <p:nvPr/>
        </p:nvSpPr>
        <p:spPr>
          <a:xfrm>
            <a:off x="7006166" y="2686050"/>
            <a:ext cx="520343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algn="l">
              <a:spcBef>
                <a:spcPts val="4200"/>
              </a:spcBef>
              <a:defRPr b="1"/>
            </a:pPr>
            <a:r>
              <a:rPr lang="en-GB" noProof="0" dirty="0"/>
              <a:t>HDL: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Flexible and </a:t>
            </a:r>
            <a:r>
              <a:rPr lang="en-GB" noProof="0" dirty="0" err="1"/>
              <a:t>parameterisable</a:t>
            </a:r>
            <a:endParaRPr lang="en-GB" noProof="0" dirty="0"/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Simple textual format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Connection to high-level languages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Verilog modules"/>
          <p:cNvSpPr txBox="1">
            <a:spLocks noGrp="1"/>
          </p:cNvSpPr>
          <p:nvPr>
            <p:ph type="title"/>
          </p:nvPr>
        </p:nvSpPr>
        <p:spPr>
          <a:xfrm>
            <a:off x="727155" y="534908"/>
            <a:ext cx="1155048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GB" noProof="0" dirty="0"/>
              <a:t>SystemVerilog modules</a:t>
            </a:r>
          </a:p>
        </p:txBody>
      </p:sp>
      <p:sp>
        <p:nvSpPr>
          <p:cNvPr id="663" name="A Verilog design consists of many interconnected modules.…"/>
          <p:cNvSpPr txBox="1">
            <a:spLocks noGrp="1"/>
          </p:cNvSpPr>
          <p:nvPr>
            <p:ph type="body" idx="1"/>
          </p:nvPr>
        </p:nvSpPr>
        <p:spPr>
          <a:xfrm>
            <a:off x="952499" y="2305949"/>
            <a:ext cx="11603057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SystemVerilog design consists of many interconnected </a:t>
            </a:r>
            <a:r>
              <a:rPr lang="en-GB" b="1" noProof="0" dirty="0"/>
              <a:t>modules</a:t>
            </a:r>
            <a:r>
              <a:rPr lang="en-GB" noProof="0" dirty="0"/>
              <a:t>. </a:t>
            </a:r>
          </a:p>
          <a:p>
            <a:r>
              <a:rPr lang="en-GB" noProof="0" dirty="0"/>
              <a:t>A module contains computations, assignments, and other modules.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32</a:t>
            </a:fld>
            <a:endParaRPr lang="en-GB" noProof="0" dirty="0"/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8" y="4826274"/>
            <a:ext cx="3388294" cy="244710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666" name="Table 1"/>
          <p:cNvGraphicFramePr/>
          <p:nvPr>
            <p:extLst>
              <p:ext uri="{D42A27DB-BD31-4B8C-83A1-F6EECF244321}">
                <p14:modId xmlns:p14="http://schemas.microsoft.com/office/powerpoint/2010/main" val="2809524358"/>
              </p:ext>
            </p:extLst>
          </p:nvPr>
        </p:nvGraphicFramePr>
        <p:xfrm>
          <a:off x="4187954" y="4627649"/>
          <a:ext cx="2875293" cy="487167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503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842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sel</a:t>
                      </a:r>
                      <a:endParaRPr lang="en-GB" sz="1500" b="1" noProof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outbar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67" name="// Function: 2-to-1 multiplexer…"/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" grpId="1" animBg="1" advAuto="0"/>
      <p:bldP spid="666" grpId="2" animBg="1" advAuto="0"/>
      <p:bldP spid="667" grpId="3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// Function: 2-to-1 multiplexer…">
            <a:extLst>
              <a:ext uri="{FF2B5EF4-FFF2-40B4-BE49-F238E27FC236}">
                <a16:creationId xmlns:a16="http://schemas.microsoft.com/office/drawing/2014/main" id="{20C6593F-275F-0EFC-D5F3-41FE21679C4E}"/>
              </a:ext>
            </a:extLst>
          </p:cNvPr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70" name="Verilog synta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Verilog syntax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33</a:t>
            </a:fld>
            <a:endParaRPr lang="en-GB" noProof="0" dirty="0"/>
          </a:p>
        </p:txBody>
      </p:sp>
      <p:grpSp>
        <p:nvGrpSpPr>
          <p:cNvPr id="674" name="Group"/>
          <p:cNvGrpSpPr/>
          <p:nvPr/>
        </p:nvGrpSpPr>
        <p:grpSpPr>
          <a:xfrm>
            <a:off x="346791" y="2502105"/>
            <a:ext cx="7373692" cy="3948798"/>
            <a:chOff x="0" y="-88470"/>
            <a:chExt cx="7457077" cy="3753126"/>
          </a:xfrm>
        </p:grpSpPr>
        <p:sp>
          <p:nvSpPr>
            <p:cNvPr id="672" name="Specify port as input/output/inout"/>
            <p:cNvSpPr txBox="1"/>
            <p:nvPr/>
          </p:nvSpPr>
          <p:spPr>
            <a:xfrm>
              <a:off x="0" y="-88470"/>
              <a:ext cx="4395790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Specify port as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 lang="en-GB" noProof="0" dirty="0"/>
                <a:t>/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 lang="en-GB" noProof="0" dirty="0"/>
                <a:t>/</a:t>
              </a:r>
              <a:r>
                <a:rPr lang="en-GB" noProof="0" dirty="0" err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inout</a:t>
              </a:r>
              <a:endPara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</p:txBody>
        </p:sp>
        <p:sp>
          <p:nvSpPr>
            <p:cNvPr id="673" name="Line"/>
            <p:cNvSpPr/>
            <p:nvPr/>
          </p:nvSpPr>
          <p:spPr>
            <a:xfrm>
              <a:off x="3701302" y="914979"/>
              <a:ext cx="3755775" cy="274967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77" name="Group"/>
          <p:cNvGrpSpPr/>
          <p:nvPr/>
        </p:nvGrpSpPr>
        <p:grpSpPr>
          <a:xfrm>
            <a:off x="406057" y="4785560"/>
            <a:ext cx="7515906" cy="2563289"/>
            <a:chOff x="0" y="-260349"/>
            <a:chExt cx="7515904" cy="2563288"/>
          </a:xfrm>
        </p:grpSpPr>
        <p:sp>
          <p:nvSpPr>
            <p:cNvPr id="675" name="Express module's behaviour. Each statement executes in parallel. Order doesn't matter."/>
            <p:cNvSpPr txBox="1"/>
            <p:nvPr/>
          </p:nvSpPr>
          <p:spPr>
            <a:xfrm>
              <a:off x="0" y="-260350"/>
              <a:ext cx="5280535" cy="203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Express module's behaviour. Each statement executes in parallel. Order doesn't matter.</a:t>
              </a:r>
            </a:p>
          </p:txBody>
        </p:sp>
        <p:sp>
          <p:nvSpPr>
            <p:cNvPr id="676" name="Line"/>
            <p:cNvSpPr/>
            <p:nvPr/>
          </p:nvSpPr>
          <p:spPr>
            <a:xfrm>
              <a:off x="5372940" y="1154366"/>
              <a:ext cx="2142965" cy="114857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0" name="Group"/>
          <p:cNvGrpSpPr/>
          <p:nvPr/>
        </p:nvGrpSpPr>
        <p:grpSpPr>
          <a:xfrm>
            <a:off x="5215124" y="2543074"/>
            <a:ext cx="3265048" cy="3290543"/>
            <a:chOff x="0" y="-15975"/>
            <a:chExt cx="3265047" cy="3290542"/>
          </a:xfrm>
        </p:grpSpPr>
        <p:sp>
          <p:nvSpPr>
            <p:cNvPr id="678" name="Declare module, list its ports, terminate with ;"/>
            <p:cNvSpPr txBox="1"/>
            <p:nvPr/>
          </p:nvSpPr>
          <p:spPr>
            <a:xfrm>
              <a:off x="0" y="-15975"/>
              <a:ext cx="3265047" cy="1555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Declare module, list its ports, terminate with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;</a:t>
              </a:r>
            </a:p>
          </p:txBody>
        </p:sp>
        <p:sp>
          <p:nvSpPr>
            <p:cNvPr id="679" name="Line"/>
            <p:cNvSpPr/>
            <p:nvPr/>
          </p:nvSpPr>
          <p:spPr>
            <a:xfrm>
              <a:off x="2149381" y="1525819"/>
              <a:ext cx="488213" cy="174874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3" name="Group"/>
          <p:cNvGrpSpPr/>
          <p:nvPr/>
        </p:nvGrpSpPr>
        <p:grpSpPr>
          <a:xfrm>
            <a:off x="8705589" y="2777311"/>
            <a:ext cx="3780733" cy="2535742"/>
            <a:chOff x="-186462" y="-16688"/>
            <a:chExt cx="3780731" cy="2535740"/>
          </a:xfrm>
        </p:grpSpPr>
        <p:sp>
          <p:nvSpPr>
            <p:cNvPr id="681" name="Comments can also use /* ... */"/>
            <p:cNvSpPr txBox="1"/>
            <p:nvPr/>
          </p:nvSpPr>
          <p:spPr>
            <a:xfrm>
              <a:off x="-186462" y="-16688"/>
              <a:ext cx="3780731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Comments can also use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/* ... */</a:t>
              </a:r>
            </a:p>
          </p:txBody>
        </p:sp>
        <p:sp>
          <p:nvSpPr>
            <p:cNvPr id="682" name="Line"/>
            <p:cNvSpPr/>
            <p:nvPr/>
          </p:nvSpPr>
          <p:spPr>
            <a:xfrm flipH="1">
              <a:off x="1458436" y="1143084"/>
              <a:ext cx="571853" cy="137596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6" name="Group"/>
          <p:cNvGrpSpPr/>
          <p:nvPr/>
        </p:nvGrpSpPr>
        <p:grpSpPr>
          <a:xfrm>
            <a:off x="5579191" y="8138111"/>
            <a:ext cx="7007603" cy="1459791"/>
            <a:chOff x="0" y="0"/>
            <a:chExt cx="7007602" cy="1459789"/>
          </a:xfrm>
        </p:grpSpPr>
        <p:sp>
          <p:nvSpPr>
            <p:cNvPr id="684" name="Other operators include: &amp;, |, +, -, *"/>
            <p:cNvSpPr txBox="1"/>
            <p:nvPr/>
          </p:nvSpPr>
          <p:spPr>
            <a:xfrm>
              <a:off x="0" y="869041"/>
              <a:ext cx="7007603" cy="5907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Other operators include: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&amp;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|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-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*</a:t>
              </a:r>
            </a:p>
          </p:txBody>
        </p:sp>
        <p:sp>
          <p:nvSpPr>
            <p:cNvPr id="685" name="Line"/>
            <p:cNvSpPr/>
            <p:nvPr/>
          </p:nvSpPr>
          <p:spPr>
            <a:xfrm flipV="1">
              <a:off x="4831067" y="-1"/>
              <a:ext cx="568172" cy="7911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9" name="Group"/>
          <p:cNvGrpSpPr/>
          <p:nvPr/>
        </p:nvGrpSpPr>
        <p:grpSpPr>
          <a:xfrm>
            <a:off x="406057" y="8025824"/>
            <a:ext cx="7253440" cy="537384"/>
            <a:chOff x="0" y="967109"/>
            <a:chExt cx="7253438" cy="537382"/>
          </a:xfrm>
        </p:grpSpPr>
        <p:sp>
          <p:nvSpPr>
            <p:cNvPr id="687" name="This is continuous assignment. Output responds to changes in input immediately."/>
            <p:cNvSpPr/>
            <p:nvPr/>
          </p:nvSpPr>
          <p:spPr>
            <a:xfrm>
              <a:off x="0" y="1016000"/>
              <a:ext cx="528053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This is continuous assignment. Output responds to changes in input </a:t>
              </a:r>
              <a:r>
                <a:rPr lang="en-GB" b="1" noProof="0" dirty="0"/>
                <a:t>immediately</a:t>
              </a:r>
              <a:r>
                <a:rPr lang="en-GB" noProof="0" dirty="0"/>
                <a:t>.</a:t>
              </a:r>
            </a:p>
          </p:txBody>
        </p:sp>
        <p:sp>
          <p:nvSpPr>
            <p:cNvPr id="688" name="Line"/>
            <p:cNvSpPr/>
            <p:nvPr/>
          </p:nvSpPr>
          <p:spPr>
            <a:xfrm flipV="1">
              <a:off x="4785704" y="967109"/>
              <a:ext cx="2467735" cy="53738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674" grpId="3" animBg="1" advAuto="0"/>
      <p:bldP spid="677" grpId="4" animBg="1" advAuto="0"/>
      <p:bldP spid="680" grpId="2" animBg="1" advAuto="0"/>
      <p:bldP spid="683" grpId="1" animBg="1" advAuto="0"/>
      <p:bldP spid="686" grpId="6" animBg="1" advAuto="0"/>
      <p:bldP spid="689" grpId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ate-level descrip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</a:t>
            </a:r>
          </a:p>
        </p:txBody>
      </p:sp>
      <p:sp>
        <p:nvSpPr>
          <p:cNvPr id="692" name="Built-in logic gates include: and, nand, or, nor, xor, xnor, not, buf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416315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Built-in logic gates include: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nand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xnor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buf</a:t>
            </a:r>
            <a:r>
              <a:rPr lang="en-GB" noProof="0" dirty="0"/>
              <a:t>.</a:t>
            </a:r>
          </a:p>
        </p:txBody>
      </p:sp>
      <p:sp>
        <p:nvSpPr>
          <p:cNvPr id="6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34</a:t>
            </a:fld>
            <a:endParaRPr lang="en-GB" noProof="0" dirty="0"/>
          </a:p>
        </p:txBody>
      </p:sp>
      <p:grpSp>
        <p:nvGrpSpPr>
          <p:cNvPr id="700" name="Group"/>
          <p:cNvGrpSpPr/>
          <p:nvPr/>
        </p:nvGrpSpPr>
        <p:grpSpPr>
          <a:xfrm>
            <a:off x="7027333" y="4161366"/>
            <a:ext cx="5668257" cy="2500702"/>
            <a:chOff x="0" y="0"/>
            <a:chExt cx="5668255" cy="2500701"/>
          </a:xfrm>
        </p:grpSpPr>
        <p:pic>
          <p:nvPicPr>
            <p:cNvPr id="694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668256" cy="250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95" name="a1"/>
            <p:cNvSpPr txBox="1"/>
            <p:nvPr/>
          </p:nvSpPr>
          <p:spPr>
            <a:xfrm>
              <a:off x="1428718" y="118533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a1</a:t>
              </a:r>
            </a:p>
          </p:txBody>
        </p:sp>
        <p:sp>
          <p:nvSpPr>
            <p:cNvPr id="696" name="a2"/>
            <p:cNvSpPr txBox="1"/>
            <p:nvPr/>
          </p:nvSpPr>
          <p:spPr>
            <a:xfrm>
              <a:off x="14287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a2</a:t>
              </a:r>
            </a:p>
          </p:txBody>
        </p:sp>
        <p:sp>
          <p:nvSpPr>
            <p:cNvPr id="697" name="o1"/>
            <p:cNvSpPr txBox="1"/>
            <p:nvPr/>
          </p:nvSpPr>
          <p:spPr>
            <a:xfrm>
              <a:off x="3134752" y="1047150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o1</a:t>
              </a:r>
            </a:p>
          </p:txBody>
        </p:sp>
        <p:sp>
          <p:nvSpPr>
            <p:cNvPr id="698" name="i1"/>
            <p:cNvSpPr txBox="1"/>
            <p:nvPr/>
          </p:nvSpPr>
          <p:spPr>
            <a:xfrm>
              <a:off x="852985" y="1169917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i1</a:t>
              </a:r>
            </a:p>
          </p:txBody>
        </p:sp>
        <p:sp>
          <p:nvSpPr>
            <p:cNvPr id="699" name="i2"/>
            <p:cNvSpPr txBox="1"/>
            <p:nvPr/>
          </p:nvSpPr>
          <p:spPr>
            <a:xfrm>
              <a:off x="40449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i2</a:t>
              </a:r>
            </a:p>
          </p:txBody>
        </p:sp>
      </p:grpSp>
      <p:sp>
        <p:nvSpPr>
          <p:cNvPr id="701" name="In practice, &quot;gate-level description&quot; depends on what primitives are provided by your target chip."/>
          <p:cNvSpPr txBox="1"/>
          <p:nvPr/>
        </p:nvSpPr>
        <p:spPr>
          <a:xfrm>
            <a:off x="6737415" y="7042802"/>
            <a:ext cx="6052763" cy="321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indent="-444500" algn="l">
              <a:spcBef>
                <a:spcPts val="4200"/>
              </a:spcBef>
              <a:buSzPct val="145000"/>
              <a:buChar char="•"/>
            </a:lvl1pPr>
          </a:lstStyle>
          <a:p>
            <a:r>
              <a:rPr lang="en-GB" noProof="0" dirty="0"/>
              <a:t>In practice, "gate-level description" depends on what primitives are provided by your target chip.</a:t>
            </a:r>
          </a:p>
        </p:txBody>
      </p:sp>
      <p:sp>
        <p:nvSpPr>
          <p:cNvPr id="702" name="// Function: 2-to-1 multiplexer as gates…"/>
          <p:cNvSpPr txBox="1"/>
          <p:nvPr/>
        </p:nvSpPr>
        <p:spPr>
          <a:xfrm>
            <a:off x="736956" y="4208941"/>
            <a:ext cx="5107167" cy="451918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 as gates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mux_gate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logic out1, out2,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i1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a1 (out1, a,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a2 (out2,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or  o1 (out, out1, out2);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i2 (outbar, out);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2" grpId="1" animBg="1" advAuto="0"/>
      <p:bldP spid="700" grpId="3" animBg="1" advAuto="0"/>
      <p:bldP spid="701" grpId="4" animBg="1" advAuto="0"/>
      <p:bldP spid="702" grpId="2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module mux2to1 (out, outbar,…"/>
          <p:cNvSpPr txBox="1"/>
          <p:nvPr/>
        </p:nvSpPr>
        <p:spPr>
          <a:xfrm>
            <a:off x="694276" y="3917022"/>
            <a:ext cx="4257576" cy="31803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0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05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Combinational blocks</a:t>
            </a:r>
          </a:p>
        </p:txBody>
      </p:sp>
      <p:sp>
        <p:nvSpPr>
          <p:cNvPr id="706" name="Verilog provides always blocks for defining sequential logic."/>
          <p:cNvSpPr txBox="1">
            <a:spLocks noGrp="1"/>
          </p:cNvSpPr>
          <p:nvPr>
            <p:ph type="body" sz="quarter" idx="1"/>
          </p:nvPr>
        </p:nvSpPr>
        <p:spPr>
          <a:xfrm>
            <a:off x="952499" y="2686050"/>
            <a:ext cx="11267087" cy="9172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noProof="0" dirty="0"/>
              <a:t> blocks define </a:t>
            </a:r>
            <a:r>
              <a:rPr lang="en-GB" b="1" noProof="0" dirty="0"/>
              <a:t>combinational </a:t>
            </a:r>
            <a:r>
              <a:rPr lang="en-GB" noProof="0" dirty="0"/>
              <a:t>logic – no “state”</a:t>
            </a:r>
          </a:p>
        </p:txBody>
      </p:sp>
      <p:sp>
        <p:nvSpPr>
          <p:cNvPr id="7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35</a:t>
            </a:fld>
            <a:endParaRPr lang="en-GB" noProof="0" dirty="0"/>
          </a:p>
        </p:txBody>
      </p:sp>
      <p:sp>
        <p:nvSpPr>
          <p:cNvPr id="709" name="Executed in sequence (order matters!)"/>
          <p:cNvSpPr txBox="1"/>
          <p:nvPr/>
        </p:nvSpPr>
        <p:spPr>
          <a:xfrm>
            <a:off x="857395" y="7478115"/>
            <a:ext cx="1000829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Blocking assignments (=)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dirty="0"/>
              <a:t>Statements run in order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Incomplete assignments leads to unintended latch</a:t>
            </a:r>
          </a:p>
        </p:txBody>
      </p:sp>
      <p:sp>
        <p:nvSpPr>
          <p:cNvPr id="711" name="Can also contain case and for"/>
          <p:cNvSpPr txBox="1"/>
          <p:nvPr/>
        </p:nvSpPr>
        <p:spPr>
          <a:xfrm>
            <a:off x="8210606" y="5628669"/>
            <a:ext cx="3888167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Can also contain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 lang="en-GB" noProof="0" dirty="0"/>
              <a:t> and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</a:p>
        </p:txBody>
      </p:sp>
      <p:sp>
        <p:nvSpPr>
          <p:cNvPr id="712" name="Line"/>
          <p:cNvSpPr/>
          <p:nvPr/>
        </p:nvSpPr>
        <p:spPr>
          <a:xfrm flipH="1" flipV="1">
            <a:off x="4140769" y="5912285"/>
            <a:ext cx="4257578" cy="300388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14" name="Sensitivity list"/>
          <p:cNvSpPr txBox="1"/>
          <p:nvPr/>
        </p:nvSpPr>
        <p:spPr>
          <a:xfrm>
            <a:off x="7870776" y="4555281"/>
            <a:ext cx="463221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Automatic sensitivity list</a:t>
            </a:r>
          </a:p>
        </p:txBody>
      </p:sp>
      <p:sp>
        <p:nvSpPr>
          <p:cNvPr id="715" name="Line"/>
          <p:cNvSpPr/>
          <p:nvPr/>
        </p:nvSpPr>
        <p:spPr>
          <a:xfrm flipH="1">
            <a:off x="3732755" y="4876801"/>
            <a:ext cx="4257577" cy="437644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4" grpId="2" animBg="1" advAuto="0"/>
      <p:bldP spid="706" grpId="1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 err="1"/>
              <a:t>always_comb</a:t>
            </a:r>
            <a:r>
              <a:rPr lang="en-GB" noProof="0" dirty="0"/>
              <a:t> blocks</a:t>
            </a:r>
          </a:p>
        </p:txBody>
      </p:sp>
      <p:sp>
        <p:nvSpPr>
          <p:cNvPr id="722" name="Can mix procedural and continuous assignments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Can mix procedural and continuous assignments. </a:t>
            </a:r>
          </a:p>
        </p:txBody>
      </p:sp>
      <p:sp>
        <p:nvSpPr>
          <p:cNvPr id="7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36</a:t>
            </a:fld>
            <a:endParaRPr lang="en-GB" noProof="0" dirty="0"/>
          </a:p>
        </p:txBody>
      </p:sp>
      <p:sp>
        <p:nvSpPr>
          <p:cNvPr id="724" name="module mux2to1 (out, outbar,…"/>
          <p:cNvSpPr txBox="1"/>
          <p:nvPr/>
        </p:nvSpPr>
        <p:spPr>
          <a:xfrm>
            <a:off x="405752" y="4957427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25" name="module mux2to1 (out, outbar,…"/>
          <p:cNvSpPr txBox="1"/>
          <p:nvPr/>
        </p:nvSpPr>
        <p:spPr>
          <a:xfrm>
            <a:off x="7036525" y="4957427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Punched Tape 1">
            <a:extLst>
              <a:ext uri="{FF2B5EF4-FFF2-40B4-BE49-F238E27FC236}">
                <a16:creationId xmlns:a16="http://schemas.microsoft.com/office/drawing/2014/main" id="{DF138972-B17B-4EE4-B5C8-B66202E7FF13}"/>
              </a:ext>
            </a:extLst>
          </p:cNvPr>
          <p:cNvSpPr/>
          <p:nvPr/>
        </p:nvSpPr>
        <p:spPr>
          <a:xfrm>
            <a:off x="5660107" y="6112987"/>
            <a:ext cx="1201979" cy="339947"/>
          </a:xfrm>
          <a:prstGeom prst="flowChartPunchedTape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4" name="Punched Tape 3">
            <a:extLst>
              <a:ext uri="{FF2B5EF4-FFF2-40B4-BE49-F238E27FC236}">
                <a16:creationId xmlns:a16="http://schemas.microsoft.com/office/drawing/2014/main" id="{790DE476-8A9E-047B-8E23-F40B8E6B81C1}"/>
              </a:ext>
            </a:extLst>
          </p:cNvPr>
          <p:cNvSpPr/>
          <p:nvPr/>
        </p:nvSpPr>
        <p:spPr>
          <a:xfrm>
            <a:off x="5660107" y="6515435"/>
            <a:ext cx="1201979" cy="339947"/>
          </a:xfrm>
          <a:prstGeom prst="flowChartPunchedTape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Numerical consta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Numerical constants</a:t>
            </a:r>
          </a:p>
        </p:txBody>
      </p:sp>
      <p:sp>
        <p:nvSpPr>
          <p:cNvPr id="728" name="Format is &lt;size&gt;'&lt;signedness&gt;&lt;base&gt;&lt;number&gt;…"/>
          <p:cNvSpPr txBox="1">
            <a:spLocks noGrp="1"/>
          </p:cNvSpPr>
          <p:nvPr>
            <p:ph type="body" idx="1"/>
          </p:nvPr>
        </p:nvSpPr>
        <p:spPr>
          <a:xfrm>
            <a:off x="601249" y="2435528"/>
            <a:ext cx="12012461" cy="695899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Format is </a:t>
            </a:r>
            <a:r>
              <a:rPr lang="en-GB" i="1" noProof="0" dirty="0"/>
              <a:t>&lt;size&gt;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&gt;&lt;base&gt;&lt;number&gt;</a:t>
            </a:r>
          </a:p>
          <a:p>
            <a:r>
              <a:rPr lang="en-GB" i="1" noProof="0" dirty="0"/>
              <a:t>&lt;size&gt;</a:t>
            </a:r>
            <a:r>
              <a:rPr lang="en-GB" noProof="0" dirty="0"/>
              <a:t> defaults to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</a:t>
            </a:r>
            <a:r>
              <a:rPr lang="en-GB" noProof="0" dirty="0"/>
              <a:t>.</a:t>
            </a:r>
          </a:p>
          <a:p>
            <a:r>
              <a:rPr lang="en-GB" i="1" noProof="0" dirty="0"/>
              <a:t>&lt;base&gt;</a:t>
            </a:r>
            <a:r>
              <a:rPr lang="en-GB" noProof="0" dirty="0"/>
              <a:t> is either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</a:t>
            </a:r>
            <a:r>
              <a:rPr lang="en-GB" noProof="0" dirty="0"/>
              <a:t> (binary=2),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</a:t>
            </a:r>
            <a:r>
              <a:rPr lang="en-GB" noProof="0" dirty="0"/>
              <a:t> (octal=8),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noProof="0" dirty="0"/>
              <a:t> (decimal=10), or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noProof="0" dirty="0"/>
              <a:t> (hexadecimal=16). Decimal is the default.</a:t>
            </a:r>
          </a:p>
          <a:p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</a:t>
            </a:r>
            <a:r>
              <a:rPr lang="en-GB" noProof="0" dirty="0"/>
              <a:t> is either blank (unsigned, default) or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noProof="0" dirty="0"/>
              <a:t> (signed).</a:t>
            </a:r>
          </a:p>
          <a:p>
            <a:r>
              <a:rPr lang="en-GB" noProof="0" dirty="0"/>
              <a:t>Examples: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31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8'hAf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2'sb10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ea typeface="Arial"/>
              <a:cs typeface="Arial"/>
            </a:endParaRP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zeros = '0;    // 00000000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ones  = '1;    // 11111111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latin typeface="Arial"/>
              <a:ea typeface="Arial"/>
              <a:cs typeface="Arial"/>
            </a:endParaRP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noProof="0" dirty="0"/>
              <a:t>Aside: signed numbers</a:t>
            </a:r>
          </a:p>
        </p:txBody>
      </p:sp>
      <p:sp>
        <p:nvSpPr>
          <p:cNvPr id="7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38</a:t>
            </a:fld>
            <a:endParaRPr lang="en-GB" noProof="0" dirty="0"/>
          </a:p>
        </p:txBody>
      </p:sp>
      <p:grpSp>
        <p:nvGrpSpPr>
          <p:cNvPr id="760" name="Group"/>
          <p:cNvGrpSpPr/>
          <p:nvPr/>
        </p:nvGrpSpPr>
        <p:grpSpPr>
          <a:xfrm>
            <a:off x="721353" y="2258310"/>
            <a:ext cx="2780311" cy="6637269"/>
            <a:chOff x="-88206" y="-6351"/>
            <a:chExt cx="2780309" cy="6637267"/>
          </a:xfrm>
        </p:grpSpPr>
        <p:graphicFrame>
          <p:nvGraphicFramePr>
            <p:cNvPr id="758" name="Table 1"/>
            <p:cNvGraphicFramePr/>
            <p:nvPr>
              <p:extLst>
                <p:ext uri="{D42A27DB-BD31-4B8C-83A1-F6EECF244321}">
                  <p14:modId xmlns:p14="http://schemas.microsoft.com/office/powerpoint/2010/main" val="4224147502"/>
                </p:ext>
              </p:extLst>
            </p:nvPr>
          </p:nvGraphicFramePr>
          <p:xfrm>
            <a:off x="444826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9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59" name="4-bit unsigned:"/>
            <p:cNvSpPr txBox="1"/>
            <p:nvPr/>
          </p:nvSpPr>
          <p:spPr>
            <a:xfrm>
              <a:off x="-88206" y="-6351"/>
              <a:ext cx="278030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unsigned:</a:t>
              </a:r>
            </a:p>
          </p:txBody>
        </p:sp>
      </p:grpSp>
      <p:grpSp>
        <p:nvGrpSpPr>
          <p:cNvPr id="763" name="Group"/>
          <p:cNvGrpSpPr/>
          <p:nvPr/>
        </p:nvGrpSpPr>
        <p:grpSpPr>
          <a:xfrm>
            <a:off x="4507903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/>
            <p:cNvGraphicFramePr/>
            <p:nvPr>
              <p:extLst>
                <p:ext uri="{D42A27DB-BD31-4B8C-83A1-F6EECF244321}">
                  <p14:modId xmlns:p14="http://schemas.microsoft.com/office/powerpoint/2010/main" val="2079973650"/>
                </p:ext>
              </p:extLst>
            </p:nvPr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/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/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/>
            <p:cNvGraphicFramePr/>
            <p:nvPr>
              <p:extLst>
                <p:ext uri="{D42A27DB-BD31-4B8C-83A1-F6EECF244321}">
                  <p14:modId xmlns:p14="http://schemas.microsoft.com/office/powerpoint/2010/main" val="3571436405"/>
                </p:ext>
              </p:extLst>
            </p:nvPr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/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0" grpId="1" animBg="1" advAuto="0"/>
      <p:bldP spid="763" grpId="2" animBg="1" advAuto="0"/>
      <p:bldP spid="766" grpId="3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2566-8F62-A194-81C4-930625CC4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>
            <a:extLst>
              <a:ext uri="{FF2B5EF4-FFF2-40B4-BE49-F238E27FC236}">
                <a16:creationId xmlns:a16="http://schemas.microsoft.com/office/drawing/2014/main" id="{6877CF23-45B2-3F20-263A-A4D0347B9B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dirty="0"/>
              <a:t>Question?</a:t>
            </a:r>
            <a:endParaRPr lang="en-GB" noProof="0" dirty="0"/>
          </a:p>
        </p:txBody>
      </p:sp>
      <p:sp>
        <p:nvSpPr>
          <p:cNvPr id="757" name="Slide Number">
            <a:extLst>
              <a:ext uri="{FF2B5EF4-FFF2-40B4-BE49-F238E27FC236}">
                <a16:creationId xmlns:a16="http://schemas.microsoft.com/office/drawing/2014/main" id="{A26858A5-6B0A-551A-E836-D526EB90B43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39</a:t>
            </a:fld>
            <a:endParaRPr lang="en-GB" noProof="0" dirty="0"/>
          </a:p>
        </p:txBody>
      </p:sp>
      <p:grpSp>
        <p:nvGrpSpPr>
          <p:cNvPr id="763" name="Group">
            <a:extLst>
              <a:ext uri="{FF2B5EF4-FFF2-40B4-BE49-F238E27FC236}">
                <a16:creationId xmlns:a16="http://schemas.microsoft.com/office/drawing/2014/main" id="{EFF1C625-C615-9652-391F-1A8A3377F8F6}"/>
              </a:ext>
            </a:extLst>
          </p:cNvPr>
          <p:cNvGrpSpPr/>
          <p:nvPr/>
        </p:nvGrpSpPr>
        <p:grpSpPr>
          <a:xfrm>
            <a:off x="4724529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>
              <a:extLst>
                <a:ext uri="{FF2B5EF4-FFF2-40B4-BE49-F238E27FC236}">
                  <a16:creationId xmlns:a16="http://schemas.microsoft.com/office/drawing/2014/main" id="{84EDAE7B-BFCE-EC9D-F0C3-7A1D44580967}"/>
                </a:ext>
              </a:extLst>
            </p:cNvPr>
            <p:cNvGraphicFramePr/>
            <p:nvPr/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>
              <a:extLst>
                <a:ext uri="{FF2B5EF4-FFF2-40B4-BE49-F238E27FC236}">
                  <a16:creationId xmlns:a16="http://schemas.microsoft.com/office/drawing/2014/main" id="{C55DEE19-C295-12F9-B12D-F9EFC1CE4149}"/>
                </a:ext>
              </a:extLst>
            </p:cNvPr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>
            <a:extLst>
              <a:ext uri="{FF2B5EF4-FFF2-40B4-BE49-F238E27FC236}">
                <a16:creationId xmlns:a16="http://schemas.microsoft.com/office/drawing/2014/main" id="{664A7FFA-7ED5-86C1-C111-96D5C1739342}"/>
              </a:ext>
            </a:extLst>
          </p:cNvPr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>
              <a:extLst>
                <a:ext uri="{FF2B5EF4-FFF2-40B4-BE49-F238E27FC236}">
                  <a16:creationId xmlns:a16="http://schemas.microsoft.com/office/drawing/2014/main" id="{CEC769B6-D70F-0B85-7DC0-DDE3562B13CE}"/>
                </a:ext>
              </a:extLst>
            </p:cNvPr>
            <p:cNvGraphicFramePr/>
            <p:nvPr/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>
              <a:extLst>
                <a:ext uri="{FF2B5EF4-FFF2-40B4-BE49-F238E27FC236}">
                  <a16:creationId xmlns:a16="http://schemas.microsoft.com/office/drawing/2014/main" id="{8D741E7A-8F53-0F4E-3223-CF1050D4F717}"/>
                </a:ext>
              </a:extLst>
            </p:cNvPr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51779B6-543D-53D4-9569-81112141051A}"/>
              </a:ext>
            </a:extLst>
          </p:cNvPr>
          <p:cNvSpPr txBox="1"/>
          <p:nvPr/>
        </p:nvSpPr>
        <p:spPr>
          <a:xfrm>
            <a:off x="0" y="5331170"/>
            <a:ext cx="5714947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do we usually prefer 2’s complement?</a:t>
            </a:r>
          </a:p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can’t we represent +8?</a:t>
            </a:r>
          </a:p>
        </p:txBody>
      </p:sp>
    </p:spTree>
    <p:extLst>
      <p:ext uri="{BB962C8B-B14F-4D97-AF65-F5344CB8AC3E}">
        <p14:creationId xmlns:p14="http://schemas.microsoft.com/office/powerpoint/2010/main" val="349783750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3" grpId="0" animBg="1" advAuto="0"/>
      <p:bldP spid="766" grpId="0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Bu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Buses</a:t>
            </a:r>
          </a:p>
        </p:txBody>
      </p:sp>
      <p:sp>
        <p:nvSpPr>
          <p:cNvPr id="769" name="Concatenate wires into a bus using {...} syntax. E.g.:   input [15:0] x;   output [15:0] y;   assign y = { x[7:0], x[15:8] };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Concatenate wires into a </a:t>
            </a:r>
            <a:r>
              <a:rPr lang="en-GB" b="1" noProof="0" dirty="0"/>
              <a:t>bus</a:t>
            </a:r>
            <a:r>
              <a:rPr lang="en-GB" noProof="0" dirty="0"/>
              <a:t> using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{...}</a:t>
            </a:r>
            <a:r>
              <a:rPr lang="en-GB" noProof="0" dirty="0"/>
              <a:t> syntax. E.g.: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  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x;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y;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y = { x[7:0], x[15:8] };</a:t>
            </a:r>
          </a:p>
          <a:p>
            <a:r>
              <a:rPr lang="en-GB" noProof="0" dirty="0"/>
              <a:t>An 8-bit multiplexer:</a:t>
            </a:r>
          </a:p>
        </p:txBody>
      </p:sp>
      <p:sp>
        <p:nvSpPr>
          <p:cNvPr id="7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40</a:t>
            </a:fld>
            <a:endParaRPr lang="en-GB" noProof="0" dirty="0"/>
          </a:p>
        </p:txBody>
      </p:sp>
      <p:pic>
        <p:nvPicPr>
          <p:cNvPr id="77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525" y="6112538"/>
            <a:ext cx="4779741" cy="3105209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module mux2to1 (out, outbar,…"/>
          <p:cNvSpPr txBox="1"/>
          <p:nvPr/>
        </p:nvSpPr>
        <p:spPr>
          <a:xfrm>
            <a:off x="6515412" y="5052504"/>
            <a:ext cx="6185989" cy="416524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[7:0] a, b,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[7:0]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" grpId="1" build="p" bldLvl="5" animBg="1" advAuto="0"/>
      <p:bldP spid="771" grpId="2" animBg="1" advAuto="0"/>
      <p:bldP spid="772" grpId="3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ase statem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Case statements</a:t>
            </a:r>
          </a:p>
        </p:txBody>
      </p:sp>
      <p:sp>
        <p:nvSpPr>
          <p:cNvPr id="7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41</a:t>
            </a:fld>
            <a:endParaRPr lang="en-GB" noProof="0" dirty="0"/>
          </a:p>
        </p:txBody>
      </p:sp>
      <p:sp>
        <p:nvSpPr>
          <p:cNvPr id="779" name="always @ (a or b or sel)…"/>
          <p:cNvSpPr txBox="1"/>
          <p:nvPr/>
        </p:nvSpPr>
        <p:spPr>
          <a:xfrm>
            <a:off x="1723863" y="5321813"/>
            <a:ext cx="3516393" cy="151836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out = b;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0" name="always @ (a or b or sel)…"/>
          <p:cNvSpPr txBox="1"/>
          <p:nvPr/>
        </p:nvSpPr>
        <p:spPr>
          <a:xfrm>
            <a:off x="7133472" y="4790898"/>
            <a:ext cx="4660738" cy="258019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1’b0   : out = b;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1’b1   : out = a;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default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out = b;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1" name="Arrow"/>
          <p:cNvSpPr/>
          <p:nvPr/>
        </p:nvSpPr>
        <p:spPr>
          <a:xfrm>
            <a:off x="5371077" y="5629295"/>
            <a:ext cx="1631574" cy="1210882"/>
          </a:xfrm>
          <a:prstGeom prst="rightArrow">
            <a:avLst>
              <a:gd name="adj1" fmla="val 32000"/>
              <a:gd name="adj2" fmla="val 67125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utting it all togeth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Putting it all together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42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43</a:t>
            </a:fld>
            <a:endParaRPr lang="en-GB" noProof="0" dirty="0"/>
          </a:p>
        </p:txBody>
      </p:sp>
      <p:pic>
        <p:nvPicPr>
          <p:cNvPr id="78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Image" descr="Image">
            <a:extLst>
              <a:ext uri="{FF2B5EF4-FFF2-40B4-BE49-F238E27FC236}">
                <a16:creationId xmlns:a16="http://schemas.microsoft.com/office/drawing/2014/main" id="{F196DE67-36DE-21A4-EBE0-C53C1FCFA6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ounded Rectangle">
            <a:extLst>
              <a:ext uri="{FF2B5EF4-FFF2-40B4-BE49-F238E27FC236}">
                <a16:creationId xmlns:a16="http://schemas.microsoft.com/office/drawing/2014/main" id="{373A4F3B-3CA6-B0B4-6F45-419683D3AB39}"/>
              </a:ext>
            </a:extLst>
          </p:cNvPr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E15B2DC0-3596-721C-2EED-390D0FF0888E}"/>
              </a:ext>
            </a:extLst>
          </p:cNvPr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DC02560A-6282-9C75-9ED9-C55DEB6203BA}"/>
              </a:ext>
            </a:extLst>
          </p:cNvPr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DF912E-F77E-4BBA-7054-8203368DA8D3}"/>
              </a:ext>
            </a:extLst>
          </p:cNvPr>
          <p:cNvSpPr/>
          <p:nvPr/>
        </p:nvSpPr>
        <p:spPr>
          <a:xfrm>
            <a:off x="1938892" y="5154258"/>
            <a:ext cx="3559387" cy="1920585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" grpId="1" animBg="1" advAuto="0"/>
      <p:bldP spid="789" grpId="2" animBg="1" advAuto="0"/>
      <p:bldP spid="3" grpId="0" animBg="1" advAuto="0"/>
      <p:bldP spid="4" grpId="0" animBg="1" advAuto="0"/>
      <p:bldP spid="5" grpId="0" animBg="1" advAuto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44</a:t>
            </a:fld>
            <a:endParaRPr lang="en-GB" noProof="0" dirty="0"/>
          </a:p>
        </p:txBody>
      </p:sp>
      <p:pic>
        <p:nvPicPr>
          <p:cNvPr id="7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799" name="Rounded Rectangle"/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0" name="Rounded Rectangle"/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1" name="Rounded Rectangle"/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/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0800" tIns="50800" rIns="50800" bIns="50800" numCol="1" spcCol="38100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𝑜𝑢𝑡</m:t>
                      </m:r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6=</m:t>
                      </m:r>
                      <m:d>
                        <m:dPr>
                          <m:ctrlP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</m:ctrlPr>
                            </m:accPr>
                            <m:e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𝑖𝑛</m:t>
                              </m:r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3</m:t>
                              </m:r>
                            </m:e>
                          </m:acc>
                          <m: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EF230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3∧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i="1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1∧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kumimoji="0" lang="en-GB" sz="3000" b="0" i="0" u="none" strike="noStrike" cap="none" spc="0" normalizeH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sym typeface="Helvetica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" grpId="1" animBg="1" advAuto="0"/>
      <p:bldP spid="800" grpId="3" animBg="1" advAuto="0"/>
      <p:bldP spid="801" grpId="2" animBg="1" advAuto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First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First attempt</a:t>
            </a:r>
          </a:p>
        </p:txBody>
      </p:sp>
      <p:sp>
        <p:nvSpPr>
          <p:cNvPr id="8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45</a:t>
            </a:fld>
            <a:endParaRPr lang="en-GB" noProof="0" dirty="0"/>
          </a:p>
        </p:txBody>
      </p:sp>
      <p:sp>
        <p:nvSpPr>
          <p:cNvPr id="813" name="Draw a schematic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Draw a schematic:</a:t>
            </a:r>
          </a:p>
        </p:txBody>
      </p:sp>
      <p:pic>
        <p:nvPicPr>
          <p:cNvPr id="81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366" y="3296639"/>
            <a:ext cx="7990068" cy="60465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4" grpId="1" animBg="1" advAuto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ate-level description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description:</a:t>
            </a:r>
          </a:p>
        </p:txBody>
      </p:sp>
      <p:sp>
        <p:nvSpPr>
          <p:cNvPr id="817" name="Secon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Second attempt</a:t>
            </a:r>
          </a:p>
        </p:txBody>
      </p:sp>
      <p:sp>
        <p:nvSpPr>
          <p:cNvPr id="8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46</a:t>
            </a:fld>
            <a:endParaRPr lang="en-GB" noProof="0" dirty="0"/>
          </a:p>
        </p:txBody>
      </p:sp>
      <p:pic>
        <p:nvPicPr>
          <p:cNvPr id="81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283" y="2458941"/>
            <a:ext cx="5787749" cy="4835718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Arrow"/>
          <p:cNvSpPr/>
          <p:nvPr/>
        </p:nvSpPr>
        <p:spPr>
          <a:xfrm rot="8159187">
            <a:off x="2916876" y="5564473"/>
            <a:ext cx="3225035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1" name="and AND1 (A, ~in[3], ~in[2] ~in[1]);…"/>
          <p:cNvSpPr txBox="1"/>
          <p:nvPr/>
        </p:nvSpPr>
        <p:spPr>
          <a:xfrm>
            <a:off x="793309" y="758013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" grpId="1" animBg="1" advAuto="0"/>
      <p:bldP spid="820" grpId="2" animBg="1" advAuto="0"/>
      <p:bldP spid="821" grpId="3" animBg="1" advAuto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hir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Third attempt</a:t>
            </a:r>
          </a:p>
        </p:txBody>
      </p:sp>
      <p:sp>
        <p:nvSpPr>
          <p:cNvPr id="824" name="Use continuous assignment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Use continuous assignment:</a:t>
            </a:r>
          </a:p>
        </p:txBody>
      </p:sp>
      <p:sp>
        <p:nvSpPr>
          <p:cNvPr id="8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47</a:t>
            </a:fld>
            <a:endParaRPr lang="en-GB" noProof="0" dirty="0"/>
          </a:p>
        </p:txBody>
      </p:sp>
      <p:sp>
        <p:nvSpPr>
          <p:cNvPr id="829" name="and AND1 (A, ~in[3], ~in[2] ~in[1]);…"/>
          <p:cNvSpPr txBox="1"/>
          <p:nvPr/>
        </p:nvSpPr>
        <p:spPr>
          <a:xfrm>
            <a:off x="948402" y="373728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  <p:sp>
        <p:nvSpPr>
          <p:cNvPr id="3" name="SV_37">
            <a:extLst>
              <a:ext uri="{FF2B5EF4-FFF2-40B4-BE49-F238E27FC236}">
                <a16:creationId xmlns:a16="http://schemas.microsoft.com/office/drawing/2014/main" id="{79199ADC-70EA-9A77-B357-5110C8FE533F}"/>
              </a:ext>
            </a:extLst>
          </p:cNvPr>
          <p:cNvSpPr>
            <a:spLocks noGrp="1"/>
          </p:cNvSpPr>
          <p:nvPr/>
        </p:nvSpPr>
        <p:spPr>
          <a:xfrm>
            <a:off x="948402" y="7539851"/>
            <a:ext cx="10620375" cy="1258461"/>
          </a:xfrm>
          <a:prstGeom prst="rect">
            <a:avLst/>
          </a:prstGeom>
          <a:solidFill>
            <a:srgbClr val="E9E8C1"/>
          </a:solidFill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assign out[6] = (~in[3] &amp; ~in[2] &amp; ~in[1])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(~in[3] &amp;  in[2] &amp;  in[1] &amp;  in[0])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 in[3] &amp;  in[2] &amp; ~in[1] &amp; ~in[0]);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ED3F9EBA-7355-81CA-FB4C-5255EEBB8D1C}"/>
              </a:ext>
            </a:extLst>
          </p:cNvPr>
          <p:cNvSpPr/>
          <p:nvPr/>
        </p:nvSpPr>
        <p:spPr>
          <a:xfrm rot="5400000">
            <a:off x="4169811" y="5613701"/>
            <a:ext cx="1782573" cy="1092819"/>
          </a:xfrm>
          <a:prstGeom prst="rightArrow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:a14="http://schemas.microsoft.com/office/drawing/2010/main" xmlns:m="http://schemas.openxmlformats.org/officeDocument/2006/math"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48</a:t>
            </a:fld>
            <a:endParaRPr lang="en-GB" noProof="0" dirty="0"/>
          </a:p>
        </p:txBody>
      </p:sp>
      <p:pic>
        <p:nvPicPr>
          <p:cNvPr id="83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27" y="1103769"/>
            <a:ext cx="12265274" cy="81705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Fourth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Fourth attempt</a:t>
            </a:r>
          </a:p>
        </p:txBody>
      </p:sp>
      <p:sp>
        <p:nvSpPr>
          <p:cNvPr id="8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49</a:t>
            </a:fld>
            <a:endParaRPr lang="en-GB" noProof="0" dirty="0"/>
          </a:p>
        </p:txBody>
      </p:sp>
      <p:pic>
        <p:nvPicPr>
          <p:cNvPr id="8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2451100"/>
            <a:ext cx="3611600" cy="68903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34F546-DFD2-3AE4-6634-14FB24B8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00" y="2705100"/>
            <a:ext cx="7772400" cy="61559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C4A8-1512-90E0-8EA5-FC385C18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259" y="546100"/>
            <a:ext cx="12054467" cy="2159000"/>
          </a:xfrm>
        </p:spPr>
        <p:txBody>
          <a:bodyPr>
            <a:normAutofit/>
          </a:bodyPr>
          <a:lstStyle/>
          <a:p>
            <a:r>
              <a:rPr lang="en-GB" dirty="0"/>
              <a:t>SystemVerilog to FPGA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9EB5-EF5C-C787-B87A-24FDEEAF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22" y="2705100"/>
            <a:ext cx="7518400" cy="6134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76B37E-CE67-CA71-A855-93131CC412F3}"/>
              </a:ext>
            </a:extLst>
          </p:cNvPr>
          <p:cNvSpPr txBox="1"/>
          <p:nvPr/>
        </p:nvSpPr>
        <p:spPr>
          <a:xfrm>
            <a:off x="223024" y="3919648"/>
            <a:ext cx="2642839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Elaboration:</a:t>
            </a:r>
            <a:r>
              <a:rPr kumimoji="0" lang="en-GB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check syntax, instantiate modules etc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C68CB-F0C5-0CD5-D1AF-F7709A9C973F}"/>
              </a:ext>
            </a:extLst>
          </p:cNvPr>
          <p:cNvSpPr txBox="1"/>
          <p:nvPr/>
        </p:nvSpPr>
        <p:spPr>
          <a:xfrm>
            <a:off x="223023" y="6591609"/>
            <a:ext cx="3010831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Synthesis: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map to gates, logic optimisation, infer registers, much more…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E40ED-2BC9-2995-0D6F-3673772C0C68}"/>
              </a:ext>
            </a:extLst>
          </p:cNvPr>
          <p:cNvSpPr txBox="1"/>
          <p:nvPr/>
        </p:nvSpPr>
        <p:spPr>
          <a:xfrm>
            <a:off x="9510131" y="3777173"/>
            <a:ext cx="3585738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Place &amp; Route: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fix gate locations and wire them up, assign to FPGA-specific blocks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FA071-45C4-4540-1F18-20E01A9D8461}"/>
              </a:ext>
            </a:extLst>
          </p:cNvPr>
          <p:cNvSpPr txBox="1"/>
          <p:nvPr/>
        </p:nvSpPr>
        <p:spPr>
          <a:xfrm>
            <a:off x="9419062" y="6462074"/>
            <a:ext cx="3585738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Assembler: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produce </a:t>
            </a:r>
            <a:r>
              <a:rPr kumimoji="0" lang="en-GB" sz="2000" i="0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bitpattern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to configure the FPGA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807EB-628A-F60D-FFA1-A03DDEF56B8F}"/>
              </a:ext>
            </a:extLst>
          </p:cNvPr>
          <p:cNvSpPr txBox="1"/>
          <p:nvPr/>
        </p:nvSpPr>
        <p:spPr>
          <a:xfrm rot="16200000">
            <a:off x="4338442" y="5566965"/>
            <a:ext cx="3010831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Technology Mapping</a:t>
            </a:r>
            <a:endParaRPr kumimoji="0" lang="en-GB" sz="2000" i="0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rminator 9">
            <a:extLst>
              <a:ext uri="{FF2B5EF4-FFF2-40B4-BE49-F238E27FC236}">
                <a16:creationId xmlns:a16="http://schemas.microsoft.com/office/drawing/2014/main" id="{8E141E00-231C-FA4C-137D-5103A92BC5E9}"/>
              </a:ext>
            </a:extLst>
          </p:cNvPr>
          <p:cNvSpPr/>
          <p:nvPr/>
        </p:nvSpPr>
        <p:spPr>
          <a:xfrm>
            <a:off x="2359722" y="8608804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AND/OR/XOR</a:t>
            </a:r>
          </a:p>
        </p:txBody>
      </p:sp>
      <p:sp>
        <p:nvSpPr>
          <p:cNvPr id="11" name="Terminator 10">
            <a:extLst>
              <a:ext uri="{FF2B5EF4-FFF2-40B4-BE49-F238E27FC236}">
                <a16:creationId xmlns:a16="http://schemas.microsoft.com/office/drawing/2014/main" id="{02246CFA-F8E4-BD82-70F9-EB111E56993C}"/>
              </a:ext>
            </a:extLst>
          </p:cNvPr>
          <p:cNvSpPr/>
          <p:nvPr/>
        </p:nvSpPr>
        <p:spPr>
          <a:xfrm>
            <a:off x="7625576" y="2343092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LUTs/DSPs</a:t>
            </a:r>
          </a:p>
        </p:txBody>
      </p:sp>
    </p:spTree>
    <p:extLst>
      <p:ext uri="{BB962C8B-B14F-4D97-AF65-F5344CB8AC3E}">
        <p14:creationId xmlns:p14="http://schemas.microsoft.com/office/powerpoint/2010/main" val="982191443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Lab group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Lab groups</a:t>
            </a:r>
          </a:p>
        </p:txBody>
      </p:sp>
      <p:sp>
        <p:nvSpPr>
          <p:cNvPr id="844" name="Andreas Michaelides + Jinzhao Han…"/>
          <p:cNvSpPr txBox="1">
            <a:spLocks noGrp="1"/>
          </p:cNvSpPr>
          <p:nvPr>
            <p:ph type="body" sz="half" idx="1"/>
          </p:nvPr>
        </p:nvSpPr>
        <p:spPr>
          <a:xfrm>
            <a:off x="1665513" y="2597150"/>
            <a:ext cx="9797143" cy="6286500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Devesh Bhaskaran, Riya Shrivastav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dirty="0"/>
              <a:t>Wilson Lee, Max Wong (miw25)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Thomas Penner, Di</a:t>
            </a:r>
            <a:r>
              <a:rPr lang="en-GB" dirty="0"/>
              <a:t>ego Molina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Stephan Abdo</a:t>
            </a:r>
            <a:r>
              <a:rPr lang="en-GB" dirty="0"/>
              <a:t>, Thomas </a:t>
            </a:r>
            <a:r>
              <a:rPr lang="en-GB" dirty="0" err="1"/>
              <a:t>Durrmeier</a:t>
            </a:r>
            <a:endParaRPr lang="en-GB" dirty="0"/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Athanasios </a:t>
            </a:r>
            <a:r>
              <a:rPr lang="en-GB" dirty="0"/>
              <a:t>Spiliotis, Ben Dowman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Mihkel Rebane, Tzong How Ong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dirty="0"/>
              <a:t>Phoebe Chan(pwc26), Tina Tailor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Minh Truong, Yiwei Guo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dirty="0"/>
              <a:t>Bowen Shi, </a:t>
            </a:r>
            <a:r>
              <a:rPr lang="en-GB" dirty="0" err="1"/>
              <a:t>Zhanhao</a:t>
            </a:r>
            <a:r>
              <a:rPr lang="en-GB" dirty="0"/>
              <a:t> Xu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Yuran Wang, Haoyu Lu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dirty="0"/>
              <a:t>Yue(Tracy) Cui, </a:t>
            </a:r>
            <a:r>
              <a:rPr lang="en-GB" dirty="0" err="1"/>
              <a:t>Thattaruparambil</a:t>
            </a:r>
            <a:r>
              <a:rPr lang="en-GB" dirty="0"/>
              <a:t> Manoj Gayathri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Omar </a:t>
            </a:r>
            <a:r>
              <a:rPr lang="en-GB" noProof="0" dirty="0" err="1"/>
              <a:t>Aburish</a:t>
            </a:r>
            <a:r>
              <a:rPr lang="en-GB" dirty="0"/>
              <a:t>, Ali Ibrahim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Carolyn Zhang, Sylvia Sha</a:t>
            </a:r>
            <a:r>
              <a:rPr lang="en-GB" dirty="0"/>
              <a:t>o</a:t>
            </a:r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noProof="0" dirty="0"/>
              <a:t>Rachel Shi, Gabriel </a:t>
            </a:r>
            <a:r>
              <a:rPr lang="en-GB" noProof="0" dirty="0" err="1"/>
              <a:t>Ghrayeb</a:t>
            </a:r>
            <a:endParaRPr lang="en-GB" noProof="0" dirty="0"/>
          </a:p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r>
              <a:rPr lang="en-GB" dirty="0"/>
              <a:t>Steven Zhu, Xinyi Chen</a:t>
            </a:r>
            <a:endParaRPr lang="en-GB" noProof="0" dirty="0"/>
          </a:p>
        </p:txBody>
      </p:sp>
      <p:sp>
        <p:nvSpPr>
          <p:cNvPr id="8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1873</TotalTime>
  <Words>3104</Words>
  <Application>Microsoft Macintosh PowerPoint</Application>
  <PresentationFormat>Custom</PresentationFormat>
  <Paragraphs>1017</Paragraphs>
  <Slides>51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Arial</vt:lpstr>
      <vt:lpstr>Cambria Math</vt:lpstr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Before we start</vt:lpstr>
      <vt:lpstr>Module aims</vt:lpstr>
      <vt:lpstr>Format</vt:lpstr>
      <vt:lpstr>Grading</vt:lpstr>
      <vt:lpstr>Assessment</vt:lpstr>
      <vt:lpstr>Admin</vt:lpstr>
      <vt:lpstr>Labs – by tomorrow!!</vt:lpstr>
      <vt:lpstr>To do</vt:lpstr>
      <vt:lpstr>Credits</vt:lpstr>
      <vt:lpstr>Digital Design</vt:lpstr>
      <vt:lpstr>The old days</vt:lpstr>
      <vt:lpstr>Early integrated circuits</vt:lpstr>
      <vt:lpstr>Full-custom ICs</vt:lpstr>
      <vt:lpstr>Field-programmable  gate arrays (FPGAs)</vt:lpstr>
      <vt:lpstr>Logic blocks</vt:lpstr>
      <vt:lpstr>Multiplexer (MUX)</vt:lpstr>
      <vt:lpstr>Logic blocks</vt:lpstr>
      <vt:lpstr>Field-programmable  gate arrays (FPGAs)</vt:lpstr>
      <vt:lpstr>Programmable routing</vt:lpstr>
      <vt:lpstr>Programmable routing</vt:lpstr>
      <vt:lpstr>Question?</vt:lpstr>
      <vt:lpstr>Configuring an FPGA</vt:lpstr>
      <vt:lpstr>Cyclone V FPGA</vt:lpstr>
      <vt:lpstr>Cyclone V FPGA</vt:lpstr>
      <vt:lpstr>The DE1-SoC board</vt:lpstr>
      <vt:lpstr>Add-on board</vt:lpstr>
      <vt:lpstr>Design Tools</vt:lpstr>
      <vt:lpstr>SystemVerilog</vt:lpstr>
      <vt:lpstr>SystemVerilog</vt:lpstr>
      <vt:lpstr>Schematic vs HDL</vt:lpstr>
      <vt:lpstr>SystemVerilog modules</vt:lpstr>
      <vt:lpstr>Verilog syntax</vt:lpstr>
      <vt:lpstr>Gate-level description</vt:lpstr>
      <vt:lpstr>Combinational blocks</vt:lpstr>
      <vt:lpstr>always_comb blocks</vt:lpstr>
      <vt:lpstr>Numerical constants</vt:lpstr>
      <vt:lpstr>Aside: signed numbers</vt:lpstr>
      <vt:lpstr>Question?</vt:lpstr>
      <vt:lpstr>Buses</vt:lpstr>
      <vt:lpstr>Case statements</vt:lpstr>
      <vt:lpstr>Putting it all together</vt:lpstr>
      <vt:lpstr>7-seg decoder</vt:lpstr>
      <vt:lpstr>7-seg decoder</vt:lpstr>
      <vt:lpstr>First attempt</vt:lpstr>
      <vt:lpstr>Second attempt</vt:lpstr>
      <vt:lpstr>Third attempt</vt:lpstr>
      <vt:lpstr>PowerPoint Presentation</vt:lpstr>
      <vt:lpstr>Fourth attempt</vt:lpstr>
      <vt:lpstr>SystemVerilog to FPGA </vt:lpstr>
      <vt:lpstr>Lab groups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23</cp:revision>
  <dcterms:modified xsi:type="dcterms:W3CDTF">2026-10-06T10:56:08Z</dcterms:modified>
</cp:coreProperties>
</file>