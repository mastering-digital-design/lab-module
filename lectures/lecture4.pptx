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85" d="100"/>
          <a:sy n="85" d="100"/>
        </p:scale>
        <p:origin x="191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55-3F48-A6CE-233B4C8AECFA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55-3F48-A6CE-233B4C8AEC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 b="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65281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 b="1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4963355" y="25400"/>
            <a:ext cx="307808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 b="1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4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Lecture 4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Mastering </a:t>
            </a:r>
            <a:br/>
            <a:r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t>with Verilog on FPGAs</a:t>
            </a:r>
          </a:p>
        </p:txBody>
      </p:sp>
      <p:sp>
        <p:nvSpPr>
          <p:cNvPr id="2" name="Slides by John Wickerson">
            <a:extLst>
              <a:ext uri="{FF2B5EF4-FFF2-40B4-BE49-F238E27FC236}">
                <a16:creationId xmlns:a16="http://schemas.microsoft.com/office/drawing/2014/main" id="{CEA2D7BC-A758-0787-EFDC-6A3A4A9163A7}"/>
              </a:ext>
            </a:extLst>
          </p:cNvPr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7" name="The design of the spi2dac modu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design of the spi2dac module</a:t>
            </a:r>
          </a:p>
          <a:p>
            <a:r>
              <a:t>How the ADC works</a:t>
            </a:r>
          </a:p>
          <a:p>
            <a:r>
              <a:t>Wrapping up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71" name="The design of the spi2dac modu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The design of the spi2dac module</a:t>
            </a:r>
          </a:p>
          <a:p>
            <a:r>
              <a:t>How the ADC works</a:t>
            </a:r>
          </a:p>
          <a:p>
            <a:r>
              <a:t>Wrapping up</a:t>
            </a:r>
          </a:p>
        </p:txBody>
      </p:sp>
      <p:sp>
        <p:nvSpPr>
          <p:cNvPr id="7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88" y="2590800"/>
            <a:ext cx="10314224" cy="5500920"/>
          </a:xfrm>
          <a:prstGeom prst="rect">
            <a:avLst/>
          </a:prstGeom>
          <a:ln w="12700">
            <a:miter lim="400000"/>
          </a:ln>
        </p:spPr>
      </p:pic>
      <p:sp>
        <p:nvSpPr>
          <p:cNvPr id="75" name="spi2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spi2dac</a:t>
            </a:r>
          </a:p>
        </p:txBody>
      </p:sp>
      <p:sp>
        <p:nvSpPr>
          <p:cNvPr id="7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4</a:t>
            </a:fld>
            <a:endParaRPr/>
          </a:p>
        </p:txBody>
      </p:sp>
      <p:grpSp>
        <p:nvGrpSpPr>
          <p:cNvPr id="79" name="Group"/>
          <p:cNvGrpSpPr/>
          <p:nvPr/>
        </p:nvGrpSpPr>
        <p:grpSpPr>
          <a:xfrm>
            <a:off x="288747" y="1269999"/>
            <a:ext cx="3871572" cy="3288111"/>
            <a:chOff x="0" y="0"/>
            <a:chExt cx="3871571" cy="3288109"/>
          </a:xfrm>
        </p:grpSpPr>
        <p:sp>
          <p:nvSpPr>
            <p:cNvPr id="77" name="Line"/>
            <p:cNvSpPr/>
            <p:nvPr/>
          </p:nvSpPr>
          <p:spPr>
            <a:xfrm>
              <a:off x="2808952" y="1642303"/>
              <a:ext cx="287151" cy="1645807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8" name="parameter TC = 5'd24;…"/>
            <p:cNvSpPr txBox="1"/>
            <p:nvPr/>
          </p:nvSpPr>
          <p:spPr>
            <a:xfrm>
              <a:off x="0" y="-1"/>
              <a:ext cx="3871572" cy="1879601"/>
            </a:xfrm>
            <a:prstGeom prst="rect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TC = 5'd24;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[4:0] ctr;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clk_50MHz)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(ctr==0)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ctr &lt;= TC;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clk_1MHz &lt;= ~clk_1MHz;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else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ctr &lt;= ctr - 1'b1;</a:t>
              </a:r>
            </a:p>
          </p:txBody>
        </p:sp>
      </p:grpSp>
      <p:grpSp>
        <p:nvGrpSpPr>
          <p:cNvPr id="98" name="Group"/>
          <p:cNvGrpSpPr/>
          <p:nvPr/>
        </p:nvGrpSpPr>
        <p:grpSpPr>
          <a:xfrm>
            <a:off x="331605" y="6107509"/>
            <a:ext cx="6777783" cy="3429944"/>
            <a:chOff x="0" y="0"/>
            <a:chExt cx="6777781" cy="3429942"/>
          </a:xfrm>
        </p:grpSpPr>
        <p:sp>
          <p:nvSpPr>
            <p:cNvPr id="80" name="Line"/>
            <p:cNvSpPr/>
            <p:nvPr/>
          </p:nvSpPr>
          <p:spPr>
            <a:xfrm flipV="1">
              <a:off x="3398316" y="-1"/>
              <a:ext cx="353428" cy="1258428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97" name="Group"/>
            <p:cNvGrpSpPr/>
            <p:nvPr/>
          </p:nvGrpSpPr>
          <p:grpSpPr>
            <a:xfrm>
              <a:off x="0" y="631527"/>
              <a:ext cx="6777782" cy="2798416"/>
              <a:chOff x="0" y="0"/>
              <a:chExt cx="6777781" cy="2798415"/>
            </a:xfrm>
          </p:grpSpPr>
          <p:sp>
            <p:nvSpPr>
              <p:cNvPr id="81" name="Rectangle"/>
              <p:cNvSpPr/>
              <p:nvPr/>
            </p:nvSpPr>
            <p:spPr>
              <a:xfrm>
                <a:off x="0" y="0"/>
                <a:ext cx="6777782" cy="2798416"/>
              </a:xfrm>
              <a:prstGeom prst="rect">
                <a:avLst/>
              </a:prstGeom>
              <a:solidFill>
                <a:srgbClr val="E9E6BF"/>
              </a:solidFill>
              <a:ln w="12700" cap="flat">
                <a:noFill/>
                <a:miter lim="400000"/>
              </a:ln>
              <a:effectLst>
                <a:outerShdw blurRad="63500" dist="25400" dir="5400000" rotWithShape="0">
                  <a:srgbClr val="000000">
                    <a:alpha val="50000"/>
                  </a:srgbClr>
                </a:outerShdw>
              </a:effec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82" name="high…"/>
              <p:cNvSpPr/>
              <p:nvPr/>
            </p:nvSpPr>
            <p:spPr>
              <a:xfrm>
                <a:off x="3612641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high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dac_start=1</a:t>
                </a:r>
              </a:p>
            </p:txBody>
          </p:sp>
          <p:sp>
            <p:nvSpPr>
              <p:cNvPr id="83" name="idle…"/>
              <p:cNvSpPr/>
              <p:nvPr/>
            </p:nvSpPr>
            <p:spPr>
              <a:xfrm>
                <a:off x="780026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idle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84" name="Connection Line"/>
              <p:cNvCxnSpPr>
                <a:stCxn id="83" idx="0"/>
                <a:endCxn id="82" idx="0"/>
              </p:cNvCxnSpPr>
              <p:nvPr/>
            </p:nvCxnSpPr>
            <p:spPr>
              <a:xfrm>
                <a:off x="1743428" y="831204"/>
                <a:ext cx="2832616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85" name="wait…"/>
              <p:cNvSpPr/>
              <p:nvPr/>
            </p:nvSpPr>
            <p:spPr>
              <a:xfrm>
                <a:off x="2196334" y="1462360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wait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86" name="Connection Line"/>
              <p:cNvCxnSpPr>
                <a:stCxn id="85" idx="0"/>
                <a:endCxn id="83" idx="0"/>
              </p:cNvCxnSpPr>
              <p:nvPr/>
            </p:nvCxnSpPr>
            <p:spPr>
              <a:xfrm flipH="1" flipV="1">
                <a:off x="1743428" y="831204"/>
                <a:ext cx="1416309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87" name="Connection Line"/>
              <p:cNvCxnSpPr>
                <a:stCxn id="82" idx="0"/>
                <a:endCxn id="85" idx="0"/>
              </p:cNvCxnSpPr>
              <p:nvPr/>
            </p:nvCxnSpPr>
            <p:spPr>
              <a:xfrm flipH="1">
                <a:off x="3159736" y="831204"/>
                <a:ext cx="1416308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99" name="Connection Line"/>
              <p:cNvSpPr/>
              <p:nvPr/>
            </p:nvSpPr>
            <p:spPr>
              <a:xfrm>
                <a:off x="3974207" y="1996803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00" name="Connection Line"/>
              <p:cNvSpPr/>
              <p:nvPr/>
            </p:nvSpPr>
            <p:spPr>
              <a:xfrm>
                <a:off x="458905" y="779496"/>
                <a:ext cx="492820" cy="501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88" h="17010" extrusionOk="0">
                    <a:moveTo>
                      <a:pt x="16388" y="11605"/>
                    </a:moveTo>
                    <a:cubicBezTo>
                      <a:pt x="-3124" y="21600"/>
                      <a:pt x="-5212" y="17732"/>
                      <a:pt x="10124" y="0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0" name="¬load"/>
              <p:cNvSpPr txBox="1"/>
              <p:nvPr/>
            </p:nvSpPr>
            <p:spPr>
              <a:xfrm>
                <a:off x="137930" y="1221746"/>
                <a:ext cx="868562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¬load</a:t>
                </a:r>
              </a:p>
            </p:txBody>
          </p:sp>
          <p:sp>
            <p:nvSpPr>
              <p:cNvPr id="91" name="load"/>
              <p:cNvSpPr txBox="1"/>
              <p:nvPr/>
            </p:nvSpPr>
            <p:spPr>
              <a:xfrm>
                <a:off x="2729111" y="290505"/>
                <a:ext cx="690563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load</a:t>
                </a:r>
              </a:p>
            </p:txBody>
          </p:sp>
          <p:sp>
            <p:nvSpPr>
              <p:cNvPr id="101" name="Connection Line"/>
              <p:cNvSpPr/>
              <p:nvPr/>
            </p:nvSpPr>
            <p:spPr>
              <a:xfrm>
                <a:off x="5383907" y="835104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93" name="dac_cs"/>
              <p:cNvSpPr txBox="1"/>
              <p:nvPr/>
            </p:nvSpPr>
            <p:spPr>
              <a:xfrm>
                <a:off x="5688243" y="596254"/>
                <a:ext cx="1080046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  <p:sp>
            <p:nvSpPr>
              <p:cNvPr id="94" name="¬dac_cs"/>
              <p:cNvSpPr txBox="1"/>
              <p:nvPr/>
            </p:nvSpPr>
            <p:spPr>
              <a:xfrm>
                <a:off x="4327361" y="1452314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95" name="¬dac_cs"/>
              <p:cNvSpPr txBox="1"/>
              <p:nvPr/>
            </p:nvSpPr>
            <p:spPr>
              <a:xfrm>
                <a:off x="4365461" y="1919412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96" name="dac_cs"/>
              <p:cNvSpPr txBox="1"/>
              <p:nvPr/>
            </p:nvSpPr>
            <p:spPr>
              <a:xfrm>
                <a:off x="1049837" y="1612254"/>
                <a:ext cx="1080047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</p:grp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" grpId="1" animBg="1" advAuto="0"/>
      <p:bldP spid="98" grpId="2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88" y="2590800"/>
            <a:ext cx="10314224" cy="5500920"/>
          </a:xfrm>
          <a:prstGeom prst="rect">
            <a:avLst/>
          </a:prstGeom>
          <a:ln w="12700">
            <a:miter lim="400000"/>
          </a:ln>
        </p:spPr>
      </p:pic>
      <p:sp>
        <p:nvSpPr>
          <p:cNvPr id="104" name="spi2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spi2dac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5</a:t>
            </a:fld>
            <a:endParaRPr/>
          </a:p>
        </p:txBody>
      </p:sp>
      <p:grpSp>
        <p:nvGrpSpPr>
          <p:cNvPr id="108" name="Group"/>
          <p:cNvGrpSpPr/>
          <p:nvPr/>
        </p:nvGrpSpPr>
        <p:grpSpPr>
          <a:xfrm>
            <a:off x="288747" y="1269999"/>
            <a:ext cx="3871572" cy="3288111"/>
            <a:chOff x="0" y="0"/>
            <a:chExt cx="3871571" cy="3288109"/>
          </a:xfrm>
        </p:grpSpPr>
        <p:sp>
          <p:nvSpPr>
            <p:cNvPr id="106" name="Line"/>
            <p:cNvSpPr/>
            <p:nvPr/>
          </p:nvSpPr>
          <p:spPr>
            <a:xfrm>
              <a:off x="2808952" y="1642303"/>
              <a:ext cx="287151" cy="1645807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7" name="parameter TC = 5'd24;…"/>
            <p:cNvSpPr txBox="1"/>
            <p:nvPr/>
          </p:nvSpPr>
          <p:spPr>
            <a:xfrm>
              <a:off x="0" y="-1"/>
              <a:ext cx="3871572" cy="1879601"/>
            </a:xfrm>
            <a:prstGeom prst="rect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TC = 5'd24;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[4:0] ctr;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clk_50MHz)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(ctr==0)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ctr &lt;= TC;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clk_1MHz &lt;= ~clk_1MHz;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else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ctr &lt;= ctr - 1'b1;</a:t>
              </a:r>
            </a:p>
          </p:txBody>
        </p:sp>
      </p:grpSp>
      <p:grpSp>
        <p:nvGrpSpPr>
          <p:cNvPr id="127" name="Group"/>
          <p:cNvGrpSpPr/>
          <p:nvPr/>
        </p:nvGrpSpPr>
        <p:grpSpPr>
          <a:xfrm>
            <a:off x="331605" y="6107509"/>
            <a:ext cx="6777783" cy="3429944"/>
            <a:chOff x="0" y="0"/>
            <a:chExt cx="6777781" cy="3429942"/>
          </a:xfrm>
        </p:grpSpPr>
        <p:sp>
          <p:nvSpPr>
            <p:cNvPr id="109" name="Line"/>
            <p:cNvSpPr/>
            <p:nvPr/>
          </p:nvSpPr>
          <p:spPr>
            <a:xfrm flipV="1">
              <a:off x="3398316" y="-1"/>
              <a:ext cx="353428" cy="1258428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26" name="Group"/>
            <p:cNvGrpSpPr/>
            <p:nvPr/>
          </p:nvGrpSpPr>
          <p:grpSpPr>
            <a:xfrm>
              <a:off x="0" y="631527"/>
              <a:ext cx="6777782" cy="2798416"/>
              <a:chOff x="0" y="0"/>
              <a:chExt cx="6777781" cy="2798415"/>
            </a:xfrm>
          </p:grpSpPr>
          <p:sp>
            <p:nvSpPr>
              <p:cNvPr id="110" name="Rectangle"/>
              <p:cNvSpPr/>
              <p:nvPr/>
            </p:nvSpPr>
            <p:spPr>
              <a:xfrm>
                <a:off x="0" y="0"/>
                <a:ext cx="6777782" cy="2798416"/>
              </a:xfrm>
              <a:prstGeom prst="rect">
                <a:avLst/>
              </a:prstGeom>
              <a:solidFill>
                <a:srgbClr val="E9E6BF"/>
              </a:solidFill>
              <a:ln w="12700" cap="flat">
                <a:noFill/>
                <a:miter lim="400000"/>
              </a:ln>
              <a:effectLst>
                <a:outerShdw blurRad="63500" dist="25400" dir="5400000" rotWithShape="0">
                  <a:srgbClr val="000000">
                    <a:alpha val="50000"/>
                  </a:srgbClr>
                </a:outerShdw>
              </a:effec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11" name="high…"/>
              <p:cNvSpPr/>
              <p:nvPr/>
            </p:nvSpPr>
            <p:spPr>
              <a:xfrm>
                <a:off x="3612641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high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dac_start=1</a:t>
                </a:r>
              </a:p>
            </p:txBody>
          </p:sp>
          <p:sp>
            <p:nvSpPr>
              <p:cNvPr id="112" name="idle…"/>
              <p:cNvSpPr/>
              <p:nvPr/>
            </p:nvSpPr>
            <p:spPr>
              <a:xfrm>
                <a:off x="780026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idle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113" name="Connection Line"/>
              <p:cNvCxnSpPr>
                <a:stCxn id="112" idx="0"/>
                <a:endCxn id="111" idx="0"/>
              </p:cNvCxnSpPr>
              <p:nvPr/>
            </p:nvCxnSpPr>
            <p:spPr>
              <a:xfrm>
                <a:off x="1743428" y="831204"/>
                <a:ext cx="2832616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114" name="wait…"/>
              <p:cNvSpPr/>
              <p:nvPr/>
            </p:nvSpPr>
            <p:spPr>
              <a:xfrm>
                <a:off x="2196334" y="1462360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wait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115" name="Connection Line"/>
              <p:cNvCxnSpPr>
                <a:stCxn id="114" idx="0"/>
                <a:endCxn id="112" idx="0"/>
              </p:cNvCxnSpPr>
              <p:nvPr/>
            </p:nvCxnSpPr>
            <p:spPr>
              <a:xfrm flipH="1" flipV="1">
                <a:off x="1743428" y="831204"/>
                <a:ext cx="1416309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16" name="Connection Line"/>
              <p:cNvCxnSpPr>
                <a:stCxn id="111" idx="0"/>
                <a:endCxn id="114" idx="0"/>
              </p:cNvCxnSpPr>
              <p:nvPr/>
            </p:nvCxnSpPr>
            <p:spPr>
              <a:xfrm flipH="1">
                <a:off x="3159736" y="831204"/>
                <a:ext cx="1416308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171" name="Connection Line"/>
              <p:cNvSpPr/>
              <p:nvPr/>
            </p:nvSpPr>
            <p:spPr>
              <a:xfrm>
                <a:off x="3974207" y="1996803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2" name="Connection Line"/>
              <p:cNvSpPr/>
              <p:nvPr/>
            </p:nvSpPr>
            <p:spPr>
              <a:xfrm>
                <a:off x="458905" y="779496"/>
                <a:ext cx="492820" cy="501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88" h="17010" extrusionOk="0">
                    <a:moveTo>
                      <a:pt x="16388" y="11605"/>
                    </a:moveTo>
                    <a:cubicBezTo>
                      <a:pt x="-3124" y="21600"/>
                      <a:pt x="-5212" y="17732"/>
                      <a:pt x="10124" y="0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9" name="¬load"/>
              <p:cNvSpPr txBox="1"/>
              <p:nvPr/>
            </p:nvSpPr>
            <p:spPr>
              <a:xfrm>
                <a:off x="137930" y="1221746"/>
                <a:ext cx="868562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¬load</a:t>
                </a:r>
              </a:p>
            </p:txBody>
          </p:sp>
          <p:sp>
            <p:nvSpPr>
              <p:cNvPr id="120" name="load"/>
              <p:cNvSpPr txBox="1"/>
              <p:nvPr/>
            </p:nvSpPr>
            <p:spPr>
              <a:xfrm>
                <a:off x="2729111" y="290505"/>
                <a:ext cx="690563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load</a:t>
                </a:r>
              </a:p>
            </p:txBody>
          </p:sp>
          <p:sp>
            <p:nvSpPr>
              <p:cNvPr id="173" name="Connection Line"/>
              <p:cNvSpPr/>
              <p:nvPr/>
            </p:nvSpPr>
            <p:spPr>
              <a:xfrm>
                <a:off x="5383907" y="835104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22" name="dac_cs"/>
              <p:cNvSpPr txBox="1"/>
              <p:nvPr/>
            </p:nvSpPr>
            <p:spPr>
              <a:xfrm>
                <a:off x="5688243" y="596254"/>
                <a:ext cx="1080046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  <p:sp>
            <p:nvSpPr>
              <p:cNvPr id="123" name="¬dac_cs"/>
              <p:cNvSpPr txBox="1"/>
              <p:nvPr/>
            </p:nvSpPr>
            <p:spPr>
              <a:xfrm>
                <a:off x="4327361" y="1452314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124" name="¬dac_cs"/>
              <p:cNvSpPr txBox="1"/>
              <p:nvPr/>
            </p:nvSpPr>
            <p:spPr>
              <a:xfrm>
                <a:off x="4365461" y="1919412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125" name="dac_cs"/>
              <p:cNvSpPr txBox="1"/>
              <p:nvPr/>
            </p:nvSpPr>
            <p:spPr>
              <a:xfrm>
                <a:off x="1049837" y="1612254"/>
                <a:ext cx="1080047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</p:grpSp>
      </p:grpSp>
      <p:grpSp>
        <p:nvGrpSpPr>
          <p:cNvPr id="170" name="Group"/>
          <p:cNvGrpSpPr/>
          <p:nvPr/>
        </p:nvGrpSpPr>
        <p:grpSpPr>
          <a:xfrm>
            <a:off x="3489" y="392608"/>
            <a:ext cx="8740760" cy="6098184"/>
            <a:chOff x="0" y="0"/>
            <a:chExt cx="8740759" cy="6098182"/>
          </a:xfrm>
        </p:grpSpPr>
        <p:sp>
          <p:nvSpPr>
            <p:cNvPr id="128" name="Line"/>
            <p:cNvSpPr/>
            <p:nvPr/>
          </p:nvSpPr>
          <p:spPr>
            <a:xfrm>
              <a:off x="6110609" y="4252536"/>
              <a:ext cx="2630151" cy="1177910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69" name="Group"/>
            <p:cNvGrpSpPr/>
            <p:nvPr/>
          </p:nvGrpSpPr>
          <p:grpSpPr>
            <a:xfrm>
              <a:off x="0" y="0"/>
              <a:ext cx="8314730" cy="6098183"/>
              <a:chOff x="0" y="0"/>
              <a:chExt cx="8314729" cy="6098182"/>
            </a:xfrm>
          </p:grpSpPr>
          <p:sp>
            <p:nvSpPr>
              <p:cNvPr id="129" name="Rectangle"/>
              <p:cNvSpPr/>
              <p:nvPr/>
            </p:nvSpPr>
            <p:spPr>
              <a:xfrm>
                <a:off x="0" y="0"/>
                <a:ext cx="8314730" cy="6098183"/>
              </a:xfrm>
              <a:prstGeom prst="rect">
                <a:avLst/>
              </a:prstGeom>
              <a:solidFill>
                <a:srgbClr val="E9E6BF"/>
              </a:solidFill>
              <a:ln w="12700" cap="flat">
                <a:noFill/>
                <a:miter lim="400000"/>
              </a:ln>
              <a:effectLst>
                <a:outerShdw blurRad="63500" dist="25400" dir="5400000" rotWithShape="0">
                  <a:srgbClr val="000000">
                    <a:alpha val="50000"/>
                  </a:srgbClr>
                </a:outerShdw>
              </a:effec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30" name="1…"/>
              <p:cNvSpPr/>
              <p:nvPr/>
            </p:nvSpPr>
            <p:spPr>
              <a:xfrm>
                <a:off x="2835857" y="208472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31" name="idle…"/>
              <p:cNvSpPr/>
              <p:nvPr/>
            </p:nvSpPr>
            <p:spPr>
              <a:xfrm>
                <a:off x="862596" y="748755"/>
                <a:ext cx="1926805" cy="1487736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idle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dac_cs=1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cxnSp>
            <p:nvCxnSpPr>
              <p:cNvPr id="132" name="Connection Line"/>
              <p:cNvCxnSpPr>
                <a:stCxn id="131" idx="0"/>
                <a:endCxn id="130" idx="0"/>
              </p:cNvCxnSpPr>
              <p:nvPr/>
            </p:nvCxnSpPr>
            <p:spPr>
              <a:xfrm flipV="1">
                <a:off x="1825998" y="789299"/>
                <a:ext cx="1601887" cy="703324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133" name="done…"/>
              <p:cNvSpPr/>
              <p:nvPr/>
            </p:nvSpPr>
            <p:spPr>
              <a:xfrm>
                <a:off x="862596" y="3312467"/>
                <a:ext cx="1926805" cy="1593008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done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dac_cs=1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dac_ld=0</a:t>
                </a:r>
              </a:p>
            </p:txBody>
          </p:sp>
          <p:cxnSp>
            <p:nvCxnSpPr>
              <p:cNvPr id="134" name="Connection Line"/>
              <p:cNvCxnSpPr>
                <a:stCxn id="133" idx="0"/>
                <a:endCxn id="131" idx="0"/>
              </p:cNvCxnSpPr>
              <p:nvPr/>
            </p:nvCxnSpPr>
            <p:spPr>
              <a:xfrm flipV="1">
                <a:off x="1825998" y="1492622"/>
                <a:ext cx="1" cy="2616349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174" name="Connection Line"/>
              <p:cNvSpPr/>
              <p:nvPr/>
            </p:nvSpPr>
            <p:spPr>
              <a:xfrm>
                <a:off x="534313" y="1578543"/>
                <a:ext cx="492820" cy="501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88" h="17010" extrusionOk="0">
                    <a:moveTo>
                      <a:pt x="16388" y="11605"/>
                    </a:moveTo>
                    <a:cubicBezTo>
                      <a:pt x="-3124" y="21600"/>
                      <a:pt x="-5212" y="17732"/>
                      <a:pt x="10124" y="0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36" name="¬dac_start"/>
              <p:cNvSpPr/>
              <p:nvPr/>
            </p:nvSpPr>
            <p:spPr>
              <a:xfrm>
                <a:off x="777224" y="2218768"/>
                <a:ext cx="1270001" cy="1270001"/>
              </a:xfrm>
              <a:prstGeom prst="line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¬dac_start</a:t>
                </a:r>
              </a:p>
            </p:txBody>
          </p:sp>
          <p:sp>
            <p:nvSpPr>
              <p:cNvPr id="137" name="dac_start"/>
              <p:cNvSpPr/>
              <p:nvPr/>
            </p:nvSpPr>
            <p:spPr>
              <a:xfrm>
                <a:off x="1596107" y="426666"/>
                <a:ext cx="1270001" cy="1270001"/>
              </a:xfrm>
              <a:prstGeom prst="line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dac_start</a:t>
                </a:r>
              </a:p>
            </p:txBody>
          </p:sp>
          <p:sp>
            <p:nvSpPr>
              <p:cNvPr id="138" name="2…"/>
              <p:cNvSpPr/>
              <p:nvPr/>
            </p:nvSpPr>
            <p:spPr>
              <a:xfrm>
                <a:off x="4217180" y="208472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2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39" name="3…"/>
              <p:cNvSpPr/>
              <p:nvPr/>
            </p:nvSpPr>
            <p:spPr>
              <a:xfrm>
                <a:off x="5598504" y="208472"/>
                <a:ext cx="1184053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3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0" name="4…"/>
              <p:cNvSpPr/>
              <p:nvPr/>
            </p:nvSpPr>
            <p:spPr>
              <a:xfrm>
                <a:off x="6979826" y="208472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4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1" name="8…"/>
              <p:cNvSpPr/>
              <p:nvPr/>
            </p:nvSpPr>
            <p:spPr>
              <a:xfrm>
                <a:off x="2848558" y="1637941"/>
                <a:ext cx="1184053" cy="1161655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8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2" name="7…"/>
              <p:cNvSpPr/>
              <p:nvPr/>
            </p:nvSpPr>
            <p:spPr>
              <a:xfrm>
                <a:off x="4229880" y="1637941"/>
                <a:ext cx="1184054" cy="1161655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7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3" name="6…"/>
              <p:cNvSpPr/>
              <p:nvPr/>
            </p:nvSpPr>
            <p:spPr>
              <a:xfrm>
                <a:off x="5611204" y="1637941"/>
                <a:ext cx="1184053" cy="1161655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6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4" name="5…"/>
              <p:cNvSpPr/>
              <p:nvPr/>
            </p:nvSpPr>
            <p:spPr>
              <a:xfrm>
                <a:off x="6992526" y="1637941"/>
                <a:ext cx="1184054" cy="1161655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5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5" name="9…"/>
              <p:cNvSpPr/>
              <p:nvPr/>
            </p:nvSpPr>
            <p:spPr>
              <a:xfrm>
                <a:off x="2861258" y="3067411"/>
                <a:ext cx="1184053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9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6" name="10…"/>
              <p:cNvSpPr/>
              <p:nvPr/>
            </p:nvSpPr>
            <p:spPr>
              <a:xfrm>
                <a:off x="4242580" y="3067411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7" name="11…"/>
              <p:cNvSpPr/>
              <p:nvPr/>
            </p:nvSpPr>
            <p:spPr>
              <a:xfrm>
                <a:off x="5623904" y="3067411"/>
                <a:ext cx="1184053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11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8" name="12…"/>
              <p:cNvSpPr/>
              <p:nvPr/>
            </p:nvSpPr>
            <p:spPr>
              <a:xfrm>
                <a:off x="7005226" y="3067411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12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49" name="16…"/>
              <p:cNvSpPr/>
              <p:nvPr/>
            </p:nvSpPr>
            <p:spPr>
              <a:xfrm>
                <a:off x="2873958" y="4496880"/>
                <a:ext cx="1184053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16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50" name="15…"/>
              <p:cNvSpPr/>
              <p:nvPr/>
            </p:nvSpPr>
            <p:spPr>
              <a:xfrm>
                <a:off x="4255280" y="4496880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15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51" name="14…"/>
              <p:cNvSpPr/>
              <p:nvPr/>
            </p:nvSpPr>
            <p:spPr>
              <a:xfrm>
                <a:off x="5636604" y="4496880"/>
                <a:ext cx="1184053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14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sp>
            <p:nvSpPr>
              <p:cNvPr id="152" name="13…"/>
              <p:cNvSpPr/>
              <p:nvPr/>
            </p:nvSpPr>
            <p:spPr>
              <a:xfrm>
                <a:off x="7017926" y="4496880"/>
                <a:ext cx="1184054" cy="1161654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1800" b="1">
                    <a:solidFill>
                      <a:srgbClr val="FFFFFF"/>
                    </a:solidFill>
                  </a:defRPr>
                </a:pPr>
                <a:r>
                  <a:t>13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dac_cs=0</a:t>
                </a:r>
              </a:p>
              <a:p>
                <a:pPr>
                  <a:defRPr sz="1800">
                    <a:solidFill>
                      <a:srgbClr val="FFFFFF"/>
                    </a:solidFill>
                  </a:defRPr>
                </a:pPr>
                <a:r>
                  <a:t>dac_ld=1</a:t>
                </a:r>
              </a:p>
            </p:txBody>
          </p:sp>
          <p:cxnSp>
            <p:nvCxnSpPr>
              <p:cNvPr id="153" name="Connection Line"/>
              <p:cNvCxnSpPr>
                <a:stCxn id="130" idx="0"/>
                <a:endCxn id="138" idx="0"/>
              </p:cNvCxnSpPr>
              <p:nvPr/>
            </p:nvCxnSpPr>
            <p:spPr>
              <a:xfrm>
                <a:off x="3427884" y="789299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54" name="Connection Line"/>
              <p:cNvCxnSpPr>
                <a:stCxn id="138" idx="0"/>
                <a:endCxn id="139" idx="0"/>
              </p:cNvCxnSpPr>
              <p:nvPr/>
            </p:nvCxnSpPr>
            <p:spPr>
              <a:xfrm>
                <a:off x="4809207" y="789299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55" name="Connection Line"/>
              <p:cNvCxnSpPr>
                <a:stCxn id="139" idx="0"/>
                <a:endCxn id="140" idx="0"/>
              </p:cNvCxnSpPr>
              <p:nvPr/>
            </p:nvCxnSpPr>
            <p:spPr>
              <a:xfrm>
                <a:off x="6190530" y="789299"/>
                <a:ext cx="1381323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56" name="Connection Line"/>
              <p:cNvCxnSpPr>
                <a:stCxn id="140" idx="0"/>
                <a:endCxn id="144" idx="0"/>
              </p:cNvCxnSpPr>
              <p:nvPr/>
            </p:nvCxnSpPr>
            <p:spPr>
              <a:xfrm>
                <a:off x="7571852" y="789299"/>
                <a:ext cx="12701" cy="1429470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57" name="Connection Line"/>
              <p:cNvCxnSpPr>
                <a:stCxn id="144" idx="0"/>
                <a:endCxn id="143" idx="0"/>
              </p:cNvCxnSpPr>
              <p:nvPr/>
            </p:nvCxnSpPr>
            <p:spPr>
              <a:xfrm flipH="1">
                <a:off x="6203230" y="2218768"/>
                <a:ext cx="1381323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58" name="Connection Line"/>
              <p:cNvCxnSpPr>
                <a:stCxn id="143" idx="0"/>
                <a:endCxn id="142" idx="0"/>
              </p:cNvCxnSpPr>
              <p:nvPr/>
            </p:nvCxnSpPr>
            <p:spPr>
              <a:xfrm flipH="1">
                <a:off x="4821907" y="2218768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59" name="Connection Line"/>
              <p:cNvCxnSpPr>
                <a:stCxn id="142" idx="0"/>
                <a:endCxn id="141" idx="0"/>
              </p:cNvCxnSpPr>
              <p:nvPr/>
            </p:nvCxnSpPr>
            <p:spPr>
              <a:xfrm flipH="1">
                <a:off x="3440584" y="2218768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0" name="Connection Line"/>
              <p:cNvCxnSpPr>
                <a:stCxn id="141" idx="0"/>
                <a:endCxn id="145" idx="0"/>
              </p:cNvCxnSpPr>
              <p:nvPr/>
            </p:nvCxnSpPr>
            <p:spPr>
              <a:xfrm>
                <a:off x="3440584" y="2218768"/>
                <a:ext cx="12701" cy="1429470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1" name="Connection Line"/>
              <p:cNvCxnSpPr>
                <a:stCxn id="145" idx="0"/>
                <a:endCxn id="146" idx="0"/>
              </p:cNvCxnSpPr>
              <p:nvPr/>
            </p:nvCxnSpPr>
            <p:spPr>
              <a:xfrm>
                <a:off x="3453284" y="3648237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2" name="Connection Line"/>
              <p:cNvCxnSpPr>
                <a:stCxn id="146" idx="0"/>
                <a:endCxn id="147" idx="0"/>
              </p:cNvCxnSpPr>
              <p:nvPr/>
            </p:nvCxnSpPr>
            <p:spPr>
              <a:xfrm>
                <a:off x="4834607" y="3648237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3" name="Connection Line"/>
              <p:cNvCxnSpPr>
                <a:stCxn id="147" idx="0"/>
                <a:endCxn id="148" idx="0"/>
              </p:cNvCxnSpPr>
              <p:nvPr/>
            </p:nvCxnSpPr>
            <p:spPr>
              <a:xfrm>
                <a:off x="6215930" y="3648237"/>
                <a:ext cx="1381323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4" name="Connection Line"/>
              <p:cNvCxnSpPr>
                <a:stCxn id="148" idx="0"/>
                <a:endCxn id="152" idx="0"/>
              </p:cNvCxnSpPr>
              <p:nvPr/>
            </p:nvCxnSpPr>
            <p:spPr>
              <a:xfrm>
                <a:off x="7597252" y="3648237"/>
                <a:ext cx="12701" cy="142947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5" name="Connection Line"/>
              <p:cNvCxnSpPr>
                <a:stCxn id="152" idx="0"/>
                <a:endCxn id="151" idx="0"/>
              </p:cNvCxnSpPr>
              <p:nvPr/>
            </p:nvCxnSpPr>
            <p:spPr>
              <a:xfrm flipH="1">
                <a:off x="6228630" y="5077707"/>
                <a:ext cx="1381323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6" name="Connection Line"/>
              <p:cNvCxnSpPr>
                <a:stCxn id="151" idx="0"/>
                <a:endCxn id="150" idx="0"/>
              </p:cNvCxnSpPr>
              <p:nvPr/>
            </p:nvCxnSpPr>
            <p:spPr>
              <a:xfrm flipH="1">
                <a:off x="4847307" y="5077707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7" name="Connection Line"/>
              <p:cNvCxnSpPr>
                <a:stCxn id="150" idx="0"/>
                <a:endCxn id="149" idx="0"/>
              </p:cNvCxnSpPr>
              <p:nvPr/>
            </p:nvCxnSpPr>
            <p:spPr>
              <a:xfrm flipH="1">
                <a:off x="3465984" y="5077707"/>
                <a:ext cx="1381324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68" name="Connection Line"/>
              <p:cNvCxnSpPr>
                <a:stCxn id="149" idx="0"/>
                <a:endCxn id="133" idx="0"/>
              </p:cNvCxnSpPr>
              <p:nvPr/>
            </p:nvCxnSpPr>
            <p:spPr>
              <a:xfrm flipH="1" flipV="1">
                <a:off x="1825998" y="4108970"/>
                <a:ext cx="1639987" cy="968738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</p:grpSp>
      </p:grp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88" y="2590800"/>
            <a:ext cx="10314224" cy="5500920"/>
          </a:xfrm>
          <a:prstGeom prst="rect">
            <a:avLst/>
          </a:prstGeom>
          <a:ln w="12700">
            <a:miter lim="400000"/>
          </a:ln>
        </p:spPr>
      </p:pic>
      <p:sp>
        <p:nvSpPr>
          <p:cNvPr id="177" name="spi2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spi2dac</a:t>
            </a:r>
          </a:p>
        </p:txBody>
      </p:sp>
      <p:sp>
        <p:nvSpPr>
          <p:cNvPr id="17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6</a:t>
            </a:fld>
            <a:endParaRPr/>
          </a:p>
        </p:txBody>
      </p:sp>
      <p:grpSp>
        <p:nvGrpSpPr>
          <p:cNvPr id="197" name="Group"/>
          <p:cNvGrpSpPr/>
          <p:nvPr/>
        </p:nvGrpSpPr>
        <p:grpSpPr>
          <a:xfrm>
            <a:off x="331605" y="6107509"/>
            <a:ext cx="6777783" cy="3429944"/>
            <a:chOff x="0" y="0"/>
            <a:chExt cx="6777781" cy="3429942"/>
          </a:xfrm>
        </p:grpSpPr>
        <p:sp>
          <p:nvSpPr>
            <p:cNvPr id="179" name="Line"/>
            <p:cNvSpPr/>
            <p:nvPr/>
          </p:nvSpPr>
          <p:spPr>
            <a:xfrm flipV="1">
              <a:off x="3398316" y="-1"/>
              <a:ext cx="353428" cy="1258428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196" name="Group"/>
            <p:cNvGrpSpPr/>
            <p:nvPr/>
          </p:nvGrpSpPr>
          <p:grpSpPr>
            <a:xfrm>
              <a:off x="0" y="631527"/>
              <a:ext cx="6777782" cy="2798416"/>
              <a:chOff x="0" y="0"/>
              <a:chExt cx="6777781" cy="2798415"/>
            </a:xfrm>
          </p:grpSpPr>
          <p:sp>
            <p:nvSpPr>
              <p:cNvPr id="180" name="Rectangle"/>
              <p:cNvSpPr/>
              <p:nvPr/>
            </p:nvSpPr>
            <p:spPr>
              <a:xfrm>
                <a:off x="0" y="0"/>
                <a:ext cx="6777782" cy="2798416"/>
              </a:xfrm>
              <a:prstGeom prst="rect">
                <a:avLst/>
              </a:prstGeom>
              <a:solidFill>
                <a:srgbClr val="E9E6BF"/>
              </a:solidFill>
              <a:ln w="12700" cap="flat">
                <a:noFill/>
                <a:miter lim="400000"/>
              </a:ln>
              <a:effectLst>
                <a:outerShdw blurRad="63500" dist="25400" dir="5400000" rotWithShape="0">
                  <a:srgbClr val="000000">
                    <a:alpha val="50000"/>
                  </a:srgbClr>
                </a:outerShdw>
              </a:effec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181" name="high…"/>
              <p:cNvSpPr/>
              <p:nvPr/>
            </p:nvSpPr>
            <p:spPr>
              <a:xfrm>
                <a:off x="3612641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high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dac_start=1</a:t>
                </a:r>
              </a:p>
            </p:txBody>
          </p:sp>
          <p:sp>
            <p:nvSpPr>
              <p:cNvPr id="182" name="idle…"/>
              <p:cNvSpPr/>
              <p:nvPr/>
            </p:nvSpPr>
            <p:spPr>
              <a:xfrm>
                <a:off x="780026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idle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183" name="Connection Line"/>
              <p:cNvCxnSpPr>
                <a:stCxn id="182" idx="0"/>
                <a:endCxn id="181" idx="0"/>
              </p:cNvCxnSpPr>
              <p:nvPr/>
            </p:nvCxnSpPr>
            <p:spPr>
              <a:xfrm>
                <a:off x="1743428" y="831204"/>
                <a:ext cx="2832616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184" name="wait…"/>
              <p:cNvSpPr/>
              <p:nvPr/>
            </p:nvSpPr>
            <p:spPr>
              <a:xfrm>
                <a:off x="2196334" y="1462360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wait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185" name="Connection Line"/>
              <p:cNvCxnSpPr>
                <a:stCxn id="184" idx="0"/>
                <a:endCxn id="182" idx="0"/>
              </p:cNvCxnSpPr>
              <p:nvPr/>
            </p:nvCxnSpPr>
            <p:spPr>
              <a:xfrm flipH="1" flipV="1">
                <a:off x="1743428" y="831204"/>
                <a:ext cx="1416309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186" name="Connection Line"/>
              <p:cNvCxnSpPr>
                <a:stCxn id="181" idx="0"/>
                <a:endCxn id="184" idx="0"/>
              </p:cNvCxnSpPr>
              <p:nvPr/>
            </p:nvCxnSpPr>
            <p:spPr>
              <a:xfrm flipH="1">
                <a:off x="3159736" y="831204"/>
                <a:ext cx="1416308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204" name="Connection Line"/>
              <p:cNvSpPr/>
              <p:nvPr/>
            </p:nvSpPr>
            <p:spPr>
              <a:xfrm>
                <a:off x="3974207" y="1996803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05" name="Connection Line"/>
              <p:cNvSpPr/>
              <p:nvPr/>
            </p:nvSpPr>
            <p:spPr>
              <a:xfrm>
                <a:off x="458905" y="779496"/>
                <a:ext cx="492820" cy="501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88" h="17010" extrusionOk="0">
                    <a:moveTo>
                      <a:pt x="16388" y="11605"/>
                    </a:moveTo>
                    <a:cubicBezTo>
                      <a:pt x="-3124" y="21600"/>
                      <a:pt x="-5212" y="17732"/>
                      <a:pt x="10124" y="0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9" name="¬load"/>
              <p:cNvSpPr txBox="1"/>
              <p:nvPr/>
            </p:nvSpPr>
            <p:spPr>
              <a:xfrm>
                <a:off x="137930" y="1221746"/>
                <a:ext cx="868562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¬load</a:t>
                </a:r>
              </a:p>
            </p:txBody>
          </p:sp>
          <p:sp>
            <p:nvSpPr>
              <p:cNvPr id="190" name="load"/>
              <p:cNvSpPr txBox="1"/>
              <p:nvPr/>
            </p:nvSpPr>
            <p:spPr>
              <a:xfrm>
                <a:off x="2729111" y="290505"/>
                <a:ext cx="690563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load</a:t>
                </a:r>
              </a:p>
            </p:txBody>
          </p:sp>
          <p:sp>
            <p:nvSpPr>
              <p:cNvPr id="206" name="Connection Line"/>
              <p:cNvSpPr/>
              <p:nvPr/>
            </p:nvSpPr>
            <p:spPr>
              <a:xfrm>
                <a:off x="5383907" y="835104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92" name="dac_cs"/>
              <p:cNvSpPr txBox="1"/>
              <p:nvPr/>
            </p:nvSpPr>
            <p:spPr>
              <a:xfrm>
                <a:off x="5688243" y="596254"/>
                <a:ext cx="1080046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  <p:sp>
            <p:nvSpPr>
              <p:cNvPr id="193" name="¬dac_cs"/>
              <p:cNvSpPr txBox="1"/>
              <p:nvPr/>
            </p:nvSpPr>
            <p:spPr>
              <a:xfrm>
                <a:off x="4327361" y="1452314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194" name="¬dac_cs"/>
              <p:cNvSpPr txBox="1"/>
              <p:nvPr/>
            </p:nvSpPr>
            <p:spPr>
              <a:xfrm>
                <a:off x="4365461" y="1919412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195" name="dac_cs"/>
              <p:cNvSpPr txBox="1"/>
              <p:nvPr/>
            </p:nvSpPr>
            <p:spPr>
              <a:xfrm>
                <a:off x="1049837" y="1612254"/>
                <a:ext cx="1080047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</p:grpSp>
      </p:grpSp>
      <p:grpSp>
        <p:nvGrpSpPr>
          <p:cNvPr id="200" name="Group"/>
          <p:cNvGrpSpPr/>
          <p:nvPr/>
        </p:nvGrpSpPr>
        <p:grpSpPr>
          <a:xfrm>
            <a:off x="288747" y="1269999"/>
            <a:ext cx="3871572" cy="3288111"/>
            <a:chOff x="0" y="0"/>
            <a:chExt cx="3871571" cy="3288109"/>
          </a:xfrm>
        </p:grpSpPr>
        <p:sp>
          <p:nvSpPr>
            <p:cNvPr id="198" name="Line"/>
            <p:cNvSpPr/>
            <p:nvPr/>
          </p:nvSpPr>
          <p:spPr>
            <a:xfrm>
              <a:off x="2808952" y="1642303"/>
              <a:ext cx="287151" cy="1645807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99" name="parameter TC = 5'd24;…"/>
            <p:cNvSpPr txBox="1"/>
            <p:nvPr/>
          </p:nvSpPr>
          <p:spPr>
            <a:xfrm>
              <a:off x="0" y="-1"/>
              <a:ext cx="3871572" cy="1879601"/>
            </a:xfrm>
            <a:prstGeom prst="rect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TC = 5'd24;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[4:0] ctr;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clk_50MHz)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(ctr==0)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ctr &lt;= TC;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clk_1MHz &lt;= ~clk_1MHz;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else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ctr &lt;= ctr - 1'b1;</a:t>
              </a:r>
            </a:p>
          </p:txBody>
        </p:sp>
      </p:grpSp>
      <p:grpSp>
        <p:nvGrpSpPr>
          <p:cNvPr id="203" name="Group"/>
          <p:cNvGrpSpPr/>
          <p:nvPr/>
        </p:nvGrpSpPr>
        <p:grpSpPr>
          <a:xfrm>
            <a:off x="1279347" y="2882899"/>
            <a:ext cx="7464902" cy="2940155"/>
            <a:chOff x="0" y="1955799"/>
            <a:chExt cx="7464901" cy="2940153"/>
          </a:xfrm>
        </p:grpSpPr>
        <p:sp>
          <p:nvSpPr>
            <p:cNvPr id="201" name="Line"/>
            <p:cNvSpPr/>
            <p:nvPr/>
          </p:nvSpPr>
          <p:spPr>
            <a:xfrm>
              <a:off x="4834751" y="3718044"/>
              <a:ext cx="2630151" cy="1177910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02" name="reg [4:0] state;…"/>
            <p:cNvSpPr/>
            <p:nvPr/>
          </p:nvSpPr>
          <p:spPr>
            <a:xfrm>
              <a:off x="0" y="1955799"/>
              <a:ext cx="1270000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[4:0] state;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clk_1MHz)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case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(state)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5'd0: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(dac_start == 1'b1) 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           state &lt;= state + 1'b1;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5'd17:   state &lt;= 5'd0;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default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: state &lt;= state + 1'b1;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endcase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*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case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(state)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5'd0:    {dac_cs, dac_ld} = 2'b11;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5'd17:   {dac_cs, dac_ld} = 2'b10;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default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: {dac_cs, dac_ld} = 2'b01;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endcase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</a:p>
          </p:txBody>
        </p:sp>
      </p:grp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5288" y="2590800"/>
            <a:ext cx="10314224" cy="5500920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pi2da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spi2dac</a:t>
            </a:r>
          </a:p>
        </p:txBody>
      </p:sp>
      <p:sp>
        <p:nvSpPr>
          <p:cNvPr id="2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7</a:t>
            </a:fld>
            <a:endParaRPr/>
          </a:p>
        </p:txBody>
      </p:sp>
      <p:grpSp>
        <p:nvGrpSpPr>
          <p:cNvPr id="229" name="Group"/>
          <p:cNvGrpSpPr/>
          <p:nvPr/>
        </p:nvGrpSpPr>
        <p:grpSpPr>
          <a:xfrm>
            <a:off x="331605" y="6107509"/>
            <a:ext cx="6777783" cy="3429944"/>
            <a:chOff x="0" y="0"/>
            <a:chExt cx="6777781" cy="3429942"/>
          </a:xfrm>
        </p:grpSpPr>
        <p:sp>
          <p:nvSpPr>
            <p:cNvPr id="211" name="Line"/>
            <p:cNvSpPr/>
            <p:nvPr/>
          </p:nvSpPr>
          <p:spPr>
            <a:xfrm flipV="1">
              <a:off x="3398316" y="-1"/>
              <a:ext cx="353428" cy="1258428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grpSp>
          <p:nvGrpSpPr>
            <p:cNvPr id="228" name="Group"/>
            <p:cNvGrpSpPr/>
            <p:nvPr/>
          </p:nvGrpSpPr>
          <p:grpSpPr>
            <a:xfrm>
              <a:off x="0" y="631527"/>
              <a:ext cx="6777782" cy="2798416"/>
              <a:chOff x="0" y="0"/>
              <a:chExt cx="6777781" cy="2798415"/>
            </a:xfrm>
          </p:grpSpPr>
          <p:sp>
            <p:nvSpPr>
              <p:cNvPr id="212" name="Rectangle"/>
              <p:cNvSpPr/>
              <p:nvPr/>
            </p:nvSpPr>
            <p:spPr>
              <a:xfrm>
                <a:off x="0" y="0"/>
                <a:ext cx="6777782" cy="2798416"/>
              </a:xfrm>
              <a:prstGeom prst="rect">
                <a:avLst/>
              </a:prstGeom>
              <a:solidFill>
                <a:srgbClr val="E9E6BF"/>
              </a:solidFill>
              <a:ln w="12700" cap="flat">
                <a:noFill/>
                <a:miter lim="400000"/>
              </a:ln>
              <a:effectLst>
                <a:outerShdw blurRad="63500" dist="25400" dir="5400000" rotWithShape="0">
                  <a:srgbClr val="000000">
                    <a:alpha val="50000"/>
                  </a:srgbClr>
                </a:outerShdw>
              </a:effec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/>
              </a:p>
            </p:txBody>
          </p:sp>
          <p:sp>
            <p:nvSpPr>
              <p:cNvPr id="213" name="high…"/>
              <p:cNvSpPr/>
              <p:nvPr/>
            </p:nvSpPr>
            <p:spPr>
              <a:xfrm>
                <a:off x="3612641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high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dac_start=1</a:t>
                </a:r>
              </a:p>
            </p:txBody>
          </p:sp>
          <p:sp>
            <p:nvSpPr>
              <p:cNvPr id="214" name="idle…"/>
              <p:cNvSpPr/>
              <p:nvPr/>
            </p:nvSpPr>
            <p:spPr>
              <a:xfrm>
                <a:off x="780026" y="273446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idle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215" name="Connection Line"/>
              <p:cNvCxnSpPr>
                <a:stCxn id="214" idx="0"/>
                <a:endCxn id="213" idx="0"/>
              </p:cNvCxnSpPr>
              <p:nvPr/>
            </p:nvCxnSpPr>
            <p:spPr>
              <a:xfrm>
                <a:off x="1743428" y="831204"/>
                <a:ext cx="2832616" cy="1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216" name="wait…"/>
              <p:cNvSpPr/>
              <p:nvPr/>
            </p:nvSpPr>
            <p:spPr>
              <a:xfrm>
                <a:off x="2196334" y="1462360"/>
                <a:ext cx="1926805" cy="1115517"/>
              </a:xfrm>
              <a:prstGeom prst="ellipse">
                <a:avLst/>
              </a:prstGeom>
              <a:solidFill>
                <a:srgbClr val="6E8627"/>
              </a:solidFill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300" b="1">
                    <a:solidFill>
                      <a:srgbClr val="FFFFFF"/>
                    </a:solidFill>
                  </a:defRPr>
                </a:pPr>
                <a:r>
                  <a:t>wait</a:t>
                </a:r>
              </a:p>
              <a:p>
                <a:pPr>
                  <a:defRPr sz="2300">
                    <a:solidFill>
                      <a:srgbClr val="FFFFFF"/>
                    </a:solidFill>
                  </a:defRPr>
                </a:pPr>
                <a:r>
                  <a:t>dac_start=0</a:t>
                </a:r>
              </a:p>
            </p:txBody>
          </p:sp>
          <p:cxnSp>
            <p:nvCxnSpPr>
              <p:cNvPr id="217" name="Connection Line"/>
              <p:cNvCxnSpPr>
                <a:stCxn id="216" idx="0"/>
                <a:endCxn id="214" idx="0"/>
              </p:cNvCxnSpPr>
              <p:nvPr/>
            </p:nvCxnSpPr>
            <p:spPr>
              <a:xfrm flipH="1" flipV="1">
                <a:off x="1743428" y="831204"/>
                <a:ext cx="1416309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cxnSp>
            <p:nvCxnSpPr>
              <p:cNvPr id="218" name="Connection Line"/>
              <p:cNvCxnSpPr>
                <a:stCxn id="213" idx="0"/>
                <a:endCxn id="216" idx="0"/>
              </p:cNvCxnSpPr>
              <p:nvPr/>
            </p:nvCxnSpPr>
            <p:spPr>
              <a:xfrm flipH="1">
                <a:off x="3159736" y="831204"/>
                <a:ext cx="1416308" cy="1188915"/>
              </a:xfrm>
              <a:prstGeom prst="straightConnector1">
                <a:avLst/>
              </a:prstGeom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</p:cxnSp>
          <p:sp>
            <p:nvSpPr>
              <p:cNvPr id="239" name="Connection Line"/>
              <p:cNvSpPr/>
              <p:nvPr/>
            </p:nvSpPr>
            <p:spPr>
              <a:xfrm>
                <a:off x="3974207" y="1996803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40" name="Connection Line"/>
              <p:cNvSpPr/>
              <p:nvPr/>
            </p:nvSpPr>
            <p:spPr>
              <a:xfrm>
                <a:off x="458905" y="779496"/>
                <a:ext cx="492820" cy="501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88" h="17010" extrusionOk="0">
                    <a:moveTo>
                      <a:pt x="16388" y="11605"/>
                    </a:moveTo>
                    <a:cubicBezTo>
                      <a:pt x="-3124" y="21600"/>
                      <a:pt x="-5212" y="17732"/>
                      <a:pt x="10124" y="0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1" name="¬load"/>
              <p:cNvSpPr txBox="1"/>
              <p:nvPr/>
            </p:nvSpPr>
            <p:spPr>
              <a:xfrm>
                <a:off x="137930" y="1221746"/>
                <a:ext cx="868562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¬load</a:t>
                </a:r>
              </a:p>
            </p:txBody>
          </p:sp>
          <p:sp>
            <p:nvSpPr>
              <p:cNvPr id="222" name="load"/>
              <p:cNvSpPr txBox="1"/>
              <p:nvPr/>
            </p:nvSpPr>
            <p:spPr>
              <a:xfrm>
                <a:off x="2729111" y="290505"/>
                <a:ext cx="690563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load</a:t>
                </a:r>
              </a:p>
            </p:txBody>
          </p:sp>
          <p:sp>
            <p:nvSpPr>
              <p:cNvPr id="241" name="Connection Line"/>
              <p:cNvSpPr/>
              <p:nvPr/>
            </p:nvSpPr>
            <p:spPr>
              <a:xfrm>
                <a:off x="5383907" y="835104"/>
                <a:ext cx="562672" cy="36552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16303" h="18805" extrusionOk="0">
                    <a:moveTo>
                      <a:pt x="4764" y="0"/>
                    </a:moveTo>
                    <a:cubicBezTo>
                      <a:pt x="21600" y="15741"/>
                      <a:pt x="20012" y="21600"/>
                      <a:pt x="0" y="17577"/>
                    </a:cubicBezTo>
                  </a:path>
                </a:pathLst>
              </a:custGeom>
              <a:noFill/>
              <a:ln w="25400" cap="flat">
                <a:solidFill>
                  <a:srgbClr val="000000"/>
                </a:solidFill>
                <a:prstDash val="solid"/>
                <a:miter lim="400000"/>
                <a:tailEnd type="triangle" w="med" len="med"/>
              </a:ln>
              <a:effectLst/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24" name="dac_cs"/>
              <p:cNvSpPr txBox="1"/>
              <p:nvPr/>
            </p:nvSpPr>
            <p:spPr>
              <a:xfrm>
                <a:off x="5688243" y="596254"/>
                <a:ext cx="1080046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  <p:sp>
            <p:nvSpPr>
              <p:cNvPr id="225" name="¬dac_cs"/>
              <p:cNvSpPr txBox="1"/>
              <p:nvPr/>
            </p:nvSpPr>
            <p:spPr>
              <a:xfrm>
                <a:off x="4327361" y="1452314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226" name="¬dac_cs"/>
              <p:cNvSpPr txBox="1"/>
              <p:nvPr/>
            </p:nvSpPr>
            <p:spPr>
              <a:xfrm>
                <a:off x="4365461" y="1919412"/>
                <a:ext cx="1258045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¬dac_cs</a:t>
                </a:r>
              </a:p>
            </p:txBody>
          </p:sp>
          <p:sp>
            <p:nvSpPr>
              <p:cNvPr id="227" name="dac_cs"/>
              <p:cNvSpPr txBox="1"/>
              <p:nvPr/>
            </p:nvSpPr>
            <p:spPr>
              <a:xfrm>
                <a:off x="1049837" y="1612254"/>
                <a:ext cx="1080047" cy="46990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 wrap="none" lIns="50800" tIns="50800" rIns="50800" bIns="50800" numCol="1" anchor="ctr">
                <a:spAutoFit/>
              </a:bodyPr>
              <a:lstStyle>
                <a:lvl1pPr>
                  <a:defRPr sz="2400"/>
                </a:lvl1pPr>
              </a:lstStyle>
              <a:p>
                <a:r>
                  <a:t>dac_cs</a:t>
                </a:r>
              </a:p>
            </p:txBody>
          </p:sp>
        </p:grpSp>
      </p:grpSp>
      <p:grpSp>
        <p:nvGrpSpPr>
          <p:cNvPr id="232" name="Group"/>
          <p:cNvGrpSpPr/>
          <p:nvPr/>
        </p:nvGrpSpPr>
        <p:grpSpPr>
          <a:xfrm>
            <a:off x="7349947" y="4199014"/>
            <a:ext cx="3266813" cy="4879155"/>
            <a:chOff x="0" y="0"/>
            <a:chExt cx="3266811" cy="4879153"/>
          </a:xfrm>
        </p:grpSpPr>
        <p:sp>
          <p:nvSpPr>
            <p:cNvPr id="230" name="Line"/>
            <p:cNvSpPr/>
            <p:nvPr/>
          </p:nvSpPr>
          <p:spPr>
            <a:xfrm flipH="1" flipV="1">
              <a:off x="2143601" y="0"/>
              <a:ext cx="1123211" cy="2267194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31" name="parameter BUF = 1'b1;…"/>
            <p:cNvSpPr/>
            <p:nvPr/>
          </p:nvSpPr>
          <p:spPr>
            <a:xfrm>
              <a:off x="0" y="3609153"/>
              <a:ext cx="1270000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BUF = 1'b1;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nGA = 1'b1;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nSHDN = 1'b1;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wire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[3:0] cmd = {1'b0, BUF, nGA, nSHDN};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[15:0] sreg;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clk_1MHz)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({dac_start, dac_cs} == 2'b11)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sreg &lt;= {cmd, data_in, 2'b00};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else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sreg &lt;= {sreg[14:0], 1'b0};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assign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dac_sck = !clk_1MHz &amp; !dac_cs;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assign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dac_sdi = sreg[15];</a:t>
              </a:r>
            </a:p>
          </p:txBody>
        </p:sp>
      </p:grpSp>
      <p:grpSp>
        <p:nvGrpSpPr>
          <p:cNvPr id="235" name="Group"/>
          <p:cNvGrpSpPr/>
          <p:nvPr/>
        </p:nvGrpSpPr>
        <p:grpSpPr>
          <a:xfrm>
            <a:off x="288747" y="1269999"/>
            <a:ext cx="3871572" cy="3288111"/>
            <a:chOff x="0" y="0"/>
            <a:chExt cx="3871571" cy="3288109"/>
          </a:xfrm>
        </p:grpSpPr>
        <p:sp>
          <p:nvSpPr>
            <p:cNvPr id="233" name="Line"/>
            <p:cNvSpPr/>
            <p:nvPr/>
          </p:nvSpPr>
          <p:spPr>
            <a:xfrm>
              <a:off x="2808952" y="1642303"/>
              <a:ext cx="287151" cy="1645807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34" name="parameter TC = 5'd24;…"/>
            <p:cNvSpPr txBox="1"/>
            <p:nvPr/>
          </p:nvSpPr>
          <p:spPr>
            <a:xfrm>
              <a:off x="0" y="-1"/>
              <a:ext cx="3871572" cy="1879601"/>
            </a:xfrm>
            <a:prstGeom prst="rect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parameter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TC = 5'd24;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[4:0] ctr;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clk_50MHz)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(ctr==0)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ctr &lt;= TC;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clk_1MHz &lt;= ~clk_1MHz;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else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ctr &lt;= ctr - 1'b1;</a:t>
              </a:r>
            </a:p>
          </p:txBody>
        </p:sp>
      </p:grpSp>
      <p:grpSp>
        <p:nvGrpSpPr>
          <p:cNvPr id="238" name="Group"/>
          <p:cNvGrpSpPr/>
          <p:nvPr/>
        </p:nvGrpSpPr>
        <p:grpSpPr>
          <a:xfrm>
            <a:off x="1279347" y="2882899"/>
            <a:ext cx="7464902" cy="2940155"/>
            <a:chOff x="0" y="1955799"/>
            <a:chExt cx="7464901" cy="2940153"/>
          </a:xfrm>
        </p:grpSpPr>
        <p:sp>
          <p:nvSpPr>
            <p:cNvPr id="236" name="Line"/>
            <p:cNvSpPr/>
            <p:nvPr/>
          </p:nvSpPr>
          <p:spPr>
            <a:xfrm>
              <a:off x="4834751" y="3718044"/>
              <a:ext cx="2630151" cy="1177910"/>
            </a:xfrm>
            <a:prstGeom prst="line">
              <a:avLst/>
            </a:prstGeom>
            <a:noFill/>
            <a:ln w="88900" cap="flat">
              <a:solidFill>
                <a:srgbClr val="9D7A2D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37" name="reg [4:0] state;…"/>
            <p:cNvSpPr/>
            <p:nvPr/>
          </p:nvSpPr>
          <p:spPr>
            <a:xfrm>
              <a:off x="0" y="1955799"/>
              <a:ext cx="1270000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[4:0] state;</a:t>
              </a: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(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posedge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clk_1MHz)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case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(state)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5'd0: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if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(dac_start == 1'b1) 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           state &lt;= state + 1'b1;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5'd17:   state &lt;= 5'd0;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default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: state &lt;= state + 1'b1;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endcase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 *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case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(state)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5'd0:    {dac_cs, dac_ld} = 2'b11;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5'd17:   {dac_cs, dac_ld} = 2'b10;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default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: {dac_cs, dac_ld} = 2'b01;</a:t>
              </a:r>
            </a:p>
            <a:p>
              <a:pPr algn="l">
                <a:defRPr sz="17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endcase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7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</a:p>
          </p:txBody>
        </p:sp>
      </p:grp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244" name="The design of the spi2dac modu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design of the spi2dac module</a:t>
            </a:r>
          </a:p>
          <a:p>
            <a:r>
              <a:t>How the ADC works</a:t>
            </a:r>
          </a:p>
          <a:p>
            <a:r>
              <a:t>Wrapping up</a:t>
            </a:r>
          </a:p>
        </p:txBody>
      </p:sp>
      <p:sp>
        <p:nvSpPr>
          <p:cNvPr id="2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8</a:t>
            </a:fld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248" name="The design of the spi2dac modu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design of the spi2dac module</a:t>
            </a:r>
          </a:p>
          <a:p>
            <a:pPr>
              <a:defRPr b="1"/>
            </a:pPr>
            <a:r>
              <a:t>How the ADC works</a:t>
            </a:r>
          </a:p>
          <a:p>
            <a:r>
              <a:t>Wrapping up</a:t>
            </a:r>
          </a:p>
        </p:txBody>
      </p:sp>
      <p:sp>
        <p:nvSpPr>
          <p:cNvPr id="24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9</a:t>
            </a:fld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25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10</a:t>
            </a:fld>
            <a:endParaRPr/>
          </a:p>
        </p:txBody>
      </p:sp>
      <p:sp>
        <p:nvSpPr>
          <p:cNvPr id="253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257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254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55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256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258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259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260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261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262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285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264" name="Connection Line"/>
          <p:cNvCxnSpPr>
            <a:stCxn id="260" idx="0"/>
            <a:endCxn id="258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286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87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267" name="Connection Line"/>
          <p:cNvCxnSpPr>
            <a:stCxn id="262" idx="0"/>
            <a:endCxn id="259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268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69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0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1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2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3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4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5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6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7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8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79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280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281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2" name="8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8V</a:t>
            </a:r>
          </a:p>
        </p:txBody>
      </p:sp>
      <p:sp>
        <p:nvSpPr>
          <p:cNvPr id="283" name="9.4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  <p:sp>
        <p:nvSpPr>
          <p:cNvPr id="284" name="Rectangle"/>
          <p:cNvSpPr/>
          <p:nvPr/>
        </p:nvSpPr>
        <p:spPr>
          <a:xfrm>
            <a:off x="2477108" y="2796646"/>
            <a:ext cx="8525326" cy="484452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16878" y="31750"/>
            <a:ext cx="382936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11</a:t>
            </a:fld>
            <a:endParaRPr/>
          </a:p>
        </p:txBody>
      </p:sp>
      <p:sp>
        <p:nvSpPr>
          <p:cNvPr id="291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295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292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3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294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296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297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298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299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300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324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02" name="Connection Line"/>
          <p:cNvCxnSpPr>
            <a:stCxn id="298" idx="0"/>
            <a:endCxn id="296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25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6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05" name="Connection Line"/>
          <p:cNvCxnSpPr>
            <a:stCxn id="300" idx="0"/>
            <a:endCxn id="297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06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07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08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09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0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1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2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3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4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5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6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17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318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319" name="9.4V"/>
          <p:cNvSpPr txBox="1"/>
          <p:nvPr/>
        </p:nvSpPr>
        <p:spPr>
          <a:xfrm>
            <a:off x="1397879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  <p:sp>
        <p:nvSpPr>
          <p:cNvPr id="320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321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22" name="8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8V</a:t>
            </a:r>
          </a:p>
        </p:txBody>
      </p:sp>
      <p:sp>
        <p:nvSpPr>
          <p:cNvPr id="323" name="9.4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8" grpId="2" animBg="1" advAuto="0"/>
      <p:bldP spid="319" grpId="4" animBg="1" advAuto="0"/>
      <p:bldP spid="321" grpId="1" animBg="1" advAuto="0"/>
      <p:bldP spid="322" grpId="3" animBg="1" advAuto="0"/>
      <p:bldP spid="323" grpId="5" animBg="1" advAuto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3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12</a:t>
            </a:fld>
            <a:endParaRPr/>
          </a:p>
        </p:txBody>
      </p:sp>
      <p:sp>
        <p:nvSpPr>
          <p:cNvPr id="330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334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331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2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333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335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336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337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338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339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362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41" name="Connection Line"/>
          <p:cNvCxnSpPr>
            <a:stCxn id="337" idx="0"/>
            <a:endCxn id="335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63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64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44" name="Connection Line"/>
          <p:cNvCxnSpPr>
            <a:stCxn id="339" idx="0"/>
            <a:endCxn id="336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45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46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47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48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49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0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1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2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3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4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5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56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357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358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359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60" name="12V"/>
          <p:cNvSpPr txBox="1"/>
          <p:nvPr/>
        </p:nvSpPr>
        <p:spPr>
          <a:xfrm>
            <a:off x="6608629" y="6714066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12V</a:t>
            </a:r>
          </a:p>
        </p:txBody>
      </p:sp>
      <p:sp>
        <p:nvSpPr>
          <p:cNvPr id="361" name="9.4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0" grpId="1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3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13</a:t>
            </a:fld>
            <a:endParaRPr/>
          </a:p>
        </p:txBody>
      </p:sp>
      <p:sp>
        <p:nvSpPr>
          <p:cNvPr id="368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372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369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70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371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373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374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375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376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377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400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79" name="Connection Line"/>
          <p:cNvCxnSpPr>
            <a:stCxn id="375" idx="0"/>
            <a:endCxn id="373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01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02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382" name="Connection Line"/>
          <p:cNvCxnSpPr>
            <a:stCxn id="377" idx="0"/>
            <a:endCxn id="374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383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84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85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86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87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88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89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0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1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2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3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4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395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396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397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98" name="10V"/>
          <p:cNvSpPr txBox="1"/>
          <p:nvPr/>
        </p:nvSpPr>
        <p:spPr>
          <a:xfrm>
            <a:off x="6608629" y="6714066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10V</a:t>
            </a:r>
          </a:p>
        </p:txBody>
      </p:sp>
      <p:sp>
        <p:nvSpPr>
          <p:cNvPr id="399" name="9.4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8" grpId="1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40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  <p:sp>
        <p:nvSpPr>
          <p:cNvPr id="406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410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407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08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409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411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412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413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414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415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438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17" name="Connection Line"/>
          <p:cNvCxnSpPr>
            <a:stCxn id="413" idx="0"/>
            <a:endCxn id="411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39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40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20" name="Connection Line"/>
          <p:cNvCxnSpPr>
            <a:stCxn id="415" idx="0"/>
            <a:endCxn id="412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21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2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3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4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5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6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7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8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9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0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1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2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433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434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435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36" name="9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9V</a:t>
            </a:r>
          </a:p>
        </p:txBody>
      </p:sp>
      <p:sp>
        <p:nvSpPr>
          <p:cNvPr id="437" name="9.4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6" grpId="1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4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  <p:sp>
        <p:nvSpPr>
          <p:cNvPr id="444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448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445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46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447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449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450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451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452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453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476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5" name="Connection Line"/>
          <p:cNvCxnSpPr>
            <a:stCxn id="451" idx="0"/>
            <a:endCxn id="449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77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8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8" name="Connection Line"/>
          <p:cNvCxnSpPr>
            <a:stCxn id="453" idx="0"/>
            <a:endCxn id="450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59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0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1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2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3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4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5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6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7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8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9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0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471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472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473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74" name="9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9V</a:t>
            </a:r>
          </a:p>
        </p:txBody>
      </p:sp>
      <p:sp>
        <p:nvSpPr>
          <p:cNvPr id="475" name="9.4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9.4V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4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16</a:t>
            </a:fld>
            <a:endParaRPr/>
          </a:p>
        </p:txBody>
      </p:sp>
      <p:sp>
        <p:nvSpPr>
          <p:cNvPr id="482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486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483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484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485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487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488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489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490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491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515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93" name="Connection Line"/>
          <p:cNvCxnSpPr>
            <a:stCxn id="489" idx="0"/>
            <a:endCxn id="487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16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17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96" name="Connection Line"/>
          <p:cNvCxnSpPr>
            <a:stCxn id="491" idx="0"/>
            <a:endCxn id="488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497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8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9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0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1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2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3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4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5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6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7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8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509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510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511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12" name="8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8V</a:t>
            </a:r>
          </a:p>
        </p:txBody>
      </p:sp>
      <p:sp>
        <p:nvSpPr>
          <p:cNvPr id="513" name="5.5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  <p:sp>
        <p:nvSpPr>
          <p:cNvPr id="514" name="5.5V"/>
          <p:cNvSpPr txBox="1"/>
          <p:nvPr/>
        </p:nvSpPr>
        <p:spPr>
          <a:xfrm>
            <a:off x="1397879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1" grpId="1" animBg="1" advAuto="0"/>
      <p:bldP spid="512" grpId="2" animBg="1" advAuto="0"/>
      <p:bldP spid="513" grpId="4" animBg="1" advAuto="0"/>
      <p:bldP spid="514" grpId="3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5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17</a:t>
            </a:fld>
            <a:endParaRPr/>
          </a:p>
        </p:txBody>
      </p:sp>
      <p:sp>
        <p:nvSpPr>
          <p:cNvPr id="521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525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522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23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524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526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527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528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529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530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554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532" name="Connection Line"/>
          <p:cNvCxnSpPr>
            <a:stCxn id="528" idx="0"/>
            <a:endCxn id="526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55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56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535" name="Connection Line"/>
          <p:cNvCxnSpPr>
            <a:stCxn id="530" idx="0"/>
            <a:endCxn id="527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36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7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8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9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0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1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2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3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4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5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6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7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548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549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550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51" name="4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4V</a:t>
            </a:r>
          </a:p>
        </p:txBody>
      </p:sp>
      <p:sp>
        <p:nvSpPr>
          <p:cNvPr id="552" name="5.5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  <p:sp>
        <p:nvSpPr>
          <p:cNvPr id="553" name="5.5V"/>
          <p:cNvSpPr txBox="1"/>
          <p:nvPr/>
        </p:nvSpPr>
        <p:spPr>
          <a:xfrm>
            <a:off x="1397879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1" grpId="1" animBg="1" advAuto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5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18</a:t>
            </a:fld>
            <a:endParaRPr/>
          </a:p>
        </p:txBody>
      </p:sp>
      <p:sp>
        <p:nvSpPr>
          <p:cNvPr id="560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564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561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62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563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565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566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567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568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569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593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571" name="Connection Line"/>
          <p:cNvCxnSpPr>
            <a:stCxn id="567" idx="0"/>
            <a:endCxn id="565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94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95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574" name="Connection Line"/>
          <p:cNvCxnSpPr>
            <a:stCxn id="569" idx="0"/>
            <a:endCxn id="566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575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6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7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8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9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0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1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2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3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4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5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6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587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588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589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90" name="6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6V</a:t>
            </a:r>
          </a:p>
        </p:txBody>
      </p:sp>
      <p:sp>
        <p:nvSpPr>
          <p:cNvPr id="591" name="5.5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  <p:sp>
        <p:nvSpPr>
          <p:cNvPr id="592" name="5.5V"/>
          <p:cNvSpPr txBox="1"/>
          <p:nvPr/>
        </p:nvSpPr>
        <p:spPr>
          <a:xfrm>
            <a:off x="1397879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0" grpId="1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59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19</a:t>
            </a:fld>
            <a:endParaRPr/>
          </a:p>
        </p:txBody>
      </p:sp>
      <p:sp>
        <p:nvSpPr>
          <p:cNvPr id="599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603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600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01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602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604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605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606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607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608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632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610" name="Connection Line"/>
          <p:cNvCxnSpPr>
            <a:stCxn id="606" idx="0"/>
            <a:endCxn id="604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33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34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613" name="Connection Line"/>
          <p:cNvCxnSpPr>
            <a:stCxn id="608" idx="0"/>
            <a:endCxn id="605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14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5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6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7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8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9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0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1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2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3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4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5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626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627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628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29" name="5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5V</a:t>
            </a:r>
          </a:p>
        </p:txBody>
      </p:sp>
      <p:sp>
        <p:nvSpPr>
          <p:cNvPr id="630" name="5.5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  <p:sp>
        <p:nvSpPr>
          <p:cNvPr id="631" name="5.5V"/>
          <p:cNvSpPr txBox="1"/>
          <p:nvPr/>
        </p:nvSpPr>
        <p:spPr>
          <a:xfrm>
            <a:off x="1397879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9" grpId="1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6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20</a:t>
            </a:fld>
            <a:endParaRPr/>
          </a:p>
        </p:txBody>
      </p:sp>
      <p:sp>
        <p:nvSpPr>
          <p:cNvPr id="638" name="control logic"/>
          <p:cNvSpPr/>
          <p:nvPr/>
        </p:nvSpPr>
        <p:spPr>
          <a:xfrm>
            <a:off x="6561666" y="4076700"/>
            <a:ext cx="1270001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control logic</a:t>
            </a:r>
          </a:p>
        </p:txBody>
      </p:sp>
      <p:grpSp>
        <p:nvGrpSpPr>
          <p:cNvPr id="642" name="Group"/>
          <p:cNvGrpSpPr/>
          <p:nvPr/>
        </p:nvGrpSpPr>
        <p:grpSpPr>
          <a:xfrm>
            <a:off x="4955249" y="4158191"/>
            <a:ext cx="1467843" cy="1970585"/>
            <a:chOff x="0" y="0"/>
            <a:chExt cx="1467842" cy="1970583"/>
          </a:xfrm>
        </p:grpSpPr>
        <p:sp>
          <p:nvSpPr>
            <p:cNvPr id="639" name="Triangle"/>
            <p:cNvSpPr/>
            <p:nvPr/>
          </p:nvSpPr>
          <p:spPr>
            <a:xfrm rot="5400000">
              <a:off x="-33933" y="33932"/>
              <a:ext cx="1107017" cy="103915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40" name="+"/>
            <p:cNvSpPr/>
            <p:nvPr/>
          </p:nvSpPr>
          <p:spPr>
            <a:xfrm>
              <a:off x="185142" y="319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+</a:t>
              </a:r>
            </a:p>
          </p:txBody>
        </p:sp>
        <p:sp>
          <p:nvSpPr>
            <p:cNvPr id="641" name="-"/>
            <p:cNvSpPr/>
            <p:nvPr/>
          </p:nvSpPr>
          <p:spPr>
            <a:xfrm>
              <a:off x="197842" y="700583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b="1">
                  <a:solidFill>
                    <a:srgbClr val="FFFFFF"/>
                  </a:solidFill>
                </a:defRPr>
              </a:lvl1pPr>
            </a:lstStyle>
            <a:p>
              <a:r>
                <a:t>-</a:t>
              </a:r>
            </a:p>
          </p:txBody>
        </p:sp>
      </p:grpSp>
      <p:sp>
        <p:nvSpPr>
          <p:cNvPr id="643" name="sample &amp; hold"/>
          <p:cNvSpPr/>
          <p:nvPr/>
        </p:nvSpPr>
        <p:spPr>
          <a:xfrm>
            <a:off x="2477108" y="3903133"/>
            <a:ext cx="1270001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sample &amp; hold</a:t>
            </a:r>
          </a:p>
        </p:txBody>
      </p:sp>
      <p:sp>
        <p:nvSpPr>
          <p:cNvPr id="644" name="DAC"/>
          <p:cNvSpPr/>
          <p:nvPr/>
        </p:nvSpPr>
        <p:spPr>
          <a:xfrm>
            <a:off x="8398933" y="6371166"/>
            <a:ext cx="2597944" cy="1270001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>
            <a:lvl1pPr>
              <a:defRPr sz="2400" b="1">
                <a:solidFill>
                  <a:srgbClr val="FFFFFF"/>
                </a:solidFill>
              </a:defRPr>
            </a:lvl1pPr>
          </a:lstStyle>
          <a:p>
            <a:r>
              <a:t>DAC</a:t>
            </a:r>
          </a:p>
        </p:txBody>
      </p:sp>
      <p:sp>
        <p:nvSpPr>
          <p:cNvPr id="645" name="Vin"/>
          <p:cNvSpPr txBox="1"/>
          <p:nvPr/>
        </p:nvSpPr>
        <p:spPr>
          <a:xfrm>
            <a:off x="677240" y="4246033"/>
            <a:ext cx="59624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in</a:t>
            </a:r>
          </a:p>
        </p:txBody>
      </p:sp>
      <p:sp>
        <p:nvSpPr>
          <p:cNvPr id="646" name="VDAC"/>
          <p:cNvSpPr txBox="1"/>
          <p:nvPr/>
        </p:nvSpPr>
        <p:spPr>
          <a:xfrm>
            <a:off x="6548635" y="6201833"/>
            <a:ext cx="957396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DAC</a:t>
            </a:r>
          </a:p>
        </p:txBody>
      </p:sp>
      <p:sp>
        <p:nvSpPr>
          <p:cNvPr id="647" name="Vref"/>
          <p:cNvSpPr txBox="1"/>
          <p:nvPr/>
        </p:nvSpPr>
        <p:spPr>
          <a:xfrm>
            <a:off x="9347133" y="8439043"/>
            <a:ext cx="70154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V</a:t>
            </a:r>
            <a:r>
              <a:rPr baseline="-5999"/>
              <a:t>ref</a:t>
            </a:r>
          </a:p>
        </p:txBody>
      </p:sp>
      <p:sp>
        <p:nvSpPr>
          <p:cNvPr id="671" name="Connection Line"/>
          <p:cNvSpPr/>
          <p:nvPr/>
        </p:nvSpPr>
        <p:spPr>
          <a:xfrm>
            <a:off x="7831666" y="4713042"/>
            <a:ext cx="604630" cy="127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649" name="Connection Line"/>
          <p:cNvCxnSpPr>
            <a:stCxn id="645" idx="0"/>
            <a:endCxn id="643" idx="0"/>
          </p:cNvCxnSpPr>
          <p:nvPr/>
        </p:nvCxnSpPr>
        <p:spPr>
          <a:xfrm>
            <a:off x="975360" y="4538133"/>
            <a:ext cx="2136749" cy="1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72" name="Connection Line"/>
          <p:cNvSpPr/>
          <p:nvPr/>
        </p:nvSpPr>
        <p:spPr>
          <a:xfrm>
            <a:off x="5993957" y="4711699"/>
            <a:ext cx="567710" cy="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73" name="Connection Line"/>
          <p:cNvSpPr/>
          <p:nvPr/>
        </p:nvSpPr>
        <p:spPr>
          <a:xfrm>
            <a:off x="3747108" y="4517958"/>
            <a:ext cx="1200601" cy="1319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652" name="Connection Line"/>
          <p:cNvCxnSpPr>
            <a:stCxn id="647" idx="0"/>
            <a:endCxn id="644" idx="0"/>
          </p:cNvCxnSpPr>
          <p:nvPr/>
        </p:nvCxnSpPr>
        <p:spPr>
          <a:xfrm flipH="1" flipV="1">
            <a:off x="9697904" y="7006166"/>
            <a:ext cx="1" cy="1724978"/>
          </a:xfrm>
          <a:prstGeom prst="straightConnector1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</p:cxnSp>
      <p:sp>
        <p:nvSpPr>
          <p:cNvPr id="653" name="Line"/>
          <p:cNvSpPr/>
          <p:nvPr/>
        </p:nvSpPr>
        <p:spPr>
          <a:xfrm>
            <a:off x="4618566" y="6731000"/>
            <a:ext cx="3767668" cy="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4" name="Line"/>
          <p:cNvSpPr/>
          <p:nvPr/>
        </p:nvSpPr>
        <p:spPr>
          <a:xfrm>
            <a:off x="4615258" y="4894283"/>
            <a:ext cx="1" cy="184095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5" name="Line"/>
          <p:cNvSpPr/>
          <p:nvPr/>
        </p:nvSpPr>
        <p:spPr>
          <a:xfrm>
            <a:off x="4608919" y="4889500"/>
            <a:ext cx="350521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6" name="Line"/>
          <p:cNvSpPr/>
          <p:nvPr/>
        </p:nvSpPr>
        <p:spPr>
          <a:xfrm>
            <a:off x="87956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7" name="Line"/>
          <p:cNvSpPr/>
          <p:nvPr/>
        </p:nvSpPr>
        <p:spPr>
          <a:xfrm>
            <a:off x="9396819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8" name="Line"/>
          <p:cNvSpPr/>
          <p:nvPr/>
        </p:nvSpPr>
        <p:spPr>
          <a:xfrm>
            <a:off x="9997953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9" name="Line"/>
          <p:cNvSpPr/>
          <p:nvPr/>
        </p:nvSpPr>
        <p:spPr>
          <a:xfrm>
            <a:off x="10599086" y="5360987"/>
            <a:ext cx="1" cy="1021293"/>
          </a:xfrm>
          <a:prstGeom prst="line">
            <a:avLst/>
          </a:prstGeom>
          <a:ln w="25400">
            <a:solidFill>
              <a:srgbClr val="000000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0" name="Line"/>
          <p:cNvSpPr/>
          <p:nvPr/>
        </p:nvSpPr>
        <p:spPr>
          <a:xfrm flipV="1">
            <a:off x="10576226" y="5505979"/>
            <a:ext cx="83102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1" name="Line"/>
          <p:cNvSpPr/>
          <p:nvPr/>
        </p:nvSpPr>
        <p:spPr>
          <a:xfrm>
            <a:off x="9978398" y="5702300"/>
            <a:ext cx="1428857" cy="0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2" name="Line"/>
          <p:cNvSpPr/>
          <p:nvPr/>
        </p:nvSpPr>
        <p:spPr>
          <a:xfrm>
            <a:off x="9380227" y="5898620"/>
            <a:ext cx="203388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3" name="Line"/>
          <p:cNvSpPr/>
          <p:nvPr/>
        </p:nvSpPr>
        <p:spPr>
          <a:xfrm>
            <a:off x="8772596" y="6094941"/>
            <a:ext cx="2641514" cy="1"/>
          </a:xfrm>
          <a:prstGeom prst="line">
            <a:avLst/>
          </a:prstGeom>
          <a:ln w="25400">
            <a:solidFill>
              <a:srgbClr val="000000"/>
            </a:solidFill>
            <a:miter lim="400000"/>
            <a:headEnd type="oval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4" name="out"/>
          <p:cNvSpPr txBox="1"/>
          <p:nvPr/>
        </p:nvSpPr>
        <p:spPr>
          <a:xfrm>
            <a:off x="11541974" y="5448299"/>
            <a:ext cx="679253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out</a:t>
            </a:r>
          </a:p>
        </p:txBody>
      </p:sp>
      <p:sp>
        <p:nvSpPr>
          <p:cNvPr id="665" name="16V"/>
          <p:cNvSpPr txBox="1"/>
          <p:nvPr/>
        </p:nvSpPr>
        <p:spPr>
          <a:xfrm>
            <a:off x="9655599" y="7850082"/>
            <a:ext cx="83740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16V</a:t>
            </a:r>
          </a:p>
        </p:txBody>
      </p:sp>
      <p:sp>
        <p:nvSpPr>
          <p:cNvPr id="666" name="successive…"/>
          <p:cNvSpPr txBox="1"/>
          <p:nvPr/>
        </p:nvSpPr>
        <p:spPr>
          <a:xfrm>
            <a:off x="8593944" y="2893483"/>
            <a:ext cx="2207922" cy="1168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300" b="1"/>
            </a:pPr>
            <a:r>
              <a:t>successive </a:t>
            </a:r>
          </a:p>
          <a:p>
            <a:pPr>
              <a:defRPr sz="2300" b="1"/>
            </a:pPr>
            <a:r>
              <a:t>approximation </a:t>
            </a:r>
          </a:p>
          <a:p>
            <a:pPr>
              <a:defRPr sz="2300" b="1"/>
            </a:pPr>
            <a:r>
              <a:t>register</a:t>
            </a:r>
          </a:p>
        </p:txBody>
      </p:sp>
      <p:graphicFrame>
        <p:nvGraphicFramePr>
          <p:cNvPr id="667" name="Table 1"/>
          <p:cNvGraphicFramePr/>
          <p:nvPr/>
        </p:nvGraphicFramePr>
        <p:xfrm>
          <a:off x="8499795" y="4120091"/>
          <a:ext cx="2497820" cy="1284183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5990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90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2581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32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50800" marR="50800" marT="50800" marB="50800" anchor="ctr" horzOverflow="overflow">
                    <a:lnL w="101600">
                      <a:solidFill>
                        <a:srgbClr val="6E8627"/>
                      </a:solidFill>
                      <a:miter lim="400000"/>
                    </a:lnL>
                    <a:lnR w="101600">
                      <a:solidFill>
                        <a:srgbClr val="6E8627"/>
                      </a:solidFill>
                      <a:miter lim="400000"/>
                    </a:lnR>
                    <a:lnT w="101600">
                      <a:solidFill>
                        <a:srgbClr val="6E8627"/>
                      </a:solidFill>
                      <a:miter lim="400000"/>
                    </a:lnT>
                    <a:lnB w="101600">
                      <a:solidFill>
                        <a:srgbClr val="6E8627"/>
                      </a:solidFill>
                      <a:miter lim="400000"/>
                    </a:lnB>
                    <a:solidFill>
                      <a:schemeClr val="accent3">
                        <a:hueOff val="-274225"/>
                        <a:satOff val="26768"/>
                        <a:lumOff val="11368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68" name="5V"/>
          <p:cNvSpPr txBox="1"/>
          <p:nvPr/>
        </p:nvSpPr>
        <p:spPr>
          <a:xfrm>
            <a:off x="6721640" y="6714066"/>
            <a:ext cx="611387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5V</a:t>
            </a:r>
          </a:p>
        </p:txBody>
      </p:sp>
      <p:sp>
        <p:nvSpPr>
          <p:cNvPr id="669" name="5.5V"/>
          <p:cNvSpPr txBox="1"/>
          <p:nvPr/>
        </p:nvSpPr>
        <p:spPr>
          <a:xfrm>
            <a:off x="3951718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  <p:sp>
        <p:nvSpPr>
          <p:cNvPr id="670" name="5.5V"/>
          <p:cNvSpPr txBox="1"/>
          <p:nvPr/>
        </p:nvSpPr>
        <p:spPr>
          <a:xfrm>
            <a:off x="1397879" y="3909482"/>
            <a:ext cx="950318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5.5V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ADC using SA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ADC using SAR</a:t>
            </a:r>
          </a:p>
        </p:txBody>
      </p:sp>
      <p:sp>
        <p:nvSpPr>
          <p:cNvPr id="676" name="An N-bit ADC takes N cycles to convert one samp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N-bit ADC takes N cycles to convert one sample</a:t>
            </a:r>
          </a:p>
          <a:p>
            <a:r>
              <a:t>Low power consumption</a:t>
            </a:r>
          </a:p>
          <a:p>
            <a:r>
              <a:t>Simple design with small circuit area</a:t>
            </a:r>
          </a:p>
          <a:p>
            <a:r>
              <a:t>Low latency</a:t>
            </a:r>
          </a:p>
          <a:p>
            <a:r>
              <a:t>More advanced designs are more efficient when the sampling rate is above 10MHz or N &gt; 16.</a:t>
            </a:r>
          </a:p>
        </p:txBody>
      </p:sp>
      <p:sp>
        <p:nvSpPr>
          <p:cNvPr id="6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21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7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67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67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67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67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67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6" grpId="1" build="p" bldLvl="5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80" name="The design of the spi2dac modul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The design of the spi2dac module</a:t>
            </a:r>
          </a:p>
          <a:p>
            <a:r>
              <a:t>How the ADC works</a:t>
            </a:r>
          </a:p>
          <a:p>
            <a:pPr>
              <a:defRPr b="1"/>
            </a:pPr>
            <a:r>
              <a:t>Wrapping up</a:t>
            </a:r>
          </a:p>
        </p:txBody>
      </p:sp>
      <p:sp>
        <p:nvSpPr>
          <p:cNvPr id="68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22</a:t>
            </a:fld>
            <a:endParaRPr/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Module aims</a:t>
            </a:r>
          </a:p>
        </p:txBody>
      </p:sp>
      <p:sp>
        <p:nvSpPr>
          <p:cNvPr id="684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To ensure that all MSc students reach a </a:t>
            </a:r>
            <a:r>
              <a:rPr b="1"/>
              <a:t>common competence level</a:t>
            </a:r>
            <a:r>
              <a:t> in RTL design using FPGAs in a hardware description language.</a:t>
            </a:r>
          </a:p>
          <a:p>
            <a:r>
              <a:t>To act as a </a:t>
            </a:r>
            <a:r>
              <a:rPr b="1"/>
              <a:t>revision exercise</a:t>
            </a:r>
            <a:r>
              <a:t> for those already competent in Verilog and FPGAs.</a:t>
            </a:r>
          </a:p>
        </p:txBody>
      </p:sp>
      <p:sp>
        <p:nvSpPr>
          <p:cNvPr id="6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23</a:t>
            </a:fld>
            <a:endParaRPr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Grading</a:t>
            </a:r>
          </a:p>
        </p:txBody>
      </p:sp>
      <p:sp>
        <p:nvSpPr>
          <p:cNvPr id="688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lab is part of the Coursework component of the MSc course. </a:t>
            </a:r>
          </a:p>
          <a:p>
            <a:r>
              <a:t>You must pass this component, but it does not count towards your final MSc grade.</a:t>
            </a:r>
          </a:p>
        </p:txBody>
      </p:sp>
      <p:sp>
        <p:nvSpPr>
          <p:cNvPr id="6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24</a:t>
            </a:fld>
            <a:endParaRPr/>
          </a:p>
        </p:txBody>
      </p:sp>
      <p:sp>
        <p:nvSpPr>
          <p:cNvPr id="690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1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2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3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4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Coursework</a:t>
            </a:r>
          </a:p>
        </p:txBody>
      </p:sp>
      <p:sp>
        <p:nvSpPr>
          <p:cNvPr id="695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Exams</a:t>
            </a:r>
          </a:p>
        </p:txBody>
      </p:sp>
      <p:sp>
        <p:nvSpPr>
          <p:cNvPr id="696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Project</a:t>
            </a:r>
          </a:p>
        </p:txBody>
      </p:sp>
      <p:sp>
        <p:nvSpPr>
          <p:cNvPr id="697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t>This lab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Assessment</a:t>
            </a:r>
          </a:p>
        </p:txBody>
      </p:sp>
      <p:sp>
        <p:nvSpPr>
          <p:cNvPr id="700" name="Assessment will be via a 15-minute oral interview. This will asses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Assessment will be via a 15-minute </a:t>
            </a:r>
            <a:r>
              <a:rPr b="1"/>
              <a:t>oral interview</a:t>
            </a:r>
            <a:r>
              <a:t>. This will assess:</a:t>
            </a:r>
          </a:p>
          <a:p>
            <a:pPr lvl="1">
              <a:spcBef>
                <a:spcPts val="2500"/>
              </a:spcBef>
            </a:pPr>
            <a:r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t>whether you have used a logbook (electronic or paper) to help you learn through planning and reflection.</a:t>
            </a:r>
          </a:p>
          <a:p>
            <a:r>
              <a:t>Please have your equipment set up and ready to demo.</a:t>
            </a:r>
          </a:p>
        </p:txBody>
      </p:sp>
      <p:sp>
        <p:nvSpPr>
          <p:cNvPr id="7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25</a:t>
            </a:fld>
            <a:endParaRPr/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Admin</a:t>
            </a:r>
          </a:p>
        </p:txBody>
      </p:sp>
      <p:sp>
        <p:nvSpPr>
          <p:cNvPr id="704" name="Final two labs: Tuesday 9th &amp; 16th Nov at 0900–1200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b="1"/>
              <a:t>Final two labs: </a:t>
            </a:r>
            <a:r>
              <a:t>Tuesday 9th &amp; 16th Nov at 0900–1200.</a:t>
            </a:r>
          </a:p>
          <a:p>
            <a:r>
              <a:rPr b="1"/>
              <a:t>Vivas</a:t>
            </a:r>
            <a:r>
              <a:t>: how about in the week beginning Monday 22nd Nov?</a:t>
            </a:r>
          </a:p>
        </p:txBody>
      </p:sp>
      <p:sp>
        <p:nvSpPr>
          <p:cNvPr id="7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26</a:t>
            </a:fld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1484</Words>
  <Application>Microsoft Macintosh PowerPoint</Application>
  <PresentationFormat>Custom</PresentationFormat>
  <Paragraphs>477</Paragraphs>
  <Slides>26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Courier</vt:lpstr>
      <vt:lpstr>Helvetica</vt:lpstr>
      <vt:lpstr>Helvetica Neue</vt:lpstr>
      <vt:lpstr>Helvetica Neue Thin</vt:lpstr>
      <vt:lpstr>White</vt:lpstr>
      <vt:lpstr>Mastering  Digital Design</vt:lpstr>
      <vt:lpstr>This lecture</vt:lpstr>
      <vt:lpstr>This lecture</vt:lpstr>
      <vt:lpstr>spi2dac</vt:lpstr>
      <vt:lpstr>spi2dac</vt:lpstr>
      <vt:lpstr>spi2dac</vt:lpstr>
      <vt:lpstr>spi2dac</vt:lpstr>
      <vt:lpstr>This lecture</vt:lpstr>
      <vt:lpstr>This lecture</vt:lpstr>
      <vt:lpstr>ADC using SAR</vt:lpstr>
      <vt:lpstr>ADC using SAR</vt:lpstr>
      <vt:lpstr>ADC using SAR</vt:lpstr>
      <vt:lpstr>ADC using SAR</vt:lpstr>
      <vt:lpstr>ADC using SAR</vt:lpstr>
      <vt:lpstr>ADC using SAR</vt:lpstr>
      <vt:lpstr>ADC using SAR</vt:lpstr>
      <vt:lpstr>ADC using SAR</vt:lpstr>
      <vt:lpstr>ADC using SAR</vt:lpstr>
      <vt:lpstr>ADC using SAR</vt:lpstr>
      <vt:lpstr>ADC using SAR</vt:lpstr>
      <vt:lpstr>ADC using SAR</vt:lpstr>
      <vt:lpstr>This lecture</vt:lpstr>
      <vt:lpstr>Module aims</vt:lpstr>
      <vt:lpstr>Grading</vt:lpstr>
      <vt:lpstr>Assessment</vt:lpstr>
      <vt:lpstr>Admin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</cp:revision>
  <dcterms:modified xsi:type="dcterms:W3CDTF">2026-09-11T17:00:14Z</dcterms:modified>
</cp:coreProperties>
</file>