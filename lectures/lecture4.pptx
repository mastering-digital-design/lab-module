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charts/chart1.xml" ContentType="application/vnd.openxmlformats-officedocument.drawingml.char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7"/>
  </p:notesMasterIdLst>
  <p:sldIdLst>
    <p:sldId id="256" r:id="rId2"/>
    <p:sldId id="257" r:id="rId3"/>
    <p:sldId id="258" r:id="rId4"/>
    <p:sldId id="259" r:id="rId5"/>
    <p:sldId id="260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</p:sldIdLst>
  <p:sldSz cx="13004800" cy="97536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2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1pPr>
    <a:lvl2pPr marL="0" marR="0" indent="22860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2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2pPr>
    <a:lvl3pPr marL="0" marR="0" indent="45720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2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3pPr>
    <a:lvl4pPr marL="0" marR="0" indent="68580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2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4pPr>
    <a:lvl5pPr marL="0" marR="0" indent="91440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2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5pPr>
    <a:lvl6pPr marL="0" marR="0" indent="114300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2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6pPr>
    <a:lvl7pPr marL="0" marR="0" indent="137160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2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7pPr>
    <a:lvl8pPr marL="0" marR="0" indent="160020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2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8pPr>
    <a:lvl9pPr marL="0" marR="0" indent="1828800" algn="ctr" defTabSz="584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32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9E6C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A9BC294-FFE2-49D5-8D69-9E1BD2C41BD5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38100" cap="flat">
              <a:solidFill>
                <a:srgbClr val="000000"/>
              </a:solidFill>
              <a:prstDash val="solid"/>
              <a:miter lim="400000"/>
            </a:ln>
          </a:left>
          <a:right>
            <a:ln w="381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38100" cap="flat">
              <a:solidFill>
                <a:srgbClr val="000000"/>
              </a:solidFill>
              <a:prstDash val="solid"/>
              <a:miter lim="400000"/>
            </a:ln>
          </a:bottom>
          <a:insideH>
            <a:ln w="38100" cap="flat">
              <a:solidFill>
                <a:srgbClr val="000000"/>
              </a:solidFill>
              <a:prstDash val="solid"/>
              <a:miter lim="400000"/>
            </a:ln>
          </a:insideH>
          <a:insideV>
            <a:ln w="381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DEEEE"/>
          </a:solidFill>
        </a:fill>
      </a:tcStyle>
    </a:band2H>
    <a:firstCol>
      <a:tcTxStyle b="on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381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38100" cap="flat">
              <a:solidFill>
                <a:srgbClr val="000000"/>
              </a:solidFill>
              <a:prstDash val="solid"/>
              <a:miter lim="400000"/>
            </a:ln>
          </a:bottom>
          <a:insideH>
            <a:ln w="381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firstCol>
    <a:lastRow>
      <a:tcTxStyle b="on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38100" cap="flat">
              <a:solidFill>
                <a:srgbClr val="000000"/>
              </a:solidFill>
              <a:prstDash val="solid"/>
              <a:miter lim="400000"/>
            </a:ln>
          </a:left>
          <a:right>
            <a:ln w="381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381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38100" cap="flat">
              <a:solidFill>
                <a:srgbClr val="000000"/>
              </a:solidFill>
              <a:prstDash val="solid"/>
              <a:miter lim="400000"/>
            </a:ln>
          </a:left>
          <a:right>
            <a:ln w="381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381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381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647"/>
    <p:restoredTop sz="94744"/>
  </p:normalViewPr>
  <p:slideViewPr>
    <p:cSldViewPr snapToGrid="0">
      <p:cViewPr varScale="1">
        <p:scale>
          <a:sx n="83" d="100"/>
          <a:sy n="83" d="100"/>
        </p:scale>
        <p:origin x="824" y="2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GB"/>
  <c:roundedCorners val="0"/>
  <c:style val="2"/>
  <c:chart>
    <c:title>
      <c:tx>
        <c:rich>
          <a:bodyPr rot="0"/>
          <a:lstStyle/>
          <a:p>
            <a:pPr>
              <a:defRPr sz="3400" b="0" i="0" u="none" strike="noStrike">
                <a:solidFill>
                  <a:srgbClr val="000000"/>
                </a:solidFill>
                <a:latin typeface="Helvetica"/>
              </a:defRPr>
            </a:pPr>
            <a:r>
              <a:rPr sz="3400" b="0" i="0" u="none" strike="noStrike">
                <a:solidFill>
                  <a:srgbClr val="000000"/>
                </a:solidFill>
                <a:latin typeface="Helvetica"/>
              </a:rPr>
              <a:t>Title</a:t>
            </a:r>
          </a:p>
        </c:rich>
      </c:tx>
      <c:layout>
        <c:manualLayout>
          <c:xMode val="edge"/>
          <c:yMode val="edge"/>
          <c:x val="0.239345"/>
          <c:y val="0"/>
          <c:w val="0.12750300000000001"/>
          <c:h val="0.32723000000000002"/>
        </c:manualLayout>
      </c:layout>
      <c:overlay val="1"/>
      <c:spPr>
        <a:noFill/>
        <a:effectLst/>
      </c:spPr>
    </c:title>
    <c:autoTitleDeleted val="0"/>
    <c:plotArea>
      <c:layout>
        <c:manualLayout>
          <c:layoutTarget val="inner"/>
          <c:xMode val="edge"/>
          <c:yMode val="edge"/>
          <c:x val="0.23563799999999999"/>
          <c:y val="0.32723000000000002"/>
          <c:w val="0.370556"/>
          <c:h val="0.29641000000000001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Sheet1!$A$2</c:f>
              <c:strCache>
                <c:ptCount val="1"/>
                <c:pt idx="0">
                  <c:v>Region 1</c:v>
                </c:pt>
              </c:strCache>
            </c:strRef>
          </c:tx>
          <c:spPr>
            <a:solidFill>
              <a:schemeClr val="accent1"/>
            </a:solidFill>
            <a:ln w="12700" cap="flat">
              <a:noFill/>
              <a:miter lim="400000"/>
            </a:ln>
            <a:effectLst/>
          </c:spPr>
          <c:invertIfNegative val="0"/>
          <c:cat>
            <c:strRef>
              <c:f>Sheet1!$B$1:$E$1</c:f>
              <c:strCache>
                <c:ptCount val="4"/>
                <c:pt idx="0">
                  <c:v>April</c:v>
                </c:pt>
                <c:pt idx="1">
                  <c:v>May</c:v>
                </c:pt>
                <c:pt idx="2">
                  <c:v>June</c:v>
                </c:pt>
                <c:pt idx="3">
                  <c:v>July</c:v>
                </c:pt>
              </c:strCache>
            </c:strRef>
          </c:cat>
          <c:val>
            <c:numRef>
              <c:f>Sheet1!$B$2:$E$2</c:f>
              <c:numCache>
                <c:formatCode>General</c:formatCode>
                <c:ptCount val="4"/>
                <c:pt idx="0">
                  <c:v>17</c:v>
                </c:pt>
                <c:pt idx="1">
                  <c:v>26</c:v>
                </c:pt>
                <c:pt idx="2">
                  <c:v>53</c:v>
                </c:pt>
                <c:pt idx="3">
                  <c:v>96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155-3F48-A6CE-233B4C8AECFA}"/>
            </c:ext>
          </c:extLst>
        </c:ser>
        <c:ser>
          <c:idx val="1"/>
          <c:order val="1"/>
          <c:tx>
            <c:strRef>
              <c:f>Sheet1!$A$3</c:f>
              <c:strCache>
                <c:ptCount val="1"/>
                <c:pt idx="0">
                  <c:v>Region 2</c:v>
                </c:pt>
              </c:strCache>
            </c:strRef>
          </c:tx>
          <c:spPr>
            <a:solidFill>
              <a:schemeClr val="accent3"/>
            </a:solidFill>
            <a:ln w="12700" cap="flat">
              <a:noFill/>
              <a:miter lim="400000"/>
            </a:ln>
            <a:effectLst/>
          </c:spPr>
          <c:invertIfNegative val="0"/>
          <c:cat>
            <c:strRef>
              <c:f>Sheet1!$B$1:$E$1</c:f>
              <c:strCache>
                <c:ptCount val="4"/>
                <c:pt idx="0">
                  <c:v>April</c:v>
                </c:pt>
                <c:pt idx="1">
                  <c:v>May</c:v>
                </c:pt>
                <c:pt idx="2">
                  <c:v>June</c:v>
                </c:pt>
                <c:pt idx="3">
                  <c:v>July</c:v>
                </c:pt>
              </c:strCache>
            </c:strRef>
          </c:cat>
          <c:val>
            <c:numRef>
              <c:f>Sheet1!$B$3:$E$3</c:f>
              <c:numCache>
                <c:formatCode>General</c:formatCode>
                <c:ptCount val="4"/>
                <c:pt idx="0">
                  <c:v>55</c:v>
                </c:pt>
                <c:pt idx="1">
                  <c:v>43</c:v>
                </c:pt>
                <c:pt idx="2">
                  <c:v>70</c:v>
                </c:pt>
                <c:pt idx="3">
                  <c:v>58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2155-3F48-A6CE-233B4C8AECF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40"/>
        <c:overlap val="-10"/>
        <c:axId val="2094734552"/>
        <c:axId val="2094734553"/>
      </c:barChart>
      <c:catAx>
        <c:axId val="2094734552"/>
        <c:scaling>
          <c:orientation val="minMax"/>
        </c:scaling>
        <c:delete val="0"/>
        <c:axPos val="b"/>
        <c:title>
          <c:tx>
            <c:rich>
              <a:bodyPr rot="0"/>
              <a:lstStyle/>
              <a:p>
                <a:pPr>
                  <a:defRPr sz="2200" b="0" i="0" u="none" strike="noStrike">
                    <a:solidFill>
                      <a:srgbClr val="000000"/>
                    </a:solidFill>
                    <a:latin typeface="Helvetica"/>
                  </a:defRPr>
                </a:pPr>
                <a:r>
                  <a:rPr sz="2200" b="0" i="0" u="none" strike="noStrike">
                    <a:solidFill>
                      <a:srgbClr val="000000"/>
                    </a:solidFill>
                    <a:latin typeface="Helvetica"/>
                  </a:rPr>
                  <a:t>Category Axis</a:t>
                </a:r>
              </a:p>
            </c:rich>
          </c:tx>
          <c:overlay val="1"/>
        </c:title>
        <c:numFmt formatCode="General" sourceLinked="0"/>
        <c:majorTickMark val="none"/>
        <c:minorTickMark val="none"/>
        <c:tickLblPos val="low"/>
        <c:spPr>
          <a:ln w="12700" cap="flat">
            <a:solidFill>
              <a:srgbClr val="000000"/>
            </a:solidFill>
            <a:prstDash val="solid"/>
            <a:miter lim="400000"/>
          </a:ln>
        </c:spPr>
        <c:txPr>
          <a:bodyPr rot="0"/>
          <a:lstStyle/>
          <a:p>
            <a:pPr>
              <a:defRPr sz="2200" b="0" i="0" u="none" strike="noStrike">
                <a:solidFill>
                  <a:srgbClr val="000000"/>
                </a:solidFill>
                <a:latin typeface="Helvetica"/>
              </a:defRPr>
            </a:pPr>
            <a:endParaRPr lang="en-US"/>
          </a:p>
        </c:txPr>
        <c:crossAx val="2094734553"/>
        <c:crosses val="autoZero"/>
        <c:auto val="1"/>
        <c:lblAlgn val="ctr"/>
        <c:lblOffset val="100"/>
        <c:noMultiLvlLbl val="1"/>
      </c:catAx>
      <c:valAx>
        <c:axId val="2094734553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B8B8B8"/>
              </a:solidFill>
              <a:prstDash val="solid"/>
              <a:miter lim="400000"/>
            </a:ln>
          </c:spPr>
        </c:majorGridlines>
        <c:title>
          <c:tx>
            <c:rich>
              <a:bodyPr rot="-5400000"/>
              <a:lstStyle/>
              <a:p>
                <a:pPr>
                  <a:defRPr sz="2200" b="0" i="0" u="none" strike="noStrike">
                    <a:solidFill>
                      <a:srgbClr val="000000"/>
                    </a:solidFill>
                    <a:latin typeface="Helvetica"/>
                  </a:defRPr>
                </a:pPr>
                <a:r>
                  <a:rPr sz="2200" b="0" i="0" u="none" strike="noStrike">
                    <a:solidFill>
                      <a:srgbClr val="000000"/>
                    </a:solidFill>
                    <a:latin typeface="Helvetica"/>
                  </a:rPr>
                  <a:t>Value Axis</a:t>
                </a:r>
              </a:p>
            </c:rich>
          </c:tx>
          <c:overlay val="1"/>
        </c:title>
        <c:numFmt formatCode="General" sourceLinked="0"/>
        <c:majorTickMark val="none"/>
        <c:minorTickMark val="none"/>
        <c:tickLblPos val="nextTo"/>
        <c:spPr>
          <a:ln w="12700" cap="flat">
            <a:noFill/>
            <a:prstDash val="solid"/>
            <a:miter lim="400000"/>
          </a:ln>
        </c:spPr>
        <c:txPr>
          <a:bodyPr rot="0"/>
          <a:lstStyle/>
          <a:p>
            <a:pPr>
              <a:defRPr sz="2200" b="0" i="0" u="none" strike="noStrike">
                <a:solidFill>
                  <a:srgbClr val="000000"/>
                </a:solidFill>
                <a:latin typeface="Helvetica"/>
              </a:defRPr>
            </a:pPr>
            <a:endParaRPr lang="en-US"/>
          </a:p>
        </c:txPr>
        <c:crossAx val="2094734552"/>
        <c:crosses val="autoZero"/>
        <c:crossBetween val="between"/>
        <c:majorUnit val="25"/>
        <c:minorUnit val="12.5"/>
      </c:valAx>
      <c:spPr>
        <a:noFill/>
        <a:ln w="12700" cap="flat">
          <a:noFill/>
          <a:miter lim="400000"/>
        </a:ln>
        <a:effectLst/>
      </c:spPr>
    </c:plotArea>
    <c:legend>
      <c:legendPos val="r"/>
      <c:layout>
        <c:manualLayout>
          <c:xMode val="edge"/>
          <c:yMode val="edge"/>
          <c:x val="0.56615400000000005"/>
          <c:y val="0.32270199999999999"/>
          <c:w val="0.43384600000000001"/>
          <c:h val="0.32780999999999999"/>
        </c:manualLayout>
      </c:layout>
      <c:overlay val="1"/>
      <c:spPr>
        <a:noFill/>
        <a:ln w="12700" cap="flat">
          <a:noFill/>
          <a:miter lim="400000"/>
        </a:ln>
        <a:effectLst/>
      </c:spPr>
      <c:txPr>
        <a:bodyPr rot="0"/>
        <a:lstStyle/>
        <a:p>
          <a:pPr>
            <a:defRPr sz="2600" b="0" i="0" u="none" strike="noStrike">
              <a:solidFill>
                <a:srgbClr val="000000"/>
              </a:solidFill>
              <a:latin typeface="Helvetica"/>
            </a:defRPr>
          </a:pPr>
          <a:endParaRPr lang="en-US"/>
        </a:p>
      </c:txPr>
    </c:legend>
    <c:plotVisOnly val="1"/>
    <c:dispBlanksAs val="gap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Shape 59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0" name="Shape 60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1pPr>
    <a:lvl2pPr indent="2286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2pPr>
    <a:lvl3pPr indent="4572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3pPr>
    <a:lvl4pPr indent="6858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4pPr>
    <a:lvl5pPr indent="9144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5pPr>
    <a:lvl6pPr indent="11430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6pPr>
    <a:lvl7pPr indent="13716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7pPr>
    <a:lvl8pPr indent="16002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8pPr>
    <a:lvl9pPr indent="18288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>
  <p:cSld name="Title &amp;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1270000" y="8267700"/>
            <a:ext cx="10464800" cy="914400"/>
          </a:xfrm>
          <a:prstGeom prst="rect">
            <a:avLst/>
          </a:prstGeom>
        </p:spPr>
        <p:txBody>
          <a:bodyPr/>
          <a:lstStyle>
            <a:lvl1pPr marL="0" indent="0" algn="ctr">
              <a:spcBef>
                <a:spcPts val="0"/>
              </a:spcBef>
              <a:buSzTx/>
              <a:buNone/>
              <a:defRPr sz="2500"/>
            </a:lvl1pPr>
            <a:lvl2pPr marL="0" indent="0" algn="ctr">
              <a:spcBef>
                <a:spcPts val="0"/>
              </a:spcBef>
              <a:buSzTx/>
              <a:buNone/>
              <a:defRPr sz="2500"/>
            </a:lvl2pPr>
            <a:lvl3pPr marL="0" indent="0" algn="ctr">
              <a:spcBef>
                <a:spcPts val="0"/>
              </a:spcBef>
              <a:buSzTx/>
              <a:buNone/>
              <a:defRPr sz="2500"/>
            </a:lvl3pPr>
            <a:lvl4pPr marL="0" indent="0" algn="ctr">
              <a:spcBef>
                <a:spcPts val="0"/>
              </a:spcBef>
              <a:buSzTx/>
              <a:buNone/>
              <a:defRPr sz="2500"/>
            </a:lvl4pPr>
            <a:lvl5pPr marL="0" indent="0" algn="ctr">
              <a:spcBef>
                <a:spcPts val="0"/>
              </a:spcBef>
              <a:buSzTx/>
              <a:buNone/>
              <a:defRPr sz="25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5" name="Title Text"/>
          <p:cNvSpPr txBox="1">
            <a:spLocks noGrp="1"/>
          </p:cNvSpPr>
          <p:nvPr>
            <p:ph type="title"/>
          </p:nvPr>
        </p:nvSpPr>
        <p:spPr>
          <a:xfrm>
            <a:off x="1270000" y="1638300"/>
            <a:ext cx="10464800" cy="3302000"/>
          </a:xfrm>
          <a:prstGeom prst="rect">
            <a:avLst/>
          </a:prstGeom>
        </p:spPr>
        <p:txBody>
          <a:bodyPr anchor="b"/>
          <a:lstStyle/>
          <a:p>
            <a:r>
              <a:t>Title Text</a:t>
            </a:r>
          </a:p>
        </p:txBody>
      </p:sp>
      <p:sp>
        <p:nvSpPr>
          <p:cNvPr id="16" name="Sam Coward"/>
          <p:cNvSpPr txBox="1"/>
          <p:nvPr/>
        </p:nvSpPr>
        <p:spPr>
          <a:xfrm>
            <a:off x="5087289" y="5854700"/>
            <a:ext cx="2830222" cy="660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3700"/>
            </a:lvl1pPr>
          </a:lstStyle>
          <a:p>
            <a:r>
              <a:t>Sam Coward</a:t>
            </a:r>
          </a:p>
        </p:txBody>
      </p:sp>
      <p:sp>
        <p:nvSpPr>
          <p:cNvPr id="17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6300639" y="9296400"/>
            <a:ext cx="396749" cy="399033"/>
          </a:xfrm>
          <a:prstGeom prst="rect">
            <a:avLst/>
          </a:prstGeom>
        </p:spPr>
        <p:txBody>
          <a:bodyPr/>
          <a:lstStyle>
            <a:lvl1pPr algn="ctr">
              <a:defRPr b="0">
                <a:solidFill>
                  <a:srgbClr val="000000"/>
                </a:solidFill>
                <a:latin typeface="Helvetica Neue Thin"/>
                <a:ea typeface="Helvetica Neue Thin"/>
                <a:cs typeface="Helvetica Neue Thin"/>
                <a:sym typeface="Helvetica Neue Thin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- Cen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itle Text"/>
          <p:cNvSpPr txBox="1">
            <a:spLocks noGrp="1"/>
          </p:cNvSpPr>
          <p:nvPr>
            <p:ph type="title"/>
          </p:nvPr>
        </p:nvSpPr>
        <p:spPr>
          <a:xfrm>
            <a:off x="1270000" y="3225800"/>
            <a:ext cx="10464800" cy="3302000"/>
          </a:xfrm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2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&amp;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33" name="Body Level One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34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Stuff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2502988" y="31749"/>
            <a:ext cx="396826" cy="406401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  <p:sp>
        <p:nvSpPr>
          <p:cNvPr id="42" name="Square"/>
          <p:cNvSpPr/>
          <p:nvPr/>
        </p:nvSpPr>
        <p:spPr>
          <a:xfrm>
            <a:off x="1155700" y="1682750"/>
            <a:ext cx="1270000" cy="1270000"/>
          </a:xfrm>
          <a:prstGeom prst="rect">
            <a:avLst/>
          </a:prstGeom>
          <a:solidFill>
            <a:srgbClr val="6E8627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43" name="Square"/>
          <p:cNvSpPr/>
          <p:nvPr/>
        </p:nvSpPr>
        <p:spPr>
          <a:xfrm>
            <a:off x="3403600" y="1682750"/>
            <a:ext cx="1270000" cy="1270000"/>
          </a:xfrm>
          <a:prstGeom prst="rect">
            <a:avLst/>
          </a:prstGeom>
          <a:solidFill>
            <a:srgbClr val="9D7A2D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44" name="Rectangle"/>
          <p:cNvSpPr/>
          <p:nvPr/>
        </p:nvSpPr>
        <p:spPr>
          <a:xfrm>
            <a:off x="876300" y="7512050"/>
            <a:ext cx="5867210" cy="1270000"/>
          </a:xfrm>
          <a:prstGeom prst="rect">
            <a:avLst/>
          </a:prstGeom>
          <a:solidFill>
            <a:srgbClr val="E9E6BF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45" name="Square"/>
          <p:cNvSpPr/>
          <p:nvPr/>
        </p:nvSpPr>
        <p:spPr>
          <a:xfrm>
            <a:off x="546100" y="876300"/>
            <a:ext cx="1270000" cy="1270000"/>
          </a:xfrm>
          <a:prstGeom prst="rect">
            <a:avLst/>
          </a:prstGeom>
          <a:solidFill>
            <a:srgbClr val="509798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46" name="Square"/>
          <p:cNvSpPr/>
          <p:nvPr/>
        </p:nvSpPr>
        <p:spPr>
          <a:xfrm>
            <a:off x="2336800" y="876300"/>
            <a:ext cx="1270000" cy="1270000"/>
          </a:xfrm>
          <a:prstGeom prst="rect">
            <a:avLst/>
          </a:prstGeom>
          <a:solidFill>
            <a:srgbClr val="0023E4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47" name="Line"/>
          <p:cNvSpPr/>
          <p:nvPr/>
        </p:nvSpPr>
        <p:spPr>
          <a:xfrm flipV="1">
            <a:off x="4889499" y="742950"/>
            <a:ext cx="1270001" cy="1270000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graphicFrame>
        <p:nvGraphicFramePr>
          <p:cNvPr id="48" name="Table 1"/>
          <p:cNvGraphicFramePr/>
          <p:nvPr/>
        </p:nvGraphicFramePr>
        <p:xfrm>
          <a:off x="7124700" y="4616450"/>
          <a:ext cx="4236244" cy="3128268"/>
        </p:xfrm>
        <a:graphic>
          <a:graphicData uri="http://schemas.openxmlformats.org/drawingml/2006/table">
            <a:tbl>
              <a:tblPr firstRow="1" firstCol="1" lastRow="1">
                <a:tableStyleId>{4A9BC294-FFE2-49D5-8D69-9E1BD2C41BD5}</a:tableStyleId>
              </a:tblPr>
              <a:tblGrid>
                <a:gridCol w="211812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1812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042756">
                <a:tc>
                  <a:txBody>
                    <a:bodyPr/>
                    <a:lstStyle/>
                    <a:p>
                      <a:pPr algn="l">
                        <a:spcBef>
                          <a:spcPts val="4200"/>
                        </a:spcBef>
                        <a:defRPr sz="1800" b="0"/>
                      </a:pPr>
                      <a:r>
                        <a:rPr sz="3200" b="1">
                          <a:latin typeface="+mn-lt"/>
                          <a:ea typeface="+mn-ea"/>
                          <a:cs typeface="+mn-cs"/>
                        </a:rPr>
                        <a:t>Corner</a:t>
                      </a:r>
                    </a:p>
                  </a:txBody>
                  <a:tcPr marL="50800" marR="50800" marT="50800" marB="50800" anchor="ctr" horzOverflow="overflow">
                    <a:lnL w="12700"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4200"/>
                        </a:spcBef>
                        <a:defRPr sz="1800" b="0"/>
                      </a:pPr>
                      <a:r>
                        <a:rPr sz="3200" b="1">
                          <a:latin typeface="+mn-lt"/>
                          <a:ea typeface="+mn-ea"/>
                          <a:cs typeface="+mn-cs"/>
                        </a:rPr>
                        <a:t>Head</a:t>
                      </a:r>
                    </a:p>
                  </a:txBody>
                  <a:tcPr marL="50800" marR="50800" marT="50800" marB="50800" anchor="ctr" horzOverflow="overflow">
                    <a:lnR w="12700">
                      <a:miter lim="400000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42756">
                <a:tc>
                  <a:txBody>
                    <a:bodyPr/>
                    <a:lstStyle/>
                    <a:p>
                      <a:pPr algn="l">
                        <a:spcBef>
                          <a:spcPts val="4200"/>
                        </a:spcBef>
                        <a:defRPr sz="1800" b="0"/>
                      </a:pPr>
                      <a:r>
                        <a:rPr sz="3200">
                          <a:latin typeface="+mn-lt"/>
                          <a:ea typeface="+mn-ea"/>
                          <a:cs typeface="+mn-cs"/>
                        </a:rPr>
                        <a:t>Side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4200"/>
                        </a:spcBef>
                        <a:defRPr sz="1800"/>
                      </a:pPr>
                      <a:r>
                        <a:rPr sz="3200"/>
                        <a:t>Cell</a:t>
                      </a:r>
                    </a:p>
                  </a:txBody>
                  <a:tcPr marL="50800" marR="50800" marT="50800" marB="50800" anchor="ctr" horzOverflow="overflow">
                    <a:lnR w="12700">
                      <a:miter lim="400000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42756">
                <a:tc>
                  <a:txBody>
                    <a:bodyPr/>
                    <a:lstStyle/>
                    <a:p>
                      <a:pPr algn="l">
                        <a:spcBef>
                          <a:spcPts val="4200"/>
                        </a:spcBef>
                        <a:defRPr sz="1800" b="0"/>
                      </a:pPr>
                      <a:r>
                        <a:rPr sz="3200">
                          <a:latin typeface="+mn-lt"/>
                          <a:ea typeface="+mn-ea"/>
                          <a:cs typeface="+mn-cs"/>
                        </a:rPr>
                        <a:t>Bottom</a:t>
                      </a:r>
                    </a:p>
                  </a:txBody>
                  <a:tcPr marL="50800" marR="50800" marT="50800" marB="50800" anchor="ctr" horzOverflow="overflow">
                    <a:lnL w="12700"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algn="l">
                        <a:spcBef>
                          <a:spcPts val="4200"/>
                        </a:spcBef>
                        <a:defRPr sz="1800" b="0"/>
                      </a:pPr>
                      <a:r>
                        <a:rPr sz="3200">
                          <a:latin typeface="+mn-lt"/>
                          <a:ea typeface="+mn-ea"/>
                          <a:cs typeface="+mn-cs"/>
                        </a:rPr>
                        <a:t>Foot</a:t>
                      </a:r>
                    </a:p>
                  </a:txBody>
                  <a:tcPr marL="50800" marR="50800" marT="50800" marB="50800" anchor="ctr" horzOverflow="overflow">
                    <a:lnR w="12700">
                      <a:miter lim="400000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49" name="Wickerson et al., &quot;Blah&quot;, in PLDI, 2018."/>
          <p:cNvSpPr txBox="1"/>
          <p:nvPr/>
        </p:nvSpPr>
        <p:spPr>
          <a:xfrm>
            <a:off x="1219200" y="7912099"/>
            <a:ext cx="5794872" cy="457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b">
            <a:spAutoFit/>
          </a:bodyPr>
          <a:lstStyle/>
          <a:p>
            <a:pPr marL="635000" indent="-635000" algn="l">
              <a:buSzPct val="100000"/>
              <a:buAutoNum type="arabicParenBoth"/>
              <a:defRPr sz="2300">
                <a:solidFill>
                  <a:srgbClr val="6E8627"/>
                </a:solidFill>
              </a:defRPr>
            </a:pPr>
            <a:r>
              <a:t>Wickerson et al., "Blah", in </a:t>
            </a:r>
            <a:r>
              <a:rPr i="1"/>
              <a:t>PLDI</a:t>
            </a:r>
            <a:r>
              <a:t>, 2018.</a:t>
            </a:r>
          </a:p>
        </p:txBody>
      </p:sp>
      <p:sp>
        <p:nvSpPr>
          <p:cNvPr id="50" name="Square"/>
          <p:cNvSpPr/>
          <p:nvPr/>
        </p:nvSpPr>
        <p:spPr>
          <a:xfrm>
            <a:off x="5651500" y="1682750"/>
            <a:ext cx="1270000" cy="1270000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51" name="Some code."/>
          <p:cNvSpPr txBox="1"/>
          <p:nvPr/>
        </p:nvSpPr>
        <p:spPr>
          <a:xfrm>
            <a:off x="8271123" y="1276349"/>
            <a:ext cx="1943398" cy="469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400">
                <a:latin typeface="Courier"/>
                <a:ea typeface="Courier"/>
                <a:cs typeface="Courier"/>
                <a:sym typeface="Courier"/>
              </a:defRPr>
            </a:lvl1pPr>
          </a:lstStyle>
          <a:p>
            <a:r>
              <a:t>Some code.</a:t>
            </a:r>
          </a:p>
        </p:txBody>
      </p:sp>
      <p:sp>
        <p:nvSpPr>
          <p:cNvPr id="52" name="Here is a cite.(1)"/>
          <p:cNvSpPr txBox="1"/>
          <p:nvPr/>
        </p:nvSpPr>
        <p:spPr>
          <a:xfrm>
            <a:off x="7777890" y="3111499"/>
            <a:ext cx="2929864" cy="584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r>
              <a:t>Here is a cite.</a:t>
            </a:r>
            <a:r>
              <a:rPr baseline="31999"/>
              <a:t>(1)</a:t>
            </a:r>
          </a:p>
        </p:txBody>
      </p:sp>
      <p:graphicFrame>
        <p:nvGraphicFramePr>
          <p:cNvPr id="53" name="Title"/>
          <p:cNvGraphicFramePr/>
          <p:nvPr/>
        </p:nvGraphicFramePr>
        <p:xfrm>
          <a:off x="278861" y="4584700"/>
          <a:ext cx="6397805" cy="260031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ED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 txBox="1">
            <a:spLocks noGrp="1"/>
          </p:cNvSpPr>
          <p:nvPr>
            <p:ph type="title"/>
          </p:nvPr>
        </p:nvSpPr>
        <p:spPr>
          <a:xfrm>
            <a:off x="952500" y="546100"/>
            <a:ext cx="11099800" cy="21590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>
            <a:normAutofit/>
          </a:bodyPr>
          <a:lstStyle/>
          <a:p>
            <a:r>
              <a:t>Title Text</a:t>
            </a:r>
          </a:p>
        </p:txBody>
      </p:sp>
      <p:sp>
        <p:nvSpPr>
          <p:cNvPr id="3" name="Body Level One…"/>
          <p:cNvSpPr txBox="1">
            <a:spLocks noGrp="1"/>
          </p:cNvSpPr>
          <p:nvPr>
            <p:ph type="body" idx="1"/>
          </p:nvPr>
        </p:nvSpPr>
        <p:spPr>
          <a:xfrm>
            <a:off x="952500" y="2686050"/>
            <a:ext cx="11099800" cy="62865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>
            <a:normAutofit/>
          </a:bodyPr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Rectangle"/>
          <p:cNvSpPr/>
          <p:nvPr/>
        </p:nvSpPr>
        <p:spPr>
          <a:xfrm>
            <a:off x="0" y="-1"/>
            <a:ext cx="13004800" cy="457201"/>
          </a:xfrm>
          <a:prstGeom prst="rect">
            <a:avLst/>
          </a:prstGeom>
          <a:solidFill>
            <a:srgbClr val="000000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5" name="Sam Coward"/>
          <p:cNvSpPr txBox="1"/>
          <p:nvPr/>
        </p:nvSpPr>
        <p:spPr>
          <a:xfrm>
            <a:off x="87122" y="25400"/>
            <a:ext cx="1652811" cy="406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l">
              <a:defRPr sz="2000" b="1">
                <a:solidFill>
                  <a:srgbClr val="FFFFFF"/>
                </a:solidFill>
              </a:defRPr>
            </a:lvl1pPr>
          </a:lstStyle>
          <a:p>
            <a:r>
              <a:t>Sam Coward</a:t>
            </a:r>
          </a:p>
        </p:txBody>
      </p:sp>
      <p:sp>
        <p:nvSpPr>
          <p:cNvPr id="6" name="Mastering Digital Design"/>
          <p:cNvSpPr txBox="1"/>
          <p:nvPr/>
        </p:nvSpPr>
        <p:spPr>
          <a:xfrm>
            <a:off x="4963355" y="25400"/>
            <a:ext cx="3078089" cy="406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000" b="1">
                <a:solidFill>
                  <a:srgbClr val="FFFFFF"/>
                </a:solidFill>
              </a:defRPr>
            </a:lvl1pPr>
          </a:lstStyle>
          <a:p>
            <a:r>
              <a:t>Mastering Digital Design</a:t>
            </a:r>
          </a:p>
        </p:txBody>
      </p:sp>
      <p:sp>
        <p:nvSpPr>
          <p:cNvPr id="7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2502988" y="31750"/>
            <a:ext cx="396826" cy="406400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>
            <a:spAutoFit/>
          </a:bodyPr>
          <a:lstStyle>
            <a:lvl1pPr algn="r">
              <a:defRPr sz="2000" b="1">
                <a:solidFill>
                  <a:srgbClr val="FFFFFF"/>
                </a:solidFill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transition spd="med"/>
  <p:txStyles>
    <p:titleStyle>
      <a:lvl1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000" b="1" i="0" u="none" strike="noStrike" cap="none" spc="0" baseline="0">
          <a:solidFill>
            <a:srgbClr val="9D7A2D"/>
          </a:solidFill>
          <a:uFillTx/>
          <a:latin typeface="+mn-lt"/>
          <a:ea typeface="+mn-ea"/>
          <a:cs typeface="+mn-cs"/>
          <a:sym typeface="Helvetica"/>
        </a:defRPr>
      </a:lvl1pPr>
      <a:lvl2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000" b="1" i="0" u="none" strike="noStrike" cap="none" spc="0" baseline="0">
          <a:solidFill>
            <a:srgbClr val="9D7A2D"/>
          </a:solidFill>
          <a:uFillTx/>
          <a:latin typeface="+mn-lt"/>
          <a:ea typeface="+mn-ea"/>
          <a:cs typeface="+mn-cs"/>
          <a:sym typeface="Helvetica"/>
        </a:defRPr>
      </a:lvl2pPr>
      <a:lvl3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000" b="1" i="0" u="none" strike="noStrike" cap="none" spc="0" baseline="0">
          <a:solidFill>
            <a:srgbClr val="9D7A2D"/>
          </a:solidFill>
          <a:uFillTx/>
          <a:latin typeface="+mn-lt"/>
          <a:ea typeface="+mn-ea"/>
          <a:cs typeface="+mn-cs"/>
          <a:sym typeface="Helvetica"/>
        </a:defRPr>
      </a:lvl3pPr>
      <a:lvl4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000" b="1" i="0" u="none" strike="noStrike" cap="none" spc="0" baseline="0">
          <a:solidFill>
            <a:srgbClr val="9D7A2D"/>
          </a:solidFill>
          <a:uFillTx/>
          <a:latin typeface="+mn-lt"/>
          <a:ea typeface="+mn-ea"/>
          <a:cs typeface="+mn-cs"/>
          <a:sym typeface="Helvetica"/>
        </a:defRPr>
      </a:lvl4pPr>
      <a:lvl5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000" b="1" i="0" u="none" strike="noStrike" cap="none" spc="0" baseline="0">
          <a:solidFill>
            <a:srgbClr val="9D7A2D"/>
          </a:solidFill>
          <a:uFillTx/>
          <a:latin typeface="+mn-lt"/>
          <a:ea typeface="+mn-ea"/>
          <a:cs typeface="+mn-cs"/>
          <a:sym typeface="Helvetica"/>
        </a:defRPr>
      </a:lvl5pPr>
      <a:lvl6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000" b="1" i="0" u="none" strike="noStrike" cap="none" spc="0" baseline="0">
          <a:solidFill>
            <a:srgbClr val="9D7A2D"/>
          </a:solidFill>
          <a:uFillTx/>
          <a:latin typeface="+mn-lt"/>
          <a:ea typeface="+mn-ea"/>
          <a:cs typeface="+mn-cs"/>
          <a:sym typeface="Helvetica"/>
        </a:defRPr>
      </a:lvl6pPr>
      <a:lvl7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000" b="1" i="0" u="none" strike="noStrike" cap="none" spc="0" baseline="0">
          <a:solidFill>
            <a:srgbClr val="9D7A2D"/>
          </a:solidFill>
          <a:uFillTx/>
          <a:latin typeface="+mn-lt"/>
          <a:ea typeface="+mn-ea"/>
          <a:cs typeface="+mn-cs"/>
          <a:sym typeface="Helvetica"/>
        </a:defRPr>
      </a:lvl7pPr>
      <a:lvl8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000" b="1" i="0" u="none" strike="noStrike" cap="none" spc="0" baseline="0">
          <a:solidFill>
            <a:srgbClr val="9D7A2D"/>
          </a:solidFill>
          <a:uFillTx/>
          <a:latin typeface="+mn-lt"/>
          <a:ea typeface="+mn-ea"/>
          <a:cs typeface="+mn-cs"/>
          <a:sym typeface="Helvetica"/>
        </a:defRPr>
      </a:lvl8pPr>
      <a:lvl9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000" b="1" i="0" u="none" strike="noStrike" cap="none" spc="0" baseline="0">
          <a:solidFill>
            <a:srgbClr val="9D7A2D"/>
          </a:solidFill>
          <a:uFillTx/>
          <a:latin typeface="+mn-lt"/>
          <a:ea typeface="+mn-ea"/>
          <a:cs typeface="+mn-cs"/>
          <a:sym typeface="Helvetica"/>
        </a:defRPr>
      </a:lvl9pPr>
    </p:titleStyle>
    <p:bodyStyle>
      <a:lvl1pPr marL="444500" marR="0" indent="-444500" algn="l" defTabSz="584200" rtl="0" latinLnBrk="0">
        <a:lnSpc>
          <a:spcPct val="100000"/>
        </a:lnSpc>
        <a:spcBef>
          <a:spcPts val="4200"/>
        </a:spcBef>
        <a:spcAft>
          <a:spcPts val="0"/>
        </a:spcAft>
        <a:buClrTx/>
        <a:buSzPct val="145000"/>
        <a:buFontTx/>
        <a:buChar char="•"/>
        <a:tabLst/>
        <a:defRPr sz="32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"/>
        </a:defRPr>
      </a:lvl1pPr>
      <a:lvl2pPr marL="889000" marR="0" indent="-444500" algn="l" defTabSz="584200" rtl="0" latinLnBrk="0">
        <a:lnSpc>
          <a:spcPct val="100000"/>
        </a:lnSpc>
        <a:spcBef>
          <a:spcPts val="4200"/>
        </a:spcBef>
        <a:spcAft>
          <a:spcPts val="0"/>
        </a:spcAft>
        <a:buClrTx/>
        <a:buSzPct val="145000"/>
        <a:buFontTx/>
        <a:buChar char="•"/>
        <a:tabLst/>
        <a:defRPr sz="32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"/>
        </a:defRPr>
      </a:lvl2pPr>
      <a:lvl3pPr marL="1333500" marR="0" indent="-444500" algn="l" defTabSz="584200" rtl="0" latinLnBrk="0">
        <a:lnSpc>
          <a:spcPct val="100000"/>
        </a:lnSpc>
        <a:spcBef>
          <a:spcPts val="4200"/>
        </a:spcBef>
        <a:spcAft>
          <a:spcPts val="0"/>
        </a:spcAft>
        <a:buClrTx/>
        <a:buSzPct val="145000"/>
        <a:buFontTx/>
        <a:buChar char="•"/>
        <a:tabLst/>
        <a:defRPr sz="32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"/>
        </a:defRPr>
      </a:lvl3pPr>
      <a:lvl4pPr marL="1778000" marR="0" indent="-444500" algn="l" defTabSz="584200" rtl="0" latinLnBrk="0">
        <a:lnSpc>
          <a:spcPct val="100000"/>
        </a:lnSpc>
        <a:spcBef>
          <a:spcPts val="4200"/>
        </a:spcBef>
        <a:spcAft>
          <a:spcPts val="0"/>
        </a:spcAft>
        <a:buClrTx/>
        <a:buSzPct val="145000"/>
        <a:buFontTx/>
        <a:buChar char="•"/>
        <a:tabLst/>
        <a:defRPr sz="32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"/>
        </a:defRPr>
      </a:lvl4pPr>
      <a:lvl5pPr marL="2222500" marR="0" indent="-444500" algn="l" defTabSz="584200" rtl="0" latinLnBrk="0">
        <a:lnSpc>
          <a:spcPct val="100000"/>
        </a:lnSpc>
        <a:spcBef>
          <a:spcPts val="4200"/>
        </a:spcBef>
        <a:spcAft>
          <a:spcPts val="0"/>
        </a:spcAft>
        <a:buClrTx/>
        <a:buSzPct val="145000"/>
        <a:buFontTx/>
        <a:buChar char="•"/>
        <a:tabLst/>
        <a:defRPr sz="32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"/>
        </a:defRPr>
      </a:lvl5pPr>
      <a:lvl6pPr marL="2667000" marR="0" indent="-444500" algn="l" defTabSz="584200" rtl="0" latinLnBrk="0">
        <a:lnSpc>
          <a:spcPct val="100000"/>
        </a:lnSpc>
        <a:spcBef>
          <a:spcPts val="4200"/>
        </a:spcBef>
        <a:spcAft>
          <a:spcPts val="0"/>
        </a:spcAft>
        <a:buClrTx/>
        <a:buSzPct val="145000"/>
        <a:buFontTx/>
        <a:buChar char="•"/>
        <a:tabLst/>
        <a:defRPr sz="32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"/>
        </a:defRPr>
      </a:lvl6pPr>
      <a:lvl7pPr marL="3111500" marR="0" indent="-444500" algn="l" defTabSz="584200" rtl="0" latinLnBrk="0">
        <a:lnSpc>
          <a:spcPct val="100000"/>
        </a:lnSpc>
        <a:spcBef>
          <a:spcPts val="4200"/>
        </a:spcBef>
        <a:spcAft>
          <a:spcPts val="0"/>
        </a:spcAft>
        <a:buClrTx/>
        <a:buSzPct val="145000"/>
        <a:buFontTx/>
        <a:buChar char="•"/>
        <a:tabLst/>
        <a:defRPr sz="32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"/>
        </a:defRPr>
      </a:lvl7pPr>
      <a:lvl8pPr marL="3556000" marR="0" indent="-444500" algn="l" defTabSz="584200" rtl="0" latinLnBrk="0">
        <a:lnSpc>
          <a:spcPct val="100000"/>
        </a:lnSpc>
        <a:spcBef>
          <a:spcPts val="4200"/>
        </a:spcBef>
        <a:spcAft>
          <a:spcPts val="0"/>
        </a:spcAft>
        <a:buClrTx/>
        <a:buSzPct val="145000"/>
        <a:buFontTx/>
        <a:buChar char="•"/>
        <a:tabLst/>
        <a:defRPr sz="32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"/>
        </a:defRPr>
      </a:lvl8pPr>
      <a:lvl9pPr marL="4000500" marR="0" indent="-444500" algn="l" defTabSz="584200" rtl="0" latinLnBrk="0">
        <a:lnSpc>
          <a:spcPct val="100000"/>
        </a:lnSpc>
        <a:spcBef>
          <a:spcPts val="4200"/>
        </a:spcBef>
        <a:spcAft>
          <a:spcPts val="0"/>
        </a:spcAft>
        <a:buClrTx/>
        <a:buSzPct val="145000"/>
        <a:buFontTx/>
        <a:buChar char="•"/>
        <a:tabLst/>
        <a:defRPr sz="32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"/>
        </a:defRPr>
      </a:lvl9pPr>
    </p:bodyStyle>
    <p:otherStyle>
      <a:lvl1pPr marL="0" marR="0" indent="0" algn="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000" b="1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"/>
        </a:defRPr>
      </a:lvl1pPr>
      <a:lvl2pPr marL="0" marR="0" indent="228600" algn="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000" b="1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"/>
        </a:defRPr>
      </a:lvl2pPr>
      <a:lvl3pPr marL="0" marR="0" indent="457200" algn="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000" b="1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"/>
        </a:defRPr>
      </a:lvl3pPr>
      <a:lvl4pPr marL="0" marR="0" indent="685800" algn="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000" b="1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"/>
        </a:defRPr>
      </a:lvl4pPr>
      <a:lvl5pPr marL="0" marR="0" indent="914400" algn="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000" b="1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"/>
        </a:defRPr>
      </a:lvl5pPr>
      <a:lvl6pPr marL="0" marR="0" indent="1143000" algn="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000" b="1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"/>
        </a:defRPr>
      </a:lvl6pPr>
      <a:lvl7pPr marL="0" marR="0" indent="1371600" algn="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000" b="1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"/>
        </a:defRPr>
      </a:lvl7pPr>
      <a:lvl8pPr marL="0" marR="0" indent="1600200" algn="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000" b="1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"/>
        </a:defRPr>
      </a:lvl8pPr>
      <a:lvl9pPr marL="0" marR="0" indent="1828800" algn="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000" b="1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Lecture 4"/>
          <p:cNvSpPr txBox="1">
            <a:spLocks noGrp="1"/>
          </p:cNvSpPr>
          <p:nvPr>
            <p:ph type="subTitle" sz="quarter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Lecture 4</a:t>
            </a:r>
          </a:p>
        </p:txBody>
      </p:sp>
      <p:sp>
        <p:nvSpPr>
          <p:cNvPr id="63" name="Mastering  Digital Design"/>
          <p:cNvSpPr txBox="1">
            <a:spLocks noGrp="1"/>
          </p:cNvSpPr>
          <p:nvPr>
            <p:ph type="ctrTitle"/>
          </p:nvPr>
        </p:nvSpPr>
        <p:spPr>
          <a:xfrm>
            <a:off x="1270000" y="1130300"/>
            <a:ext cx="10464800" cy="3302000"/>
          </a:xfrm>
          <a:prstGeom prst="rect">
            <a:avLst/>
          </a:prstGeom>
        </p:spPr>
        <p:txBody>
          <a:bodyPr/>
          <a:lstStyle/>
          <a:p>
            <a:r>
              <a:t>Mastering </a:t>
            </a:r>
            <a:br/>
            <a:r>
              <a:t>Digital Design</a:t>
            </a:r>
          </a:p>
        </p:txBody>
      </p:sp>
      <p:sp>
        <p:nvSpPr>
          <p:cNvPr id="64" name="with Verilog on FPGAs"/>
          <p:cNvSpPr txBox="1"/>
          <p:nvPr/>
        </p:nvSpPr>
        <p:spPr>
          <a:xfrm>
            <a:off x="2861180" y="4614322"/>
            <a:ext cx="7282443" cy="70275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3900" b="1">
                <a:solidFill>
                  <a:srgbClr val="9D7A2D"/>
                </a:solidFill>
              </a:defRPr>
            </a:lvl1pPr>
          </a:lstStyle>
          <a:p>
            <a:r>
              <a:rPr dirty="0"/>
              <a:t>with </a:t>
            </a:r>
            <a:r>
              <a:rPr lang="en-GB" dirty="0"/>
              <a:t>System</a:t>
            </a:r>
            <a:r>
              <a:rPr dirty="0"/>
              <a:t>Verilog on FPGAs</a:t>
            </a:r>
          </a:p>
        </p:txBody>
      </p:sp>
      <p:sp>
        <p:nvSpPr>
          <p:cNvPr id="2" name="Slides by John Wickerson">
            <a:extLst>
              <a:ext uri="{FF2B5EF4-FFF2-40B4-BE49-F238E27FC236}">
                <a16:creationId xmlns:a16="http://schemas.microsoft.com/office/drawing/2014/main" id="{CEA2D7BC-A758-0787-EFDC-6A3A4A9163A7}"/>
              </a:ext>
            </a:extLst>
          </p:cNvPr>
          <p:cNvSpPr txBox="1"/>
          <p:nvPr/>
        </p:nvSpPr>
        <p:spPr>
          <a:xfrm>
            <a:off x="4355281" y="6537324"/>
            <a:ext cx="4040238" cy="508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sz="2700"/>
            </a:lvl1pPr>
          </a:lstStyle>
          <a:p>
            <a:r>
              <a:t>Slides by John Wickerson</a:t>
            </a:r>
          </a:p>
        </p:txBody>
      </p:sp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This lectur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This lecture</a:t>
            </a:r>
          </a:p>
        </p:txBody>
      </p:sp>
      <p:sp>
        <p:nvSpPr>
          <p:cNvPr id="67" name="The design of the spi2dac module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The design of the spi2dac module</a:t>
            </a:r>
          </a:p>
          <a:p>
            <a:r>
              <a:t>How the ADC works</a:t>
            </a:r>
          </a:p>
          <a:p>
            <a:r>
              <a:t>Wrapping up</a:t>
            </a:r>
          </a:p>
        </p:txBody>
      </p:sp>
      <p:sp>
        <p:nvSpPr>
          <p:cNvPr id="68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2644250" y="31750"/>
            <a:ext cx="255564" cy="406400"/>
          </a:xfrm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rPr/>
              <a:t>2</a:t>
            </a:fld>
            <a:endParaRPr/>
          </a:p>
        </p:txBody>
      </p:sp>
    </p:spTree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This lectur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This lecture</a:t>
            </a:r>
          </a:p>
        </p:txBody>
      </p:sp>
      <p:sp>
        <p:nvSpPr>
          <p:cNvPr id="71" name="The design of the spi2dac module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>
              <a:defRPr b="1"/>
            </a:pPr>
            <a:r>
              <a:t>The design of the spi2dac module</a:t>
            </a:r>
          </a:p>
          <a:p>
            <a:r>
              <a:t>How the ADC works</a:t>
            </a:r>
          </a:p>
          <a:p>
            <a:r>
              <a:t>Wrapping up</a:t>
            </a:r>
          </a:p>
        </p:txBody>
      </p:sp>
      <p:sp>
        <p:nvSpPr>
          <p:cNvPr id="72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2644250" y="31750"/>
            <a:ext cx="255564" cy="406400"/>
          </a:xfrm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rPr/>
              <a:t>3</a:t>
            </a:fld>
            <a:endParaRPr/>
          </a:p>
        </p:txBody>
      </p:sp>
    </p:spTree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" descr="Image">
            <a:extLst>
              <a:ext uri="{FF2B5EF4-FFF2-40B4-BE49-F238E27FC236}">
                <a16:creationId xmlns:a16="http://schemas.microsoft.com/office/drawing/2014/main" id="{D5684A02-DA2B-EA7D-644B-99F8020649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5288" y="2590800"/>
            <a:ext cx="10314224" cy="5500920"/>
          </a:xfrm>
          <a:prstGeom prst="rect">
            <a:avLst/>
          </a:prstGeom>
          <a:ln w="12700">
            <a:miter lim="400000"/>
          </a:ln>
        </p:spPr>
      </p:pic>
      <p:sp>
        <p:nvSpPr>
          <p:cNvPr id="75" name="spi2dac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dirty="0"/>
              <a:t>spi2dac</a:t>
            </a:r>
          </a:p>
        </p:txBody>
      </p:sp>
      <p:sp>
        <p:nvSpPr>
          <p:cNvPr id="76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2644250" y="31750"/>
            <a:ext cx="255564" cy="406400"/>
          </a:xfrm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rPr/>
              <a:t>4</a:t>
            </a:fld>
            <a:endParaRPr/>
          </a:p>
        </p:txBody>
      </p:sp>
      <p:grpSp>
        <p:nvGrpSpPr>
          <p:cNvPr id="79" name="Group"/>
          <p:cNvGrpSpPr/>
          <p:nvPr/>
        </p:nvGrpSpPr>
        <p:grpSpPr>
          <a:xfrm>
            <a:off x="288747" y="850453"/>
            <a:ext cx="4834657" cy="3436137"/>
            <a:chOff x="0" y="-419546"/>
            <a:chExt cx="4834656" cy="3436135"/>
          </a:xfrm>
        </p:grpSpPr>
        <p:sp>
          <p:nvSpPr>
            <p:cNvPr id="77" name="Line"/>
            <p:cNvSpPr/>
            <p:nvPr/>
          </p:nvSpPr>
          <p:spPr>
            <a:xfrm>
              <a:off x="2808952" y="1642303"/>
              <a:ext cx="287151" cy="1374286"/>
            </a:xfrm>
            <a:prstGeom prst="line">
              <a:avLst/>
            </a:prstGeom>
            <a:noFill/>
            <a:ln w="88900" cap="flat">
              <a:solidFill>
                <a:srgbClr val="9D7A2D"/>
              </a:solidFill>
              <a:prstDash val="solid"/>
              <a:miter lim="400000"/>
              <a:tailEnd type="triangle" w="med" len="med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 sz="2100" b="1"/>
              </a:pPr>
              <a:endParaRPr/>
            </a:p>
          </p:txBody>
        </p:sp>
        <p:sp>
          <p:nvSpPr>
            <p:cNvPr id="78" name="parameter TC = 5'd24;…"/>
            <p:cNvSpPr txBox="1"/>
            <p:nvPr/>
          </p:nvSpPr>
          <p:spPr>
            <a:xfrm>
              <a:off x="0" y="-419546"/>
              <a:ext cx="4834656" cy="2718692"/>
            </a:xfrm>
            <a:prstGeom prst="rect">
              <a:avLst/>
            </a:prstGeom>
            <a:solidFill>
              <a:srgbClr val="E9E6BF"/>
            </a:solidFill>
            <a:ln w="12700" cap="flat">
              <a:noFill/>
              <a:miter lim="400000"/>
            </a:ln>
            <a:effectLst>
              <a:outerShdw blurRad="63500" dist="25400" dir="5400000" rotWithShape="0">
                <a:srgbClr val="000000">
                  <a:alpha val="50000"/>
                </a:srgbClr>
              </a:outerShdw>
            </a:effectLst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/>
            <a:p>
              <a:pPr algn="l">
                <a:defRPr sz="1700"/>
              </a:pPr>
              <a:r>
                <a:rPr lang="en-GB" b="1" dirty="0">
                  <a:solidFill>
                    <a:schemeClr val="accent6">
                      <a:satOff val="-15808"/>
                      <a:lumOff val="-17557"/>
                    </a:schemeClr>
                  </a:solidFill>
                  <a:latin typeface="Courier"/>
                  <a:ea typeface="Courier"/>
                  <a:cs typeface="Courier"/>
                  <a:sym typeface="Courier"/>
                </a:rPr>
                <a:t>parameter logic [4:0] TC = 5'd24;</a:t>
              </a:r>
            </a:p>
            <a:p>
              <a:pPr algn="l">
                <a:defRPr sz="1700"/>
              </a:pPr>
              <a:r>
                <a:rPr lang="en-GB" b="1" dirty="0">
                  <a:solidFill>
                    <a:schemeClr val="accent6">
                      <a:satOff val="-15808"/>
                      <a:lumOff val="-17557"/>
                    </a:schemeClr>
                  </a:solidFill>
                  <a:latin typeface="Courier"/>
                  <a:ea typeface="Courier"/>
                  <a:cs typeface="Courier"/>
                  <a:sym typeface="Courier"/>
                </a:rPr>
                <a:t>logic [4:0] </a:t>
              </a:r>
              <a:r>
                <a:rPr lang="en-GB" b="1" dirty="0" err="1">
                  <a:solidFill>
                    <a:schemeClr val="accent6">
                      <a:satOff val="-15808"/>
                      <a:lumOff val="-17557"/>
                    </a:schemeClr>
                  </a:solidFill>
                  <a:latin typeface="Courier"/>
                  <a:ea typeface="Courier"/>
                  <a:cs typeface="Courier"/>
                  <a:sym typeface="Courier"/>
                </a:rPr>
                <a:t>ctr</a:t>
              </a:r>
              <a:r>
                <a:rPr lang="en-GB" b="1" dirty="0">
                  <a:solidFill>
                    <a:schemeClr val="accent6">
                      <a:satOff val="-15808"/>
                      <a:lumOff val="-17557"/>
                    </a:schemeClr>
                  </a:solidFill>
                  <a:latin typeface="Courier"/>
                  <a:ea typeface="Courier"/>
                  <a:cs typeface="Courier"/>
                  <a:sym typeface="Courier"/>
                </a:rPr>
                <a:t>;</a:t>
              </a:r>
            </a:p>
            <a:p>
              <a:pPr algn="l">
                <a:defRPr sz="1700"/>
              </a:pPr>
              <a:r>
                <a:rPr lang="en-GB" b="1" dirty="0" err="1">
                  <a:solidFill>
                    <a:schemeClr val="accent6">
                      <a:satOff val="-15808"/>
                      <a:lumOff val="-17557"/>
                    </a:schemeClr>
                  </a:solidFill>
                  <a:latin typeface="Courier"/>
                  <a:ea typeface="Courier"/>
                  <a:cs typeface="Courier"/>
                  <a:sym typeface="Courier"/>
                </a:rPr>
                <a:t>always_ff</a:t>
              </a:r>
              <a:r>
                <a:rPr lang="en-GB" b="1" dirty="0">
                  <a:solidFill>
                    <a:schemeClr val="accent6">
                      <a:satOff val="-15808"/>
                      <a:lumOff val="-17557"/>
                    </a:schemeClr>
                  </a:solidFill>
                  <a:latin typeface="Courier"/>
                  <a:ea typeface="Courier"/>
                  <a:cs typeface="Courier"/>
                  <a:sym typeface="Courier"/>
                </a:rPr>
                <a:t> @(</a:t>
              </a:r>
              <a:r>
                <a:rPr lang="en-GB" b="1" dirty="0" err="1">
                  <a:solidFill>
                    <a:schemeClr val="accent6">
                      <a:satOff val="-15808"/>
                      <a:lumOff val="-17557"/>
                    </a:schemeClr>
                  </a:solidFill>
                  <a:latin typeface="Courier"/>
                  <a:ea typeface="Courier"/>
                  <a:cs typeface="Courier"/>
                  <a:sym typeface="Courier"/>
                </a:rPr>
                <a:t>posedge</a:t>
              </a:r>
              <a:r>
                <a:rPr lang="en-GB" b="1" dirty="0">
                  <a:solidFill>
                    <a:schemeClr val="accent6">
                      <a:satOff val="-15808"/>
                      <a:lumOff val="-17557"/>
                    </a:schemeClr>
                  </a:solidFill>
                  <a:latin typeface="Courier"/>
                  <a:ea typeface="Courier"/>
                  <a:cs typeface="Courier"/>
                  <a:sym typeface="Courier"/>
                </a:rPr>
                <a:t> clk_50MHz) begin</a:t>
              </a:r>
            </a:p>
            <a:p>
              <a:pPr algn="l">
                <a:defRPr sz="1700"/>
              </a:pPr>
              <a:r>
                <a:rPr lang="en-GB" b="1" dirty="0">
                  <a:solidFill>
                    <a:schemeClr val="accent6">
                      <a:satOff val="-15808"/>
                      <a:lumOff val="-17557"/>
                    </a:schemeClr>
                  </a:solidFill>
                  <a:latin typeface="Courier"/>
                  <a:ea typeface="Courier"/>
                  <a:cs typeface="Courier"/>
                  <a:sym typeface="Courier"/>
                </a:rPr>
                <a:t>    if (</a:t>
              </a:r>
              <a:r>
                <a:rPr lang="en-GB" b="1" dirty="0" err="1">
                  <a:solidFill>
                    <a:schemeClr val="accent6">
                      <a:satOff val="-15808"/>
                      <a:lumOff val="-17557"/>
                    </a:schemeClr>
                  </a:solidFill>
                  <a:latin typeface="Courier"/>
                  <a:ea typeface="Courier"/>
                  <a:cs typeface="Courier"/>
                  <a:sym typeface="Courier"/>
                </a:rPr>
                <a:t>ctr</a:t>
              </a:r>
              <a:r>
                <a:rPr lang="en-GB" b="1" dirty="0">
                  <a:solidFill>
                    <a:schemeClr val="accent6">
                      <a:satOff val="-15808"/>
                      <a:lumOff val="-17557"/>
                    </a:schemeClr>
                  </a:solidFill>
                  <a:latin typeface="Courier"/>
                  <a:ea typeface="Courier"/>
                  <a:cs typeface="Courier"/>
                  <a:sym typeface="Courier"/>
                </a:rPr>
                <a:t> == 5'd0) begin</a:t>
              </a:r>
            </a:p>
            <a:p>
              <a:pPr algn="l">
                <a:defRPr sz="1700"/>
              </a:pPr>
              <a:r>
                <a:rPr lang="en-GB" b="1" dirty="0">
                  <a:solidFill>
                    <a:schemeClr val="accent6">
                      <a:satOff val="-15808"/>
                      <a:lumOff val="-17557"/>
                    </a:schemeClr>
                  </a:solidFill>
                  <a:latin typeface="Courier"/>
                  <a:ea typeface="Courier"/>
                  <a:cs typeface="Courier"/>
                  <a:sym typeface="Courier"/>
                </a:rPr>
                <a:t>        </a:t>
              </a:r>
              <a:r>
                <a:rPr lang="en-GB" b="1" dirty="0" err="1">
                  <a:solidFill>
                    <a:schemeClr val="accent6">
                      <a:satOff val="-15808"/>
                      <a:lumOff val="-17557"/>
                    </a:schemeClr>
                  </a:solidFill>
                  <a:latin typeface="Courier"/>
                  <a:ea typeface="Courier"/>
                  <a:cs typeface="Courier"/>
                  <a:sym typeface="Courier"/>
                </a:rPr>
                <a:t>ctr</a:t>
              </a:r>
              <a:r>
                <a:rPr lang="en-GB" b="1" dirty="0">
                  <a:solidFill>
                    <a:schemeClr val="accent6">
                      <a:satOff val="-15808"/>
                      <a:lumOff val="-17557"/>
                    </a:schemeClr>
                  </a:solidFill>
                  <a:latin typeface="Courier"/>
                  <a:ea typeface="Courier"/>
                  <a:cs typeface="Courier"/>
                  <a:sym typeface="Courier"/>
                </a:rPr>
                <a:t>      &lt;= TC;</a:t>
              </a:r>
            </a:p>
            <a:p>
              <a:pPr algn="l">
                <a:defRPr sz="1700"/>
              </a:pPr>
              <a:r>
                <a:rPr lang="en-GB" b="1" dirty="0">
                  <a:solidFill>
                    <a:schemeClr val="accent6">
                      <a:satOff val="-15808"/>
                      <a:lumOff val="-17557"/>
                    </a:schemeClr>
                  </a:solidFill>
                  <a:latin typeface="Courier"/>
                  <a:ea typeface="Courier"/>
                  <a:cs typeface="Courier"/>
                  <a:sym typeface="Courier"/>
                </a:rPr>
                <a:t>        clk_1MHz &lt;= ~clk_1MHz;</a:t>
              </a:r>
            </a:p>
            <a:p>
              <a:pPr algn="l">
                <a:defRPr sz="1700"/>
              </a:pPr>
              <a:r>
                <a:rPr lang="en-GB" b="1" dirty="0">
                  <a:solidFill>
                    <a:schemeClr val="accent6">
                      <a:satOff val="-15808"/>
                      <a:lumOff val="-17557"/>
                    </a:schemeClr>
                  </a:solidFill>
                  <a:latin typeface="Courier"/>
                  <a:ea typeface="Courier"/>
                  <a:cs typeface="Courier"/>
                  <a:sym typeface="Courier"/>
                </a:rPr>
                <a:t>    end else begin</a:t>
              </a:r>
            </a:p>
            <a:p>
              <a:pPr algn="l">
                <a:defRPr sz="1700"/>
              </a:pPr>
              <a:r>
                <a:rPr lang="en-GB" b="1" dirty="0">
                  <a:solidFill>
                    <a:schemeClr val="accent6">
                      <a:satOff val="-15808"/>
                      <a:lumOff val="-17557"/>
                    </a:schemeClr>
                  </a:solidFill>
                  <a:latin typeface="Courier"/>
                  <a:ea typeface="Courier"/>
                  <a:cs typeface="Courier"/>
                  <a:sym typeface="Courier"/>
                </a:rPr>
                <a:t>        </a:t>
              </a:r>
              <a:r>
                <a:rPr lang="en-GB" b="1" dirty="0" err="1">
                  <a:solidFill>
                    <a:schemeClr val="accent6">
                      <a:satOff val="-15808"/>
                      <a:lumOff val="-17557"/>
                    </a:schemeClr>
                  </a:solidFill>
                  <a:latin typeface="Courier"/>
                  <a:ea typeface="Courier"/>
                  <a:cs typeface="Courier"/>
                  <a:sym typeface="Courier"/>
                </a:rPr>
                <a:t>ctr</a:t>
              </a:r>
              <a:r>
                <a:rPr lang="en-GB" b="1" dirty="0">
                  <a:solidFill>
                    <a:schemeClr val="accent6">
                      <a:satOff val="-15808"/>
                      <a:lumOff val="-17557"/>
                    </a:schemeClr>
                  </a:solidFill>
                  <a:latin typeface="Courier"/>
                  <a:ea typeface="Courier"/>
                  <a:cs typeface="Courier"/>
                  <a:sym typeface="Courier"/>
                </a:rPr>
                <a:t> &lt;= </a:t>
              </a:r>
              <a:r>
                <a:rPr lang="en-GB" b="1" dirty="0" err="1">
                  <a:solidFill>
                    <a:schemeClr val="accent6">
                      <a:satOff val="-15808"/>
                      <a:lumOff val="-17557"/>
                    </a:schemeClr>
                  </a:solidFill>
                  <a:latin typeface="Courier"/>
                  <a:ea typeface="Courier"/>
                  <a:cs typeface="Courier"/>
                  <a:sym typeface="Courier"/>
                </a:rPr>
                <a:t>ctr</a:t>
              </a:r>
              <a:r>
                <a:rPr lang="en-GB" b="1" dirty="0">
                  <a:solidFill>
                    <a:schemeClr val="accent6">
                      <a:satOff val="-15808"/>
                      <a:lumOff val="-17557"/>
                    </a:schemeClr>
                  </a:solidFill>
                  <a:latin typeface="Courier"/>
                  <a:ea typeface="Courier"/>
                  <a:cs typeface="Courier"/>
                  <a:sym typeface="Courier"/>
                </a:rPr>
                <a:t> - 1'b1;</a:t>
              </a:r>
            </a:p>
            <a:p>
              <a:pPr algn="l">
                <a:defRPr sz="1700"/>
              </a:pPr>
              <a:r>
                <a:rPr lang="en-GB" b="1" dirty="0">
                  <a:solidFill>
                    <a:schemeClr val="accent6">
                      <a:satOff val="-15808"/>
                      <a:lumOff val="-17557"/>
                    </a:schemeClr>
                  </a:solidFill>
                  <a:latin typeface="Courier"/>
                  <a:ea typeface="Courier"/>
                  <a:cs typeface="Courier"/>
                  <a:sym typeface="Courier"/>
                </a:rPr>
                <a:t>    end</a:t>
              </a:r>
            </a:p>
            <a:p>
              <a:pPr algn="l">
                <a:defRPr sz="1700"/>
              </a:pPr>
              <a:r>
                <a:rPr lang="en-GB" b="1" dirty="0">
                  <a:solidFill>
                    <a:schemeClr val="accent6">
                      <a:satOff val="-15808"/>
                      <a:lumOff val="-17557"/>
                    </a:schemeClr>
                  </a:solidFill>
                  <a:latin typeface="Courier"/>
                  <a:ea typeface="Courier"/>
                  <a:cs typeface="Courier"/>
                  <a:sym typeface="Courier"/>
                </a:rPr>
                <a:t>end</a:t>
              </a:r>
              <a:endParaRPr dirty="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endParaRPr>
            </a:p>
          </p:txBody>
        </p:sp>
      </p:grpSp>
      <p:sp>
        <p:nvSpPr>
          <p:cNvPr id="3" name="Line">
            <a:extLst>
              <a:ext uri="{FF2B5EF4-FFF2-40B4-BE49-F238E27FC236}">
                <a16:creationId xmlns:a16="http://schemas.microsoft.com/office/drawing/2014/main" id="{5621B94B-DD06-360A-DF37-39563376C727}"/>
              </a:ext>
            </a:extLst>
          </p:cNvPr>
          <p:cNvSpPr/>
          <p:nvPr/>
        </p:nvSpPr>
        <p:spPr>
          <a:xfrm flipV="1">
            <a:off x="3365881" y="5907805"/>
            <a:ext cx="536363" cy="1135864"/>
          </a:xfrm>
          <a:prstGeom prst="line">
            <a:avLst/>
          </a:prstGeom>
          <a:noFill/>
          <a:ln w="88900" cap="flat">
            <a:solidFill>
              <a:srgbClr val="9D7A2D"/>
            </a:solidFill>
            <a:prstDash val="solid"/>
            <a:miter lim="400000"/>
            <a:tailEnd type="triangle" w="med" len="med"/>
          </a:ln>
          <a:effectLst/>
        </p:spPr>
        <p:txBody>
          <a:bodyPr wrap="square" lIns="50800" tIns="50800" rIns="50800" bIns="50800" numCol="1" anchor="ctr">
            <a:noAutofit/>
          </a:bodyPr>
          <a:lstStyle/>
          <a:p>
            <a:pPr>
              <a:defRPr sz="2100" b="1"/>
            </a:pPr>
            <a:endParaRPr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EA0EAF9D-78D9-0403-309F-3F2ECA4ABF3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475737"/>
            <a:ext cx="6307810" cy="3356329"/>
          </a:xfrm>
          <a:prstGeom prst="rect">
            <a:avLst/>
          </a:prstGeom>
          <a:solidFill>
            <a:srgbClr val="E9E6C0"/>
          </a:solidFill>
        </p:spPr>
      </p:pic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9" grpId="1" animBg="1" advAuto="0"/>
      <p:bldP spid="3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" name="Image" descr="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5288" y="2590800"/>
            <a:ext cx="10314224" cy="5500920"/>
          </a:xfrm>
          <a:prstGeom prst="rect">
            <a:avLst/>
          </a:prstGeom>
          <a:ln w="12700">
            <a:miter lim="400000"/>
          </a:ln>
        </p:spPr>
      </p:pic>
      <p:sp>
        <p:nvSpPr>
          <p:cNvPr id="104" name="spi2dac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spi2dac</a:t>
            </a:r>
          </a:p>
        </p:txBody>
      </p:sp>
      <p:sp>
        <p:nvSpPr>
          <p:cNvPr id="105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2644250" y="31750"/>
            <a:ext cx="255564" cy="406400"/>
          </a:xfrm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rPr/>
              <a:t>5</a:t>
            </a:fld>
            <a:endParaRPr/>
          </a:p>
        </p:txBody>
      </p:sp>
      <p:grpSp>
        <p:nvGrpSpPr>
          <p:cNvPr id="108" name="Group"/>
          <p:cNvGrpSpPr/>
          <p:nvPr/>
        </p:nvGrpSpPr>
        <p:grpSpPr>
          <a:xfrm>
            <a:off x="288747" y="1269999"/>
            <a:ext cx="3871572" cy="3288111"/>
            <a:chOff x="0" y="0"/>
            <a:chExt cx="3871571" cy="3288109"/>
          </a:xfrm>
        </p:grpSpPr>
        <p:sp>
          <p:nvSpPr>
            <p:cNvPr id="106" name="Line"/>
            <p:cNvSpPr/>
            <p:nvPr/>
          </p:nvSpPr>
          <p:spPr>
            <a:xfrm>
              <a:off x="2808952" y="1642303"/>
              <a:ext cx="287151" cy="1645807"/>
            </a:xfrm>
            <a:prstGeom prst="line">
              <a:avLst/>
            </a:prstGeom>
            <a:noFill/>
            <a:ln w="88900" cap="flat">
              <a:solidFill>
                <a:srgbClr val="9D7A2D"/>
              </a:solidFill>
              <a:prstDash val="solid"/>
              <a:miter lim="400000"/>
              <a:tailEnd type="triangle" w="med" len="med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 sz="2100" b="1"/>
              </a:pPr>
              <a:endParaRPr/>
            </a:p>
          </p:txBody>
        </p:sp>
        <p:sp>
          <p:nvSpPr>
            <p:cNvPr id="107" name="parameter TC = 5'd24;…"/>
            <p:cNvSpPr txBox="1"/>
            <p:nvPr/>
          </p:nvSpPr>
          <p:spPr>
            <a:xfrm>
              <a:off x="0" y="-1"/>
              <a:ext cx="3871572" cy="1879601"/>
            </a:xfrm>
            <a:prstGeom prst="rect">
              <a:avLst/>
            </a:prstGeom>
            <a:solidFill>
              <a:srgbClr val="E9E6BF"/>
            </a:solidFill>
            <a:ln w="12700" cap="flat">
              <a:noFill/>
              <a:miter lim="400000"/>
            </a:ln>
            <a:effectLst>
              <a:outerShdw blurRad="63500" dist="25400" dir="5400000" rotWithShape="0">
                <a:srgbClr val="000000">
                  <a:alpha val="50000"/>
                </a:srgbClr>
              </a:outerShdw>
            </a:effectLst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/>
            <a:p>
              <a:pPr algn="l">
                <a:defRPr sz="1700"/>
              </a:pPr>
              <a:r>
                <a:rPr b="1">
                  <a:solidFill>
                    <a:schemeClr val="accent6">
                      <a:satOff val="-15808"/>
                      <a:lumOff val="-17557"/>
                    </a:schemeClr>
                  </a:solidFill>
                  <a:latin typeface="Courier"/>
                  <a:ea typeface="Courier"/>
                  <a:cs typeface="Courier"/>
                  <a:sym typeface="Courier"/>
                </a:rPr>
                <a:t>parameter</a:t>
              </a:r>
              <a:r>
                <a:rPr>
                  <a:solidFill>
                    <a:schemeClr val="accent6">
                      <a:satOff val="-15808"/>
                      <a:lumOff val="-17557"/>
                    </a:schemeClr>
                  </a:solidFill>
                  <a:latin typeface="Courier"/>
                  <a:ea typeface="Courier"/>
                  <a:cs typeface="Courier"/>
                  <a:sym typeface="Courier"/>
                </a:rPr>
                <a:t> TC = 5'd24;</a:t>
              </a:r>
            </a:p>
            <a:p>
              <a:pPr algn="l">
                <a:defRPr sz="1700"/>
              </a:pPr>
              <a:r>
                <a:rPr b="1">
                  <a:solidFill>
                    <a:schemeClr val="accent6">
                      <a:satOff val="-15808"/>
                      <a:lumOff val="-17557"/>
                    </a:schemeClr>
                  </a:solidFill>
                  <a:latin typeface="Courier"/>
                  <a:ea typeface="Courier"/>
                  <a:cs typeface="Courier"/>
                  <a:sym typeface="Courier"/>
                </a:rPr>
                <a:t>reg</a:t>
              </a:r>
              <a:r>
                <a:rPr>
                  <a:solidFill>
                    <a:schemeClr val="accent6">
                      <a:satOff val="-15808"/>
                      <a:lumOff val="-17557"/>
                    </a:schemeClr>
                  </a:solidFill>
                  <a:latin typeface="Courier"/>
                  <a:ea typeface="Courier"/>
                  <a:cs typeface="Courier"/>
                  <a:sym typeface="Courier"/>
                </a:rPr>
                <a:t> [4:0] ctr;</a:t>
              </a:r>
            </a:p>
            <a:p>
              <a:pPr algn="l">
                <a:defRPr sz="1700"/>
              </a:pPr>
              <a:r>
                <a:rPr b="1">
                  <a:solidFill>
                    <a:schemeClr val="accent6">
                      <a:satOff val="-15808"/>
                      <a:lumOff val="-17557"/>
                    </a:schemeClr>
                  </a:solidFill>
                  <a:latin typeface="Courier"/>
                  <a:ea typeface="Courier"/>
                  <a:cs typeface="Courier"/>
                  <a:sym typeface="Courier"/>
                </a:rPr>
                <a:t>always</a:t>
              </a:r>
              <a:r>
                <a:rPr>
                  <a:solidFill>
                    <a:schemeClr val="accent6">
                      <a:satOff val="-15808"/>
                      <a:lumOff val="-17557"/>
                    </a:schemeClr>
                  </a:solidFill>
                  <a:latin typeface="Courier"/>
                  <a:ea typeface="Courier"/>
                  <a:cs typeface="Courier"/>
                  <a:sym typeface="Courier"/>
                </a:rPr>
                <a:t> @ (</a:t>
              </a:r>
              <a:r>
                <a:rPr b="1">
                  <a:solidFill>
                    <a:schemeClr val="accent6">
                      <a:satOff val="-15808"/>
                      <a:lumOff val="-17557"/>
                    </a:schemeClr>
                  </a:solidFill>
                  <a:latin typeface="Courier"/>
                  <a:ea typeface="Courier"/>
                  <a:cs typeface="Courier"/>
                  <a:sym typeface="Courier"/>
                </a:rPr>
                <a:t>posedge</a:t>
              </a:r>
              <a:r>
                <a:rPr>
                  <a:solidFill>
                    <a:schemeClr val="accent6">
                      <a:satOff val="-15808"/>
                      <a:lumOff val="-17557"/>
                    </a:schemeClr>
                  </a:solidFill>
                  <a:latin typeface="Courier"/>
                  <a:ea typeface="Courier"/>
                  <a:cs typeface="Courier"/>
                  <a:sym typeface="Courier"/>
                </a:rPr>
                <a:t> clk_50MHz)</a:t>
              </a:r>
            </a:p>
            <a:p>
              <a:pPr algn="l">
                <a:defRPr sz="1700"/>
              </a:pPr>
              <a:r>
                <a:rPr>
                  <a:solidFill>
                    <a:schemeClr val="accent6">
                      <a:satOff val="-15808"/>
                      <a:lumOff val="-17557"/>
                    </a:schemeClr>
                  </a:solidFill>
                  <a:latin typeface="Courier"/>
                  <a:ea typeface="Courier"/>
                  <a:cs typeface="Courier"/>
                  <a:sym typeface="Courier"/>
                </a:rPr>
                <a:t>  </a:t>
              </a:r>
              <a:r>
                <a:rPr b="1">
                  <a:solidFill>
                    <a:schemeClr val="accent6">
                      <a:satOff val="-15808"/>
                      <a:lumOff val="-17557"/>
                    </a:schemeClr>
                  </a:solidFill>
                  <a:latin typeface="Courier"/>
                  <a:ea typeface="Courier"/>
                  <a:cs typeface="Courier"/>
                  <a:sym typeface="Courier"/>
                </a:rPr>
                <a:t>if</a:t>
              </a:r>
              <a:r>
                <a:rPr>
                  <a:solidFill>
                    <a:schemeClr val="accent6">
                      <a:satOff val="-15808"/>
                      <a:lumOff val="-17557"/>
                    </a:schemeClr>
                  </a:solidFill>
                  <a:latin typeface="Courier"/>
                  <a:ea typeface="Courier"/>
                  <a:cs typeface="Courier"/>
                  <a:sym typeface="Courier"/>
                </a:rPr>
                <a:t> (ctr==0) </a:t>
              </a:r>
              <a:r>
                <a:rPr b="1">
                  <a:solidFill>
                    <a:schemeClr val="accent6">
                      <a:satOff val="-15808"/>
                      <a:lumOff val="-17557"/>
                    </a:schemeClr>
                  </a:solidFill>
                  <a:latin typeface="Courier"/>
                  <a:ea typeface="Courier"/>
                  <a:cs typeface="Courier"/>
                  <a:sym typeface="Courier"/>
                </a:rPr>
                <a:t>begin</a:t>
              </a:r>
              <a:endParaRPr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endParaRPr>
            </a:p>
            <a:p>
              <a:pPr algn="l">
                <a:defRPr sz="1700"/>
              </a:pPr>
              <a:r>
                <a:rPr>
                  <a:solidFill>
                    <a:schemeClr val="accent6">
                      <a:satOff val="-15808"/>
                      <a:lumOff val="-17557"/>
                    </a:schemeClr>
                  </a:solidFill>
                  <a:latin typeface="Courier"/>
                  <a:ea typeface="Courier"/>
                  <a:cs typeface="Courier"/>
                  <a:sym typeface="Courier"/>
                </a:rPr>
                <a:t>    ctr &lt;= TC;</a:t>
              </a:r>
            </a:p>
            <a:p>
              <a:pPr algn="l">
                <a:defRPr sz="1700"/>
              </a:pPr>
              <a:r>
                <a:rPr>
                  <a:solidFill>
                    <a:schemeClr val="accent6">
                      <a:satOff val="-15808"/>
                      <a:lumOff val="-17557"/>
                    </a:schemeClr>
                  </a:solidFill>
                  <a:latin typeface="Courier"/>
                  <a:ea typeface="Courier"/>
                  <a:cs typeface="Courier"/>
                  <a:sym typeface="Courier"/>
                </a:rPr>
                <a:t>    clk_1MHz &lt;= ~clk_1MHz;</a:t>
              </a:r>
            </a:p>
            <a:p>
              <a:pPr algn="l">
                <a:defRPr sz="1700"/>
              </a:pPr>
              <a:r>
                <a:rPr>
                  <a:solidFill>
                    <a:schemeClr val="accent6">
                      <a:satOff val="-15808"/>
                      <a:lumOff val="-17557"/>
                    </a:schemeClr>
                  </a:solidFill>
                  <a:latin typeface="Courier"/>
                  <a:ea typeface="Courier"/>
                  <a:cs typeface="Courier"/>
                  <a:sym typeface="Courier"/>
                </a:rPr>
                <a:t>  </a:t>
              </a:r>
              <a:r>
                <a:rPr b="1">
                  <a:solidFill>
                    <a:schemeClr val="accent6">
                      <a:satOff val="-15808"/>
                      <a:lumOff val="-17557"/>
                    </a:schemeClr>
                  </a:solidFill>
                  <a:latin typeface="Courier"/>
                  <a:ea typeface="Courier"/>
                  <a:cs typeface="Courier"/>
                  <a:sym typeface="Courier"/>
                </a:rPr>
                <a:t>end</a:t>
              </a:r>
              <a:r>
                <a:rPr>
                  <a:solidFill>
                    <a:schemeClr val="accent6">
                      <a:satOff val="-15808"/>
                      <a:lumOff val="-17557"/>
                    </a:schemeClr>
                  </a:solidFill>
                  <a:latin typeface="Courier"/>
                  <a:ea typeface="Courier"/>
                  <a:cs typeface="Courier"/>
                  <a:sym typeface="Courier"/>
                </a:rPr>
                <a:t> </a:t>
              </a:r>
              <a:r>
                <a:rPr b="1">
                  <a:solidFill>
                    <a:schemeClr val="accent6">
                      <a:satOff val="-15808"/>
                      <a:lumOff val="-17557"/>
                    </a:schemeClr>
                  </a:solidFill>
                  <a:latin typeface="Courier"/>
                  <a:ea typeface="Courier"/>
                  <a:cs typeface="Courier"/>
                  <a:sym typeface="Courier"/>
                </a:rPr>
                <a:t>else</a:t>
              </a:r>
              <a:r>
                <a:rPr>
                  <a:solidFill>
                    <a:schemeClr val="accent6">
                      <a:satOff val="-15808"/>
                      <a:lumOff val="-17557"/>
                    </a:schemeClr>
                  </a:solidFill>
                  <a:latin typeface="Courier"/>
                  <a:ea typeface="Courier"/>
                  <a:cs typeface="Courier"/>
                  <a:sym typeface="Courier"/>
                </a:rPr>
                <a:t> ctr &lt;= ctr - 1'b1;</a:t>
              </a:r>
            </a:p>
          </p:txBody>
        </p:sp>
      </p:grpSp>
      <p:pic>
        <p:nvPicPr>
          <p:cNvPr id="2" name="Picture 1">
            <a:extLst>
              <a:ext uri="{FF2B5EF4-FFF2-40B4-BE49-F238E27FC236}">
                <a16:creationId xmlns:a16="http://schemas.microsoft.com/office/drawing/2014/main" id="{6A3FA0ED-F7E1-F67A-9247-A6B2016DC9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475737"/>
            <a:ext cx="6307810" cy="3356329"/>
          </a:xfrm>
          <a:prstGeom prst="rect">
            <a:avLst/>
          </a:prstGeom>
          <a:solidFill>
            <a:srgbClr val="E9E6C0"/>
          </a:solidFill>
        </p:spPr>
      </p:pic>
      <p:sp>
        <p:nvSpPr>
          <p:cNvPr id="4" name="Line">
            <a:extLst>
              <a:ext uri="{FF2B5EF4-FFF2-40B4-BE49-F238E27FC236}">
                <a16:creationId xmlns:a16="http://schemas.microsoft.com/office/drawing/2014/main" id="{ABC9C170-6E0C-A64B-0270-6375D4390580}"/>
              </a:ext>
            </a:extLst>
          </p:cNvPr>
          <p:cNvSpPr/>
          <p:nvPr/>
        </p:nvSpPr>
        <p:spPr>
          <a:xfrm>
            <a:off x="7067228" y="5703376"/>
            <a:ext cx="1611823" cy="653513"/>
          </a:xfrm>
          <a:prstGeom prst="line">
            <a:avLst/>
          </a:prstGeom>
          <a:noFill/>
          <a:ln w="88900" cap="flat">
            <a:solidFill>
              <a:srgbClr val="9D7A2D"/>
            </a:solidFill>
            <a:prstDash val="solid"/>
            <a:miter lim="400000"/>
            <a:tailEnd type="triangle" w="med" len="med"/>
          </a:ln>
          <a:effectLst/>
        </p:spPr>
        <p:txBody>
          <a:bodyPr wrap="square" lIns="50800" tIns="50800" rIns="50800" bIns="50800" numCol="1" anchor="ctr">
            <a:noAutofit/>
          </a:bodyPr>
          <a:lstStyle/>
          <a:p>
            <a:pPr>
              <a:defRPr sz="2100" b="1"/>
            </a:pPr>
            <a:endParaRPr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59B8360-6B7B-C8F8-6BD5-9A854629FD7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626175"/>
            <a:ext cx="7940826" cy="5650639"/>
          </a:xfrm>
          <a:prstGeom prst="rect">
            <a:avLst/>
          </a:prstGeom>
          <a:solidFill>
            <a:srgbClr val="E9E6C0"/>
          </a:solidFill>
        </p:spPr>
      </p:pic>
    </p:spTree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8" name="Image" descr="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5288" y="2590800"/>
            <a:ext cx="10314224" cy="5500920"/>
          </a:xfrm>
          <a:prstGeom prst="rect">
            <a:avLst/>
          </a:prstGeom>
          <a:ln w="12700">
            <a:miter lim="400000"/>
          </a:ln>
        </p:spPr>
      </p:pic>
      <p:sp>
        <p:nvSpPr>
          <p:cNvPr id="209" name="spi2dac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dirty="0"/>
              <a:t>spi2dac</a:t>
            </a:r>
          </a:p>
        </p:txBody>
      </p:sp>
      <p:sp>
        <p:nvSpPr>
          <p:cNvPr id="210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2644250" y="31750"/>
            <a:ext cx="255564" cy="406400"/>
          </a:xfrm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rPr/>
              <a:t>6</a:t>
            </a:fld>
            <a:endParaRPr/>
          </a:p>
        </p:txBody>
      </p:sp>
      <p:sp>
        <p:nvSpPr>
          <p:cNvPr id="230" name="Line"/>
          <p:cNvSpPr/>
          <p:nvPr/>
        </p:nvSpPr>
        <p:spPr>
          <a:xfrm flipH="1" flipV="1">
            <a:off x="8891039" y="4207662"/>
            <a:ext cx="1123212" cy="2267195"/>
          </a:xfrm>
          <a:prstGeom prst="line">
            <a:avLst/>
          </a:prstGeom>
          <a:noFill/>
          <a:ln w="88900" cap="flat">
            <a:solidFill>
              <a:srgbClr val="9D7A2D"/>
            </a:solidFill>
            <a:prstDash val="solid"/>
            <a:miter lim="400000"/>
            <a:tailEnd type="triangle" w="med" len="med"/>
          </a:ln>
          <a:effectLst/>
        </p:spPr>
        <p:txBody>
          <a:bodyPr wrap="square" lIns="50800" tIns="50800" rIns="50800" bIns="50800" numCol="1" anchor="ctr">
            <a:noAutofit/>
          </a:bodyPr>
          <a:lstStyle/>
          <a:p>
            <a:pPr>
              <a:defRPr sz="2100" b="1"/>
            </a:pPr>
            <a:endParaRPr/>
          </a:p>
        </p:txBody>
      </p:sp>
      <p:sp>
        <p:nvSpPr>
          <p:cNvPr id="231" name="parameter BUF = 1'b1;…"/>
          <p:cNvSpPr/>
          <p:nvPr/>
        </p:nvSpPr>
        <p:spPr>
          <a:xfrm>
            <a:off x="8744250" y="7782768"/>
            <a:ext cx="1270001" cy="1270002"/>
          </a:xfrm>
          <a:prstGeom prst="line">
            <a:avLst/>
          </a:prstGeom>
          <a:solidFill>
            <a:srgbClr val="E9E6BF"/>
          </a:solidFill>
          <a:ln w="12700" cap="flat">
            <a:noFill/>
            <a:miter lim="400000"/>
          </a:ln>
          <a:effectLst>
            <a:outerShdw blurRad="63500" dist="25400" dir="5400000" rotWithShape="0">
              <a:srgbClr val="000000">
                <a:alpha val="50000"/>
              </a:srgbClr>
            </a:outerShdw>
          </a:effectLst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numCol="1" anchor="ctr">
            <a:spAutoFit/>
          </a:bodyPr>
          <a:lstStyle/>
          <a:p>
            <a:pPr algn="l">
              <a:defRPr sz="1700"/>
            </a:pPr>
            <a:endParaRPr dirty="0">
              <a:solidFill>
                <a:schemeClr val="accent6">
                  <a:satOff val="-15808"/>
                  <a:lumOff val="-17557"/>
                </a:schemeClr>
              </a:solidFill>
              <a:latin typeface="Courier"/>
              <a:ea typeface="Courier"/>
              <a:cs typeface="Courier"/>
              <a:sym typeface="Courier"/>
            </a:endParaRPr>
          </a:p>
        </p:txBody>
      </p:sp>
      <p:sp>
        <p:nvSpPr>
          <p:cNvPr id="233" name="Line"/>
          <p:cNvSpPr/>
          <p:nvPr/>
        </p:nvSpPr>
        <p:spPr>
          <a:xfrm>
            <a:off x="3097700" y="2912303"/>
            <a:ext cx="287151" cy="1645808"/>
          </a:xfrm>
          <a:prstGeom prst="line">
            <a:avLst/>
          </a:prstGeom>
          <a:noFill/>
          <a:ln w="88900" cap="flat">
            <a:solidFill>
              <a:srgbClr val="9D7A2D"/>
            </a:solidFill>
            <a:prstDash val="solid"/>
            <a:miter lim="400000"/>
            <a:tailEnd type="triangle" w="med" len="med"/>
          </a:ln>
          <a:effectLst/>
        </p:spPr>
        <p:txBody>
          <a:bodyPr wrap="square" lIns="50800" tIns="50800" rIns="50800" bIns="50800" numCol="1" anchor="ctr">
            <a:noAutofit/>
          </a:bodyPr>
          <a:lstStyle/>
          <a:p>
            <a:pPr>
              <a:defRPr sz="2100" b="1"/>
            </a:pPr>
            <a:endParaRPr/>
          </a:p>
        </p:txBody>
      </p:sp>
      <p:sp>
        <p:nvSpPr>
          <p:cNvPr id="234" name="parameter TC = 5'd24;…"/>
          <p:cNvSpPr txBox="1"/>
          <p:nvPr/>
        </p:nvSpPr>
        <p:spPr>
          <a:xfrm>
            <a:off x="288747" y="1269998"/>
            <a:ext cx="3871573" cy="1879602"/>
          </a:xfrm>
          <a:prstGeom prst="rect">
            <a:avLst/>
          </a:prstGeom>
          <a:solidFill>
            <a:srgbClr val="E9E6BF"/>
          </a:solidFill>
          <a:ln w="12700" cap="flat">
            <a:noFill/>
            <a:miter lim="400000"/>
          </a:ln>
          <a:effectLst>
            <a:outerShdw blurRad="63500" dist="25400" dir="5400000" rotWithShape="0">
              <a:srgbClr val="000000">
                <a:alpha val="50000"/>
              </a:srgbClr>
            </a:outerShdw>
          </a:effectLst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numCol="1" anchor="ctr">
            <a:spAutoFit/>
          </a:bodyPr>
          <a:lstStyle/>
          <a:p>
            <a:pPr algn="l">
              <a:defRPr sz="1700"/>
            </a:pPr>
            <a:r>
              <a:rPr b="1" dirty="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parameter</a:t>
            </a:r>
            <a:r>
              <a:rPr dirty="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 TC = 5'd24;</a:t>
            </a:r>
          </a:p>
          <a:p>
            <a:pPr algn="l">
              <a:defRPr sz="1700"/>
            </a:pPr>
            <a:r>
              <a:rPr b="1" dirty="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reg</a:t>
            </a:r>
            <a:r>
              <a:rPr dirty="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 [4:0] ctr;</a:t>
            </a:r>
          </a:p>
          <a:p>
            <a:pPr algn="l">
              <a:defRPr sz="1700"/>
            </a:pPr>
            <a:r>
              <a:rPr b="1" dirty="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always</a:t>
            </a:r>
            <a:r>
              <a:rPr dirty="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 @ (</a:t>
            </a:r>
            <a:r>
              <a:rPr b="1" dirty="0" err="1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posedge</a:t>
            </a:r>
            <a:r>
              <a:rPr dirty="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 clk_50MHz)</a:t>
            </a:r>
          </a:p>
          <a:p>
            <a:pPr algn="l">
              <a:defRPr sz="1700"/>
            </a:pPr>
            <a:r>
              <a:rPr dirty="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  </a:t>
            </a:r>
            <a:r>
              <a:rPr b="1" dirty="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if</a:t>
            </a:r>
            <a:r>
              <a:rPr dirty="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 (ctr==0) </a:t>
            </a:r>
            <a:r>
              <a:rPr b="1" dirty="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begin</a:t>
            </a:r>
            <a:endParaRPr dirty="0">
              <a:solidFill>
                <a:schemeClr val="accent6">
                  <a:satOff val="-15808"/>
                  <a:lumOff val="-17557"/>
                </a:schemeClr>
              </a:solidFill>
              <a:latin typeface="Courier"/>
              <a:ea typeface="Courier"/>
              <a:cs typeface="Courier"/>
              <a:sym typeface="Courier"/>
            </a:endParaRPr>
          </a:p>
          <a:p>
            <a:pPr algn="l">
              <a:defRPr sz="1700"/>
            </a:pPr>
            <a:r>
              <a:rPr dirty="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    ctr &lt;= TC;</a:t>
            </a:r>
          </a:p>
          <a:p>
            <a:pPr algn="l">
              <a:defRPr sz="1700"/>
            </a:pPr>
            <a:r>
              <a:rPr dirty="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    clk_1MHz &lt;= ~clk_1MHz;</a:t>
            </a:r>
          </a:p>
          <a:p>
            <a:pPr algn="l">
              <a:defRPr sz="1700"/>
            </a:pPr>
            <a:r>
              <a:rPr dirty="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  </a:t>
            </a:r>
            <a:r>
              <a:rPr b="1" dirty="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end</a:t>
            </a:r>
            <a:r>
              <a:rPr dirty="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 </a:t>
            </a:r>
            <a:r>
              <a:rPr b="1" dirty="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else</a:t>
            </a:r>
            <a:r>
              <a:rPr dirty="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 ctr &lt;= ctr - 1'b1;</a:t>
            </a:r>
          </a:p>
        </p:txBody>
      </p:sp>
      <p:sp>
        <p:nvSpPr>
          <p:cNvPr id="236" name="Line"/>
          <p:cNvSpPr/>
          <p:nvPr/>
        </p:nvSpPr>
        <p:spPr>
          <a:xfrm>
            <a:off x="5605867" y="4796268"/>
            <a:ext cx="2630151" cy="1177911"/>
          </a:xfrm>
          <a:prstGeom prst="line">
            <a:avLst/>
          </a:prstGeom>
          <a:noFill/>
          <a:ln w="88900" cap="flat">
            <a:solidFill>
              <a:srgbClr val="9D7A2D"/>
            </a:solidFill>
            <a:prstDash val="solid"/>
            <a:miter lim="400000"/>
            <a:tailEnd type="triangle" w="med" len="med"/>
          </a:ln>
          <a:effectLst/>
        </p:spPr>
        <p:txBody>
          <a:bodyPr wrap="square" lIns="50800" tIns="50800" rIns="50800" bIns="50800" numCol="1" anchor="ctr">
            <a:noAutofit/>
          </a:bodyPr>
          <a:lstStyle/>
          <a:p>
            <a:pPr>
              <a:defRPr sz="2100" b="1"/>
            </a:pPr>
            <a:endParaRPr/>
          </a:p>
        </p:txBody>
      </p:sp>
      <p:sp>
        <p:nvSpPr>
          <p:cNvPr id="237" name="reg [4:0] state;…"/>
          <p:cNvSpPr/>
          <p:nvPr/>
        </p:nvSpPr>
        <p:spPr>
          <a:xfrm>
            <a:off x="8236018" y="2903612"/>
            <a:ext cx="1270000" cy="1270002"/>
          </a:xfrm>
          <a:prstGeom prst="line">
            <a:avLst/>
          </a:prstGeom>
          <a:solidFill>
            <a:srgbClr val="E9E6BF"/>
          </a:solidFill>
          <a:ln w="12700" cap="flat">
            <a:noFill/>
            <a:miter lim="400000"/>
          </a:ln>
          <a:effectLst>
            <a:outerShdw blurRad="63500" dist="25400" dir="5400000" rotWithShape="0">
              <a:srgbClr val="000000">
                <a:alpha val="50000"/>
              </a:srgbClr>
            </a:outerShdw>
          </a:effectLst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numCol="1" anchor="ctr">
            <a:spAutoFit/>
          </a:bodyPr>
          <a:lstStyle/>
          <a:p>
            <a:pPr algn="l">
              <a:defRPr sz="1700"/>
            </a:pPr>
            <a:endParaRPr dirty="0">
              <a:solidFill>
                <a:schemeClr val="accent6">
                  <a:satOff val="-15808"/>
                  <a:lumOff val="-17557"/>
                </a:schemeClr>
              </a:solidFill>
              <a:latin typeface="Courier"/>
              <a:ea typeface="Courier"/>
              <a:cs typeface="Courier"/>
              <a:sym typeface="Courier"/>
            </a:endParaRPr>
          </a:p>
        </p:txBody>
      </p:sp>
      <p:sp>
        <p:nvSpPr>
          <p:cNvPr id="2" name="parameter TC = 5'd24;…">
            <a:extLst>
              <a:ext uri="{FF2B5EF4-FFF2-40B4-BE49-F238E27FC236}">
                <a16:creationId xmlns:a16="http://schemas.microsoft.com/office/drawing/2014/main" id="{990FD82A-C95E-4B73-3ACA-0597465AFD14}"/>
              </a:ext>
            </a:extLst>
          </p:cNvPr>
          <p:cNvSpPr txBox="1"/>
          <p:nvPr/>
        </p:nvSpPr>
        <p:spPr>
          <a:xfrm>
            <a:off x="1174870" y="454735"/>
            <a:ext cx="5286704" cy="5304016"/>
          </a:xfrm>
          <a:prstGeom prst="rect">
            <a:avLst/>
          </a:prstGeom>
          <a:solidFill>
            <a:srgbClr val="E9E6BF"/>
          </a:solidFill>
          <a:ln w="12700" cap="flat">
            <a:noFill/>
            <a:miter lim="400000"/>
          </a:ln>
          <a:effectLst>
            <a:outerShdw blurRad="63500" dist="25400" dir="5400000" rotWithShape="0">
              <a:srgbClr val="000000">
                <a:alpha val="50000"/>
              </a:srgbClr>
            </a:outerShdw>
          </a:effectLst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numCol="1" anchor="ctr">
            <a:spAutoFit/>
          </a:bodyPr>
          <a:lstStyle/>
          <a:p>
            <a:pPr algn="l">
              <a:defRPr sz="1700"/>
            </a:pPr>
            <a:r>
              <a:rPr lang="en-GB" sz="1600" b="1" dirty="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logic [4:0] state;</a:t>
            </a:r>
          </a:p>
          <a:p>
            <a:pPr algn="l">
              <a:defRPr sz="1700"/>
            </a:pPr>
            <a:endParaRPr lang="en-GB" sz="1600" b="1" dirty="0">
              <a:solidFill>
                <a:schemeClr val="accent6">
                  <a:satOff val="-15808"/>
                  <a:lumOff val="-17557"/>
                </a:schemeClr>
              </a:solidFill>
              <a:latin typeface="Courier"/>
              <a:ea typeface="Courier"/>
              <a:cs typeface="Courier"/>
              <a:sym typeface="Courier"/>
            </a:endParaRPr>
          </a:p>
          <a:p>
            <a:pPr algn="l">
              <a:defRPr sz="1700"/>
            </a:pPr>
            <a:r>
              <a:rPr lang="en-GB" sz="1600" b="1" dirty="0" err="1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always_ff</a:t>
            </a:r>
            <a:r>
              <a:rPr lang="en-GB" sz="1600" b="1" dirty="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 @(</a:t>
            </a:r>
            <a:r>
              <a:rPr lang="en-GB" sz="1600" b="1" dirty="0" err="1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posedge</a:t>
            </a:r>
            <a:r>
              <a:rPr lang="en-GB" sz="1600" b="1" dirty="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 clk_1MHz) begin</a:t>
            </a:r>
          </a:p>
          <a:p>
            <a:pPr algn="l">
              <a:defRPr sz="1700"/>
            </a:pPr>
            <a:r>
              <a:rPr lang="en-GB" sz="1600" b="1" dirty="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    case (state)</a:t>
            </a:r>
          </a:p>
          <a:p>
            <a:pPr algn="l">
              <a:defRPr sz="1700"/>
            </a:pPr>
            <a:r>
              <a:rPr lang="en-GB" sz="1600" b="1" dirty="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        5'd0: begin</a:t>
            </a:r>
          </a:p>
          <a:p>
            <a:pPr algn="l">
              <a:defRPr sz="1700"/>
            </a:pPr>
            <a:r>
              <a:rPr lang="en-GB" sz="1600" b="1" dirty="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            if (</a:t>
            </a:r>
            <a:r>
              <a:rPr lang="en-GB" sz="1600" b="1" dirty="0" err="1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dac_start</a:t>
            </a:r>
            <a:r>
              <a:rPr lang="en-GB" sz="1600" b="1" dirty="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 == 1'b1)</a:t>
            </a:r>
          </a:p>
          <a:p>
            <a:pPr algn="l">
              <a:defRPr sz="1700"/>
            </a:pPr>
            <a:r>
              <a:rPr lang="en-GB" sz="1600" b="1" dirty="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                state &lt;= state + 1'b1;</a:t>
            </a:r>
          </a:p>
          <a:p>
            <a:pPr algn="l">
              <a:defRPr sz="1700"/>
            </a:pPr>
            <a:r>
              <a:rPr lang="en-GB" sz="1600" b="1" dirty="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        end</a:t>
            </a:r>
          </a:p>
          <a:p>
            <a:pPr algn="l">
              <a:defRPr sz="1700"/>
            </a:pPr>
            <a:endParaRPr lang="en-GB" sz="1600" b="1" dirty="0">
              <a:solidFill>
                <a:schemeClr val="accent6">
                  <a:satOff val="-15808"/>
                  <a:lumOff val="-17557"/>
                </a:schemeClr>
              </a:solidFill>
              <a:latin typeface="Courier"/>
              <a:ea typeface="Courier"/>
              <a:cs typeface="Courier"/>
              <a:sym typeface="Courier"/>
            </a:endParaRPr>
          </a:p>
          <a:p>
            <a:pPr algn="l">
              <a:defRPr sz="1700"/>
            </a:pPr>
            <a:r>
              <a:rPr lang="en-GB" sz="1600" b="1" dirty="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        5'd17:   state &lt;= 5'd0;</a:t>
            </a:r>
          </a:p>
          <a:p>
            <a:pPr algn="l">
              <a:defRPr sz="1700"/>
            </a:pPr>
            <a:r>
              <a:rPr lang="en-GB" sz="1600" b="1" dirty="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        default: state &lt;= state + 1'b1;</a:t>
            </a:r>
          </a:p>
          <a:p>
            <a:pPr algn="l">
              <a:defRPr sz="1700"/>
            </a:pPr>
            <a:r>
              <a:rPr lang="en-GB" sz="1600" b="1" dirty="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    </a:t>
            </a:r>
            <a:r>
              <a:rPr lang="en-GB" sz="1600" b="1" dirty="0" err="1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endcase</a:t>
            </a:r>
            <a:endParaRPr lang="en-GB" sz="1600" b="1" dirty="0">
              <a:solidFill>
                <a:schemeClr val="accent6">
                  <a:satOff val="-15808"/>
                  <a:lumOff val="-17557"/>
                </a:schemeClr>
              </a:solidFill>
              <a:latin typeface="Courier"/>
              <a:ea typeface="Courier"/>
              <a:cs typeface="Courier"/>
              <a:sym typeface="Courier"/>
            </a:endParaRPr>
          </a:p>
          <a:p>
            <a:pPr algn="l">
              <a:defRPr sz="1700"/>
            </a:pPr>
            <a:r>
              <a:rPr lang="en-GB" sz="1600" b="1" dirty="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end</a:t>
            </a:r>
          </a:p>
          <a:p>
            <a:pPr algn="l">
              <a:defRPr sz="1700"/>
            </a:pPr>
            <a:endParaRPr lang="en-GB" sz="1600" b="1" dirty="0">
              <a:solidFill>
                <a:schemeClr val="accent6">
                  <a:satOff val="-15808"/>
                  <a:lumOff val="-17557"/>
                </a:schemeClr>
              </a:solidFill>
              <a:latin typeface="Courier"/>
              <a:ea typeface="Courier"/>
              <a:cs typeface="Courier"/>
              <a:sym typeface="Courier"/>
            </a:endParaRPr>
          </a:p>
          <a:p>
            <a:pPr algn="l">
              <a:defRPr sz="1700"/>
            </a:pPr>
            <a:r>
              <a:rPr lang="en-GB" sz="1600" b="1" dirty="0" err="1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always_comb</a:t>
            </a:r>
            <a:r>
              <a:rPr lang="en-GB" sz="1600" b="1" dirty="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 begin</a:t>
            </a:r>
          </a:p>
          <a:p>
            <a:pPr algn="l">
              <a:defRPr sz="1700"/>
            </a:pPr>
            <a:r>
              <a:rPr lang="en-GB" sz="1600" b="1" dirty="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    case (state)</a:t>
            </a:r>
          </a:p>
          <a:p>
            <a:pPr algn="l">
              <a:defRPr sz="1700"/>
            </a:pPr>
            <a:r>
              <a:rPr lang="en-GB" sz="1600" b="1" dirty="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        5'd0:    {</a:t>
            </a:r>
            <a:r>
              <a:rPr lang="en-GB" sz="1600" b="1" dirty="0" err="1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dac_cs</a:t>
            </a:r>
            <a:r>
              <a:rPr lang="en-GB" sz="1600" b="1" dirty="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, </a:t>
            </a:r>
            <a:r>
              <a:rPr lang="en-GB" sz="1600" b="1" dirty="0" err="1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dac_ld</a:t>
            </a:r>
            <a:r>
              <a:rPr lang="en-GB" sz="1600" b="1" dirty="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} = 2'b11;</a:t>
            </a:r>
          </a:p>
          <a:p>
            <a:pPr algn="l">
              <a:defRPr sz="1700"/>
            </a:pPr>
            <a:r>
              <a:rPr lang="en-GB" sz="1600" b="1" dirty="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        5'd17:   {</a:t>
            </a:r>
            <a:r>
              <a:rPr lang="en-GB" sz="1600" b="1" dirty="0" err="1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dac_cs</a:t>
            </a:r>
            <a:r>
              <a:rPr lang="en-GB" sz="1600" b="1" dirty="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, </a:t>
            </a:r>
            <a:r>
              <a:rPr lang="en-GB" sz="1600" b="1" dirty="0" err="1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dac_ld</a:t>
            </a:r>
            <a:r>
              <a:rPr lang="en-GB" sz="1600" b="1" dirty="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} = 2'b10;</a:t>
            </a:r>
          </a:p>
          <a:p>
            <a:pPr algn="l">
              <a:defRPr sz="1700"/>
            </a:pPr>
            <a:r>
              <a:rPr lang="en-GB" sz="1600" b="1" dirty="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        default: {</a:t>
            </a:r>
            <a:r>
              <a:rPr lang="en-GB" sz="1600" b="1" dirty="0" err="1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dac_cs</a:t>
            </a:r>
            <a:r>
              <a:rPr lang="en-GB" sz="1600" b="1" dirty="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, </a:t>
            </a:r>
            <a:r>
              <a:rPr lang="en-GB" sz="1600" b="1" dirty="0" err="1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dac_ld</a:t>
            </a:r>
            <a:r>
              <a:rPr lang="en-GB" sz="1600" b="1" dirty="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} = 2'b01;</a:t>
            </a:r>
          </a:p>
          <a:p>
            <a:pPr algn="l">
              <a:defRPr sz="1700"/>
            </a:pPr>
            <a:r>
              <a:rPr lang="en-GB" sz="1600" b="1" dirty="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    </a:t>
            </a:r>
            <a:r>
              <a:rPr lang="en-GB" sz="1600" b="1" dirty="0" err="1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endcase</a:t>
            </a:r>
            <a:endParaRPr lang="en-GB" sz="1600" b="1" dirty="0">
              <a:solidFill>
                <a:schemeClr val="accent6">
                  <a:satOff val="-15808"/>
                  <a:lumOff val="-17557"/>
                </a:schemeClr>
              </a:solidFill>
              <a:latin typeface="Courier"/>
              <a:ea typeface="Courier"/>
              <a:cs typeface="Courier"/>
              <a:sym typeface="Courier"/>
            </a:endParaRPr>
          </a:p>
          <a:p>
            <a:pPr algn="l">
              <a:defRPr sz="1700"/>
            </a:pPr>
            <a:r>
              <a:rPr lang="en-GB" sz="1600" b="1" dirty="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end</a:t>
            </a:r>
            <a:endParaRPr sz="1600" dirty="0">
              <a:solidFill>
                <a:schemeClr val="accent6">
                  <a:satOff val="-15808"/>
                  <a:lumOff val="-17557"/>
                </a:schemeClr>
              </a:solidFill>
              <a:latin typeface="Courier"/>
              <a:ea typeface="Courier"/>
              <a:cs typeface="Courier"/>
              <a:sym typeface="Courier"/>
            </a:endParaRPr>
          </a:p>
        </p:txBody>
      </p:sp>
      <p:sp>
        <p:nvSpPr>
          <p:cNvPr id="3" name="parameter TC = 5'd24;…">
            <a:extLst>
              <a:ext uri="{FF2B5EF4-FFF2-40B4-BE49-F238E27FC236}">
                <a16:creationId xmlns:a16="http://schemas.microsoft.com/office/drawing/2014/main" id="{2E019CF6-BDA2-051E-6B8D-9AAA467A7A20}"/>
              </a:ext>
            </a:extLst>
          </p:cNvPr>
          <p:cNvSpPr txBox="1"/>
          <p:nvPr/>
        </p:nvSpPr>
        <p:spPr>
          <a:xfrm>
            <a:off x="8106835" y="5135455"/>
            <a:ext cx="4792979" cy="4534575"/>
          </a:xfrm>
          <a:prstGeom prst="rect">
            <a:avLst/>
          </a:prstGeom>
          <a:solidFill>
            <a:srgbClr val="E9E6BF"/>
          </a:solidFill>
          <a:ln w="12700" cap="flat">
            <a:noFill/>
            <a:miter lim="400000"/>
          </a:ln>
          <a:effectLst>
            <a:outerShdw blurRad="63500" dist="25400" dir="5400000" rotWithShape="0">
              <a:srgbClr val="000000">
                <a:alpha val="50000"/>
              </a:srgbClr>
            </a:outerShdw>
          </a:effectLst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numCol="1" anchor="ctr">
            <a:spAutoFit/>
          </a:bodyPr>
          <a:lstStyle/>
          <a:p>
            <a:pPr algn="l">
              <a:defRPr sz="1700"/>
            </a:pPr>
            <a:r>
              <a:rPr lang="en-GB" sz="1600" b="1" dirty="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parameter logic BUF   = 1'b1;</a:t>
            </a:r>
          </a:p>
          <a:p>
            <a:pPr algn="l">
              <a:defRPr sz="1700"/>
            </a:pPr>
            <a:r>
              <a:rPr lang="en-GB" sz="1600" b="1" dirty="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parameter logic </a:t>
            </a:r>
            <a:r>
              <a:rPr lang="en-GB" sz="1600" b="1" dirty="0" err="1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nGA</a:t>
            </a:r>
            <a:r>
              <a:rPr lang="en-GB" sz="1600" b="1" dirty="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   = 1'b1;</a:t>
            </a:r>
          </a:p>
          <a:p>
            <a:pPr algn="l">
              <a:defRPr sz="1700"/>
            </a:pPr>
            <a:r>
              <a:rPr lang="en-GB" sz="1600" b="1" dirty="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parameter logic </a:t>
            </a:r>
            <a:r>
              <a:rPr lang="en-GB" sz="1600" b="1" dirty="0" err="1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nSHDN</a:t>
            </a:r>
            <a:r>
              <a:rPr lang="en-GB" sz="1600" b="1" dirty="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 = 1'b1;</a:t>
            </a:r>
          </a:p>
          <a:p>
            <a:pPr algn="l">
              <a:defRPr sz="1700"/>
            </a:pPr>
            <a:endParaRPr lang="en-GB" sz="1600" b="1" dirty="0">
              <a:solidFill>
                <a:schemeClr val="accent6">
                  <a:satOff val="-15808"/>
                  <a:lumOff val="-17557"/>
                </a:schemeClr>
              </a:solidFill>
              <a:latin typeface="Courier"/>
              <a:ea typeface="Courier"/>
              <a:cs typeface="Courier"/>
              <a:sym typeface="Courier"/>
            </a:endParaRPr>
          </a:p>
          <a:p>
            <a:pPr algn="l">
              <a:defRPr sz="1700"/>
            </a:pPr>
            <a:r>
              <a:rPr lang="en-GB" sz="1600" b="1" dirty="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logic [3:0]  </a:t>
            </a:r>
            <a:r>
              <a:rPr lang="en-GB" sz="1600" b="1" dirty="0" err="1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cmd</a:t>
            </a:r>
            <a:r>
              <a:rPr lang="en-GB" sz="1600" b="1" dirty="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;</a:t>
            </a:r>
          </a:p>
          <a:p>
            <a:pPr algn="l">
              <a:defRPr sz="1700"/>
            </a:pPr>
            <a:r>
              <a:rPr lang="en-GB" sz="1600" b="1" dirty="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logic [15:0] </a:t>
            </a:r>
            <a:r>
              <a:rPr lang="en-GB" sz="1600" b="1" dirty="0" err="1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sreg</a:t>
            </a:r>
            <a:r>
              <a:rPr lang="en-GB" sz="1600" b="1" dirty="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;</a:t>
            </a:r>
          </a:p>
          <a:p>
            <a:pPr algn="l">
              <a:defRPr sz="1700"/>
            </a:pPr>
            <a:endParaRPr lang="en-GB" sz="1600" b="1" dirty="0">
              <a:solidFill>
                <a:schemeClr val="accent6">
                  <a:satOff val="-15808"/>
                  <a:lumOff val="-17557"/>
                </a:schemeClr>
              </a:solidFill>
              <a:latin typeface="Courier"/>
              <a:ea typeface="Courier"/>
              <a:cs typeface="Courier"/>
              <a:sym typeface="Courier"/>
            </a:endParaRPr>
          </a:p>
          <a:p>
            <a:pPr algn="l">
              <a:defRPr sz="1700"/>
            </a:pPr>
            <a:r>
              <a:rPr lang="en-GB" sz="1600" b="1" dirty="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assign </a:t>
            </a:r>
            <a:r>
              <a:rPr lang="en-GB" sz="1600" b="1" dirty="0" err="1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cmd</a:t>
            </a:r>
            <a:r>
              <a:rPr lang="en-GB" sz="1600" b="1" dirty="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 = {1'b0, BUF, </a:t>
            </a:r>
            <a:r>
              <a:rPr lang="en-GB" sz="1600" b="1" dirty="0" err="1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nGA</a:t>
            </a:r>
            <a:r>
              <a:rPr lang="en-GB" sz="1600" b="1" dirty="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, </a:t>
            </a:r>
            <a:r>
              <a:rPr lang="en-GB" sz="1600" b="1" dirty="0" err="1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nSHDN</a:t>
            </a:r>
            <a:r>
              <a:rPr lang="en-GB" sz="1600" b="1" dirty="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};</a:t>
            </a:r>
          </a:p>
          <a:p>
            <a:pPr algn="l">
              <a:defRPr sz="1700"/>
            </a:pPr>
            <a:endParaRPr lang="en-GB" sz="1600" b="1" dirty="0">
              <a:solidFill>
                <a:schemeClr val="accent6">
                  <a:satOff val="-15808"/>
                  <a:lumOff val="-17557"/>
                </a:schemeClr>
              </a:solidFill>
              <a:latin typeface="Courier"/>
              <a:ea typeface="Courier"/>
              <a:cs typeface="Courier"/>
              <a:sym typeface="Courier"/>
            </a:endParaRPr>
          </a:p>
          <a:p>
            <a:pPr algn="l">
              <a:defRPr sz="1700"/>
            </a:pPr>
            <a:r>
              <a:rPr lang="en-GB" sz="1600" b="1" dirty="0" err="1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always_ff</a:t>
            </a:r>
            <a:r>
              <a:rPr lang="en-GB" sz="1600" b="1" dirty="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 @(</a:t>
            </a:r>
            <a:r>
              <a:rPr lang="en-GB" sz="1600" b="1" dirty="0" err="1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posedge</a:t>
            </a:r>
            <a:r>
              <a:rPr lang="en-GB" sz="1600" b="1" dirty="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 clk_1MHz) begin</a:t>
            </a:r>
          </a:p>
          <a:p>
            <a:pPr algn="l">
              <a:defRPr sz="1700"/>
            </a:pPr>
            <a:r>
              <a:rPr lang="en-GB" sz="1600" b="1" dirty="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    if ({</a:t>
            </a:r>
            <a:r>
              <a:rPr lang="en-GB" sz="1600" b="1" dirty="0" err="1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dac_start</a:t>
            </a:r>
            <a:r>
              <a:rPr lang="en-GB" sz="1600" b="1" dirty="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, </a:t>
            </a:r>
            <a:r>
              <a:rPr lang="en-GB" sz="1600" b="1" dirty="0" err="1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dac_cs</a:t>
            </a:r>
            <a:r>
              <a:rPr lang="en-GB" sz="1600" b="1" dirty="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} == 2'b11)</a:t>
            </a:r>
          </a:p>
          <a:p>
            <a:pPr algn="l">
              <a:defRPr sz="1700"/>
            </a:pPr>
            <a:r>
              <a:rPr lang="en-GB" sz="1600" b="1" dirty="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        </a:t>
            </a:r>
            <a:r>
              <a:rPr lang="en-GB" sz="1600" b="1" dirty="0" err="1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sreg</a:t>
            </a:r>
            <a:r>
              <a:rPr lang="en-GB" sz="1600" b="1" dirty="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 &lt;= {</a:t>
            </a:r>
            <a:r>
              <a:rPr lang="en-GB" sz="1600" b="1" dirty="0" err="1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cmd</a:t>
            </a:r>
            <a:r>
              <a:rPr lang="en-GB" sz="1600" b="1" dirty="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, </a:t>
            </a:r>
            <a:r>
              <a:rPr lang="en-GB" sz="1600" b="1" dirty="0" err="1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data_in</a:t>
            </a:r>
            <a:r>
              <a:rPr lang="en-GB" sz="1600" b="1" dirty="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, 2'b00};</a:t>
            </a:r>
          </a:p>
          <a:p>
            <a:pPr algn="l">
              <a:defRPr sz="1700"/>
            </a:pPr>
            <a:r>
              <a:rPr lang="en-GB" sz="1600" b="1" dirty="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    else</a:t>
            </a:r>
          </a:p>
          <a:p>
            <a:pPr algn="l">
              <a:defRPr sz="1700"/>
            </a:pPr>
            <a:r>
              <a:rPr lang="en-GB" sz="1600" b="1" dirty="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        </a:t>
            </a:r>
            <a:r>
              <a:rPr lang="en-GB" sz="1600" b="1" dirty="0" err="1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sreg</a:t>
            </a:r>
            <a:r>
              <a:rPr lang="en-GB" sz="1600" b="1" dirty="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 &lt;= {</a:t>
            </a:r>
            <a:r>
              <a:rPr lang="en-GB" sz="1600" b="1" dirty="0" err="1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sreg</a:t>
            </a:r>
            <a:r>
              <a:rPr lang="en-GB" sz="1600" b="1" dirty="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[14:0], 1'b0};</a:t>
            </a:r>
          </a:p>
          <a:p>
            <a:pPr algn="l">
              <a:defRPr sz="1700"/>
            </a:pPr>
            <a:r>
              <a:rPr lang="en-GB" sz="1600" b="1" dirty="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end</a:t>
            </a:r>
          </a:p>
          <a:p>
            <a:pPr algn="l">
              <a:defRPr sz="1700"/>
            </a:pPr>
            <a:endParaRPr lang="en-GB" sz="1600" b="1" dirty="0">
              <a:solidFill>
                <a:schemeClr val="accent6">
                  <a:satOff val="-15808"/>
                  <a:lumOff val="-17557"/>
                </a:schemeClr>
              </a:solidFill>
              <a:latin typeface="Courier"/>
              <a:ea typeface="Courier"/>
              <a:cs typeface="Courier"/>
              <a:sym typeface="Courier"/>
            </a:endParaRPr>
          </a:p>
          <a:p>
            <a:pPr algn="l">
              <a:defRPr sz="1700"/>
            </a:pPr>
            <a:r>
              <a:rPr lang="en-GB" sz="1600" b="1" dirty="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assign </a:t>
            </a:r>
            <a:r>
              <a:rPr lang="en-GB" sz="1600" b="1" dirty="0" err="1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dac_sck</a:t>
            </a:r>
            <a:r>
              <a:rPr lang="en-GB" sz="1600" b="1" dirty="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 = !clk_1MHz &amp; !</a:t>
            </a:r>
            <a:r>
              <a:rPr lang="en-GB" sz="1600" b="1" dirty="0" err="1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dac_cs</a:t>
            </a:r>
            <a:r>
              <a:rPr lang="en-GB" sz="1600" b="1" dirty="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;</a:t>
            </a:r>
          </a:p>
          <a:p>
            <a:pPr algn="l">
              <a:defRPr sz="1700"/>
            </a:pPr>
            <a:r>
              <a:rPr lang="en-GB" sz="1600" b="1" dirty="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assign </a:t>
            </a:r>
            <a:r>
              <a:rPr lang="en-GB" sz="1600" b="1" dirty="0" err="1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dac_sdi</a:t>
            </a:r>
            <a:r>
              <a:rPr lang="en-GB" sz="1600" b="1" dirty="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 = </a:t>
            </a:r>
            <a:r>
              <a:rPr lang="en-GB" sz="1600" b="1" dirty="0" err="1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sreg</a:t>
            </a:r>
            <a:r>
              <a:rPr lang="en-GB" sz="1600" b="1" dirty="0">
                <a:solidFill>
                  <a:schemeClr val="accent6">
                    <a:satOff val="-15808"/>
                    <a:lumOff val="-17557"/>
                  </a:schemeClr>
                </a:solidFill>
                <a:latin typeface="Courier"/>
                <a:ea typeface="Courier"/>
                <a:cs typeface="Courier"/>
                <a:sym typeface="Courier"/>
              </a:rPr>
              <a:t>[15];</a:t>
            </a:r>
            <a:endParaRPr sz="1600" dirty="0">
              <a:solidFill>
                <a:schemeClr val="accent6">
                  <a:satOff val="-15808"/>
                  <a:lumOff val="-17557"/>
                </a:schemeClr>
              </a:solidFill>
              <a:latin typeface="Courier"/>
              <a:ea typeface="Courier"/>
              <a:cs typeface="Courier"/>
              <a:sym typeface="Courier"/>
            </a:endParaRPr>
          </a:p>
        </p:txBody>
      </p:sp>
      <p:sp>
        <p:nvSpPr>
          <p:cNvPr id="5" name="Line">
            <a:extLst>
              <a:ext uri="{FF2B5EF4-FFF2-40B4-BE49-F238E27FC236}">
                <a16:creationId xmlns:a16="http://schemas.microsoft.com/office/drawing/2014/main" id="{8CE5D21D-89DD-F5E1-9121-01685F8190C8}"/>
              </a:ext>
            </a:extLst>
          </p:cNvPr>
          <p:cNvSpPr/>
          <p:nvPr/>
        </p:nvSpPr>
        <p:spPr>
          <a:xfrm flipV="1">
            <a:off x="3365881" y="5907805"/>
            <a:ext cx="536363" cy="1135864"/>
          </a:xfrm>
          <a:prstGeom prst="line">
            <a:avLst/>
          </a:prstGeom>
          <a:noFill/>
          <a:ln w="88900" cap="flat">
            <a:solidFill>
              <a:srgbClr val="9D7A2D"/>
            </a:solidFill>
            <a:prstDash val="solid"/>
            <a:miter lim="400000"/>
            <a:tailEnd type="triangle" w="med" len="med"/>
          </a:ln>
          <a:effectLst/>
        </p:spPr>
        <p:txBody>
          <a:bodyPr wrap="square" lIns="50800" tIns="50800" rIns="50800" bIns="50800" numCol="1" anchor="ctr">
            <a:noAutofit/>
          </a:bodyPr>
          <a:lstStyle/>
          <a:p>
            <a:pPr>
              <a:defRPr sz="2100" b="1"/>
            </a:pPr>
            <a:endParaRPr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FD2575E-9325-99D0-0ADA-0D495C4FB1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475737"/>
            <a:ext cx="6307810" cy="3356329"/>
          </a:xfrm>
          <a:prstGeom prst="rect">
            <a:avLst/>
          </a:prstGeom>
          <a:solidFill>
            <a:srgbClr val="E9E6C0"/>
          </a:solidFill>
        </p:spPr>
      </p:pic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0" grpId="0" animBg="1"/>
      <p:bldP spid="3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This lectur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This lecture</a:t>
            </a:r>
          </a:p>
        </p:txBody>
      </p:sp>
      <p:sp>
        <p:nvSpPr>
          <p:cNvPr id="244" name="The design of the spi2dac module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The design of the spi2dac module</a:t>
            </a:r>
          </a:p>
          <a:p>
            <a:r>
              <a:t>How the ADC works</a:t>
            </a:r>
          </a:p>
          <a:p>
            <a:r>
              <a:t>Wrapping up</a:t>
            </a:r>
          </a:p>
        </p:txBody>
      </p:sp>
      <p:sp>
        <p:nvSpPr>
          <p:cNvPr id="245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2644250" y="31750"/>
            <a:ext cx="255564" cy="406400"/>
          </a:xfrm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rPr/>
              <a:t>7</a:t>
            </a:fld>
            <a:endParaRPr/>
          </a:p>
        </p:txBody>
      </p:sp>
    </p:spTree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This lectur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This lecture</a:t>
            </a:r>
          </a:p>
        </p:txBody>
      </p:sp>
      <p:sp>
        <p:nvSpPr>
          <p:cNvPr id="248" name="The design of the spi2dac module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The design of the spi2dac module</a:t>
            </a:r>
          </a:p>
          <a:p>
            <a:pPr>
              <a:defRPr b="1"/>
            </a:pPr>
            <a:r>
              <a:t>How the ADC works</a:t>
            </a:r>
          </a:p>
          <a:p>
            <a:r>
              <a:t>Wrapping up</a:t>
            </a:r>
          </a:p>
        </p:txBody>
      </p:sp>
      <p:sp>
        <p:nvSpPr>
          <p:cNvPr id="249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2644250" y="31750"/>
            <a:ext cx="255564" cy="406400"/>
          </a:xfrm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t>8</a:t>
            </a:fld>
            <a:endParaRPr/>
          </a:p>
        </p:txBody>
      </p:sp>
    </p:spTree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ADC using SAR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ADC using SAR</a:t>
            </a:r>
          </a:p>
        </p:txBody>
      </p:sp>
      <p:sp>
        <p:nvSpPr>
          <p:cNvPr id="252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rPr/>
              <a:t>9</a:t>
            </a:fld>
            <a:endParaRPr/>
          </a:p>
        </p:txBody>
      </p:sp>
      <p:sp>
        <p:nvSpPr>
          <p:cNvPr id="253" name="control logic"/>
          <p:cNvSpPr/>
          <p:nvPr/>
        </p:nvSpPr>
        <p:spPr>
          <a:xfrm>
            <a:off x="6561666" y="4076700"/>
            <a:ext cx="1270001" cy="1270000"/>
          </a:xfrm>
          <a:prstGeom prst="rect">
            <a:avLst/>
          </a:prstGeom>
          <a:solidFill>
            <a:srgbClr val="6E8627"/>
          </a:solidFill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>
              <a:defRPr sz="2400" b="1">
                <a:solidFill>
                  <a:srgbClr val="FFFFFF"/>
                </a:solidFill>
              </a:defRPr>
            </a:lvl1pPr>
          </a:lstStyle>
          <a:p>
            <a:r>
              <a:t>control logic</a:t>
            </a:r>
          </a:p>
        </p:txBody>
      </p:sp>
      <p:grpSp>
        <p:nvGrpSpPr>
          <p:cNvPr id="257" name="Group"/>
          <p:cNvGrpSpPr/>
          <p:nvPr/>
        </p:nvGrpSpPr>
        <p:grpSpPr>
          <a:xfrm>
            <a:off x="4955249" y="4158191"/>
            <a:ext cx="1467843" cy="1970585"/>
            <a:chOff x="0" y="0"/>
            <a:chExt cx="1467842" cy="1970583"/>
          </a:xfrm>
        </p:grpSpPr>
        <p:sp>
          <p:nvSpPr>
            <p:cNvPr id="254" name="Triangle"/>
            <p:cNvSpPr/>
            <p:nvPr/>
          </p:nvSpPr>
          <p:spPr>
            <a:xfrm rot="5400000">
              <a:off x="-33933" y="33932"/>
              <a:ext cx="1107017" cy="103915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0800" y="0"/>
                  </a:move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solidFill>
              <a:srgbClr val="6E8627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 sz="2100" b="1"/>
              </a:pPr>
              <a:endParaRPr/>
            </a:p>
          </p:txBody>
        </p:sp>
        <p:sp>
          <p:nvSpPr>
            <p:cNvPr id="255" name="+"/>
            <p:cNvSpPr/>
            <p:nvPr/>
          </p:nvSpPr>
          <p:spPr>
            <a:xfrm>
              <a:off x="185142" y="319583"/>
              <a:ext cx="1270001" cy="1270001"/>
            </a:xfrm>
            <a:prstGeom prst="line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b="1">
                  <a:solidFill>
                    <a:srgbClr val="FFFFFF"/>
                  </a:solidFill>
                </a:defRPr>
              </a:lvl1pPr>
            </a:lstStyle>
            <a:p>
              <a:r>
                <a:t>+</a:t>
              </a:r>
            </a:p>
          </p:txBody>
        </p:sp>
        <p:sp>
          <p:nvSpPr>
            <p:cNvPr id="256" name="-"/>
            <p:cNvSpPr/>
            <p:nvPr/>
          </p:nvSpPr>
          <p:spPr>
            <a:xfrm>
              <a:off x="197842" y="700583"/>
              <a:ext cx="1270001" cy="1270001"/>
            </a:xfrm>
            <a:prstGeom prst="line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b="1">
                  <a:solidFill>
                    <a:srgbClr val="FFFFFF"/>
                  </a:solidFill>
                </a:defRPr>
              </a:lvl1pPr>
            </a:lstStyle>
            <a:p>
              <a:r>
                <a:t>-</a:t>
              </a:r>
            </a:p>
          </p:txBody>
        </p:sp>
      </p:grpSp>
      <p:sp>
        <p:nvSpPr>
          <p:cNvPr id="258" name="sample &amp; hold"/>
          <p:cNvSpPr/>
          <p:nvPr/>
        </p:nvSpPr>
        <p:spPr>
          <a:xfrm>
            <a:off x="2477108" y="3903133"/>
            <a:ext cx="1270001" cy="1270001"/>
          </a:xfrm>
          <a:prstGeom prst="rect">
            <a:avLst/>
          </a:prstGeom>
          <a:solidFill>
            <a:srgbClr val="6E8627"/>
          </a:solidFill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>
              <a:defRPr sz="2400" b="1">
                <a:solidFill>
                  <a:srgbClr val="FFFFFF"/>
                </a:solidFill>
              </a:defRPr>
            </a:lvl1pPr>
          </a:lstStyle>
          <a:p>
            <a:r>
              <a:t>sample &amp; hold</a:t>
            </a:r>
          </a:p>
        </p:txBody>
      </p:sp>
      <p:sp>
        <p:nvSpPr>
          <p:cNvPr id="259" name="DAC"/>
          <p:cNvSpPr/>
          <p:nvPr/>
        </p:nvSpPr>
        <p:spPr>
          <a:xfrm>
            <a:off x="8398933" y="6371166"/>
            <a:ext cx="2597944" cy="1270001"/>
          </a:xfrm>
          <a:prstGeom prst="rect">
            <a:avLst/>
          </a:prstGeom>
          <a:solidFill>
            <a:srgbClr val="6E8627"/>
          </a:solidFill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>
              <a:defRPr sz="2400" b="1">
                <a:solidFill>
                  <a:srgbClr val="FFFFFF"/>
                </a:solidFill>
              </a:defRPr>
            </a:lvl1pPr>
          </a:lstStyle>
          <a:p>
            <a:r>
              <a:t>DAC</a:t>
            </a:r>
          </a:p>
        </p:txBody>
      </p:sp>
      <p:sp>
        <p:nvSpPr>
          <p:cNvPr id="260" name="Vin"/>
          <p:cNvSpPr txBox="1"/>
          <p:nvPr/>
        </p:nvSpPr>
        <p:spPr>
          <a:xfrm>
            <a:off x="677240" y="4246033"/>
            <a:ext cx="596240" cy="584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r>
              <a:t>V</a:t>
            </a:r>
            <a:r>
              <a:rPr baseline="-5999"/>
              <a:t>in</a:t>
            </a:r>
          </a:p>
        </p:txBody>
      </p:sp>
      <p:sp>
        <p:nvSpPr>
          <p:cNvPr id="261" name="VDAC"/>
          <p:cNvSpPr txBox="1"/>
          <p:nvPr/>
        </p:nvSpPr>
        <p:spPr>
          <a:xfrm>
            <a:off x="6548635" y="6201833"/>
            <a:ext cx="957396" cy="584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r>
              <a:t>V</a:t>
            </a:r>
            <a:r>
              <a:rPr baseline="-5999"/>
              <a:t>DAC</a:t>
            </a:r>
          </a:p>
        </p:txBody>
      </p:sp>
      <p:sp>
        <p:nvSpPr>
          <p:cNvPr id="262" name="Vref"/>
          <p:cNvSpPr txBox="1"/>
          <p:nvPr/>
        </p:nvSpPr>
        <p:spPr>
          <a:xfrm>
            <a:off x="9347133" y="8439043"/>
            <a:ext cx="701544" cy="584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r>
              <a:t>V</a:t>
            </a:r>
            <a:r>
              <a:rPr baseline="-5999"/>
              <a:t>ref</a:t>
            </a:r>
          </a:p>
        </p:txBody>
      </p:sp>
      <p:sp>
        <p:nvSpPr>
          <p:cNvPr id="285" name="Connection Line"/>
          <p:cNvSpPr/>
          <p:nvPr/>
        </p:nvSpPr>
        <p:spPr>
          <a:xfrm>
            <a:off x="7831666" y="4713042"/>
            <a:ext cx="604630" cy="127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ln w="25400">
            <a:solidFill>
              <a:srgbClr val="000000"/>
            </a:solidFill>
            <a:miter lim="400000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286" name="Connection Line"/>
          <p:cNvSpPr/>
          <p:nvPr/>
        </p:nvSpPr>
        <p:spPr>
          <a:xfrm>
            <a:off x="5993957" y="4711699"/>
            <a:ext cx="567710" cy="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ln w="25400">
            <a:solidFill>
              <a:srgbClr val="000000"/>
            </a:solidFill>
            <a:miter lim="400000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287" name="Connection Line"/>
          <p:cNvSpPr/>
          <p:nvPr/>
        </p:nvSpPr>
        <p:spPr>
          <a:xfrm>
            <a:off x="3747108" y="4517958"/>
            <a:ext cx="1200601" cy="1319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lnTo>
                  <a:pt x="21600" y="0"/>
                </a:lnTo>
              </a:path>
            </a:pathLst>
          </a:custGeom>
          <a:ln w="25400">
            <a:solidFill>
              <a:srgbClr val="000000"/>
            </a:solidFill>
            <a:miter lim="400000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268" name="Line"/>
          <p:cNvSpPr/>
          <p:nvPr/>
        </p:nvSpPr>
        <p:spPr>
          <a:xfrm>
            <a:off x="4618566" y="6731000"/>
            <a:ext cx="3767668" cy="0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269" name="Line"/>
          <p:cNvSpPr/>
          <p:nvPr/>
        </p:nvSpPr>
        <p:spPr>
          <a:xfrm>
            <a:off x="4615258" y="4894283"/>
            <a:ext cx="1" cy="1840951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270" name="Line"/>
          <p:cNvSpPr/>
          <p:nvPr/>
        </p:nvSpPr>
        <p:spPr>
          <a:xfrm>
            <a:off x="4608919" y="4889500"/>
            <a:ext cx="350521" cy="0"/>
          </a:xfrm>
          <a:prstGeom prst="line">
            <a:avLst/>
          </a:prstGeom>
          <a:ln w="25400">
            <a:solidFill>
              <a:srgbClr val="000000"/>
            </a:solidFill>
            <a:miter lim="400000"/>
            <a:tailEnd type="triangle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271" name="Line"/>
          <p:cNvSpPr/>
          <p:nvPr/>
        </p:nvSpPr>
        <p:spPr>
          <a:xfrm>
            <a:off x="8795686" y="5360987"/>
            <a:ext cx="1" cy="1021293"/>
          </a:xfrm>
          <a:prstGeom prst="line">
            <a:avLst/>
          </a:prstGeom>
          <a:ln w="25400">
            <a:solidFill>
              <a:srgbClr val="000000"/>
            </a:solidFill>
            <a:miter lim="400000"/>
            <a:tailEnd type="triangle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272" name="Line"/>
          <p:cNvSpPr/>
          <p:nvPr/>
        </p:nvSpPr>
        <p:spPr>
          <a:xfrm>
            <a:off x="9396819" y="5360987"/>
            <a:ext cx="1" cy="1021293"/>
          </a:xfrm>
          <a:prstGeom prst="line">
            <a:avLst/>
          </a:prstGeom>
          <a:ln w="25400">
            <a:solidFill>
              <a:srgbClr val="000000"/>
            </a:solidFill>
            <a:miter lim="400000"/>
            <a:tailEnd type="triangle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273" name="Line"/>
          <p:cNvSpPr/>
          <p:nvPr/>
        </p:nvSpPr>
        <p:spPr>
          <a:xfrm>
            <a:off x="9997953" y="5360987"/>
            <a:ext cx="1" cy="1021293"/>
          </a:xfrm>
          <a:prstGeom prst="line">
            <a:avLst/>
          </a:prstGeom>
          <a:ln w="25400">
            <a:solidFill>
              <a:srgbClr val="000000"/>
            </a:solidFill>
            <a:miter lim="400000"/>
            <a:tailEnd type="triangle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274" name="Line"/>
          <p:cNvSpPr/>
          <p:nvPr/>
        </p:nvSpPr>
        <p:spPr>
          <a:xfrm>
            <a:off x="10599086" y="5360987"/>
            <a:ext cx="1" cy="1021293"/>
          </a:xfrm>
          <a:prstGeom prst="line">
            <a:avLst/>
          </a:prstGeom>
          <a:ln w="25400">
            <a:solidFill>
              <a:srgbClr val="000000"/>
            </a:solidFill>
            <a:miter lim="400000"/>
            <a:tailEnd type="triangle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275" name="Line"/>
          <p:cNvSpPr/>
          <p:nvPr/>
        </p:nvSpPr>
        <p:spPr>
          <a:xfrm flipV="1">
            <a:off x="10576226" y="5505979"/>
            <a:ext cx="831029" cy="1"/>
          </a:xfrm>
          <a:prstGeom prst="line">
            <a:avLst/>
          </a:prstGeom>
          <a:ln w="25400">
            <a:solidFill>
              <a:srgbClr val="000000"/>
            </a:solidFill>
            <a:miter lim="400000"/>
            <a:headEnd type="oval"/>
            <a:tailEnd type="triangle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276" name="Line"/>
          <p:cNvSpPr/>
          <p:nvPr/>
        </p:nvSpPr>
        <p:spPr>
          <a:xfrm>
            <a:off x="9978398" y="5702300"/>
            <a:ext cx="1428857" cy="0"/>
          </a:xfrm>
          <a:prstGeom prst="line">
            <a:avLst/>
          </a:prstGeom>
          <a:ln w="25400">
            <a:solidFill>
              <a:srgbClr val="000000"/>
            </a:solidFill>
            <a:miter lim="400000"/>
            <a:headEnd type="oval"/>
            <a:tailEnd type="triangle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277" name="Line"/>
          <p:cNvSpPr/>
          <p:nvPr/>
        </p:nvSpPr>
        <p:spPr>
          <a:xfrm>
            <a:off x="9380227" y="5898620"/>
            <a:ext cx="2033883" cy="1"/>
          </a:xfrm>
          <a:prstGeom prst="line">
            <a:avLst/>
          </a:prstGeom>
          <a:ln w="25400">
            <a:solidFill>
              <a:srgbClr val="000000"/>
            </a:solidFill>
            <a:miter lim="400000"/>
            <a:headEnd type="oval"/>
            <a:tailEnd type="triangle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278" name="Line"/>
          <p:cNvSpPr/>
          <p:nvPr/>
        </p:nvSpPr>
        <p:spPr>
          <a:xfrm>
            <a:off x="8772596" y="6094941"/>
            <a:ext cx="2641514" cy="1"/>
          </a:xfrm>
          <a:prstGeom prst="line">
            <a:avLst/>
          </a:prstGeom>
          <a:ln w="25400">
            <a:solidFill>
              <a:srgbClr val="000000"/>
            </a:solidFill>
            <a:miter lim="400000"/>
            <a:headEnd type="oval"/>
            <a:tailEnd type="triangle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279" name="out"/>
          <p:cNvSpPr txBox="1"/>
          <p:nvPr/>
        </p:nvSpPr>
        <p:spPr>
          <a:xfrm>
            <a:off x="11541974" y="5448299"/>
            <a:ext cx="679253" cy="584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r>
              <a:t>out</a:t>
            </a:r>
          </a:p>
        </p:txBody>
      </p:sp>
      <p:sp>
        <p:nvSpPr>
          <p:cNvPr id="280" name="successive…"/>
          <p:cNvSpPr txBox="1"/>
          <p:nvPr/>
        </p:nvSpPr>
        <p:spPr>
          <a:xfrm>
            <a:off x="8593944" y="2893483"/>
            <a:ext cx="2207922" cy="1168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>
              <a:defRPr sz="2300" b="1"/>
            </a:pPr>
            <a:r>
              <a:t>successive </a:t>
            </a:r>
          </a:p>
          <a:p>
            <a:pPr>
              <a:defRPr sz="2300" b="1"/>
            </a:pPr>
            <a:r>
              <a:t>approximation </a:t>
            </a:r>
          </a:p>
          <a:p>
            <a:pPr>
              <a:defRPr sz="2300" b="1"/>
            </a:pPr>
            <a:r>
              <a:t>register</a:t>
            </a:r>
          </a:p>
        </p:txBody>
      </p:sp>
      <p:graphicFrame>
        <p:nvGraphicFramePr>
          <p:cNvPr id="281" name="Table 1"/>
          <p:cNvGraphicFramePr/>
          <p:nvPr/>
        </p:nvGraphicFramePr>
        <p:xfrm>
          <a:off x="8499795" y="4120091"/>
          <a:ext cx="2396216" cy="1182581"/>
        </p:xfrm>
        <a:graphic>
          <a:graphicData uri="http://schemas.openxmlformats.org/drawingml/2006/table">
            <a:tbl>
              <a:tblPr>
                <a:tableStyleId>{4A9BC294-FFE2-49D5-8D69-9E1BD2C41BD5}</a:tableStyleId>
              </a:tblPr>
              <a:tblGrid>
                <a:gridCol w="59905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9905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9905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9905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182581">
                <a:tc>
                  <a:txBody>
                    <a:bodyPr/>
                    <a:lstStyle/>
                    <a:p>
                      <a:pPr algn="ctr">
                        <a:spcBef>
                          <a:spcPts val="4200"/>
                        </a:spcBef>
                        <a:defRPr sz="3200"/>
                      </a:pPr>
                      <a:r>
                        <a:rPr>
                          <a:solidFill>
                            <a:schemeClr val="accent6">
                              <a:satOff val="-15808"/>
                              <a:lumOff val="-17557"/>
                            </a:schemeClr>
                          </a:solidFill>
                          <a:latin typeface="Courier"/>
                          <a:ea typeface="Courier"/>
                          <a:cs typeface="Courier"/>
                          <a:sym typeface="Courier"/>
                        </a:rPr>
                        <a:t>1</a:t>
                      </a:r>
                    </a:p>
                  </a:txBody>
                  <a:tcPr marL="50800" marR="50800" marT="50800" marB="50800" anchor="ctr" horzOverflow="overflow">
                    <a:lnL w="101600">
                      <a:solidFill>
                        <a:srgbClr val="6E8627"/>
                      </a:solidFill>
                      <a:miter lim="400000"/>
                    </a:lnL>
                    <a:lnR w="101600">
                      <a:solidFill>
                        <a:srgbClr val="6E8627"/>
                      </a:solidFill>
                      <a:miter lim="400000"/>
                    </a:lnR>
                    <a:lnT w="101600">
                      <a:solidFill>
                        <a:srgbClr val="6E8627"/>
                      </a:solidFill>
                      <a:miter lim="400000"/>
                    </a:lnT>
                    <a:lnB w="101600">
                      <a:solidFill>
                        <a:srgbClr val="6E8627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4200"/>
                        </a:spcBef>
                        <a:defRPr sz="3200"/>
                      </a:pPr>
                      <a:r>
                        <a:rPr>
                          <a:solidFill>
                            <a:schemeClr val="accent6">
                              <a:satOff val="-15808"/>
                              <a:lumOff val="-17557"/>
                            </a:schemeClr>
                          </a:solidFill>
                          <a:latin typeface="Courier"/>
                          <a:ea typeface="Courier"/>
                          <a:cs typeface="Courier"/>
                          <a:sym typeface="Courier"/>
                        </a:rPr>
                        <a:t>0</a:t>
                      </a:r>
                    </a:p>
                  </a:txBody>
                  <a:tcPr marL="50800" marR="50800" marT="50800" marB="50800" anchor="ctr" horzOverflow="overflow">
                    <a:lnL w="101600">
                      <a:solidFill>
                        <a:srgbClr val="6E8627"/>
                      </a:solidFill>
                      <a:miter lim="400000"/>
                    </a:lnL>
                    <a:lnR w="101600">
                      <a:solidFill>
                        <a:srgbClr val="6E8627"/>
                      </a:solidFill>
                      <a:miter lim="400000"/>
                    </a:lnR>
                    <a:lnT w="101600">
                      <a:solidFill>
                        <a:srgbClr val="6E8627"/>
                      </a:solidFill>
                      <a:miter lim="400000"/>
                    </a:lnT>
                    <a:lnB w="101600">
                      <a:solidFill>
                        <a:srgbClr val="6E8627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4200"/>
                        </a:spcBef>
                        <a:defRPr sz="3200"/>
                      </a:pPr>
                      <a:r>
                        <a:rPr>
                          <a:solidFill>
                            <a:schemeClr val="accent6">
                              <a:satOff val="-15808"/>
                              <a:lumOff val="-17557"/>
                            </a:schemeClr>
                          </a:solidFill>
                          <a:latin typeface="Courier"/>
                          <a:ea typeface="Courier"/>
                          <a:cs typeface="Courier"/>
                          <a:sym typeface="Courier"/>
                        </a:rPr>
                        <a:t>0</a:t>
                      </a:r>
                    </a:p>
                  </a:txBody>
                  <a:tcPr marL="50800" marR="50800" marT="50800" marB="50800" anchor="ctr" horzOverflow="overflow">
                    <a:lnL w="101600">
                      <a:solidFill>
                        <a:srgbClr val="6E8627"/>
                      </a:solidFill>
                      <a:miter lim="400000"/>
                    </a:lnL>
                    <a:lnR w="101600">
                      <a:solidFill>
                        <a:srgbClr val="6E8627"/>
                      </a:solidFill>
                      <a:miter lim="400000"/>
                    </a:lnR>
                    <a:lnT w="101600">
                      <a:solidFill>
                        <a:srgbClr val="6E8627"/>
                      </a:solidFill>
                      <a:miter lim="400000"/>
                    </a:lnT>
                    <a:lnB w="101600">
                      <a:solidFill>
                        <a:srgbClr val="6E8627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4200"/>
                        </a:spcBef>
                        <a:defRPr sz="3200"/>
                      </a:pPr>
                      <a:r>
                        <a:rPr>
                          <a:solidFill>
                            <a:schemeClr val="accent6">
                              <a:satOff val="-15808"/>
                              <a:lumOff val="-17557"/>
                            </a:schemeClr>
                          </a:solidFill>
                          <a:latin typeface="Courier"/>
                          <a:ea typeface="Courier"/>
                          <a:cs typeface="Courier"/>
                          <a:sym typeface="Courier"/>
                        </a:rPr>
                        <a:t>0</a:t>
                      </a:r>
                    </a:p>
                  </a:txBody>
                  <a:tcPr marL="50800" marR="50800" marT="50800" marB="50800" anchor="ctr" horzOverflow="overflow">
                    <a:lnL w="101600">
                      <a:solidFill>
                        <a:srgbClr val="6E8627"/>
                      </a:solidFill>
                      <a:miter lim="400000"/>
                    </a:lnL>
                    <a:lnR w="101600">
                      <a:solidFill>
                        <a:srgbClr val="6E8627"/>
                      </a:solidFill>
                      <a:miter lim="400000"/>
                    </a:lnR>
                    <a:lnT w="101600">
                      <a:solidFill>
                        <a:srgbClr val="6E8627"/>
                      </a:solidFill>
                      <a:miter lim="400000"/>
                    </a:lnT>
                    <a:lnB w="101600">
                      <a:solidFill>
                        <a:srgbClr val="6E8627"/>
                      </a:solidFill>
                      <a:miter lim="400000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82" name="8V"/>
          <p:cNvSpPr txBox="1"/>
          <p:nvPr/>
        </p:nvSpPr>
        <p:spPr>
          <a:xfrm>
            <a:off x="6721640" y="6714066"/>
            <a:ext cx="611387" cy="584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r>
              <a:t>8V</a:t>
            </a:r>
          </a:p>
        </p:txBody>
      </p:sp>
      <p:sp>
        <p:nvSpPr>
          <p:cNvPr id="283" name="9.4V"/>
          <p:cNvSpPr txBox="1"/>
          <p:nvPr/>
        </p:nvSpPr>
        <p:spPr>
          <a:xfrm>
            <a:off x="3951718" y="3909482"/>
            <a:ext cx="950318" cy="584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r>
              <a:t>9.4V</a:t>
            </a:r>
          </a:p>
        </p:txBody>
      </p:sp>
      <p:sp>
        <p:nvSpPr>
          <p:cNvPr id="284" name="Rectangle"/>
          <p:cNvSpPr/>
          <p:nvPr/>
        </p:nvSpPr>
        <p:spPr>
          <a:xfrm>
            <a:off x="2477108" y="2796646"/>
            <a:ext cx="8525326" cy="4844521"/>
          </a:xfrm>
          <a:prstGeom prst="rect">
            <a:avLst/>
          </a:prstGeom>
          <a:solidFill>
            <a:srgbClr val="6E8627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cxnSp>
        <p:nvCxnSpPr>
          <p:cNvPr id="2" name="Connection Line">
            <a:extLst>
              <a:ext uri="{FF2B5EF4-FFF2-40B4-BE49-F238E27FC236}">
                <a16:creationId xmlns:a16="http://schemas.microsoft.com/office/drawing/2014/main" id="{C377D064-CEAD-797F-28B2-7BECEEF18A37}"/>
              </a:ext>
            </a:extLst>
          </p:cNvPr>
          <p:cNvCxnSpPr>
            <a:cxnSpLocks/>
          </p:cNvCxnSpPr>
          <p:nvPr/>
        </p:nvCxnSpPr>
        <p:spPr>
          <a:xfrm>
            <a:off x="1273480" y="4538134"/>
            <a:ext cx="1203628" cy="0"/>
          </a:xfrm>
          <a:prstGeom prst="straightConnector1">
            <a:avLst/>
          </a:prstGeom>
          <a:ln w="25400">
            <a:solidFill>
              <a:srgbClr val="000000"/>
            </a:solidFill>
            <a:miter lim="400000"/>
            <a:tailEnd type="triangle"/>
          </a:ln>
        </p:spPr>
      </p:cxnSp>
      <p:cxnSp>
        <p:nvCxnSpPr>
          <p:cNvPr id="4" name="Connection Line">
            <a:extLst>
              <a:ext uri="{FF2B5EF4-FFF2-40B4-BE49-F238E27FC236}">
                <a16:creationId xmlns:a16="http://schemas.microsoft.com/office/drawing/2014/main" id="{4DC213B4-E456-9F2E-D025-0F21E58EC7F5}"/>
              </a:ext>
            </a:extLst>
          </p:cNvPr>
          <p:cNvCxnSpPr>
            <a:cxnSpLocks/>
          </p:cNvCxnSpPr>
          <p:nvPr/>
        </p:nvCxnSpPr>
        <p:spPr>
          <a:xfrm flipV="1">
            <a:off x="9697905" y="7641167"/>
            <a:ext cx="0" cy="797876"/>
          </a:xfrm>
          <a:prstGeom prst="straightConnector1">
            <a:avLst/>
          </a:prstGeom>
          <a:ln w="25400">
            <a:solidFill>
              <a:srgbClr val="000000"/>
            </a:solidFill>
            <a:miter lim="400000"/>
            <a:tailEnd type="triangle"/>
          </a:ln>
        </p:spPr>
      </p:cxnSp>
    </p:spTree>
  </p:cSld>
  <p:clrMapOvr>
    <a:masterClrMapping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ADC using SAR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ADC using SAR</a:t>
            </a:r>
          </a:p>
        </p:txBody>
      </p:sp>
      <p:sp>
        <p:nvSpPr>
          <p:cNvPr id="290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2516878" y="31750"/>
            <a:ext cx="382936" cy="406400"/>
          </a:xfrm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rPr/>
              <a:t>10</a:t>
            </a:fld>
            <a:endParaRPr/>
          </a:p>
        </p:txBody>
      </p:sp>
      <p:sp>
        <p:nvSpPr>
          <p:cNvPr id="291" name="control logic"/>
          <p:cNvSpPr/>
          <p:nvPr/>
        </p:nvSpPr>
        <p:spPr>
          <a:xfrm>
            <a:off x="6561666" y="4076700"/>
            <a:ext cx="1270001" cy="1270000"/>
          </a:xfrm>
          <a:prstGeom prst="rect">
            <a:avLst/>
          </a:prstGeom>
          <a:solidFill>
            <a:srgbClr val="6E8627"/>
          </a:solidFill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>
              <a:defRPr sz="2400" b="1">
                <a:solidFill>
                  <a:srgbClr val="FFFFFF"/>
                </a:solidFill>
              </a:defRPr>
            </a:lvl1pPr>
          </a:lstStyle>
          <a:p>
            <a:r>
              <a:t>control logic</a:t>
            </a:r>
          </a:p>
        </p:txBody>
      </p:sp>
      <p:grpSp>
        <p:nvGrpSpPr>
          <p:cNvPr id="295" name="Group"/>
          <p:cNvGrpSpPr/>
          <p:nvPr/>
        </p:nvGrpSpPr>
        <p:grpSpPr>
          <a:xfrm>
            <a:off x="4955249" y="4158191"/>
            <a:ext cx="1467843" cy="1970585"/>
            <a:chOff x="0" y="0"/>
            <a:chExt cx="1467842" cy="1970583"/>
          </a:xfrm>
        </p:grpSpPr>
        <p:sp>
          <p:nvSpPr>
            <p:cNvPr id="292" name="Triangle"/>
            <p:cNvSpPr/>
            <p:nvPr/>
          </p:nvSpPr>
          <p:spPr>
            <a:xfrm rot="5400000">
              <a:off x="-33933" y="33932"/>
              <a:ext cx="1107017" cy="103915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0800" y="0"/>
                  </a:move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solidFill>
              <a:srgbClr val="6E8627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 sz="2100" b="1"/>
              </a:pPr>
              <a:endParaRPr/>
            </a:p>
          </p:txBody>
        </p:sp>
        <p:sp>
          <p:nvSpPr>
            <p:cNvPr id="293" name="+"/>
            <p:cNvSpPr/>
            <p:nvPr/>
          </p:nvSpPr>
          <p:spPr>
            <a:xfrm>
              <a:off x="185142" y="319583"/>
              <a:ext cx="1270001" cy="1270001"/>
            </a:xfrm>
            <a:prstGeom prst="line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b="1">
                  <a:solidFill>
                    <a:srgbClr val="FFFFFF"/>
                  </a:solidFill>
                </a:defRPr>
              </a:lvl1pPr>
            </a:lstStyle>
            <a:p>
              <a:r>
                <a:t>+</a:t>
              </a:r>
            </a:p>
          </p:txBody>
        </p:sp>
        <p:sp>
          <p:nvSpPr>
            <p:cNvPr id="294" name="-"/>
            <p:cNvSpPr/>
            <p:nvPr/>
          </p:nvSpPr>
          <p:spPr>
            <a:xfrm>
              <a:off x="197842" y="700583"/>
              <a:ext cx="1270001" cy="1270001"/>
            </a:xfrm>
            <a:prstGeom prst="line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b="1">
                  <a:solidFill>
                    <a:srgbClr val="FFFFFF"/>
                  </a:solidFill>
                </a:defRPr>
              </a:lvl1pPr>
            </a:lstStyle>
            <a:p>
              <a:r>
                <a:t>-</a:t>
              </a:r>
            </a:p>
          </p:txBody>
        </p:sp>
      </p:grpSp>
      <p:sp>
        <p:nvSpPr>
          <p:cNvPr id="296" name="sample &amp; hold"/>
          <p:cNvSpPr/>
          <p:nvPr/>
        </p:nvSpPr>
        <p:spPr>
          <a:xfrm>
            <a:off x="2477108" y="3903133"/>
            <a:ext cx="1270001" cy="1270001"/>
          </a:xfrm>
          <a:prstGeom prst="rect">
            <a:avLst/>
          </a:prstGeom>
          <a:solidFill>
            <a:srgbClr val="6E8627"/>
          </a:solidFill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>
              <a:defRPr sz="2400" b="1">
                <a:solidFill>
                  <a:srgbClr val="FFFFFF"/>
                </a:solidFill>
              </a:defRPr>
            </a:lvl1pPr>
          </a:lstStyle>
          <a:p>
            <a:r>
              <a:t>sample &amp; hold</a:t>
            </a:r>
          </a:p>
        </p:txBody>
      </p:sp>
      <p:sp>
        <p:nvSpPr>
          <p:cNvPr id="297" name="DAC"/>
          <p:cNvSpPr/>
          <p:nvPr/>
        </p:nvSpPr>
        <p:spPr>
          <a:xfrm>
            <a:off x="8398933" y="6371166"/>
            <a:ext cx="2597944" cy="1270001"/>
          </a:xfrm>
          <a:prstGeom prst="rect">
            <a:avLst/>
          </a:prstGeom>
          <a:solidFill>
            <a:srgbClr val="6E8627"/>
          </a:solidFill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>
              <a:defRPr sz="2400" b="1">
                <a:solidFill>
                  <a:srgbClr val="FFFFFF"/>
                </a:solidFill>
              </a:defRPr>
            </a:lvl1pPr>
          </a:lstStyle>
          <a:p>
            <a:r>
              <a:t>DAC</a:t>
            </a:r>
          </a:p>
        </p:txBody>
      </p:sp>
      <p:sp>
        <p:nvSpPr>
          <p:cNvPr id="298" name="Vin"/>
          <p:cNvSpPr txBox="1"/>
          <p:nvPr/>
        </p:nvSpPr>
        <p:spPr>
          <a:xfrm>
            <a:off x="677240" y="4246033"/>
            <a:ext cx="596240" cy="584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r>
              <a:t>V</a:t>
            </a:r>
            <a:r>
              <a:rPr baseline="-5999"/>
              <a:t>in</a:t>
            </a:r>
          </a:p>
        </p:txBody>
      </p:sp>
      <p:sp>
        <p:nvSpPr>
          <p:cNvPr id="299" name="VDAC"/>
          <p:cNvSpPr txBox="1"/>
          <p:nvPr/>
        </p:nvSpPr>
        <p:spPr>
          <a:xfrm>
            <a:off x="6548635" y="6201833"/>
            <a:ext cx="957396" cy="584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r>
              <a:t>V</a:t>
            </a:r>
            <a:r>
              <a:rPr baseline="-5999"/>
              <a:t>DAC</a:t>
            </a:r>
          </a:p>
        </p:txBody>
      </p:sp>
      <p:sp>
        <p:nvSpPr>
          <p:cNvPr id="300" name="Vref"/>
          <p:cNvSpPr txBox="1"/>
          <p:nvPr/>
        </p:nvSpPr>
        <p:spPr>
          <a:xfrm>
            <a:off x="9347133" y="8439043"/>
            <a:ext cx="701544" cy="584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r>
              <a:t>V</a:t>
            </a:r>
            <a:r>
              <a:rPr baseline="-5999"/>
              <a:t>ref</a:t>
            </a:r>
          </a:p>
        </p:txBody>
      </p:sp>
      <p:sp>
        <p:nvSpPr>
          <p:cNvPr id="324" name="Connection Line"/>
          <p:cNvSpPr/>
          <p:nvPr/>
        </p:nvSpPr>
        <p:spPr>
          <a:xfrm>
            <a:off x="7831666" y="4713042"/>
            <a:ext cx="604630" cy="127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ln w="25400">
            <a:solidFill>
              <a:srgbClr val="000000"/>
            </a:solidFill>
            <a:miter lim="400000"/>
            <a:tailEnd type="triangle"/>
          </a:ln>
        </p:spPr>
        <p:txBody>
          <a:bodyPr/>
          <a:lstStyle/>
          <a:p>
            <a:endParaRPr/>
          </a:p>
        </p:txBody>
      </p:sp>
      <p:cxnSp>
        <p:nvCxnSpPr>
          <p:cNvPr id="302" name="Connection Line"/>
          <p:cNvCxnSpPr>
            <a:cxnSpLocks/>
            <a:stCxn id="298" idx="3"/>
            <a:endCxn id="296" idx="1"/>
          </p:cNvCxnSpPr>
          <p:nvPr/>
        </p:nvCxnSpPr>
        <p:spPr>
          <a:xfrm>
            <a:off x="1273480" y="4538134"/>
            <a:ext cx="1203628" cy="0"/>
          </a:xfrm>
          <a:prstGeom prst="straightConnector1">
            <a:avLst/>
          </a:prstGeom>
          <a:ln w="25400">
            <a:solidFill>
              <a:srgbClr val="000000"/>
            </a:solidFill>
            <a:miter lim="400000"/>
            <a:tailEnd type="triangle"/>
          </a:ln>
        </p:spPr>
      </p:cxnSp>
      <p:sp>
        <p:nvSpPr>
          <p:cNvPr id="325" name="Connection Line"/>
          <p:cNvSpPr/>
          <p:nvPr/>
        </p:nvSpPr>
        <p:spPr>
          <a:xfrm>
            <a:off x="5993957" y="4711699"/>
            <a:ext cx="567710" cy="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ln w="25400">
            <a:solidFill>
              <a:srgbClr val="000000"/>
            </a:solidFill>
            <a:miter lim="400000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326" name="Connection Line"/>
          <p:cNvSpPr/>
          <p:nvPr/>
        </p:nvSpPr>
        <p:spPr>
          <a:xfrm>
            <a:off x="3747108" y="4517958"/>
            <a:ext cx="1200601" cy="1319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lnTo>
                  <a:pt x="21600" y="0"/>
                </a:lnTo>
              </a:path>
            </a:pathLst>
          </a:custGeom>
          <a:ln w="25400">
            <a:solidFill>
              <a:srgbClr val="000000"/>
            </a:solidFill>
            <a:miter lim="400000"/>
            <a:tailEnd type="triangle"/>
          </a:ln>
        </p:spPr>
        <p:txBody>
          <a:bodyPr/>
          <a:lstStyle/>
          <a:p>
            <a:endParaRPr/>
          </a:p>
        </p:txBody>
      </p:sp>
      <p:cxnSp>
        <p:nvCxnSpPr>
          <p:cNvPr id="305" name="Connection Line"/>
          <p:cNvCxnSpPr>
            <a:cxnSpLocks/>
            <a:stCxn id="300" idx="0"/>
            <a:endCxn id="297" idx="2"/>
          </p:cNvCxnSpPr>
          <p:nvPr/>
        </p:nvCxnSpPr>
        <p:spPr>
          <a:xfrm flipV="1">
            <a:off x="9697905" y="7641167"/>
            <a:ext cx="0" cy="797876"/>
          </a:xfrm>
          <a:prstGeom prst="straightConnector1">
            <a:avLst/>
          </a:prstGeom>
          <a:ln w="25400">
            <a:solidFill>
              <a:srgbClr val="000000"/>
            </a:solidFill>
            <a:miter lim="400000"/>
            <a:tailEnd type="triangle"/>
          </a:ln>
        </p:spPr>
      </p:cxnSp>
      <p:sp>
        <p:nvSpPr>
          <p:cNvPr id="306" name="Line"/>
          <p:cNvSpPr/>
          <p:nvPr/>
        </p:nvSpPr>
        <p:spPr>
          <a:xfrm>
            <a:off x="4618566" y="6731000"/>
            <a:ext cx="3767668" cy="0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307" name="Line"/>
          <p:cNvSpPr/>
          <p:nvPr/>
        </p:nvSpPr>
        <p:spPr>
          <a:xfrm>
            <a:off x="4615258" y="4894283"/>
            <a:ext cx="1" cy="1840951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308" name="Line"/>
          <p:cNvSpPr/>
          <p:nvPr/>
        </p:nvSpPr>
        <p:spPr>
          <a:xfrm>
            <a:off x="4608919" y="4889500"/>
            <a:ext cx="350521" cy="0"/>
          </a:xfrm>
          <a:prstGeom prst="line">
            <a:avLst/>
          </a:prstGeom>
          <a:ln w="25400">
            <a:solidFill>
              <a:srgbClr val="000000"/>
            </a:solidFill>
            <a:miter lim="400000"/>
            <a:tailEnd type="triangle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309" name="Line"/>
          <p:cNvSpPr/>
          <p:nvPr/>
        </p:nvSpPr>
        <p:spPr>
          <a:xfrm>
            <a:off x="8795686" y="5360987"/>
            <a:ext cx="1" cy="1021293"/>
          </a:xfrm>
          <a:prstGeom prst="line">
            <a:avLst/>
          </a:prstGeom>
          <a:ln w="25400">
            <a:solidFill>
              <a:srgbClr val="000000"/>
            </a:solidFill>
            <a:miter lim="400000"/>
            <a:tailEnd type="triangle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310" name="Line"/>
          <p:cNvSpPr/>
          <p:nvPr/>
        </p:nvSpPr>
        <p:spPr>
          <a:xfrm>
            <a:off x="9396819" y="5360987"/>
            <a:ext cx="1" cy="1021293"/>
          </a:xfrm>
          <a:prstGeom prst="line">
            <a:avLst/>
          </a:prstGeom>
          <a:ln w="25400">
            <a:solidFill>
              <a:srgbClr val="000000"/>
            </a:solidFill>
            <a:miter lim="400000"/>
            <a:tailEnd type="triangle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311" name="Line"/>
          <p:cNvSpPr/>
          <p:nvPr/>
        </p:nvSpPr>
        <p:spPr>
          <a:xfrm>
            <a:off x="9997953" y="5360987"/>
            <a:ext cx="1" cy="1021293"/>
          </a:xfrm>
          <a:prstGeom prst="line">
            <a:avLst/>
          </a:prstGeom>
          <a:ln w="25400">
            <a:solidFill>
              <a:srgbClr val="000000"/>
            </a:solidFill>
            <a:miter lim="400000"/>
            <a:tailEnd type="triangle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312" name="Line"/>
          <p:cNvSpPr/>
          <p:nvPr/>
        </p:nvSpPr>
        <p:spPr>
          <a:xfrm>
            <a:off x="10599086" y="5360987"/>
            <a:ext cx="1" cy="1021293"/>
          </a:xfrm>
          <a:prstGeom prst="line">
            <a:avLst/>
          </a:prstGeom>
          <a:ln w="25400">
            <a:solidFill>
              <a:srgbClr val="000000"/>
            </a:solidFill>
            <a:miter lim="400000"/>
            <a:tailEnd type="triangle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313" name="Line"/>
          <p:cNvSpPr/>
          <p:nvPr/>
        </p:nvSpPr>
        <p:spPr>
          <a:xfrm flipV="1">
            <a:off x="10576226" y="5505979"/>
            <a:ext cx="831029" cy="1"/>
          </a:xfrm>
          <a:prstGeom prst="line">
            <a:avLst/>
          </a:prstGeom>
          <a:ln w="25400">
            <a:solidFill>
              <a:srgbClr val="000000"/>
            </a:solidFill>
            <a:miter lim="400000"/>
            <a:headEnd type="oval"/>
            <a:tailEnd type="triangle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314" name="Line"/>
          <p:cNvSpPr/>
          <p:nvPr/>
        </p:nvSpPr>
        <p:spPr>
          <a:xfrm>
            <a:off x="9978398" y="5702300"/>
            <a:ext cx="1428857" cy="0"/>
          </a:xfrm>
          <a:prstGeom prst="line">
            <a:avLst/>
          </a:prstGeom>
          <a:ln w="25400">
            <a:solidFill>
              <a:srgbClr val="000000"/>
            </a:solidFill>
            <a:miter lim="400000"/>
            <a:headEnd type="oval"/>
            <a:tailEnd type="triangle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315" name="Line"/>
          <p:cNvSpPr/>
          <p:nvPr/>
        </p:nvSpPr>
        <p:spPr>
          <a:xfrm>
            <a:off x="9380227" y="5898620"/>
            <a:ext cx="2033883" cy="1"/>
          </a:xfrm>
          <a:prstGeom prst="line">
            <a:avLst/>
          </a:prstGeom>
          <a:ln w="25400">
            <a:solidFill>
              <a:srgbClr val="000000"/>
            </a:solidFill>
            <a:miter lim="400000"/>
            <a:headEnd type="oval"/>
            <a:tailEnd type="triangle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316" name="Line"/>
          <p:cNvSpPr/>
          <p:nvPr/>
        </p:nvSpPr>
        <p:spPr>
          <a:xfrm>
            <a:off x="8772596" y="6094941"/>
            <a:ext cx="2641514" cy="1"/>
          </a:xfrm>
          <a:prstGeom prst="line">
            <a:avLst/>
          </a:prstGeom>
          <a:ln w="25400">
            <a:solidFill>
              <a:srgbClr val="000000"/>
            </a:solidFill>
            <a:miter lim="400000"/>
            <a:headEnd type="oval"/>
            <a:tailEnd type="triangle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317" name="out"/>
          <p:cNvSpPr txBox="1"/>
          <p:nvPr/>
        </p:nvSpPr>
        <p:spPr>
          <a:xfrm>
            <a:off x="11541974" y="5448299"/>
            <a:ext cx="679253" cy="584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r>
              <a:t>out</a:t>
            </a:r>
          </a:p>
        </p:txBody>
      </p:sp>
      <p:sp>
        <p:nvSpPr>
          <p:cNvPr id="318" name="16V"/>
          <p:cNvSpPr txBox="1"/>
          <p:nvPr/>
        </p:nvSpPr>
        <p:spPr>
          <a:xfrm>
            <a:off x="9655599" y="7850082"/>
            <a:ext cx="837408" cy="584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r>
              <a:t>16V</a:t>
            </a:r>
          </a:p>
        </p:txBody>
      </p:sp>
      <p:sp>
        <p:nvSpPr>
          <p:cNvPr id="319" name="9.4V"/>
          <p:cNvSpPr txBox="1"/>
          <p:nvPr/>
        </p:nvSpPr>
        <p:spPr>
          <a:xfrm>
            <a:off x="1397879" y="3909482"/>
            <a:ext cx="950318" cy="584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r>
              <a:t>9.4V</a:t>
            </a:r>
          </a:p>
        </p:txBody>
      </p:sp>
      <p:sp>
        <p:nvSpPr>
          <p:cNvPr id="320" name="successive…"/>
          <p:cNvSpPr txBox="1"/>
          <p:nvPr/>
        </p:nvSpPr>
        <p:spPr>
          <a:xfrm>
            <a:off x="8593944" y="2893483"/>
            <a:ext cx="2207922" cy="1168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>
              <a:defRPr sz="2300" b="1"/>
            </a:pPr>
            <a:r>
              <a:t>successive </a:t>
            </a:r>
          </a:p>
          <a:p>
            <a:pPr>
              <a:defRPr sz="2300" b="1"/>
            </a:pPr>
            <a:r>
              <a:t>approximation </a:t>
            </a:r>
          </a:p>
          <a:p>
            <a:pPr>
              <a:defRPr sz="2300" b="1"/>
            </a:pPr>
            <a:r>
              <a:t>register</a:t>
            </a:r>
          </a:p>
        </p:txBody>
      </p:sp>
      <p:graphicFrame>
        <p:nvGraphicFramePr>
          <p:cNvPr id="321" name="Table 1"/>
          <p:cNvGraphicFramePr/>
          <p:nvPr/>
        </p:nvGraphicFramePr>
        <p:xfrm>
          <a:off x="8499795" y="4120091"/>
          <a:ext cx="2396216" cy="1182581"/>
        </p:xfrm>
        <a:graphic>
          <a:graphicData uri="http://schemas.openxmlformats.org/drawingml/2006/table">
            <a:tbl>
              <a:tblPr>
                <a:tableStyleId>{4A9BC294-FFE2-49D5-8D69-9E1BD2C41BD5}</a:tableStyleId>
              </a:tblPr>
              <a:tblGrid>
                <a:gridCol w="59905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9905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9905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9905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182581">
                <a:tc>
                  <a:txBody>
                    <a:bodyPr/>
                    <a:lstStyle/>
                    <a:p>
                      <a:pPr algn="ctr">
                        <a:spcBef>
                          <a:spcPts val="4200"/>
                        </a:spcBef>
                        <a:defRPr sz="3200"/>
                      </a:pPr>
                      <a:r>
                        <a:rPr>
                          <a:solidFill>
                            <a:schemeClr val="accent6">
                              <a:satOff val="-15808"/>
                              <a:lumOff val="-17557"/>
                            </a:schemeClr>
                          </a:solidFill>
                          <a:latin typeface="Courier"/>
                          <a:ea typeface="Courier"/>
                          <a:cs typeface="Courier"/>
                          <a:sym typeface="Courier"/>
                        </a:rPr>
                        <a:t>1</a:t>
                      </a:r>
                    </a:p>
                  </a:txBody>
                  <a:tcPr marL="50800" marR="50800" marT="50800" marB="50800" anchor="ctr" horzOverflow="overflow">
                    <a:lnL w="101600">
                      <a:solidFill>
                        <a:srgbClr val="6E8627"/>
                      </a:solidFill>
                      <a:miter lim="400000"/>
                    </a:lnL>
                    <a:lnR w="101600">
                      <a:solidFill>
                        <a:srgbClr val="6E8627"/>
                      </a:solidFill>
                      <a:miter lim="400000"/>
                    </a:lnR>
                    <a:lnT w="101600">
                      <a:solidFill>
                        <a:srgbClr val="6E8627"/>
                      </a:solidFill>
                      <a:miter lim="400000"/>
                    </a:lnT>
                    <a:lnB w="101600">
                      <a:solidFill>
                        <a:srgbClr val="6E8627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4200"/>
                        </a:spcBef>
                        <a:defRPr sz="3200"/>
                      </a:pPr>
                      <a:r>
                        <a:rPr>
                          <a:solidFill>
                            <a:schemeClr val="accent6">
                              <a:satOff val="-15808"/>
                              <a:lumOff val="-17557"/>
                            </a:schemeClr>
                          </a:solidFill>
                          <a:latin typeface="Courier"/>
                          <a:ea typeface="Courier"/>
                          <a:cs typeface="Courier"/>
                          <a:sym typeface="Courier"/>
                        </a:rPr>
                        <a:t>0</a:t>
                      </a:r>
                    </a:p>
                  </a:txBody>
                  <a:tcPr marL="50800" marR="50800" marT="50800" marB="50800" anchor="ctr" horzOverflow="overflow">
                    <a:lnL w="101600">
                      <a:solidFill>
                        <a:srgbClr val="6E8627"/>
                      </a:solidFill>
                      <a:miter lim="400000"/>
                    </a:lnL>
                    <a:lnR w="101600">
                      <a:solidFill>
                        <a:srgbClr val="6E8627"/>
                      </a:solidFill>
                      <a:miter lim="400000"/>
                    </a:lnR>
                    <a:lnT w="101600">
                      <a:solidFill>
                        <a:srgbClr val="6E8627"/>
                      </a:solidFill>
                      <a:miter lim="400000"/>
                    </a:lnT>
                    <a:lnB w="101600">
                      <a:solidFill>
                        <a:srgbClr val="6E8627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4200"/>
                        </a:spcBef>
                        <a:defRPr sz="3200"/>
                      </a:pPr>
                      <a:r>
                        <a:rPr>
                          <a:solidFill>
                            <a:schemeClr val="accent6">
                              <a:satOff val="-15808"/>
                              <a:lumOff val="-17557"/>
                            </a:schemeClr>
                          </a:solidFill>
                          <a:latin typeface="Courier"/>
                          <a:ea typeface="Courier"/>
                          <a:cs typeface="Courier"/>
                          <a:sym typeface="Courier"/>
                        </a:rPr>
                        <a:t>0</a:t>
                      </a:r>
                    </a:p>
                  </a:txBody>
                  <a:tcPr marL="50800" marR="50800" marT="50800" marB="50800" anchor="ctr" horzOverflow="overflow">
                    <a:lnL w="101600">
                      <a:solidFill>
                        <a:srgbClr val="6E8627"/>
                      </a:solidFill>
                      <a:miter lim="400000"/>
                    </a:lnL>
                    <a:lnR w="101600">
                      <a:solidFill>
                        <a:srgbClr val="6E8627"/>
                      </a:solidFill>
                      <a:miter lim="400000"/>
                    </a:lnR>
                    <a:lnT w="101600">
                      <a:solidFill>
                        <a:srgbClr val="6E8627"/>
                      </a:solidFill>
                      <a:miter lim="400000"/>
                    </a:lnT>
                    <a:lnB w="101600">
                      <a:solidFill>
                        <a:srgbClr val="6E8627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4200"/>
                        </a:spcBef>
                        <a:defRPr sz="3200"/>
                      </a:pPr>
                      <a:r>
                        <a:rPr>
                          <a:solidFill>
                            <a:schemeClr val="accent6">
                              <a:satOff val="-15808"/>
                              <a:lumOff val="-17557"/>
                            </a:schemeClr>
                          </a:solidFill>
                          <a:latin typeface="Courier"/>
                          <a:ea typeface="Courier"/>
                          <a:cs typeface="Courier"/>
                          <a:sym typeface="Courier"/>
                        </a:rPr>
                        <a:t>0</a:t>
                      </a:r>
                    </a:p>
                  </a:txBody>
                  <a:tcPr marL="50800" marR="50800" marT="50800" marB="50800" anchor="ctr" horzOverflow="overflow">
                    <a:lnL w="101600">
                      <a:solidFill>
                        <a:srgbClr val="6E8627"/>
                      </a:solidFill>
                      <a:miter lim="400000"/>
                    </a:lnL>
                    <a:lnR w="101600">
                      <a:solidFill>
                        <a:srgbClr val="6E8627"/>
                      </a:solidFill>
                      <a:miter lim="400000"/>
                    </a:lnR>
                    <a:lnT w="101600">
                      <a:solidFill>
                        <a:srgbClr val="6E8627"/>
                      </a:solidFill>
                      <a:miter lim="400000"/>
                    </a:lnT>
                    <a:lnB w="101600">
                      <a:solidFill>
                        <a:srgbClr val="6E8627"/>
                      </a:solidFill>
                      <a:miter lim="400000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22" name="8V"/>
          <p:cNvSpPr txBox="1"/>
          <p:nvPr/>
        </p:nvSpPr>
        <p:spPr>
          <a:xfrm>
            <a:off x="6721640" y="6714066"/>
            <a:ext cx="611387" cy="584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r>
              <a:t>8V</a:t>
            </a:r>
          </a:p>
        </p:txBody>
      </p:sp>
      <p:sp>
        <p:nvSpPr>
          <p:cNvPr id="323" name="9.4V"/>
          <p:cNvSpPr txBox="1"/>
          <p:nvPr/>
        </p:nvSpPr>
        <p:spPr>
          <a:xfrm>
            <a:off x="3951718" y="3909482"/>
            <a:ext cx="950318" cy="584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r>
              <a:t>9.4V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1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3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2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3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3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4" fill="hold"/>
                                        <p:tgtEl>
                                          <p:spTgt spid="3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4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8" fill="hold"/>
                                        <p:tgtEl>
                                          <p:spTgt spid="3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5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2" fill="hold"/>
                                        <p:tgtEl>
                                          <p:spTgt spid="3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8" grpId="2" animBg="1" advAuto="0"/>
      <p:bldP spid="319" grpId="4" animBg="1" advAuto="0"/>
      <p:bldP spid="321" grpId="1" animBg="1" advAuto="0"/>
      <p:bldP spid="322" grpId="3" animBg="1" advAuto="0"/>
      <p:bldP spid="323" grpId="5" animBg="1" advAuto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ADC using SAR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ADC using SAR</a:t>
            </a:r>
          </a:p>
        </p:txBody>
      </p:sp>
      <p:sp>
        <p:nvSpPr>
          <p:cNvPr id="329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rPr/>
              <a:t>11</a:t>
            </a:fld>
            <a:endParaRPr/>
          </a:p>
        </p:txBody>
      </p:sp>
      <p:sp>
        <p:nvSpPr>
          <p:cNvPr id="330" name="control logic"/>
          <p:cNvSpPr/>
          <p:nvPr/>
        </p:nvSpPr>
        <p:spPr>
          <a:xfrm>
            <a:off x="6561666" y="4076700"/>
            <a:ext cx="1270001" cy="1270000"/>
          </a:xfrm>
          <a:prstGeom prst="rect">
            <a:avLst/>
          </a:prstGeom>
          <a:solidFill>
            <a:srgbClr val="6E8627"/>
          </a:solidFill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>
              <a:defRPr sz="2400" b="1">
                <a:solidFill>
                  <a:srgbClr val="FFFFFF"/>
                </a:solidFill>
              </a:defRPr>
            </a:lvl1pPr>
          </a:lstStyle>
          <a:p>
            <a:r>
              <a:t>control logic</a:t>
            </a:r>
          </a:p>
        </p:txBody>
      </p:sp>
      <p:grpSp>
        <p:nvGrpSpPr>
          <p:cNvPr id="334" name="Group"/>
          <p:cNvGrpSpPr/>
          <p:nvPr/>
        </p:nvGrpSpPr>
        <p:grpSpPr>
          <a:xfrm>
            <a:off x="4955249" y="4158191"/>
            <a:ext cx="1467843" cy="1970585"/>
            <a:chOff x="0" y="0"/>
            <a:chExt cx="1467842" cy="1970583"/>
          </a:xfrm>
        </p:grpSpPr>
        <p:sp>
          <p:nvSpPr>
            <p:cNvPr id="331" name="Triangle"/>
            <p:cNvSpPr/>
            <p:nvPr/>
          </p:nvSpPr>
          <p:spPr>
            <a:xfrm rot="5400000">
              <a:off x="-33933" y="33932"/>
              <a:ext cx="1107017" cy="103915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0800" y="0"/>
                  </a:move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solidFill>
              <a:srgbClr val="6E8627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 sz="2100" b="1"/>
              </a:pPr>
              <a:endParaRPr/>
            </a:p>
          </p:txBody>
        </p:sp>
        <p:sp>
          <p:nvSpPr>
            <p:cNvPr id="332" name="+"/>
            <p:cNvSpPr/>
            <p:nvPr/>
          </p:nvSpPr>
          <p:spPr>
            <a:xfrm>
              <a:off x="185142" y="319583"/>
              <a:ext cx="1270001" cy="1270001"/>
            </a:xfrm>
            <a:prstGeom prst="line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b="1">
                  <a:solidFill>
                    <a:srgbClr val="FFFFFF"/>
                  </a:solidFill>
                </a:defRPr>
              </a:lvl1pPr>
            </a:lstStyle>
            <a:p>
              <a:r>
                <a:t>+</a:t>
              </a:r>
            </a:p>
          </p:txBody>
        </p:sp>
        <p:sp>
          <p:nvSpPr>
            <p:cNvPr id="333" name="-"/>
            <p:cNvSpPr/>
            <p:nvPr/>
          </p:nvSpPr>
          <p:spPr>
            <a:xfrm>
              <a:off x="197842" y="700583"/>
              <a:ext cx="1270001" cy="1270001"/>
            </a:xfrm>
            <a:prstGeom prst="line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b="1">
                  <a:solidFill>
                    <a:srgbClr val="FFFFFF"/>
                  </a:solidFill>
                </a:defRPr>
              </a:lvl1pPr>
            </a:lstStyle>
            <a:p>
              <a:r>
                <a:t>-</a:t>
              </a:r>
            </a:p>
          </p:txBody>
        </p:sp>
      </p:grpSp>
      <p:sp>
        <p:nvSpPr>
          <p:cNvPr id="335" name="sample &amp; hold"/>
          <p:cNvSpPr/>
          <p:nvPr/>
        </p:nvSpPr>
        <p:spPr>
          <a:xfrm>
            <a:off x="2477108" y="3903133"/>
            <a:ext cx="1270001" cy="1270001"/>
          </a:xfrm>
          <a:prstGeom prst="rect">
            <a:avLst/>
          </a:prstGeom>
          <a:solidFill>
            <a:srgbClr val="6E8627"/>
          </a:solidFill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>
              <a:defRPr sz="2400" b="1">
                <a:solidFill>
                  <a:srgbClr val="FFFFFF"/>
                </a:solidFill>
              </a:defRPr>
            </a:lvl1pPr>
          </a:lstStyle>
          <a:p>
            <a:r>
              <a:t>sample &amp; hold</a:t>
            </a:r>
          </a:p>
        </p:txBody>
      </p:sp>
      <p:sp>
        <p:nvSpPr>
          <p:cNvPr id="336" name="DAC"/>
          <p:cNvSpPr/>
          <p:nvPr/>
        </p:nvSpPr>
        <p:spPr>
          <a:xfrm>
            <a:off x="8398933" y="6371166"/>
            <a:ext cx="2597944" cy="1270001"/>
          </a:xfrm>
          <a:prstGeom prst="rect">
            <a:avLst/>
          </a:prstGeom>
          <a:solidFill>
            <a:srgbClr val="6E8627"/>
          </a:solidFill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>
              <a:defRPr sz="2400" b="1">
                <a:solidFill>
                  <a:srgbClr val="FFFFFF"/>
                </a:solidFill>
              </a:defRPr>
            </a:lvl1pPr>
          </a:lstStyle>
          <a:p>
            <a:r>
              <a:t>DAC</a:t>
            </a:r>
          </a:p>
        </p:txBody>
      </p:sp>
      <p:sp>
        <p:nvSpPr>
          <p:cNvPr id="337" name="Vin"/>
          <p:cNvSpPr txBox="1"/>
          <p:nvPr/>
        </p:nvSpPr>
        <p:spPr>
          <a:xfrm>
            <a:off x="677240" y="4246033"/>
            <a:ext cx="596240" cy="584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r>
              <a:t>V</a:t>
            </a:r>
            <a:r>
              <a:rPr baseline="-5999"/>
              <a:t>in</a:t>
            </a:r>
          </a:p>
        </p:txBody>
      </p:sp>
      <p:sp>
        <p:nvSpPr>
          <p:cNvPr id="338" name="VDAC"/>
          <p:cNvSpPr txBox="1"/>
          <p:nvPr/>
        </p:nvSpPr>
        <p:spPr>
          <a:xfrm>
            <a:off x="6548635" y="6201833"/>
            <a:ext cx="957396" cy="584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r>
              <a:t>V</a:t>
            </a:r>
            <a:r>
              <a:rPr baseline="-5999"/>
              <a:t>DAC</a:t>
            </a:r>
          </a:p>
        </p:txBody>
      </p:sp>
      <p:sp>
        <p:nvSpPr>
          <p:cNvPr id="339" name="Vref"/>
          <p:cNvSpPr txBox="1"/>
          <p:nvPr/>
        </p:nvSpPr>
        <p:spPr>
          <a:xfrm>
            <a:off x="9347133" y="8439043"/>
            <a:ext cx="701544" cy="584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r>
              <a:t>V</a:t>
            </a:r>
            <a:r>
              <a:rPr baseline="-5999"/>
              <a:t>ref</a:t>
            </a:r>
          </a:p>
        </p:txBody>
      </p:sp>
      <p:sp>
        <p:nvSpPr>
          <p:cNvPr id="362" name="Connection Line"/>
          <p:cNvSpPr/>
          <p:nvPr/>
        </p:nvSpPr>
        <p:spPr>
          <a:xfrm>
            <a:off x="7831666" y="4713042"/>
            <a:ext cx="604630" cy="127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ln w="25400">
            <a:solidFill>
              <a:srgbClr val="000000"/>
            </a:solidFill>
            <a:miter lim="400000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363" name="Connection Line"/>
          <p:cNvSpPr/>
          <p:nvPr/>
        </p:nvSpPr>
        <p:spPr>
          <a:xfrm>
            <a:off x="5993957" y="4711699"/>
            <a:ext cx="567710" cy="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ln w="25400">
            <a:solidFill>
              <a:srgbClr val="000000"/>
            </a:solidFill>
            <a:miter lim="400000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364" name="Connection Line"/>
          <p:cNvSpPr/>
          <p:nvPr/>
        </p:nvSpPr>
        <p:spPr>
          <a:xfrm>
            <a:off x="3747108" y="4517958"/>
            <a:ext cx="1200601" cy="1319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lnTo>
                  <a:pt x="21600" y="0"/>
                </a:lnTo>
              </a:path>
            </a:pathLst>
          </a:custGeom>
          <a:ln w="25400">
            <a:solidFill>
              <a:srgbClr val="000000"/>
            </a:solidFill>
            <a:miter lim="400000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345" name="Line"/>
          <p:cNvSpPr/>
          <p:nvPr/>
        </p:nvSpPr>
        <p:spPr>
          <a:xfrm>
            <a:off x="4618566" y="6731000"/>
            <a:ext cx="3767668" cy="0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346" name="Line"/>
          <p:cNvSpPr/>
          <p:nvPr/>
        </p:nvSpPr>
        <p:spPr>
          <a:xfrm>
            <a:off x="4615258" y="4894283"/>
            <a:ext cx="1" cy="1840951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347" name="Line"/>
          <p:cNvSpPr/>
          <p:nvPr/>
        </p:nvSpPr>
        <p:spPr>
          <a:xfrm>
            <a:off x="4608919" y="4889500"/>
            <a:ext cx="350521" cy="0"/>
          </a:xfrm>
          <a:prstGeom prst="line">
            <a:avLst/>
          </a:prstGeom>
          <a:ln w="25400">
            <a:solidFill>
              <a:srgbClr val="000000"/>
            </a:solidFill>
            <a:miter lim="400000"/>
            <a:tailEnd type="triangle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348" name="Line"/>
          <p:cNvSpPr/>
          <p:nvPr/>
        </p:nvSpPr>
        <p:spPr>
          <a:xfrm>
            <a:off x="8795686" y="5360987"/>
            <a:ext cx="1" cy="1021293"/>
          </a:xfrm>
          <a:prstGeom prst="line">
            <a:avLst/>
          </a:prstGeom>
          <a:ln w="25400">
            <a:solidFill>
              <a:srgbClr val="000000"/>
            </a:solidFill>
            <a:miter lim="400000"/>
            <a:tailEnd type="triangle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349" name="Line"/>
          <p:cNvSpPr/>
          <p:nvPr/>
        </p:nvSpPr>
        <p:spPr>
          <a:xfrm>
            <a:off x="9396819" y="5360987"/>
            <a:ext cx="1" cy="1021293"/>
          </a:xfrm>
          <a:prstGeom prst="line">
            <a:avLst/>
          </a:prstGeom>
          <a:ln w="25400">
            <a:solidFill>
              <a:srgbClr val="000000"/>
            </a:solidFill>
            <a:miter lim="400000"/>
            <a:tailEnd type="triangle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350" name="Line"/>
          <p:cNvSpPr/>
          <p:nvPr/>
        </p:nvSpPr>
        <p:spPr>
          <a:xfrm>
            <a:off x="9997953" y="5360987"/>
            <a:ext cx="1" cy="1021293"/>
          </a:xfrm>
          <a:prstGeom prst="line">
            <a:avLst/>
          </a:prstGeom>
          <a:ln w="25400">
            <a:solidFill>
              <a:srgbClr val="000000"/>
            </a:solidFill>
            <a:miter lim="400000"/>
            <a:tailEnd type="triangle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351" name="Line"/>
          <p:cNvSpPr/>
          <p:nvPr/>
        </p:nvSpPr>
        <p:spPr>
          <a:xfrm>
            <a:off x="10599086" y="5360987"/>
            <a:ext cx="1" cy="1021293"/>
          </a:xfrm>
          <a:prstGeom prst="line">
            <a:avLst/>
          </a:prstGeom>
          <a:ln w="25400">
            <a:solidFill>
              <a:srgbClr val="000000"/>
            </a:solidFill>
            <a:miter lim="400000"/>
            <a:tailEnd type="triangle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352" name="Line"/>
          <p:cNvSpPr/>
          <p:nvPr/>
        </p:nvSpPr>
        <p:spPr>
          <a:xfrm flipV="1">
            <a:off x="10576226" y="5505979"/>
            <a:ext cx="831029" cy="1"/>
          </a:xfrm>
          <a:prstGeom prst="line">
            <a:avLst/>
          </a:prstGeom>
          <a:ln w="25400">
            <a:solidFill>
              <a:srgbClr val="000000"/>
            </a:solidFill>
            <a:miter lim="400000"/>
            <a:headEnd type="oval"/>
            <a:tailEnd type="triangle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353" name="Line"/>
          <p:cNvSpPr/>
          <p:nvPr/>
        </p:nvSpPr>
        <p:spPr>
          <a:xfrm>
            <a:off x="9978398" y="5702300"/>
            <a:ext cx="1428857" cy="0"/>
          </a:xfrm>
          <a:prstGeom prst="line">
            <a:avLst/>
          </a:prstGeom>
          <a:ln w="25400">
            <a:solidFill>
              <a:srgbClr val="000000"/>
            </a:solidFill>
            <a:miter lim="400000"/>
            <a:headEnd type="oval"/>
            <a:tailEnd type="triangle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354" name="Line"/>
          <p:cNvSpPr/>
          <p:nvPr/>
        </p:nvSpPr>
        <p:spPr>
          <a:xfrm>
            <a:off x="9380227" y="5898620"/>
            <a:ext cx="2033883" cy="1"/>
          </a:xfrm>
          <a:prstGeom prst="line">
            <a:avLst/>
          </a:prstGeom>
          <a:ln w="25400">
            <a:solidFill>
              <a:srgbClr val="000000"/>
            </a:solidFill>
            <a:miter lim="400000"/>
            <a:headEnd type="oval"/>
            <a:tailEnd type="triangle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355" name="Line"/>
          <p:cNvSpPr/>
          <p:nvPr/>
        </p:nvSpPr>
        <p:spPr>
          <a:xfrm>
            <a:off x="8772596" y="6094941"/>
            <a:ext cx="2641514" cy="1"/>
          </a:xfrm>
          <a:prstGeom prst="line">
            <a:avLst/>
          </a:prstGeom>
          <a:ln w="25400">
            <a:solidFill>
              <a:srgbClr val="000000"/>
            </a:solidFill>
            <a:miter lim="400000"/>
            <a:headEnd type="oval"/>
            <a:tailEnd type="triangle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356" name="out"/>
          <p:cNvSpPr txBox="1"/>
          <p:nvPr/>
        </p:nvSpPr>
        <p:spPr>
          <a:xfrm>
            <a:off x="11541974" y="5448299"/>
            <a:ext cx="679253" cy="584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r>
              <a:t>out</a:t>
            </a:r>
          </a:p>
        </p:txBody>
      </p:sp>
      <p:sp>
        <p:nvSpPr>
          <p:cNvPr id="357" name="16V"/>
          <p:cNvSpPr txBox="1"/>
          <p:nvPr/>
        </p:nvSpPr>
        <p:spPr>
          <a:xfrm>
            <a:off x="9655599" y="7850082"/>
            <a:ext cx="837408" cy="584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r>
              <a:t>16V</a:t>
            </a:r>
          </a:p>
        </p:txBody>
      </p:sp>
      <p:sp>
        <p:nvSpPr>
          <p:cNvPr id="358" name="successive…"/>
          <p:cNvSpPr txBox="1"/>
          <p:nvPr/>
        </p:nvSpPr>
        <p:spPr>
          <a:xfrm>
            <a:off x="8593944" y="2893483"/>
            <a:ext cx="2207922" cy="1168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>
              <a:defRPr sz="2300" b="1"/>
            </a:pPr>
            <a:r>
              <a:t>successive </a:t>
            </a:r>
          </a:p>
          <a:p>
            <a:pPr>
              <a:defRPr sz="2300" b="1"/>
            </a:pPr>
            <a:r>
              <a:t>approximation </a:t>
            </a:r>
          </a:p>
          <a:p>
            <a:pPr>
              <a:defRPr sz="2300" b="1"/>
            </a:pPr>
            <a:r>
              <a:t>register</a:t>
            </a:r>
          </a:p>
        </p:txBody>
      </p:sp>
      <p:graphicFrame>
        <p:nvGraphicFramePr>
          <p:cNvPr id="359" name="Table 1"/>
          <p:cNvGraphicFramePr/>
          <p:nvPr/>
        </p:nvGraphicFramePr>
        <p:xfrm>
          <a:off x="8499795" y="4120091"/>
          <a:ext cx="2396216" cy="1182581"/>
        </p:xfrm>
        <a:graphic>
          <a:graphicData uri="http://schemas.openxmlformats.org/drawingml/2006/table">
            <a:tbl>
              <a:tblPr>
                <a:tableStyleId>{4A9BC294-FFE2-49D5-8D69-9E1BD2C41BD5}</a:tableStyleId>
              </a:tblPr>
              <a:tblGrid>
                <a:gridCol w="59905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9905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9905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9905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182581">
                <a:tc>
                  <a:txBody>
                    <a:bodyPr/>
                    <a:lstStyle/>
                    <a:p>
                      <a:pPr algn="ctr">
                        <a:spcBef>
                          <a:spcPts val="4200"/>
                        </a:spcBef>
                        <a:defRPr sz="3200"/>
                      </a:pPr>
                      <a:r>
                        <a:rPr>
                          <a:solidFill>
                            <a:schemeClr val="accent6">
                              <a:satOff val="-15808"/>
                              <a:lumOff val="-17557"/>
                            </a:schemeClr>
                          </a:solidFill>
                          <a:latin typeface="Courier"/>
                          <a:ea typeface="Courier"/>
                          <a:cs typeface="Courier"/>
                          <a:sym typeface="Courier"/>
                        </a:rPr>
                        <a:t>1</a:t>
                      </a:r>
                    </a:p>
                  </a:txBody>
                  <a:tcPr marL="50800" marR="50800" marT="50800" marB="50800" anchor="ctr" horzOverflow="overflow">
                    <a:lnL w="101600">
                      <a:solidFill>
                        <a:srgbClr val="6E8627"/>
                      </a:solidFill>
                      <a:miter lim="400000"/>
                    </a:lnL>
                    <a:lnR w="101600">
                      <a:solidFill>
                        <a:srgbClr val="6E8627"/>
                      </a:solidFill>
                      <a:miter lim="400000"/>
                    </a:lnR>
                    <a:lnT w="101600">
                      <a:solidFill>
                        <a:srgbClr val="6E8627"/>
                      </a:solidFill>
                      <a:miter lim="400000"/>
                    </a:lnT>
                    <a:lnB w="101600">
                      <a:solidFill>
                        <a:srgbClr val="6E8627"/>
                      </a:solidFill>
                      <a:miter lim="400000"/>
                    </a:lnB>
                    <a:solidFill>
                      <a:schemeClr val="accent3">
                        <a:hueOff val="-274225"/>
                        <a:satOff val="26768"/>
                        <a:lumOff val="11368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4200"/>
                        </a:spcBef>
                        <a:defRPr sz="3200"/>
                      </a:pPr>
                      <a:r>
                        <a:rPr>
                          <a:solidFill>
                            <a:schemeClr val="accent6">
                              <a:satOff val="-15808"/>
                              <a:lumOff val="-17557"/>
                            </a:schemeClr>
                          </a:solidFill>
                          <a:latin typeface="Courier"/>
                          <a:ea typeface="Courier"/>
                          <a:cs typeface="Courier"/>
                          <a:sym typeface="Courier"/>
                        </a:rPr>
                        <a:t>1</a:t>
                      </a:r>
                    </a:p>
                  </a:txBody>
                  <a:tcPr marL="50800" marR="50800" marT="50800" marB="50800" anchor="ctr" horzOverflow="overflow">
                    <a:lnL w="101600">
                      <a:solidFill>
                        <a:srgbClr val="6E8627"/>
                      </a:solidFill>
                      <a:miter lim="400000"/>
                    </a:lnL>
                    <a:lnR w="101600">
                      <a:solidFill>
                        <a:srgbClr val="6E8627"/>
                      </a:solidFill>
                      <a:miter lim="400000"/>
                    </a:lnR>
                    <a:lnT w="101600">
                      <a:solidFill>
                        <a:srgbClr val="6E8627"/>
                      </a:solidFill>
                      <a:miter lim="400000"/>
                    </a:lnT>
                    <a:lnB w="101600">
                      <a:solidFill>
                        <a:srgbClr val="6E8627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4200"/>
                        </a:spcBef>
                        <a:defRPr sz="3200"/>
                      </a:pPr>
                      <a:r>
                        <a:rPr>
                          <a:solidFill>
                            <a:schemeClr val="accent6">
                              <a:satOff val="-15808"/>
                              <a:lumOff val="-17557"/>
                            </a:schemeClr>
                          </a:solidFill>
                          <a:latin typeface="Courier"/>
                          <a:ea typeface="Courier"/>
                          <a:cs typeface="Courier"/>
                          <a:sym typeface="Courier"/>
                        </a:rPr>
                        <a:t>0</a:t>
                      </a:r>
                    </a:p>
                  </a:txBody>
                  <a:tcPr marL="50800" marR="50800" marT="50800" marB="50800" anchor="ctr" horzOverflow="overflow">
                    <a:lnL w="101600">
                      <a:solidFill>
                        <a:srgbClr val="6E8627"/>
                      </a:solidFill>
                      <a:miter lim="400000"/>
                    </a:lnL>
                    <a:lnR w="101600">
                      <a:solidFill>
                        <a:srgbClr val="6E8627"/>
                      </a:solidFill>
                      <a:miter lim="400000"/>
                    </a:lnR>
                    <a:lnT w="101600">
                      <a:solidFill>
                        <a:srgbClr val="6E8627"/>
                      </a:solidFill>
                      <a:miter lim="400000"/>
                    </a:lnT>
                    <a:lnB w="101600">
                      <a:solidFill>
                        <a:srgbClr val="6E8627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4200"/>
                        </a:spcBef>
                        <a:defRPr sz="3200"/>
                      </a:pPr>
                      <a:r>
                        <a:rPr>
                          <a:solidFill>
                            <a:schemeClr val="accent6">
                              <a:satOff val="-15808"/>
                              <a:lumOff val="-17557"/>
                            </a:schemeClr>
                          </a:solidFill>
                          <a:latin typeface="Courier"/>
                          <a:ea typeface="Courier"/>
                          <a:cs typeface="Courier"/>
                          <a:sym typeface="Courier"/>
                        </a:rPr>
                        <a:t>0</a:t>
                      </a:r>
                    </a:p>
                  </a:txBody>
                  <a:tcPr marL="50800" marR="50800" marT="50800" marB="50800" anchor="ctr" horzOverflow="overflow">
                    <a:lnL w="101600">
                      <a:solidFill>
                        <a:srgbClr val="6E8627"/>
                      </a:solidFill>
                      <a:miter lim="400000"/>
                    </a:lnL>
                    <a:lnR w="101600">
                      <a:solidFill>
                        <a:srgbClr val="6E8627"/>
                      </a:solidFill>
                      <a:miter lim="400000"/>
                    </a:lnR>
                    <a:lnT w="101600">
                      <a:solidFill>
                        <a:srgbClr val="6E8627"/>
                      </a:solidFill>
                      <a:miter lim="400000"/>
                    </a:lnT>
                    <a:lnB w="101600">
                      <a:solidFill>
                        <a:srgbClr val="6E8627"/>
                      </a:solidFill>
                      <a:miter lim="400000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60" name="12V"/>
          <p:cNvSpPr txBox="1"/>
          <p:nvPr/>
        </p:nvSpPr>
        <p:spPr>
          <a:xfrm>
            <a:off x="6608629" y="6714066"/>
            <a:ext cx="837408" cy="584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r>
              <a:t>12V</a:t>
            </a:r>
          </a:p>
        </p:txBody>
      </p:sp>
      <p:sp>
        <p:nvSpPr>
          <p:cNvPr id="361" name="9.4V"/>
          <p:cNvSpPr txBox="1"/>
          <p:nvPr/>
        </p:nvSpPr>
        <p:spPr>
          <a:xfrm>
            <a:off x="3951718" y="3909482"/>
            <a:ext cx="950318" cy="584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r>
              <a:t>9.4V</a:t>
            </a:r>
          </a:p>
        </p:txBody>
      </p:sp>
      <p:cxnSp>
        <p:nvCxnSpPr>
          <p:cNvPr id="3" name="Connection Line">
            <a:extLst>
              <a:ext uri="{FF2B5EF4-FFF2-40B4-BE49-F238E27FC236}">
                <a16:creationId xmlns:a16="http://schemas.microsoft.com/office/drawing/2014/main" id="{798081BC-7B6B-6173-9736-6FAD1E6EB621}"/>
              </a:ext>
            </a:extLst>
          </p:cNvPr>
          <p:cNvCxnSpPr>
            <a:cxnSpLocks/>
          </p:cNvCxnSpPr>
          <p:nvPr/>
        </p:nvCxnSpPr>
        <p:spPr>
          <a:xfrm>
            <a:off x="1273480" y="4538134"/>
            <a:ext cx="1203628" cy="0"/>
          </a:xfrm>
          <a:prstGeom prst="straightConnector1">
            <a:avLst/>
          </a:prstGeom>
          <a:ln w="25400">
            <a:solidFill>
              <a:srgbClr val="000000"/>
            </a:solidFill>
            <a:miter lim="400000"/>
            <a:tailEnd type="triangle"/>
          </a:ln>
        </p:spPr>
      </p:cxnSp>
      <p:cxnSp>
        <p:nvCxnSpPr>
          <p:cNvPr id="4" name="Connection Line">
            <a:extLst>
              <a:ext uri="{FF2B5EF4-FFF2-40B4-BE49-F238E27FC236}">
                <a16:creationId xmlns:a16="http://schemas.microsoft.com/office/drawing/2014/main" id="{812A29E7-F421-B631-7FC0-5695B7DEFEEC}"/>
              </a:ext>
            </a:extLst>
          </p:cNvPr>
          <p:cNvCxnSpPr>
            <a:cxnSpLocks/>
          </p:cNvCxnSpPr>
          <p:nvPr/>
        </p:nvCxnSpPr>
        <p:spPr>
          <a:xfrm flipV="1">
            <a:off x="9697905" y="7641167"/>
            <a:ext cx="0" cy="797876"/>
          </a:xfrm>
          <a:prstGeom prst="straightConnector1">
            <a:avLst/>
          </a:prstGeom>
          <a:ln w="25400">
            <a:solidFill>
              <a:srgbClr val="000000"/>
            </a:solidFill>
            <a:miter lim="400000"/>
            <a:tailEnd type="triangle"/>
          </a:ln>
        </p:spPr>
      </p:cxnSp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3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0" grpId="1" animBg="1" advAuto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ADC using SAR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ADC using SAR</a:t>
            </a:r>
          </a:p>
        </p:txBody>
      </p:sp>
      <p:sp>
        <p:nvSpPr>
          <p:cNvPr id="367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rPr/>
              <a:t>12</a:t>
            </a:fld>
            <a:endParaRPr/>
          </a:p>
        </p:txBody>
      </p:sp>
      <p:sp>
        <p:nvSpPr>
          <p:cNvPr id="368" name="control logic"/>
          <p:cNvSpPr/>
          <p:nvPr/>
        </p:nvSpPr>
        <p:spPr>
          <a:xfrm>
            <a:off x="6561666" y="4076700"/>
            <a:ext cx="1270001" cy="1270000"/>
          </a:xfrm>
          <a:prstGeom prst="rect">
            <a:avLst/>
          </a:prstGeom>
          <a:solidFill>
            <a:srgbClr val="6E8627"/>
          </a:solidFill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>
              <a:defRPr sz="2400" b="1">
                <a:solidFill>
                  <a:srgbClr val="FFFFFF"/>
                </a:solidFill>
              </a:defRPr>
            </a:lvl1pPr>
          </a:lstStyle>
          <a:p>
            <a:r>
              <a:t>control logic</a:t>
            </a:r>
          </a:p>
        </p:txBody>
      </p:sp>
      <p:grpSp>
        <p:nvGrpSpPr>
          <p:cNvPr id="372" name="Group"/>
          <p:cNvGrpSpPr/>
          <p:nvPr/>
        </p:nvGrpSpPr>
        <p:grpSpPr>
          <a:xfrm>
            <a:off x="4955249" y="4158191"/>
            <a:ext cx="1467843" cy="1970585"/>
            <a:chOff x="0" y="0"/>
            <a:chExt cx="1467842" cy="1970583"/>
          </a:xfrm>
        </p:grpSpPr>
        <p:sp>
          <p:nvSpPr>
            <p:cNvPr id="369" name="Triangle"/>
            <p:cNvSpPr/>
            <p:nvPr/>
          </p:nvSpPr>
          <p:spPr>
            <a:xfrm rot="5400000">
              <a:off x="-33933" y="33932"/>
              <a:ext cx="1107017" cy="103915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0800" y="0"/>
                  </a:move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solidFill>
              <a:srgbClr val="6E8627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 sz="2100" b="1"/>
              </a:pPr>
              <a:endParaRPr/>
            </a:p>
          </p:txBody>
        </p:sp>
        <p:sp>
          <p:nvSpPr>
            <p:cNvPr id="370" name="+"/>
            <p:cNvSpPr/>
            <p:nvPr/>
          </p:nvSpPr>
          <p:spPr>
            <a:xfrm>
              <a:off x="185142" y="319583"/>
              <a:ext cx="1270001" cy="1270001"/>
            </a:xfrm>
            <a:prstGeom prst="line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b="1">
                  <a:solidFill>
                    <a:srgbClr val="FFFFFF"/>
                  </a:solidFill>
                </a:defRPr>
              </a:lvl1pPr>
            </a:lstStyle>
            <a:p>
              <a:r>
                <a:t>+</a:t>
              </a:r>
            </a:p>
          </p:txBody>
        </p:sp>
        <p:sp>
          <p:nvSpPr>
            <p:cNvPr id="371" name="-"/>
            <p:cNvSpPr/>
            <p:nvPr/>
          </p:nvSpPr>
          <p:spPr>
            <a:xfrm>
              <a:off x="197842" y="700583"/>
              <a:ext cx="1270001" cy="1270001"/>
            </a:xfrm>
            <a:prstGeom prst="line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b="1">
                  <a:solidFill>
                    <a:srgbClr val="FFFFFF"/>
                  </a:solidFill>
                </a:defRPr>
              </a:lvl1pPr>
            </a:lstStyle>
            <a:p>
              <a:r>
                <a:t>-</a:t>
              </a:r>
            </a:p>
          </p:txBody>
        </p:sp>
      </p:grpSp>
      <p:sp>
        <p:nvSpPr>
          <p:cNvPr id="373" name="sample &amp; hold"/>
          <p:cNvSpPr/>
          <p:nvPr/>
        </p:nvSpPr>
        <p:spPr>
          <a:xfrm>
            <a:off x="2477108" y="3903133"/>
            <a:ext cx="1270001" cy="1270001"/>
          </a:xfrm>
          <a:prstGeom prst="rect">
            <a:avLst/>
          </a:prstGeom>
          <a:solidFill>
            <a:srgbClr val="6E8627"/>
          </a:solidFill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>
              <a:defRPr sz="2400" b="1">
                <a:solidFill>
                  <a:srgbClr val="FFFFFF"/>
                </a:solidFill>
              </a:defRPr>
            </a:lvl1pPr>
          </a:lstStyle>
          <a:p>
            <a:r>
              <a:t>sample &amp; hold</a:t>
            </a:r>
          </a:p>
        </p:txBody>
      </p:sp>
      <p:sp>
        <p:nvSpPr>
          <p:cNvPr id="374" name="DAC"/>
          <p:cNvSpPr/>
          <p:nvPr/>
        </p:nvSpPr>
        <p:spPr>
          <a:xfrm>
            <a:off x="8398933" y="6371166"/>
            <a:ext cx="2597944" cy="1270001"/>
          </a:xfrm>
          <a:prstGeom prst="rect">
            <a:avLst/>
          </a:prstGeom>
          <a:solidFill>
            <a:srgbClr val="6E8627"/>
          </a:solidFill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>
              <a:defRPr sz="2400" b="1">
                <a:solidFill>
                  <a:srgbClr val="FFFFFF"/>
                </a:solidFill>
              </a:defRPr>
            </a:lvl1pPr>
          </a:lstStyle>
          <a:p>
            <a:r>
              <a:t>DAC</a:t>
            </a:r>
          </a:p>
        </p:txBody>
      </p:sp>
      <p:sp>
        <p:nvSpPr>
          <p:cNvPr id="375" name="Vin"/>
          <p:cNvSpPr txBox="1"/>
          <p:nvPr/>
        </p:nvSpPr>
        <p:spPr>
          <a:xfrm>
            <a:off x="677240" y="4246033"/>
            <a:ext cx="596240" cy="584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r>
              <a:t>V</a:t>
            </a:r>
            <a:r>
              <a:rPr baseline="-5999"/>
              <a:t>in</a:t>
            </a:r>
          </a:p>
        </p:txBody>
      </p:sp>
      <p:sp>
        <p:nvSpPr>
          <p:cNvPr id="376" name="VDAC"/>
          <p:cNvSpPr txBox="1"/>
          <p:nvPr/>
        </p:nvSpPr>
        <p:spPr>
          <a:xfrm>
            <a:off x="6548635" y="6201833"/>
            <a:ext cx="957396" cy="584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r>
              <a:t>V</a:t>
            </a:r>
            <a:r>
              <a:rPr baseline="-5999"/>
              <a:t>DAC</a:t>
            </a:r>
          </a:p>
        </p:txBody>
      </p:sp>
      <p:sp>
        <p:nvSpPr>
          <p:cNvPr id="377" name="Vref"/>
          <p:cNvSpPr txBox="1"/>
          <p:nvPr/>
        </p:nvSpPr>
        <p:spPr>
          <a:xfrm>
            <a:off x="9347133" y="8439043"/>
            <a:ext cx="701544" cy="584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r>
              <a:t>V</a:t>
            </a:r>
            <a:r>
              <a:rPr baseline="-5999"/>
              <a:t>ref</a:t>
            </a:r>
          </a:p>
        </p:txBody>
      </p:sp>
      <p:sp>
        <p:nvSpPr>
          <p:cNvPr id="400" name="Connection Line"/>
          <p:cNvSpPr/>
          <p:nvPr/>
        </p:nvSpPr>
        <p:spPr>
          <a:xfrm>
            <a:off x="7831666" y="4713042"/>
            <a:ext cx="604630" cy="127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ln w="25400">
            <a:solidFill>
              <a:srgbClr val="000000"/>
            </a:solidFill>
            <a:miter lim="400000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401" name="Connection Line"/>
          <p:cNvSpPr/>
          <p:nvPr/>
        </p:nvSpPr>
        <p:spPr>
          <a:xfrm>
            <a:off x="5993957" y="4711699"/>
            <a:ext cx="567710" cy="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ln w="25400">
            <a:solidFill>
              <a:srgbClr val="000000"/>
            </a:solidFill>
            <a:miter lim="400000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402" name="Connection Line"/>
          <p:cNvSpPr/>
          <p:nvPr/>
        </p:nvSpPr>
        <p:spPr>
          <a:xfrm>
            <a:off x="3747108" y="4517958"/>
            <a:ext cx="1200601" cy="1319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lnTo>
                  <a:pt x="21600" y="0"/>
                </a:lnTo>
              </a:path>
            </a:pathLst>
          </a:custGeom>
          <a:ln w="25400">
            <a:solidFill>
              <a:srgbClr val="000000"/>
            </a:solidFill>
            <a:miter lim="400000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383" name="Line"/>
          <p:cNvSpPr/>
          <p:nvPr/>
        </p:nvSpPr>
        <p:spPr>
          <a:xfrm>
            <a:off x="4618566" y="6731000"/>
            <a:ext cx="3767668" cy="0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384" name="Line"/>
          <p:cNvSpPr/>
          <p:nvPr/>
        </p:nvSpPr>
        <p:spPr>
          <a:xfrm>
            <a:off x="4615258" y="4894283"/>
            <a:ext cx="1" cy="1840951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385" name="Line"/>
          <p:cNvSpPr/>
          <p:nvPr/>
        </p:nvSpPr>
        <p:spPr>
          <a:xfrm>
            <a:off x="4608919" y="4889500"/>
            <a:ext cx="350521" cy="0"/>
          </a:xfrm>
          <a:prstGeom prst="line">
            <a:avLst/>
          </a:prstGeom>
          <a:ln w="25400">
            <a:solidFill>
              <a:srgbClr val="000000"/>
            </a:solidFill>
            <a:miter lim="400000"/>
            <a:tailEnd type="triangle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386" name="Line"/>
          <p:cNvSpPr/>
          <p:nvPr/>
        </p:nvSpPr>
        <p:spPr>
          <a:xfrm>
            <a:off x="8795686" y="5360987"/>
            <a:ext cx="1" cy="1021293"/>
          </a:xfrm>
          <a:prstGeom prst="line">
            <a:avLst/>
          </a:prstGeom>
          <a:ln w="25400">
            <a:solidFill>
              <a:srgbClr val="000000"/>
            </a:solidFill>
            <a:miter lim="400000"/>
            <a:tailEnd type="triangle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387" name="Line"/>
          <p:cNvSpPr/>
          <p:nvPr/>
        </p:nvSpPr>
        <p:spPr>
          <a:xfrm>
            <a:off x="9396819" y="5360987"/>
            <a:ext cx="1" cy="1021293"/>
          </a:xfrm>
          <a:prstGeom prst="line">
            <a:avLst/>
          </a:prstGeom>
          <a:ln w="25400">
            <a:solidFill>
              <a:srgbClr val="000000"/>
            </a:solidFill>
            <a:miter lim="400000"/>
            <a:tailEnd type="triangle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388" name="Line"/>
          <p:cNvSpPr/>
          <p:nvPr/>
        </p:nvSpPr>
        <p:spPr>
          <a:xfrm>
            <a:off x="9997953" y="5360987"/>
            <a:ext cx="1" cy="1021293"/>
          </a:xfrm>
          <a:prstGeom prst="line">
            <a:avLst/>
          </a:prstGeom>
          <a:ln w="25400">
            <a:solidFill>
              <a:srgbClr val="000000"/>
            </a:solidFill>
            <a:miter lim="400000"/>
            <a:tailEnd type="triangle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389" name="Line"/>
          <p:cNvSpPr/>
          <p:nvPr/>
        </p:nvSpPr>
        <p:spPr>
          <a:xfrm>
            <a:off x="10599086" y="5360987"/>
            <a:ext cx="1" cy="1021293"/>
          </a:xfrm>
          <a:prstGeom prst="line">
            <a:avLst/>
          </a:prstGeom>
          <a:ln w="25400">
            <a:solidFill>
              <a:srgbClr val="000000"/>
            </a:solidFill>
            <a:miter lim="400000"/>
            <a:tailEnd type="triangle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390" name="Line"/>
          <p:cNvSpPr/>
          <p:nvPr/>
        </p:nvSpPr>
        <p:spPr>
          <a:xfrm flipV="1">
            <a:off x="10576226" y="5505979"/>
            <a:ext cx="831029" cy="1"/>
          </a:xfrm>
          <a:prstGeom prst="line">
            <a:avLst/>
          </a:prstGeom>
          <a:ln w="25400">
            <a:solidFill>
              <a:srgbClr val="000000"/>
            </a:solidFill>
            <a:miter lim="400000"/>
            <a:headEnd type="oval"/>
            <a:tailEnd type="triangle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391" name="Line"/>
          <p:cNvSpPr/>
          <p:nvPr/>
        </p:nvSpPr>
        <p:spPr>
          <a:xfrm>
            <a:off x="9978398" y="5702300"/>
            <a:ext cx="1428857" cy="0"/>
          </a:xfrm>
          <a:prstGeom prst="line">
            <a:avLst/>
          </a:prstGeom>
          <a:ln w="25400">
            <a:solidFill>
              <a:srgbClr val="000000"/>
            </a:solidFill>
            <a:miter lim="400000"/>
            <a:headEnd type="oval"/>
            <a:tailEnd type="triangle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392" name="Line"/>
          <p:cNvSpPr/>
          <p:nvPr/>
        </p:nvSpPr>
        <p:spPr>
          <a:xfrm>
            <a:off x="9380227" y="5898620"/>
            <a:ext cx="2033883" cy="1"/>
          </a:xfrm>
          <a:prstGeom prst="line">
            <a:avLst/>
          </a:prstGeom>
          <a:ln w="25400">
            <a:solidFill>
              <a:srgbClr val="000000"/>
            </a:solidFill>
            <a:miter lim="400000"/>
            <a:headEnd type="oval"/>
            <a:tailEnd type="triangle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393" name="Line"/>
          <p:cNvSpPr/>
          <p:nvPr/>
        </p:nvSpPr>
        <p:spPr>
          <a:xfrm>
            <a:off x="8772596" y="6094941"/>
            <a:ext cx="2641514" cy="1"/>
          </a:xfrm>
          <a:prstGeom prst="line">
            <a:avLst/>
          </a:prstGeom>
          <a:ln w="25400">
            <a:solidFill>
              <a:srgbClr val="000000"/>
            </a:solidFill>
            <a:miter lim="400000"/>
            <a:headEnd type="oval"/>
            <a:tailEnd type="triangle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394" name="out"/>
          <p:cNvSpPr txBox="1"/>
          <p:nvPr/>
        </p:nvSpPr>
        <p:spPr>
          <a:xfrm>
            <a:off x="11541974" y="5448299"/>
            <a:ext cx="679253" cy="584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r>
              <a:t>out</a:t>
            </a:r>
          </a:p>
        </p:txBody>
      </p:sp>
      <p:sp>
        <p:nvSpPr>
          <p:cNvPr id="395" name="16V"/>
          <p:cNvSpPr txBox="1"/>
          <p:nvPr/>
        </p:nvSpPr>
        <p:spPr>
          <a:xfrm>
            <a:off x="9655599" y="7850082"/>
            <a:ext cx="837408" cy="584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r>
              <a:t>16V</a:t>
            </a:r>
          </a:p>
        </p:txBody>
      </p:sp>
      <p:sp>
        <p:nvSpPr>
          <p:cNvPr id="396" name="successive…"/>
          <p:cNvSpPr txBox="1"/>
          <p:nvPr/>
        </p:nvSpPr>
        <p:spPr>
          <a:xfrm>
            <a:off x="8593944" y="2893483"/>
            <a:ext cx="2207922" cy="1168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>
              <a:defRPr sz="2300" b="1"/>
            </a:pPr>
            <a:r>
              <a:t>successive </a:t>
            </a:r>
          </a:p>
          <a:p>
            <a:pPr>
              <a:defRPr sz="2300" b="1"/>
            </a:pPr>
            <a:r>
              <a:t>approximation </a:t>
            </a:r>
          </a:p>
          <a:p>
            <a:pPr>
              <a:defRPr sz="2300" b="1"/>
            </a:pPr>
            <a:r>
              <a:t>register</a:t>
            </a:r>
          </a:p>
        </p:txBody>
      </p:sp>
      <p:graphicFrame>
        <p:nvGraphicFramePr>
          <p:cNvPr id="397" name="Table 1"/>
          <p:cNvGraphicFramePr/>
          <p:nvPr/>
        </p:nvGraphicFramePr>
        <p:xfrm>
          <a:off x="8499795" y="4120091"/>
          <a:ext cx="2396216" cy="1182581"/>
        </p:xfrm>
        <a:graphic>
          <a:graphicData uri="http://schemas.openxmlformats.org/drawingml/2006/table">
            <a:tbl>
              <a:tblPr>
                <a:tableStyleId>{4A9BC294-FFE2-49D5-8D69-9E1BD2C41BD5}</a:tableStyleId>
              </a:tblPr>
              <a:tblGrid>
                <a:gridCol w="59905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9905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9905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9905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182581">
                <a:tc>
                  <a:txBody>
                    <a:bodyPr/>
                    <a:lstStyle/>
                    <a:p>
                      <a:pPr algn="ctr">
                        <a:spcBef>
                          <a:spcPts val="4200"/>
                        </a:spcBef>
                        <a:defRPr sz="3200"/>
                      </a:pPr>
                      <a:r>
                        <a:rPr>
                          <a:solidFill>
                            <a:schemeClr val="accent6">
                              <a:satOff val="-15808"/>
                              <a:lumOff val="-17557"/>
                            </a:schemeClr>
                          </a:solidFill>
                          <a:latin typeface="Courier"/>
                          <a:ea typeface="Courier"/>
                          <a:cs typeface="Courier"/>
                          <a:sym typeface="Courier"/>
                        </a:rPr>
                        <a:t>1</a:t>
                      </a:r>
                    </a:p>
                  </a:txBody>
                  <a:tcPr marL="50800" marR="50800" marT="50800" marB="50800" anchor="ctr" horzOverflow="overflow">
                    <a:lnL w="101600">
                      <a:solidFill>
                        <a:srgbClr val="6E8627"/>
                      </a:solidFill>
                      <a:miter lim="400000"/>
                    </a:lnL>
                    <a:lnR w="101600">
                      <a:solidFill>
                        <a:srgbClr val="6E8627"/>
                      </a:solidFill>
                      <a:miter lim="400000"/>
                    </a:lnR>
                    <a:lnT w="101600">
                      <a:solidFill>
                        <a:srgbClr val="6E8627"/>
                      </a:solidFill>
                      <a:miter lim="400000"/>
                    </a:lnT>
                    <a:lnB w="101600">
                      <a:solidFill>
                        <a:srgbClr val="6E8627"/>
                      </a:solidFill>
                      <a:miter lim="400000"/>
                    </a:lnB>
                    <a:solidFill>
                      <a:schemeClr val="accent3">
                        <a:hueOff val="-274225"/>
                        <a:satOff val="26768"/>
                        <a:lumOff val="11368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4200"/>
                        </a:spcBef>
                        <a:defRPr sz="3200"/>
                      </a:pPr>
                      <a:r>
                        <a:rPr>
                          <a:solidFill>
                            <a:schemeClr val="accent6">
                              <a:satOff val="-15808"/>
                              <a:lumOff val="-17557"/>
                            </a:schemeClr>
                          </a:solidFill>
                          <a:latin typeface="Courier"/>
                          <a:ea typeface="Courier"/>
                          <a:cs typeface="Courier"/>
                          <a:sym typeface="Courier"/>
                        </a:rPr>
                        <a:t>0</a:t>
                      </a:r>
                    </a:p>
                  </a:txBody>
                  <a:tcPr marL="50800" marR="50800" marT="50800" marB="50800" anchor="ctr" horzOverflow="overflow">
                    <a:lnL w="101600">
                      <a:solidFill>
                        <a:srgbClr val="6E8627"/>
                      </a:solidFill>
                      <a:miter lim="400000"/>
                    </a:lnL>
                    <a:lnR w="101600">
                      <a:solidFill>
                        <a:srgbClr val="6E8627"/>
                      </a:solidFill>
                      <a:miter lim="400000"/>
                    </a:lnR>
                    <a:lnT w="101600">
                      <a:solidFill>
                        <a:srgbClr val="6E8627"/>
                      </a:solidFill>
                      <a:miter lim="400000"/>
                    </a:lnT>
                    <a:lnB w="101600">
                      <a:solidFill>
                        <a:srgbClr val="6E8627"/>
                      </a:solidFill>
                      <a:miter lim="400000"/>
                    </a:lnB>
                    <a:solidFill>
                      <a:schemeClr val="accent3">
                        <a:hueOff val="-274225"/>
                        <a:satOff val="26768"/>
                        <a:lumOff val="11368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4200"/>
                        </a:spcBef>
                        <a:defRPr sz="3200"/>
                      </a:pPr>
                      <a:r>
                        <a:rPr>
                          <a:solidFill>
                            <a:schemeClr val="accent6">
                              <a:satOff val="-15808"/>
                              <a:lumOff val="-17557"/>
                            </a:schemeClr>
                          </a:solidFill>
                          <a:latin typeface="Courier"/>
                          <a:ea typeface="Courier"/>
                          <a:cs typeface="Courier"/>
                          <a:sym typeface="Courier"/>
                        </a:rPr>
                        <a:t>1</a:t>
                      </a:r>
                    </a:p>
                  </a:txBody>
                  <a:tcPr marL="50800" marR="50800" marT="50800" marB="50800" anchor="ctr" horzOverflow="overflow">
                    <a:lnL w="101600">
                      <a:solidFill>
                        <a:srgbClr val="6E8627"/>
                      </a:solidFill>
                      <a:miter lim="400000"/>
                    </a:lnL>
                    <a:lnR w="101600">
                      <a:solidFill>
                        <a:srgbClr val="6E8627"/>
                      </a:solidFill>
                      <a:miter lim="400000"/>
                    </a:lnR>
                    <a:lnT w="101600">
                      <a:solidFill>
                        <a:srgbClr val="6E8627"/>
                      </a:solidFill>
                      <a:miter lim="400000"/>
                    </a:lnT>
                    <a:lnB w="101600">
                      <a:solidFill>
                        <a:srgbClr val="6E8627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4200"/>
                        </a:spcBef>
                        <a:defRPr sz="3200"/>
                      </a:pPr>
                      <a:r>
                        <a:rPr>
                          <a:solidFill>
                            <a:schemeClr val="accent6">
                              <a:satOff val="-15808"/>
                              <a:lumOff val="-17557"/>
                            </a:schemeClr>
                          </a:solidFill>
                          <a:latin typeface="Courier"/>
                          <a:ea typeface="Courier"/>
                          <a:cs typeface="Courier"/>
                          <a:sym typeface="Courier"/>
                        </a:rPr>
                        <a:t>0</a:t>
                      </a:r>
                    </a:p>
                  </a:txBody>
                  <a:tcPr marL="50800" marR="50800" marT="50800" marB="50800" anchor="ctr" horzOverflow="overflow">
                    <a:lnL w="101600">
                      <a:solidFill>
                        <a:srgbClr val="6E8627"/>
                      </a:solidFill>
                      <a:miter lim="400000"/>
                    </a:lnL>
                    <a:lnR w="101600">
                      <a:solidFill>
                        <a:srgbClr val="6E8627"/>
                      </a:solidFill>
                      <a:miter lim="400000"/>
                    </a:lnR>
                    <a:lnT w="101600">
                      <a:solidFill>
                        <a:srgbClr val="6E8627"/>
                      </a:solidFill>
                      <a:miter lim="400000"/>
                    </a:lnT>
                    <a:lnB w="101600">
                      <a:solidFill>
                        <a:srgbClr val="6E8627"/>
                      </a:solidFill>
                      <a:miter lim="400000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98" name="10V"/>
          <p:cNvSpPr txBox="1"/>
          <p:nvPr/>
        </p:nvSpPr>
        <p:spPr>
          <a:xfrm>
            <a:off x="6608629" y="6714066"/>
            <a:ext cx="837408" cy="584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r>
              <a:t>10V</a:t>
            </a:r>
          </a:p>
        </p:txBody>
      </p:sp>
      <p:sp>
        <p:nvSpPr>
          <p:cNvPr id="399" name="9.4V"/>
          <p:cNvSpPr txBox="1"/>
          <p:nvPr/>
        </p:nvSpPr>
        <p:spPr>
          <a:xfrm>
            <a:off x="3951718" y="3909482"/>
            <a:ext cx="950318" cy="584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r>
              <a:t>9.4V</a:t>
            </a:r>
          </a:p>
        </p:txBody>
      </p:sp>
      <p:cxnSp>
        <p:nvCxnSpPr>
          <p:cNvPr id="2" name="Connection Line">
            <a:extLst>
              <a:ext uri="{FF2B5EF4-FFF2-40B4-BE49-F238E27FC236}">
                <a16:creationId xmlns:a16="http://schemas.microsoft.com/office/drawing/2014/main" id="{0E3C65C4-F966-6434-9529-BF5EFD47CB14}"/>
              </a:ext>
            </a:extLst>
          </p:cNvPr>
          <p:cNvCxnSpPr>
            <a:cxnSpLocks/>
          </p:cNvCxnSpPr>
          <p:nvPr/>
        </p:nvCxnSpPr>
        <p:spPr>
          <a:xfrm>
            <a:off x="1273480" y="4538134"/>
            <a:ext cx="1203628" cy="0"/>
          </a:xfrm>
          <a:prstGeom prst="straightConnector1">
            <a:avLst/>
          </a:prstGeom>
          <a:ln w="25400">
            <a:solidFill>
              <a:srgbClr val="000000"/>
            </a:solidFill>
            <a:miter lim="400000"/>
            <a:tailEnd type="triangle"/>
          </a:ln>
        </p:spPr>
      </p:cxnSp>
      <p:cxnSp>
        <p:nvCxnSpPr>
          <p:cNvPr id="3" name="Connection Line">
            <a:extLst>
              <a:ext uri="{FF2B5EF4-FFF2-40B4-BE49-F238E27FC236}">
                <a16:creationId xmlns:a16="http://schemas.microsoft.com/office/drawing/2014/main" id="{8D5DA397-F58B-CE8D-AB32-41F41059BEEE}"/>
              </a:ext>
            </a:extLst>
          </p:cNvPr>
          <p:cNvCxnSpPr>
            <a:cxnSpLocks/>
          </p:cNvCxnSpPr>
          <p:nvPr/>
        </p:nvCxnSpPr>
        <p:spPr>
          <a:xfrm flipV="1">
            <a:off x="9697905" y="7641167"/>
            <a:ext cx="0" cy="797876"/>
          </a:xfrm>
          <a:prstGeom prst="straightConnector1">
            <a:avLst/>
          </a:prstGeom>
          <a:ln w="25400">
            <a:solidFill>
              <a:srgbClr val="000000"/>
            </a:solidFill>
            <a:miter lim="400000"/>
            <a:tailEnd type="triangle"/>
          </a:ln>
        </p:spPr>
      </p:cxnSp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3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8" grpId="1" animBg="1" advAuto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ADC using SAR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ADC using SAR</a:t>
            </a:r>
          </a:p>
        </p:txBody>
      </p:sp>
      <p:sp>
        <p:nvSpPr>
          <p:cNvPr id="40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rPr/>
              <a:t>13</a:t>
            </a:fld>
            <a:endParaRPr/>
          </a:p>
        </p:txBody>
      </p:sp>
      <p:sp>
        <p:nvSpPr>
          <p:cNvPr id="406" name="control logic"/>
          <p:cNvSpPr/>
          <p:nvPr/>
        </p:nvSpPr>
        <p:spPr>
          <a:xfrm>
            <a:off x="6561666" y="4076700"/>
            <a:ext cx="1270001" cy="1270000"/>
          </a:xfrm>
          <a:prstGeom prst="rect">
            <a:avLst/>
          </a:prstGeom>
          <a:solidFill>
            <a:srgbClr val="6E8627"/>
          </a:solidFill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>
              <a:defRPr sz="2400" b="1">
                <a:solidFill>
                  <a:srgbClr val="FFFFFF"/>
                </a:solidFill>
              </a:defRPr>
            </a:lvl1pPr>
          </a:lstStyle>
          <a:p>
            <a:r>
              <a:t>control logic</a:t>
            </a:r>
          </a:p>
        </p:txBody>
      </p:sp>
      <p:grpSp>
        <p:nvGrpSpPr>
          <p:cNvPr id="410" name="Group"/>
          <p:cNvGrpSpPr/>
          <p:nvPr/>
        </p:nvGrpSpPr>
        <p:grpSpPr>
          <a:xfrm>
            <a:off x="4955249" y="4158191"/>
            <a:ext cx="1467843" cy="1970585"/>
            <a:chOff x="0" y="0"/>
            <a:chExt cx="1467842" cy="1970583"/>
          </a:xfrm>
        </p:grpSpPr>
        <p:sp>
          <p:nvSpPr>
            <p:cNvPr id="407" name="Triangle"/>
            <p:cNvSpPr/>
            <p:nvPr/>
          </p:nvSpPr>
          <p:spPr>
            <a:xfrm rot="5400000">
              <a:off x="-33933" y="33932"/>
              <a:ext cx="1107017" cy="103915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0800" y="0"/>
                  </a:move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solidFill>
              <a:srgbClr val="6E8627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 sz="2100" b="1"/>
              </a:pPr>
              <a:endParaRPr/>
            </a:p>
          </p:txBody>
        </p:sp>
        <p:sp>
          <p:nvSpPr>
            <p:cNvPr id="408" name="+"/>
            <p:cNvSpPr/>
            <p:nvPr/>
          </p:nvSpPr>
          <p:spPr>
            <a:xfrm>
              <a:off x="185142" y="319583"/>
              <a:ext cx="1270001" cy="1270001"/>
            </a:xfrm>
            <a:prstGeom prst="line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b="1">
                  <a:solidFill>
                    <a:srgbClr val="FFFFFF"/>
                  </a:solidFill>
                </a:defRPr>
              </a:lvl1pPr>
            </a:lstStyle>
            <a:p>
              <a:r>
                <a:t>+</a:t>
              </a:r>
            </a:p>
          </p:txBody>
        </p:sp>
        <p:sp>
          <p:nvSpPr>
            <p:cNvPr id="409" name="-"/>
            <p:cNvSpPr/>
            <p:nvPr/>
          </p:nvSpPr>
          <p:spPr>
            <a:xfrm>
              <a:off x="197842" y="700583"/>
              <a:ext cx="1270001" cy="1270001"/>
            </a:xfrm>
            <a:prstGeom prst="line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b="1">
                  <a:solidFill>
                    <a:srgbClr val="FFFFFF"/>
                  </a:solidFill>
                </a:defRPr>
              </a:lvl1pPr>
            </a:lstStyle>
            <a:p>
              <a:r>
                <a:t>-</a:t>
              </a:r>
            </a:p>
          </p:txBody>
        </p:sp>
      </p:grpSp>
      <p:sp>
        <p:nvSpPr>
          <p:cNvPr id="411" name="sample &amp; hold"/>
          <p:cNvSpPr/>
          <p:nvPr/>
        </p:nvSpPr>
        <p:spPr>
          <a:xfrm>
            <a:off x="2477108" y="3903133"/>
            <a:ext cx="1270001" cy="1270001"/>
          </a:xfrm>
          <a:prstGeom prst="rect">
            <a:avLst/>
          </a:prstGeom>
          <a:solidFill>
            <a:srgbClr val="6E8627"/>
          </a:solidFill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>
              <a:defRPr sz="2400" b="1">
                <a:solidFill>
                  <a:srgbClr val="FFFFFF"/>
                </a:solidFill>
              </a:defRPr>
            </a:lvl1pPr>
          </a:lstStyle>
          <a:p>
            <a:r>
              <a:t>sample &amp; hold</a:t>
            </a:r>
          </a:p>
        </p:txBody>
      </p:sp>
      <p:sp>
        <p:nvSpPr>
          <p:cNvPr id="412" name="DAC"/>
          <p:cNvSpPr/>
          <p:nvPr/>
        </p:nvSpPr>
        <p:spPr>
          <a:xfrm>
            <a:off x="8398933" y="6371166"/>
            <a:ext cx="2597944" cy="1270001"/>
          </a:xfrm>
          <a:prstGeom prst="rect">
            <a:avLst/>
          </a:prstGeom>
          <a:solidFill>
            <a:srgbClr val="6E8627"/>
          </a:solidFill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>
              <a:defRPr sz="2400" b="1">
                <a:solidFill>
                  <a:srgbClr val="FFFFFF"/>
                </a:solidFill>
              </a:defRPr>
            </a:lvl1pPr>
          </a:lstStyle>
          <a:p>
            <a:r>
              <a:t>DAC</a:t>
            </a:r>
          </a:p>
        </p:txBody>
      </p:sp>
      <p:sp>
        <p:nvSpPr>
          <p:cNvPr id="413" name="Vin"/>
          <p:cNvSpPr txBox="1"/>
          <p:nvPr/>
        </p:nvSpPr>
        <p:spPr>
          <a:xfrm>
            <a:off x="677240" y="4246033"/>
            <a:ext cx="596240" cy="584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r>
              <a:t>V</a:t>
            </a:r>
            <a:r>
              <a:rPr baseline="-5999"/>
              <a:t>in</a:t>
            </a:r>
          </a:p>
        </p:txBody>
      </p:sp>
      <p:sp>
        <p:nvSpPr>
          <p:cNvPr id="414" name="VDAC"/>
          <p:cNvSpPr txBox="1"/>
          <p:nvPr/>
        </p:nvSpPr>
        <p:spPr>
          <a:xfrm>
            <a:off x="6548635" y="6201833"/>
            <a:ext cx="957396" cy="584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r>
              <a:t>V</a:t>
            </a:r>
            <a:r>
              <a:rPr baseline="-5999"/>
              <a:t>DAC</a:t>
            </a:r>
          </a:p>
        </p:txBody>
      </p:sp>
      <p:sp>
        <p:nvSpPr>
          <p:cNvPr id="415" name="Vref"/>
          <p:cNvSpPr txBox="1"/>
          <p:nvPr/>
        </p:nvSpPr>
        <p:spPr>
          <a:xfrm>
            <a:off x="9347133" y="8439043"/>
            <a:ext cx="701544" cy="584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r>
              <a:t>V</a:t>
            </a:r>
            <a:r>
              <a:rPr baseline="-5999"/>
              <a:t>ref</a:t>
            </a:r>
          </a:p>
        </p:txBody>
      </p:sp>
      <p:sp>
        <p:nvSpPr>
          <p:cNvPr id="438" name="Connection Line"/>
          <p:cNvSpPr/>
          <p:nvPr/>
        </p:nvSpPr>
        <p:spPr>
          <a:xfrm>
            <a:off x="7831666" y="4713042"/>
            <a:ext cx="604630" cy="127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ln w="25400">
            <a:solidFill>
              <a:srgbClr val="000000"/>
            </a:solidFill>
            <a:miter lim="400000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439" name="Connection Line"/>
          <p:cNvSpPr/>
          <p:nvPr/>
        </p:nvSpPr>
        <p:spPr>
          <a:xfrm>
            <a:off x="5993957" y="4711699"/>
            <a:ext cx="567710" cy="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ln w="25400">
            <a:solidFill>
              <a:srgbClr val="000000"/>
            </a:solidFill>
            <a:miter lim="400000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440" name="Connection Line"/>
          <p:cNvSpPr/>
          <p:nvPr/>
        </p:nvSpPr>
        <p:spPr>
          <a:xfrm>
            <a:off x="3747108" y="4517958"/>
            <a:ext cx="1200601" cy="1319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lnTo>
                  <a:pt x="21600" y="0"/>
                </a:lnTo>
              </a:path>
            </a:pathLst>
          </a:custGeom>
          <a:ln w="25400">
            <a:solidFill>
              <a:srgbClr val="000000"/>
            </a:solidFill>
            <a:miter lim="400000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421" name="Line"/>
          <p:cNvSpPr/>
          <p:nvPr/>
        </p:nvSpPr>
        <p:spPr>
          <a:xfrm>
            <a:off x="4618566" y="6731000"/>
            <a:ext cx="3767668" cy="0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422" name="Line"/>
          <p:cNvSpPr/>
          <p:nvPr/>
        </p:nvSpPr>
        <p:spPr>
          <a:xfrm>
            <a:off x="4615258" y="4894283"/>
            <a:ext cx="1" cy="1840951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423" name="Line"/>
          <p:cNvSpPr/>
          <p:nvPr/>
        </p:nvSpPr>
        <p:spPr>
          <a:xfrm>
            <a:off x="4608919" y="4889500"/>
            <a:ext cx="350521" cy="0"/>
          </a:xfrm>
          <a:prstGeom prst="line">
            <a:avLst/>
          </a:prstGeom>
          <a:ln w="25400">
            <a:solidFill>
              <a:srgbClr val="000000"/>
            </a:solidFill>
            <a:miter lim="400000"/>
            <a:tailEnd type="triangle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424" name="Line"/>
          <p:cNvSpPr/>
          <p:nvPr/>
        </p:nvSpPr>
        <p:spPr>
          <a:xfrm>
            <a:off x="8795686" y="5360987"/>
            <a:ext cx="1" cy="1021293"/>
          </a:xfrm>
          <a:prstGeom prst="line">
            <a:avLst/>
          </a:prstGeom>
          <a:ln w="25400">
            <a:solidFill>
              <a:srgbClr val="000000"/>
            </a:solidFill>
            <a:miter lim="400000"/>
            <a:tailEnd type="triangle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425" name="Line"/>
          <p:cNvSpPr/>
          <p:nvPr/>
        </p:nvSpPr>
        <p:spPr>
          <a:xfrm>
            <a:off x="9396819" y="5360987"/>
            <a:ext cx="1" cy="1021293"/>
          </a:xfrm>
          <a:prstGeom prst="line">
            <a:avLst/>
          </a:prstGeom>
          <a:ln w="25400">
            <a:solidFill>
              <a:srgbClr val="000000"/>
            </a:solidFill>
            <a:miter lim="400000"/>
            <a:tailEnd type="triangle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426" name="Line"/>
          <p:cNvSpPr/>
          <p:nvPr/>
        </p:nvSpPr>
        <p:spPr>
          <a:xfrm>
            <a:off x="9997953" y="5360987"/>
            <a:ext cx="1" cy="1021293"/>
          </a:xfrm>
          <a:prstGeom prst="line">
            <a:avLst/>
          </a:prstGeom>
          <a:ln w="25400">
            <a:solidFill>
              <a:srgbClr val="000000"/>
            </a:solidFill>
            <a:miter lim="400000"/>
            <a:tailEnd type="triangle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427" name="Line"/>
          <p:cNvSpPr/>
          <p:nvPr/>
        </p:nvSpPr>
        <p:spPr>
          <a:xfrm>
            <a:off x="10599086" y="5360987"/>
            <a:ext cx="1" cy="1021293"/>
          </a:xfrm>
          <a:prstGeom prst="line">
            <a:avLst/>
          </a:prstGeom>
          <a:ln w="25400">
            <a:solidFill>
              <a:srgbClr val="000000"/>
            </a:solidFill>
            <a:miter lim="400000"/>
            <a:tailEnd type="triangle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428" name="Line"/>
          <p:cNvSpPr/>
          <p:nvPr/>
        </p:nvSpPr>
        <p:spPr>
          <a:xfrm flipV="1">
            <a:off x="10576226" y="5505979"/>
            <a:ext cx="831029" cy="1"/>
          </a:xfrm>
          <a:prstGeom prst="line">
            <a:avLst/>
          </a:prstGeom>
          <a:ln w="25400">
            <a:solidFill>
              <a:srgbClr val="000000"/>
            </a:solidFill>
            <a:miter lim="400000"/>
            <a:headEnd type="oval"/>
            <a:tailEnd type="triangle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429" name="Line"/>
          <p:cNvSpPr/>
          <p:nvPr/>
        </p:nvSpPr>
        <p:spPr>
          <a:xfrm>
            <a:off x="9978398" y="5702300"/>
            <a:ext cx="1428857" cy="0"/>
          </a:xfrm>
          <a:prstGeom prst="line">
            <a:avLst/>
          </a:prstGeom>
          <a:ln w="25400">
            <a:solidFill>
              <a:srgbClr val="000000"/>
            </a:solidFill>
            <a:miter lim="400000"/>
            <a:headEnd type="oval"/>
            <a:tailEnd type="triangle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430" name="Line"/>
          <p:cNvSpPr/>
          <p:nvPr/>
        </p:nvSpPr>
        <p:spPr>
          <a:xfrm>
            <a:off x="9380227" y="5898620"/>
            <a:ext cx="2033883" cy="1"/>
          </a:xfrm>
          <a:prstGeom prst="line">
            <a:avLst/>
          </a:prstGeom>
          <a:ln w="25400">
            <a:solidFill>
              <a:srgbClr val="000000"/>
            </a:solidFill>
            <a:miter lim="400000"/>
            <a:headEnd type="oval"/>
            <a:tailEnd type="triangle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431" name="Line"/>
          <p:cNvSpPr/>
          <p:nvPr/>
        </p:nvSpPr>
        <p:spPr>
          <a:xfrm>
            <a:off x="8772596" y="6094941"/>
            <a:ext cx="2641514" cy="1"/>
          </a:xfrm>
          <a:prstGeom prst="line">
            <a:avLst/>
          </a:prstGeom>
          <a:ln w="25400">
            <a:solidFill>
              <a:srgbClr val="000000"/>
            </a:solidFill>
            <a:miter lim="400000"/>
            <a:headEnd type="oval"/>
            <a:tailEnd type="triangle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432" name="out"/>
          <p:cNvSpPr txBox="1"/>
          <p:nvPr/>
        </p:nvSpPr>
        <p:spPr>
          <a:xfrm>
            <a:off x="11541974" y="5448299"/>
            <a:ext cx="679253" cy="584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r>
              <a:t>out</a:t>
            </a:r>
          </a:p>
        </p:txBody>
      </p:sp>
      <p:sp>
        <p:nvSpPr>
          <p:cNvPr id="433" name="16V"/>
          <p:cNvSpPr txBox="1"/>
          <p:nvPr/>
        </p:nvSpPr>
        <p:spPr>
          <a:xfrm>
            <a:off x="9655599" y="7850082"/>
            <a:ext cx="837408" cy="584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r>
              <a:t>16V</a:t>
            </a:r>
          </a:p>
        </p:txBody>
      </p:sp>
      <p:sp>
        <p:nvSpPr>
          <p:cNvPr id="434" name="successive…"/>
          <p:cNvSpPr txBox="1"/>
          <p:nvPr/>
        </p:nvSpPr>
        <p:spPr>
          <a:xfrm>
            <a:off x="8593944" y="2893483"/>
            <a:ext cx="2207922" cy="1168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>
              <a:defRPr sz="2300" b="1"/>
            </a:pPr>
            <a:r>
              <a:t>successive </a:t>
            </a:r>
          </a:p>
          <a:p>
            <a:pPr>
              <a:defRPr sz="2300" b="1"/>
            </a:pPr>
            <a:r>
              <a:t>approximation </a:t>
            </a:r>
          </a:p>
          <a:p>
            <a:pPr>
              <a:defRPr sz="2300" b="1"/>
            </a:pPr>
            <a:r>
              <a:t>register</a:t>
            </a:r>
          </a:p>
        </p:txBody>
      </p:sp>
      <p:graphicFrame>
        <p:nvGraphicFramePr>
          <p:cNvPr id="435" name="Table 1"/>
          <p:cNvGraphicFramePr/>
          <p:nvPr/>
        </p:nvGraphicFramePr>
        <p:xfrm>
          <a:off x="8499795" y="4120091"/>
          <a:ext cx="2396216" cy="1182581"/>
        </p:xfrm>
        <a:graphic>
          <a:graphicData uri="http://schemas.openxmlformats.org/drawingml/2006/table">
            <a:tbl>
              <a:tblPr>
                <a:tableStyleId>{4A9BC294-FFE2-49D5-8D69-9E1BD2C41BD5}</a:tableStyleId>
              </a:tblPr>
              <a:tblGrid>
                <a:gridCol w="59905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9905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9905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9905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182581">
                <a:tc>
                  <a:txBody>
                    <a:bodyPr/>
                    <a:lstStyle/>
                    <a:p>
                      <a:pPr algn="ctr">
                        <a:spcBef>
                          <a:spcPts val="4200"/>
                        </a:spcBef>
                        <a:defRPr sz="3200"/>
                      </a:pPr>
                      <a:r>
                        <a:rPr>
                          <a:solidFill>
                            <a:schemeClr val="accent6">
                              <a:satOff val="-15808"/>
                              <a:lumOff val="-17557"/>
                            </a:schemeClr>
                          </a:solidFill>
                          <a:latin typeface="Courier"/>
                          <a:ea typeface="Courier"/>
                          <a:cs typeface="Courier"/>
                          <a:sym typeface="Courier"/>
                        </a:rPr>
                        <a:t>1</a:t>
                      </a:r>
                    </a:p>
                  </a:txBody>
                  <a:tcPr marL="50800" marR="50800" marT="50800" marB="50800" anchor="ctr" horzOverflow="overflow">
                    <a:lnL w="101600">
                      <a:solidFill>
                        <a:srgbClr val="6E8627"/>
                      </a:solidFill>
                      <a:miter lim="400000"/>
                    </a:lnL>
                    <a:lnR w="101600">
                      <a:solidFill>
                        <a:srgbClr val="6E8627"/>
                      </a:solidFill>
                      <a:miter lim="400000"/>
                    </a:lnR>
                    <a:lnT w="101600">
                      <a:solidFill>
                        <a:srgbClr val="6E8627"/>
                      </a:solidFill>
                      <a:miter lim="400000"/>
                    </a:lnT>
                    <a:lnB w="101600">
                      <a:solidFill>
                        <a:srgbClr val="6E8627"/>
                      </a:solidFill>
                      <a:miter lim="400000"/>
                    </a:lnB>
                    <a:solidFill>
                      <a:schemeClr val="accent3">
                        <a:hueOff val="-274225"/>
                        <a:satOff val="26768"/>
                        <a:lumOff val="11368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4200"/>
                        </a:spcBef>
                        <a:defRPr sz="3200"/>
                      </a:pPr>
                      <a:r>
                        <a:rPr>
                          <a:solidFill>
                            <a:schemeClr val="accent6">
                              <a:satOff val="-15808"/>
                              <a:lumOff val="-17557"/>
                            </a:schemeClr>
                          </a:solidFill>
                          <a:latin typeface="Courier"/>
                          <a:ea typeface="Courier"/>
                          <a:cs typeface="Courier"/>
                          <a:sym typeface="Courier"/>
                        </a:rPr>
                        <a:t>0</a:t>
                      </a:r>
                    </a:p>
                  </a:txBody>
                  <a:tcPr marL="50800" marR="50800" marT="50800" marB="50800" anchor="ctr" horzOverflow="overflow">
                    <a:lnL w="101600">
                      <a:solidFill>
                        <a:srgbClr val="6E8627"/>
                      </a:solidFill>
                      <a:miter lim="400000"/>
                    </a:lnL>
                    <a:lnR w="101600">
                      <a:solidFill>
                        <a:srgbClr val="6E8627"/>
                      </a:solidFill>
                      <a:miter lim="400000"/>
                    </a:lnR>
                    <a:lnT w="101600">
                      <a:solidFill>
                        <a:srgbClr val="6E8627"/>
                      </a:solidFill>
                      <a:miter lim="400000"/>
                    </a:lnT>
                    <a:lnB w="101600">
                      <a:solidFill>
                        <a:srgbClr val="6E8627"/>
                      </a:solidFill>
                      <a:miter lim="400000"/>
                    </a:lnB>
                    <a:solidFill>
                      <a:schemeClr val="accent3">
                        <a:hueOff val="-274225"/>
                        <a:satOff val="26768"/>
                        <a:lumOff val="11368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4200"/>
                        </a:spcBef>
                        <a:defRPr sz="3200"/>
                      </a:pPr>
                      <a:r>
                        <a:rPr>
                          <a:solidFill>
                            <a:schemeClr val="accent6">
                              <a:satOff val="-15808"/>
                              <a:lumOff val="-17557"/>
                            </a:schemeClr>
                          </a:solidFill>
                          <a:latin typeface="Courier"/>
                          <a:ea typeface="Courier"/>
                          <a:cs typeface="Courier"/>
                          <a:sym typeface="Courier"/>
                        </a:rPr>
                        <a:t>0</a:t>
                      </a:r>
                    </a:p>
                  </a:txBody>
                  <a:tcPr marL="50800" marR="50800" marT="50800" marB="50800" anchor="ctr" horzOverflow="overflow">
                    <a:lnL w="101600">
                      <a:solidFill>
                        <a:srgbClr val="6E8627"/>
                      </a:solidFill>
                      <a:miter lim="400000"/>
                    </a:lnL>
                    <a:lnR w="101600">
                      <a:solidFill>
                        <a:srgbClr val="6E8627"/>
                      </a:solidFill>
                      <a:miter lim="400000"/>
                    </a:lnR>
                    <a:lnT w="101600">
                      <a:solidFill>
                        <a:srgbClr val="6E8627"/>
                      </a:solidFill>
                      <a:miter lim="400000"/>
                    </a:lnT>
                    <a:lnB w="101600">
                      <a:solidFill>
                        <a:srgbClr val="6E8627"/>
                      </a:solidFill>
                      <a:miter lim="400000"/>
                    </a:lnB>
                    <a:solidFill>
                      <a:schemeClr val="accent3">
                        <a:hueOff val="-274225"/>
                        <a:satOff val="26768"/>
                        <a:lumOff val="11368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4200"/>
                        </a:spcBef>
                        <a:defRPr sz="3200"/>
                      </a:pPr>
                      <a:r>
                        <a:rPr>
                          <a:solidFill>
                            <a:schemeClr val="accent6">
                              <a:satOff val="-15808"/>
                              <a:lumOff val="-17557"/>
                            </a:schemeClr>
                          </a:solidFill>
                          <a:latin typeface="Courier"/>
                          <a:ea typeface="Courier"/>
                          <a:cs typeface="Courier"/>
                          <a:sym typeface="Courier"/>
                        </a:rPr>
                        <a:t>1</a:t>
                      </a:r>
                    </a:p>
                  </a:txBody>
                  <a:tcPr marL="50800" marR="50800" marT="50800" marB="50800" anchor="ctr" horzOverflow="overflow">
                    <a:lnL w="101600">
                      <a:solidFill>
                        <a:srgbClr val="6E8627"/>
                      </a:solidFill>
                      <a:miter lim="400000"/>
                    </a:lnL>
                    <a:lnR w="101600">
                      <a:solidFill>
                        <a:srgbClr val="6E8627"/>
                      </a:solidFill>
                      <a:miter lim="400000"/>
                    </a:lnR>
                    <a:lnT w="101600">
                      <a:solidFill>
                        <a:srgbClr val="6E8627"/>
                      </a:solidFill>
                      <a:miter lim="400000"/>
                    </a:lnT>
                    <a:lnB w="101600">
                      <a:solidFill>
                        <a:srgbClr val="6E8627"/>
                      </a:solidFill>
                      <a:miter lim="400000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436" name="9V"/>
          <p:cNvSpPr txBox="1"/>
          <p:nvPr/>
        </p:nvSpPr>
        <p:spPr>
          <a:xfrm>
            <a:off x="6721640" y="6714066"/>
            <a:ext cx="611387" cy="584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r>
              <a:t>9V</a:t>
            </a:r>
          </a:p>
        </p:txBody>
      </p:sp>
      <p:sp>
        <p:nvSpPr>
          <p:cNvPr id="437" name="9.4V"/>
          <p:cNvSpPr txBox="1"/>
          <p:nvPr/>
        </p:nvSpPr>
        <p:spPr>
          <a:xfrm>
            <a:off x="3951718" y="3909482"/>
            <a:ext cx="950318" cy="584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r>
              <a:t>9.4V</a:t>
            </a:r>
          </a:p>
        </p:txBody>
      </p:sp>
      <p:cxnSp>
        <p:nvCxnSpPr>
          <p:cNvPr id="2" name="Connection Line">
            <a:extLst>
              <a:ext uri="{FF2B5EF4-FFF2-40B4-BE49-F238E27FC236}">
                <a16:creationId xmlns:a16="http://schemas.microsoft.com/office/drawing/2014/main" id="{53C85F23-BDDB-87F8-1AC1-5C7D2E5C29A9}"/>
              </a:ext>
            </a:extLst>
          </p:cNvPr>
          <p:cNvCxnSpPr>
            <a:cxnSpLocks/>
          </p:cNvCxnSpPr>
          <p:nvPr/>
        </p:nvCxnSpPr>
        <p:spPr>
          <a:xfrm>
            <a:off x="1273480" y="4538134"/>
            <a:ext cx="1203628" cy="0"/>
          </a:xfrm>
          <a:prstGeom prst="straightConnector1">
            <a:avLst/>
          </a:prstGeom>
          <a:ln w="25400">
            <a:solidFill>
              <a:srgbClr val="000000"/>
            </a:solidFill>
            <a:miter lim="400000"/>
            <a:tailEnd type="triangle"/>
          </a:ln>
        </p:spPr>
      </p:cxnSp>
      <p:cxnSp>
        <p:nvCxnSpPr>
          <p:cNvPr id="3" name="Connection Line">
            <a:extLst>
              <a:ext uri="{FF2B5EF4-FFF2-40B4-BE49-F238E27FC236}">
                <a16:creationId xmlns:a16="http://schemas.microsoft.com/office/drawing/2014/main" id="{8B2C9A3A-ABD7-CFD3-DA14-25C617FB2989}"/>
              </a:ext>
            </a:extLst>
          </p:cNvPr>
          <p:cNvCxnSpPr>
            <a:cxnSpLocks/>
          </p:cNvCxnSpPr>
          <p:nvPr/>
        </p:nvCxnSpPr>
        <p:spPr>
          <a:xfrm flipV="1">
            <a:off x="9697905" y="7641167"/>
            <a:ext cx="0" cy="797876"/>
          </a:xfrm>
          <a:prstGeom prst="straightConnector1">
            <a:avLst/>
          </a:prstGeom>
          <a:ln w="25400">
            <a:solidFill>
              <a:srgbClr val="000000"/>
            </a:solidFill>
            <a:miter lim="400000"/>
            <a:tailEnd type="triangle"/>
          </a:ln>
        </p:spPr>
      </p:cxnSp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4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6" grpId="1" animBg="1" advAuto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ADC using SAR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ADC using SAR</a:t>
            </a:r>
          </a:p>
        </p:txBody>
      </p:sp>
      <p:sp>
        <p:nvSpPr>
          <p:cNvPr id="443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rPr/>
              <a:t>14</a:t>
            </a:fld>
            <a:endParaRPr/>
          </a:p>
        </p:txBody>
      </p:sp>
      <p:sp>
        <p:nvSpPr>
          <p:cNvPr id="444" name="control logic"/>
          <p:cNvSpPr/>
          <p:nvPr/>
        </p:nvSpPr>
        <p:spPr>
          <a:xfrm>
            <a:off x="6561666" y="4076700"/>
            <a:ext cx="1270001" cy="1270000"/>
          </a:xfrm>
          <a:prstGeom prst="rect">
            <a:avLst/>
          </a:prstGeom>
          <a:solidFill>
            <a:srgbClr val="6E8627"/>
          </a:solidFill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>
              <a:defRPr sz="2400" b="1">
                <a:solidFill>
                  <a:srgbClr val="FFFFFF"/>
                </a:solidFill>
              </a:defRPr>
            </a:lvl1pPr>
          </a:lstStyle>
          <a:p>
            <a:r>
              <a:t>control logic</a:t>
            </a:r>
          </a:p>
        </p:txBody>
      </p:sp>
      <p:grpSp>
        <p:nvGrpSpPr>
          <p:cNvPr id="448" name="Group"/>
          <p:cNvGrpSpPr/>
          <p:nvPr/>
        </p:nvGrpSpPr>
        <p:grpSpPr>
          <a:xfrm>
            <a:off x="4955249" y="4158191"/>
            <a:ext cx="1467843" cy="1970585"/>
            <a:chOff x="0" y="0"/>
            <a:chExt cx="1467842" cy="1970583"/>
          </a:xfrm>
        </p:grpSpPr>
        <p:sp>
          <p:nvSpPr>
            <p:cNvPr id="445" name="Triangle"/>
            <p:cNvSpPr/>
            <p:nvPr/>
          </p:nvSpPr>
          <p:spPr>
            <a:xfrm rot="5400000">
              <a:off x="-33933" y="33932"/>
              <a:ext cx="1107017" cy="103915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0800" y="0"/>
                  </a:move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solidFill>
              <a:srgbClr val="6E8627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 sz="2100" b="1"/>
              </a:pPr>
              <a:endParaRPr/>
            </a:p>
          </p:txBody>
        </p:sp>
        <p:sp>
          <p:nvSpPr>
            <p:cNvPr id="446" name="+"/>
            <p:cNvSpPr/>
            <p:nvPr/>
          </p:nvSpPr>
          <p:spPr>
            <a:xfrm>
              <a:off x="185142" y="319583"/>
              <a:ext cx="1270001" cy="1270001"/>
            </a:xfrm>
            <a:prstGeom prst="line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b="1">
                  <a:solidFill>
                    <a:srgbClr val="FFFFFF"/>
                  </a:solidFill>
                </a:defRPr>
              </a:lvl1pPr>
            </a:lstStyle>
            <a:p>
              <a:r>
                <a:t>+</a:t>
              </a:r>
            </a:p>
          </p:txBody>
        </p:sp>
        <p:sp>
          <p:nvSpPr>
            <p:cNvPr id="447" name="-"/>
            <p:cNvSpPr/>
            <p:nvPr/>
          </p:nvSpPr>
          <p:spPr>
            <a:xfrm>
              <a:off x="197842" y="700583"/>
              <a:ext cx="1270001" cy="1270001"/>
            </a:xfrm>
            <a:prstGeom prst="line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b="1">
                  <a:solidFill>
                    <a:srgbClr val="FFFFFF"/>
                  </a:solidFill>
                </a:defRPr>
              </a:lvl1pPr>
            </a:lstStyle>
            <a:p>
              <a:r>
                <a:t>-</a:t>
              </a:r>
            </a:p>
          </p:txBody>
        </p:sp>
      </p:grpSp>
      <p:sp>
        <p:nvSpPr>
          <p:cNvPr id="449" name="sample &amp; hold"/>
          <p:cNvSpPr/>
          <p:nvPr/>
        </p:nvSpPr>
        <p:spPr>
          <a:xfrm>
            <a:off x="2477108" y="3903133"/>
            <a:ext cx="1270001" cy="1270001"/>
          </a:xfrm>
          <a:prstGeom prst="rect">
            <a:avLst/>
          </a:prstGeom>
          <a:solidFill>
            <a:srgbClr val="6E8627"/>
          </a:solidFill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>
              <a:defRPr sz="2400" b="1">
                <a:solidFill>
                  <a:srgbClr val="FFFFFF"/>
                </a:solidFill>
              </a:defRPr>
            </a:lvl1pPr>
          </a:lstStyle>
          <a:p>
            <a:r>
              <a:t>sample &amp; hold</a:t>
            </a:r>
          </a:p>
        </p:txBody>
      </p:sp>
      <p:sp>
        <p:nvSpPr>
          <p:cNvPr id="450" name="DAC"/>
          <p:cNvSpPr/>
          <p:nvPr/>
        </p:nvSpPr>
        <p:spPr>
          <a:xfrm>
            <a:off x="8398933" y="6371166"/>
            <a:ext cx="2597944" cy="1270001"/>
          </a:xfrm>
          <a:prstGeom prst="rect">
            <a:avLst/>
          </a:prstGeom>
          <a:solidFill>
            <a:srgbClr val="6E8627"/>
          </a:solidFill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>
              <a:defRPr sz="2400" b="1">
                <a:solidFill>
                  <a:srgbClr val="FFFFFF"/>
                </a:solidFill>
              </a:defRPr>
            </a:lvl1pPr>
          </a:lstStyle>
          <a:p>
            <a:r>
              <a:t>DAC</a:t>
            </a:r>
          </a:p>
        </p:txBody>
      </p:sp>
      <p:sp>
        <p:nvSpPr>
          <p:cNvPr id="451" name="Vin"/>
          <p:cNvSpPr txBox="1"/>
          <p:nvPr/>
        </p:nvSpPr>
        <p:spPr>
          <a:xfrm>
            <a:off x="677240" y="4246033"/>
            <a:ext cx="596240" cy="584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r>
              <a:t>V</a:t>
            </a:r>
            <a:r>
              <a:rPr baseline="-5999"/>
              <a:t>in</a:t>
            </a:r>
          </a:p>
        </p:txBody>
      </p:sp>
      <p:sp>
        <p:nvSpPr>
          <p:cNvPr id="452" name="VDAC"/>
          <p:cNvSpPr txBox="1"/>
          <p:nvPr/>
        </p:nvSpPr>
        <p:spPr>
          <a:xfrm>
            <a:off x="6548635" y="6201833"/>
            <a:ext cx="957396" cy="584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r>
              <a:t>V</a:t>
            </a:r>
            <a:r>
              <a:rPr baseline="-5999"/>
              <a:t>DAC</a:t>
            </a:r>
          </a:p>
        </p:txBody>
      </p:sp>
      <p:sp>
        <p:nvSpPr>
          <p:cNvPr id="453" name="Vref"/>
          <p:cNvSpPr txBox="1"/>
          <p:nvPr/>
        </p:nvSpPr>
        <p:spPr>
          <a:xfrm>
            <a:off x="9347133" y="8439043"/>
            <a:ext cx="701544" cy="584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r>
              <a:t>V</a:t>
            </a:r>
            <a:r>
              <a:rPr baseline="-5999"/>
              <a:t>ref</a:t>
            </a:r>
          </a:p>
        </p:txBody>
      </p:sp>
      <p:sp>
        <p:nvSpPr>
          <p:cNvPr id="476" name="Connection Line"/>
          <p:cNvSpPr/>
          <p:nvPr/>
        </p:nvSpPr>
        <p:spPr>
          <a:xfrm>
            <a:off x="7831666" y="4713042"/>
            <a:ext cx="604630" cy="127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ln w="25400">
            <a:solidFill>
              <a:srgbClr val="000000"/>
            </a:solidFill>
            <a:miter lim="400000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477" name="Connection Line"/>
          <p:cNvSpPr/>
          <p:nvPr/>
        </p:nvSpPr>
        <p:spPr>
          <a:xfrm>
            <a:off x="5993957" y="4711699"/>
            <a:ext cx="567710" cy="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ln w="25400">
            <a:solidFill>
              <a:srgbClr val="000000"/>
            </a:solidFill>
            <a:miter lim="400000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478" name="Connection Line"/>
          <p:cNvSpPr/>
          <p:nvPr/>
        </p:nvSpPr>
        <p:spPr>
          <a:xfrm>
            <a:off x="3747108" y="4517958"/>
            <a:ext cx="1200601" cy="1319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lnTo>
                  <a:pt x="21600" y="0"/>
                </a:lnTo>
              </a:path>
            </a:pathLst>
          </a:custGeom>
          <a:ln w="25400">
            <a:solidFill>
              <a:srgbClr val="000000"/>
            </a:solidFill>
            <a:miter lim="400000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459" name="Line"/>
          <p:cNvSpPr/>
          <p:nvPr/>
        </p:nvSpPr>
        <p:spPr>
          <a:xfrm>
            <a:off x="4618566" y="6731000"/>
            <a:ext cx="3767668" cy="0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460" name="Line"/>
          <p:cNvSpPr/>
          <p:nvPr/>
        </p:nvSpPr>
        <p:spPr>
          <a:xfrm>
            <a:off x="4615258" y="4894283"/>
            <a:ext cx="1" cy="1840951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461" name="Line"/>
          <p:cNvSpPr/>
          <p:nvPr/>
        </p:nvSpPr>
        <p:spPr>
          <a:xfrm>
            <a:off x="4608919" y="4889500"/>
            <a:ext cx="350521" cy="0"/>
          </a:xfrm>
          <a:prstGeom prst="line">
            <a:avLst/>
          </a:prstGeom>
          <a:ln w="25400">
            <a:solidFill>
              <a:srgbClr val="000000"/>
            </a:solidFill>
            <a:miter lim="400000"/>
            <a:tailEnd type="triangle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462" name="Line"/>
          <p:cNvSpPr/>
          <p:nvPr/>
        </p:nvSpPr>
        <p:spPr>
          <a:xfrm>
            <a:off x="8795686" y="5360987"/>
            <a:ext cx="1" cy="1021293"/>
          </a:xfrm>
          <a:prstGeom prst="line">
            <a:avLst/>
          </a:prstGeom>
          <a:ln w="25400">
            <a:solidFill>
              <a:srgbClr val="000000"/>
            </a:solidFill>
            <a:miter lim="400000"/>
            <a:tailEnd type="triangle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463" name="Line"/>
          <p:cNvSpPr/>
          <p:nvPr/>
        </p:nvSpPr>
        <p:spPr>
          <a:xfrm>
            <a:off x="9396819" y="5360987"/>
            <a:ext cx="1" cy="1021293"/>
          </a:xfrm>
          <a:prstGeom prst="line">
            <a:avLst/>
          </a:prstGeom>
          <a:ln w="25400">
            <a:solidFill>
              <a:srgbClr val="000000"/>
            </a:solidFill>
            <a:miter lim="400000"/>
            <a:tailEnd type="triangle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464" name="Line"/>
          <p:cNvSpPr/>
          <p:nvPr/>
        </p:nvSpPr>
        <p:spPr>
          <a:xfrm>
            <a:off x="9997953" y="5360987"/>
            <a:ext cx="1" cy="1021293"/>
          </a:xfrm>
          <a:prstGeom prst="line">
            <a:avLst/>
          </a:prstGeom>
          <a:ln w="25400">
            <a:solidFill>
              <a:srgbClr val="000000"/>
            </a:solidFill>
            <a:miter lim="400000"/>
            <a:tailEnd type="triangle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465" name="Line"/>
          <p:cNvSpPr/>
          <p:nvPr/>
        </p:nvSpPr>
        <p:spPr>
          <a:xfrm>
            <a:off x="10599086" y="5360987"/>
            <a:ext cx="1" cy="1021293"/>
          </a:xfrm>
          <a:prstGeom prst="line">
            <a:avLst/>
          </a:prstGeom>
          <a:ln w="25400">
            <a:solidFill>
              <a:srgbClr val="000000"/>
            </a:solidFill>
            <a:miter lim="400000"/>
            <a:tailEnd type="triangle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466" name="Line"/>
          <p:cNvSpPr/>
          <p:nvPr/>
        </p:nvSpPr>
        <p:spPr>
          <a:xfrm flipV="1">
            <a:off x="10576226" y="5505979"/>
            <a:ext cx="831029" cy="1"/>
          </a:xfrm>
          <a:prstGeom prst="line">
            <a:avLst/>
          </a:prstGeom>
          <a:ln w="25400">
            <a:solidFill>
              <a:srgbClr val="000000"/>
            </a:solidFill>
            <a:miter lim="400000"/>
            <a:headEnd type="oval"/>
            <a:tailEnd type="triangle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467" name="Line"/>
          <p:cNvSpPr/>
          <p:nvPr/>
        </p:nvSpPr>
        <p:spPr>
          <a:xfrm>
            <a:off x="9978398" y="5702300"/>
            <a:ext cx="1428857" cy="0"/>
          </a:xfrm>
          <a:prstGeom prst="line">
            <a:avLst/>
          </a:prstGeom>
          <a:ln w="25400">
            <a:solidFill>
              <a:srgbClr val="000000"/>
            </a:solidFill>
            <a:miter lim="400000"/>
            <a:headEnd type="oval"/>
            <a:tailEnd type="triangle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468" name="Line"/>
          <p:cNvSpPr/>
          <p:nvPr/>
        </p:nvSpPr>
        <p:spPr>
          <a:xfrm>
            <a:off x="9380227" y="5898620"/>
            <a:ext cx="2033883" cy="1"/>
          </a:xfrm>
          <a:prstGeom prst="line">
            <a:avLst/>
          </a:prstGeom>
          <a:ln w="25400">
            <a:solidFill>
              <a:srgbClr val="000000"/>
            </a:solidFill>
            <a:miter lim="400000"/>
            <a:headEnd type="oval"/>
            <a:tailEnd type="triangle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469" name="Line"/>
          <p:cNvSpPr/>
          <p:nvPr/>
        </p:nvSpPr>
        <p:spPr>
          <a:xfrm>
            <a:off x="8772596" y="6094941"/>
            <a:ext cx="2641514" cy="1"/>
          </a:xfrm>
          <a:prstGeom prst="line">
            <a:avLst/>
          </a:prstGeom>
          <a:ln w="25400">
            <a:solidFill>
              <a:srgbClr val="000000"/>
            </a:solidFill>
            <a:miter lim="400000"/>
            <a:headEnd type="oval"/>
            <a:tailEnd type="triangle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470" name="out"/>
          <p:cNvSpPr txBox="1"/>
          <p:nvPr/>
        </p:nvSpPr>
        <p:spPr>
          <a:xfrm>
            <a:off x="11541974" y="5448299"/>
            <a:ext cx="679253" cy="584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r>
              <a:t>out</a:t>
            </a:r>
          </a:p>
        </p:txBody>
      </p:sp>
      <p:sp>
        <p:nvSpPr>
          <p:cNvPr id="471" name="16V"/>
          <p:cNvSpPr txBox="1"/>
          <p:nvPr/>
        </p:nvSpPr>
        <p:spPr>
          <a:xfrm>
            <a:off x="9655599" y="7850082"/>
            <a:ext cx="837408" cy="584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r>
              <a:t>16V</a:t>
            </a:r>
          </a:p>
        </p:txBody>
      </p:sp>
      <p:sp>
        <p:nvSpPr>
          <p:cNvPr id="472" name="successive…"/>
          <p:cNvSpPr txBox="1"/>
          <p:nvPr/>
        </p:nvSpPr>
        <p:spPr>
          <a:xfrm>
            <a:off x="8593944" y="2893483"/>
            <a:ext cx="2207922" cy="1168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>
              <a:defRPr sz="2300" b="1"/>
            </a:pPr>
            <a:r>
              <a:t>successive </a:t>
            </a:r>
          </a:p>
          <a:p>
            <a:pPr>
              <a:defRPr sz="2300" b="1"/>
            </a:pPr>
            <a:r>
              <a:t>approximation </a:t>
            </a:r>
          </a:p>
          <a:p>
            <a:pPr>
              <a:defRPr sz="2300" b="1"/>
            </a:pPr>
            <a:r>
              <a:t>register</a:t>
            </a:r>
          </a:p>
        </p:txBody>
      </p:sp>
      <p:graphicFrame>
        <p:nvGraphicFramePr>
          <p:cNvPr id="473" name="Table 1"/>
          <p:cNvGraphicFramePr/>
          <p:nvPr/>
        </p:nvGraphicFramePr>
        <p:xfrm>
          <a:off x="8499795" y="4120091"/>
          <a:ext cx="2396216" cy="1182581"/>
        </p:xfrm>
        <a:graphic>
          <a:graphicData uri="http://schemas.openxmlformats.org/drawingml/2006/table">
            <a:tbl>
              <a:tblPr>
                <a:tableStyleId>{4A9BC294-FFE2-49D5-8D69-9E1BD2C41BD5}</a:tableStyleId>
              </a:tblPr>
              <a:tblGrid>
                <a:gridCol w="59905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9905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9905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9905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182581">
                <a:tc>
                  <a:txBody>
                    <a:bodyPr/>
                    <a:lstStyle/>
                    <a:p>
                      <a:pPr algn="ctr">
                        <a:spcBef>
                          <a:spcPts val="4200"/>
                        </a:spcBef>
                        <a:defRPr sz="3200"/>
                      </a:pPr>
                      <a:r>
                        <a:rPr>
                          <a:solidFill>
                            <a:schemeClr val="accent6">
                              <a:satOff val="-15808"/>
                              <a:lumOff val="-17557"/>
                            </a:schemeClr>
                          </a:solidFill>
                          <a:latin typeface="Courier"/>
                          <a:ea typeface="Courier"/>
                          <a:cs typeface="Courier"/>
                          <a:sym typeface="Courier"/>
                        </a:rPr>
                        <a:t>1</a:t>
                      </a:r>
                    </a:p>
                  </a:txBody>
                  <a:tcPr marL="50800" marR="50800" marT="50800" marB="50800" anchor="ctr" horzOverflow="overflow">
                    <a:lnL w="101600">
                      <a:solidFill>
                        <a:srgbClr val="6E8627"/>
                      </a:solidFill>
                      <a:miter lim="400000"/>
                    </a:lnL>
                    <a:lnR w="101600">
                      <a:solidFill>
                        <a:srgbClr val="6E8627"/>
                      </a:solidFill>
                      <a:miter lim="400000"/>
                    </a:lnR>
                    <a:lnT w="101600">
                      <a:solidFill>
                        <a:srgbClr val="6E8627"/>
                      </a:solidFill>
                      <a:miter lim="400000"/>
                    </a:lnT>
                    <a:lnB w="101600">
                      <a:solidFill>
                        <a:srgbClr val="6E8627"/>
                      </a:solidFill>
                      <a:miter lim="400000"/>
                    </a:lnB>
                    <a:solidFill>
                      <a:schemeClr val="accent3">
                        <a:hueOff val="-274225"/>
                        <a:satOff val="26768"/>
                        <a:lumOff val="11368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4200"/>
                        </a:spcBef>
                        <a:defRPr sz="3200"/>
                      </a:pPr>
                      <a:r>
                        <a:rPr>
                          <a:solidFill>
                            <a:schemeClr val="accent6">
                              <a:satOff val="-15808"/>
                              <a:lumOff val="-17557"/>
                            </a:schemeClr>
                          </a:solidFill>
                          <a:latin typeface="Courier"/>
                          <a:ea typeface="Courier"/>
                          <a:cs typeface="Courier"/>
                          <a:sym typeface="Courier"/>
                        </a:rPr>
                        <a:t>0</a:t>
                      </a:r>
                    </a:p>
                  </a:txBody>
                  <a:tcPr marL="50800" marR="50800" marT="50800" marB="50800" anchor="ctr" horzOverflow="overflow">
                    <a:lnL w="101600">
                      <a:solidFill>
                        <a:srgbClr val="6E8627"/>
                      </a:solidFill>
                      <a:miter lim="400000"/>
                    </a:lnL>
                    <a:lnR w="101600">
                      <a:solidFill>
                        <a:srgbClr val="6E8627"/>
                      </a:solidFill>
                      <a:miter lim="400000"/>
                    </a:lnR>
                    <a:lnT w="101600">
                      <a:solidFill>
                        <a:srgbClr val="6E8627"/>
                      </a:solidFill>
                      <a:miter lim="400000"/>
                    </a:lnT>
                    <a:lnB w="101600">
                      <a:solidFill>
                        <a:srgbClr val="6E8627"/>
                      </a:solidFill>
                      <a:miter lim="400000"/>
                    </a:lnB>
                    <a:solidFill>
                      <a:schemeClr val="accent3">
                        <a:hueOff val="-274225"/>
                        <a:satOff val="26768"/>
                        <a:lumOff val="11368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4200"/>
                        </a:spcBef>
                        <a:defRPr sz="3200"/>
                      </a:pPr>
                      <a:r>
                        <a:rPr>
                          <a:solidFill>
                            <a:schemeClr val="accent6">
                              <a:satOff val="-15808"/>
                              <a:lumOff val="-17557"/>
                            </a:schemeClr>
                          </a:solidFill>
                          <a:latin typeface="Courier"/>
                          <a:ea typeface="Courier"/>
                          <a:cs typeface="Courier"/>
                          <a:sym typeface="Courier"/>
                        </a:rPr>
                        <a:t>0</a:t>
                      </a:r>
                    </a:p>
                  </a:txBody>
                  <a:tcPr marL="50800" marR="50800" marT="50800" marB="50800" anchor="ctr" horzOverflow="overflow">
                    <a:lnL w="101600">
                      <a:solidFill>
                        <a:srgbClr val="6E8627"/>
                      </a:solidFill>
                      <a:miter lim="400000"/>
                    </a:lnL>
                    <a:lnR w="101600">
                      <a:solidFill>
                        <a:srgbClr val="6E8627"/>
                      </a:solidFill>
                      <a:miter lim="400000"/>
                    </a:lnR>
                    <a:lnT w="101600">
                      <a:solidFill>
                        <a:srgbClr val="6E8627"/>
                      </a:solidFill>
                      <a:miter lim="400000"/>
                    </a:lnT>
                    <a:lnB w="101600">
                      <a:solidFill>
                        <a:srgbClr val="6E8627"/>
                      </a:solidFill>
                      <a:miter lim="400000"/>
                    </a:lnB>
                    <a:solidFill>
                      <a:schemeClr val="accent3">
                        <a:hueOff val="-274225"/>
                        <a:satOff val="26768"/>
                        <a:lumOff val="11368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4200"/>
                        </a:spcBef>
                        <a:defRPr sz="3200"/>
                      </a:pPr>
                      <a:r>
                        <a:rPr>
                          <a:solidFill>
                            <a:schemeClr val="accent6">
                              <a:satOff val="-15808"/>
                              <a:lumOff val="-17557"/>
                            </a:schemeClr>
                          </a:solidFill>
                          <a:latin typeface="Courier"/>
                          <a:ea typeface="Courier"/>
                          <a:cs typeface="Courier"/>
                          <a:sym typeface="Courier"/>
                        </a:rPr>
                        <a:t>1</a:t>
                      </a:r>
                    </a:p>
                  </a:txBody>
                  <a:tcPr marL="50800" marR="50800" marT="50800" marB="50800" anchor="ctr" horzOverflow="overflow">
                    <a:lnL w="101600">
                      <a:solidFill>
                        <a:srgbClr val="6E8627"/>
                      </a:solidFill>
                      <a:miter lim="400000"/>
                    </a:lnL>
                    <a:lnR w="101600">
                      <a:solidFill>
                        <a:srgbClr val="6E8627"/>
                      </a:solidFill>
                      <a:miter lim="400000"/>
                    </a:lnR>
                    <a:lnT w="101600">
                      <a:solidFill>
                        <a:srgbClr val="6E8627"/>
                      </a:solidFill>
                      <a:miter lim="400000"/>
                    </a:lnT>
                    <a:lnB w="101600">
                      <a:solidFill>
                        <a:srgbClr val="6E8627"/>
                      </a:solidFill>
                      <a:miter lim="400000"/>
                    </a:lnB>
                    <a:solidFill>
                      <a:schemeClr val="accent3">
                        <a:hueOff val="-274225"/>
                        <a:satOff val="26768"/>
                        <a:lumOff val="11368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474" name="9V"/>
          <p:cNvSpPr txBox="1"/>
          <p:nvPr/>
        </p:nvSpPr>
        <p:spPr>
          <a:xfrm>
            <a:off x="6721640" y="6714066"/>
            <a:ext cx="611387" cy="584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r>
              <a:t>9V</a:t>
            </a:r>
          </a:p>
        </p:txBody>
      </p:sp>
      <p:sp>
        <p:nvSpPr>
          <p:cNvPr id="475" name="9.4V"/>
          <p:cNvSpPr txBox="1"/>
          <p:nvPr/>
        </p:nvSpPr>
        <p:spPr>
          <a:xfrm>
            <a:off x="3951718" y="3909482"/>
            <a:ext cx="950318" cy="584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r>
              <a:t>9.4V</a:t>
            </a:r>
          </a:p>
        </p:txBody>
      </p:sp>
      <p:cxnSp>
        <p:nvCxnSpPr>
          <p:cNvPr id="2" name="Connection Line">
            <a:extLst>
              <a:ext uri="{FF2B5EF4-FFF2-40B4-BE49-F238E27FC236}">
                <a16:creationId xmlns:a16="http://schemas.microsoft.com/office/drawing/2014/main" id="{E66EE82A-86ED-A16C-43D9-81D3C6AFA576}"/>
              </a:ext>
            </a:extLst>
          </p:cNvPr>
          <p:cNvCxnSpPr>
            <a:cxnSpLocks/>
          </p:cNvCxnSpPr>
          <p:nvPr/>
        </p:nvCxnSpPr>
        <p:spPr>
          <a:xfrm>
            <a:off x="1273480" y="4538134"/>
            <a:ext cx="1203628" cy="0"/>
          </a:xfrm>
          <a:prstGeom prst="straightConnector1">
            <a:avLst/>
          </a:prstGeom>
          <a:ln w="25400">
            <a:solidFill>
              <a:srgbClr val="000000"/>
            </a:solidFill>
            <a:miter lim="400000"/>
            <a:tailEnd type="triangle"/>
          </a:ln>
        </p:spPr>
      </p:cxnSp>
      <p:cxnSp>
        <p:nvCxnSpPr>
          <p:cNvPr id="3" name="Connection Line">
            <a:extLst>
              <a:ext uri="{FF2B5EF4-FFF2-40B4-BE49-F238E27FC236}">
                <a16:creationId xmlns:a16="http://schemas.microsoft.com/office/drawing/2014/main" id="{1E1E5F24-477C-CAB2-A79E-CA1A20307B6F}"/>
              </a:ext>
            </a:extLst>
          </p:cNvPr>
          <p:cNvCxnSpPr>
            <a:cxnSpLocks/>
          </p:cNvCxnSpPr>
          <p:nvPr/>
        </p:nvCxnSpPr>
        <p:spPr>
          <a:xfrm flipV="1">
            <a:off x="9697905" y="7641167"/>
            <a:ext cx="0" cy="797876"/>
          </a:xfrm>
          <a:prstGeom prst="straightConnector1">
            <a:avLst/>
          </a:prstGeom>
          <a:ln w="25400">
            <a:solidFill>
              <a:srgbClr val="000000"/>
            </a:solidFill>
            <a:miter lim="400000"/>
            <a:tailEnd type="triangle"/>
          </a:ln>
        </p:spPr>
      </p:cxnSp>
    </p:spTree>
  </p:cSld>
  <p:clrMapOvr>
    <a:masterClrMapping/>
  </p:clrMapOvr>
  <p:transition spd="med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ADC using SAR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ADC using SAR</a:t>
            </a:r>
          </a:p>
        </p:txBody>
      </p:sp>
      <p:sp>
        <p:nvSpPr>
          <p:cNvPr id="481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rPr/>
              <a:t>15</a:t>
            </a:fld>
            <a:endParaRPr/>
          </a:p>
        </p:txBody>
      </p:sp>
      <p:sp>
        <p:nvSpPr>
          <p:cNvPr id="482" name="control logic"/>
          <p:cNvSpPr/>
          <p:nvPr/>
        </p:nvSpPr>
        <p:spPr>
          <a:xfrm>
            <a:off x="6561666" y="4076700"/>
            <a:ext cx="1270001" cy="1270000"/>
          </a:xfrm>
          <a:prstGeom prst="rect">
            <a:avLst/>
          </a:prstGeom>
          <a:solidFill>
            <a:srgbClr val="6E8627"/>
          </a:solidFill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>
              <a:defRPr sz="2400" b="1">
                <a:solidFill>
                  <a:srgbClr val="FFFFFF"/>
                </a:solidFill>
              </a:defRPr>
            </a:lvl1pPr>
          </a:lstStyle>
          <a:p>
            <a:r>
              <a:t>control logic</a:t>
            </a:r>
          </a:p>
        </p:txBody>
      </p:sp>
      <p:grpSp>
        <p:nvGrpSpPr>
          <p:cNvPr id="486" name="Group"/>
          <p:cNvGrpSpPr/>
          <p:nvPr/>
        </p:nvGrpSpPr>
        <p:grpSpPr>
          <a:xfrm>
            <a:off x="4955249" y="4158191"/>
            <a:ext cx="1467843" cy="1970585"/>
            <a:chOff x="0" y="0"/>
            <a:chExt cx="1467842" cy="1970583"/>
          </a:xfrm>
        </p:grpSpPr>
        <p:sp>
          <p:nvSpPr>
            <p:cNvPr id="483" name="Triangle"/>
            <p:cNvSpPr/>
            <p:nvPr/>
          </p:nvSpPr>
          <p:spPr>
            <a:xfrm rot="5400000">
              <a:off x="-33933" y="33932"/>
              <a:ext cx="1107017" cy="103915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0800" y="0"/>
                  </a:move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solidFill>
              <a:srgbClr val="6E8627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 sz="2100" b="1"/>
              </a:pPr>
              <a:endParaRPr/>
            </a:p>
          </p:txBody>
        </p:sp>
        <p:sp>
          <p:nvSpPr>
            <p:cNvPr id="484" name="+"/>
            <p:cNvSpPr/>
            <p:nvPr/>
          </p:nvSpPr>
          <p:spPr>
            <a:xfrm>
              <a:off x="185142" y="319583"/>
              <a:ext cx="1270001" cy="1270001"/>
            </a:xfrm>
            <a:prstGeom prst="line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b="1">
                  <a:solidFill>
                    <a:srgbClr val="FFFFFF"/>
                  </a:solidFill>
                </a:defRPr>
              </a:lvl1pPr>
            </a:lstStyle>
            <a:p>
              <a:r>
                <a:t>+</a:t>
              </a:r>
            </a:p>
          </p:txBody>
        </p:sp>
        <p:sp>
          <p:nvSpPr>
            <p:cNvPr id="485" name="-"/>
            <p:cNvSpPr/>
            <p:nvPr/>
          </p:nvSpPr>
          <p:spPr>
            <a:xfrm>
              <a:off x="197842" y="700583"/>
              <a:ext cx="1270001" cy="1270001"/>
            </a:xfrm>
            <a:prstGeom prst="line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b="1">
                  <a:solidFill>
                    <a:srgbClr val="FFFFFF"/>
                  </a:solidFill>
                </a:defRPr>
              </a:lvl1pPr>
            </a:lstStyle>
            <a:p>
              <a:r>
                <a:t>-</a:t>
              </a:r>
            </a:p>
          </p:txBody>
        </p:sp>
      </p:grpSp>
      <p:sp>
        <p:nvSpPr>
          <p:cNvPr id="487" name="sample &amp; hold"/>
          <p:cNvSpPr/>
          <p:nvPr/>
        </p:nvSpPr>
        <p:spPr>
          <a:xfrm>
            <a:off x="2477108" y="3903133"/>
            <a:ext cx="1270001" cy="1270001"/>
          </a:xfrm>
          <a:prstGeom prst="rect">
            <a:avLst/>
          </a:prstGeom>
          <a:solidFill>
            <a:srgbClr val="6E8627"/>
          </a:solidFill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>
              <a:defRPr sz="2400" b="1">
                <a:solidFill>
                  <a:srgbClr val="FFFFFF"/>
                </a:solidFill>
              </a:defRPr>
            </a:lvl1pPr>
          </a:lstStyle>
          <a:p>
            <a:r>
              <a:t>sample &amp; hold</a:t>
            </a:r>
          </a:p>
        </p:txBody>
      </p:sp>
      <p:sp>
        <p:nvSpPr>
          <p:cNvPr id="488" name="DAC"/>
          <p:cNvSpPr/>
          <p:nvPr/>
        </p:nvSpPr>
        <p:spPr>
          <a:xfrm>
            <a:off x="8398933" y="6371166"/>
            <a:ext cx="2597944" cy="1270001"/>
          </a:xfrm>
          <a:prstGeom prst="rect">
            <a:avLst/>
          </a:prstGeom>
          <a:solidFill>
            <a:srgbClr val="6E8627"/>
          </a:solidFill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>
              <a:defRPr sz="2400" b="1">
                <a:solidFill>
                  <a:srgbClr val="FFFFFF"/>
                </a:solidFill>
              </a:defRPr>
            </a:lvl1pPr>
          </a:lstStyle>
          <a:p>
            <a:r>
              <a:t>DAC</a:t>
            </a:r>
          </a:p>
        </p:txBody>
      </p:sp>
      <p:sp>
        <p:nvSpPr>
          <p:cNvPr id="489" name="Vin"/>
          <p:cNvSpPr txBox="1"/>
          <p:nvPr/>
        </p:nvSpPr>
        <p:spPr>
          <a:xfrm>
            <a:off x="677240" y="4246033"/>
            <a:ext cx="596240" cy="584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r>
              <a:t>V</a:t>
            </a:r>
            <a:r>
              <a:rPr baseline="-5999"/>
              <a:t>in</a:t>
            </a:r>
          </a:p>
        </p:txBody>
      </p:sp>
      <p:sp>
        <p:nvSpPr>
          <p:cNvPr id="490" name="VDAC"/>
          <p:cNvSpPr txBox="1"/>
          <p:nvPr/>
        </p:nvSpPr>
        <p:spPr>
          <a:xfrm>
            <a:off x="6548635" y="6201833"/>
            <a:ext cx="957396" cy="584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r>
              <a:t>V</a:t>
            </a:r>
            <a:r>
              <a:rPr baseline="-5999"/>
              <a:t>DAC</a:t>
            </a:r>
          </a:p>
        </p:txBody>
      </p:sp>
      <p:sp>
        <p:nvSpPr>
          <p:cNvPr id="491" name="Vref"/>
          <p:cNvSpPr txBox="1"/>
          <p:nvPr/>
        </p:nvSpPr>
        <p:spPr>
          <a:xfrm>
            <a:off x="9347133" y="8439043"/>
            <a:ext cx="701544" cy="584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r>
              <a:t>V</a:t>
            </a:r>
            <a:r>
              <a:rPr baseline="-5999"/>
              <a:t>ref</a:t>
            </a:r>
          </a:p>
        </p:txBody>
      </p:sp>
      <p:sp>
        <p:nvSpPr>
          <p:cNvPr id="515" name="Connection Line"/>
          <p:cNvSpPr/>
          <p:nvPr/>
        </p:nvSpPr>
        <p:spPr>
          <a:xfrm>
            <a:off x="7831666" y="4713042"/>
            <a:ext cx="604630" cy="127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ln w="25400">
            <a:solidFill>
              <a:srgbClr val="000000"/>
            </a:solidFill>
            <a:miter lim="400000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516" name="Connection Line"/>
          <p:cNvSpPr/>
          <p:nvPr/>
        </p:nvSpPr>
        <p:spPr>
          <a:xfrm>
            <a:off x="5993957" y="4711699"/>
            <a:ext cx="567710" cy="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ln w="25400">
            <a:solidFill>
              <a:srgbClr val="000000"/>
            </a:solidFill>
            <a:miter lim="400000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517" name="Connection Line"/>
          <p:cNvSpPr/>
          <p:nvPr/>
        </p:nvSpPr>
        <p:spPr>
          <a:xfrm>
            <a:off x="3747108" y="4517958"/>
            <a:ext cx="1200601" cy="1319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lnTo>
                  <a:pt x="21600" y="0"/>
                </a:lnTo>
              </a:path>
            </a:pathLst>
          </a:custGeom>
          <a:ln w="25400">
            <a:solidFill>
              <a:srgbClr val="000000"/>
            </a:solidFill>
            <a:miter lim="400000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497" name="Line"/>
          <p:cNvSpPr/>
          <p:nvPr/>
        </p:nvSpPr>
        <p:spPr>
          <a:xfrm>
            <a:off x="4618566" y="6731000"/>
            <a:ext cx="3767668" cy="0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498" name="Line"/>
          <p:cNvSpPr/>
          <p:nvPr/>
        </p:nvSpPr>
        <p:spPr>
          <a:xfrm>
            <a:off x="4615258" y="4894283"/>
            <a:ext cx="1" cy="1840951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499" name="Line"/>
          <p:cNvSpPr/>
          <p:nvPr/>
        </p:nvSpPr>
        <p:spPr>
          <a:xfrm>
            <a:off x="4608919" y="4889500"/>
            <a:ext cx="350521" cy="0"/>
          </a:xfrm>
          <a:prstGeom prst="line">
            <a:avLst/>
          </a:prstGeom>
          <a:ln w="25400">
            <a:solidFill>
              <a:srgbClr val="000000"/>
            </a:solidFill>
            <a:miter lim="400000"/>
            <a:tailEnd type="triangle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500" name="Line"/>
          <p:cNvSpPr/>
          <p:nvPr/>
        </p:nvSpPr>
        <p:spPr>
          <a:xfrm>
            <a:off x="8795686" y="5360987"/>
            <a:ext cx="1" cy="1021293"/>
          </a:xfrm>
          <a:prstGeom prst="line">
            <a:avLst/>
          </a:prstGeom>
          <a:ln w="25400">
            <a:solidFill>
              <a:srgbClr val="000000"/>
            </a:solidFill>
            <a:miter lim="400000"/>
            <a:tailEnd type="triangle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501" name="Line"/>
          <p:cNvSpPr/>
          <p:nvPr/>
        </p:nvSpPr>
        <p:spPr>
          <a:xfrm>
            <a:off x="9396819" y="5360987"/>
            <a:ext cx="1" cy="1021293"/>
          </a:xfrm>
          <a:prstGeom prst="line">
            <a:avLst/>
          </a:prstGeom>
          <a:ln w="25400">
            <a:solidFill>
              <a:srgbClr val="000000"/>
            </a:solidFill>
            <a:miter lim="400000"/>
            <a:tailEnd type="triangle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502" name="Line"/>
          <p:cNvSpPr/>
          <p:nvPr/>
        </p:nvSpPr>
        <p:spPr>
          <a:xfrm>
            <a:off x="9997953" y="5360987"/>
            <a:ext cx="1" cy="1021293"/>
          </a:xfrm>
          <a:prstGeom prst="line">
            <a:avLst/>
          </a:prstGeom>
          <a:ln w="25400">
            <a:solidFill>
              <a:srgbClr val="000000"/>
            </a:solidFill>
            <a:miter lim="400000"/>
            <a:tailEnd type="triangle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503" name="Line"/>
          <p:cNvSpPr/>
          <p:nvPr/>
        </p:nvSpPr>
        <p:spPr>
          <a:xfrm>
            <a:off x="10599086" y="5360987"/>
            <a:ext cx="1" cy="1021293"/>
          </a:xfrm>
          <a:prstGeom prst="line">
            <a:avLst/>
          </a:prstGeom>
          <a:ln w="25400">
            <a:solidFill>
              <a:srgbClr val="000000"/>
            </a:solidFill>
            <a:miter lim="400000"/>
            <a:tailEnd type="triangle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504" name="Line"/>
          <p:cNvSpPr/>
          <p:nvPr/>
        </p:nvSpPr>
        <p:spPr>
          <a:xfrm flipV="1">
            <a:off x="10576226" y="5505979"/>
            <a:ext cx="831029" cy="1"/>
          </a:xfrm>
          <a:prstGeom prst="line">
            <a:avLst/>
          </a:prstGeom>
          <a:ln w="25400">
            <a:solidFill>
              <a:srgbClr val="000000"/>
            </a:solidFill>
            <a:miter lim="400000"/>
            <a:headEnd type="oval"/>
            <a:tailEnd type="triangle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505" name="Line"/>
          <p:cNvSpPr/>
          <p:nvPr/>
        </p:nvSpPr>
        <p:spPr>
          <a:xfrm>
            <a:off x="9978398" y="5702300"/>
            <a:ext cx="1428857" cy="0"/>
          </a:xfrm>
          <a:prstGeom prst="line">
            <a:avLst/>
          </a:prstGeom>
          <a:ln w="25400">
            <a:solidFill>
              <a:srgbClr val="000000"/>
            </a:solidFill>
            <a:miter lim="400000"/>
            <a:headEnd type="oval"/>
            <a:tailEnd type="triangle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506" name="Line"/>
          <p:cNvSpPr/>
          <p:nvPr/>
        </p:nvSpPr>
        <p:spPr>
          <a:xfrm>
            <a:off x="9380227" y="5898620"/>
            <a:ext cx="2033883" cy="1"/>
          </a:xfrm>
          <a:prstGeom prst="line">
            <a:avLst/>
          </a:prstGeom>
          <a:ln w="25400">
            <a:solidFill>
              <a:srgbClr val="000000"/>
            </a:solidFill>
            <a:miter lim="400000"/>
            <a:headEnd type="oval"/>
            <a:tailEnd type="triangle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507" name="Line"/>
          <p:cNvSpPr/>
          <p:nvPr/>
        </p:nvSpPr>
        <p:spPr>
          <a:xfrm>
            <a:off x="8772596" y="6094941"/>
            <a:ext cx="2641514" cy="1"/>
          </a:xfrm>
          <a:prstGeom prst="line">
            <a:avLst/>
          </a:prstGeom>
          <a:ln w="25400">
            <a:solidFill>
              <a:srgbClr val="000000"/>
            </a:solidFill>
            <a:miter lim="400000"/>
            <a:headEnd type="oval"/>
            <a:tailEnd type="triangle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508" name="out"/>
          <p:cNvSpPr txBox="1"/>
          <p:nvPr/>
        </p:nvSpPr>
        <p:spPr>
          <a:xfrm>
            <a:off x="11541974" y="5448299"/>
            <a:ext cx="679253" cy="584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r>
              <a:t>out</a:t>
            </a:r>
          </a:p>
        </p:txBody>
      </p:sp>
      <p:sp>
        <p:nvSpPr>
          <p:cNvPr id="509" name="16V"/>
          <p:cNvSpPr txBox="1"/>
          <p:nvPr/>
        </p:nvSpPr>
        <p:spPr>
          <a:xfrm>
            <a:off x="9655599" y="7850082"/>
            <a:ext cx="837408" cy="584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r>
              <a:t>16V</a:t>
            </a:r>
          </a:p>
        </p:txBody>
      </p:sp>
      <p:sp>
        <p:nvSpPr>
          <p:cNvPr id="510" name="successive…"/>
          <p:cNvSpPr txBox="1"/>
          <p:nvPr/>
        </p:nvSpPr>
        <p:spPr>
          <a:xfrm>
            <a:off x="8593944" y="2893483"/>
            <a:ext cx="2207922" cy="1168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>
              <a:defRPr sz="2300" b="1"/>
            </a:pPr>
            <a:r>
              <a:t>successive </a:t>
            </a:r>
          </a:p>
          <a:p>
            <a:pPr>
              <a:defRPr sz="2300" b="1"/>
            </a:pPr>
            <a:r>
              <a:t>approximation </a:t>
            </a:r>
          </a:p>
          <a:p>
            <a:pPr>
              <a:defRPr sz="2300" b="1"/>
            </a:pPr>
            <a:r>
              <a:t>register</a:t>
            </a:r>
          </a:p>
        </p:txBody>
      </p:sp>
      <p:graphicFrame>
        <p:nvGraphicFramePr>
          <p:cNvPr id="511" name="Table 1"/>
          <p:cNvGraphicFramePr/>
          <p:nvPr/>
        </p:nvGraphicFramePr>
        <p:xfrm>
          <a:off x="8499795" y="4120091"/>
          <a:ext cx="2396216" cy="1182581"/>
        </p:xfrm>
        <a:graphic>
          <a:graphicData uri="http://schemas.openxmlformats.org/drawingml/2006/table">
            <a:tbl>
              <a:tblPr>
                <a:tableStyleId>{4A9BC294-FFE2-49D5-8D69-9E1BD2C41BD5}</a:tableStyleId>
              </a:tblPr>
              <a:tblGrid>
                <a:gridCol w="59905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9905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9905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9905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182581">
                <a:tc>
                  <a:txBody>
                    <a:bodyPr/>
                    <a:lstStyle/>
                    <a:p>
                      <a:pPr algn="ctr">
                        <a:spcBef>
                          <a:spcPts val="4200"/>
                        </a:spcBef>
                        <a:defRPr sz="3200"/>
                      </a:pPr>
                      <a:r>
                        <a:rPr>
                          <a:solidFill>
                            <a:schemeClr val="accent6">
                              <a:satOff val="-15808"/>
                              <a:lumOff val="-17557"/>
                            </a:schemeClr>
                          </a:solidFill>
                          <a:latin typeface="Courier"/>
                          <a:ea typeface="Courier"/>
                          <a:cs typeface="Courier"/>
                          <a:sym typeface="Courier"/>
                        </a:rPr>
                        <a:t>1</a:t>
                      </a:r>
                    </a:p>
                  </a:txBody>
                  <a:tcPr marL="50800" marR="50800" marT="50800" marB="50800" anchor="ctr" horzOverflow="overflow">
                    <a:lnL w="101600">
                      <a:solidFill>
                        <a:srgbClr val="6E8627"/>
                      </a:solidFill>
                      <a:miter lim="400000"/>
                    </a:lnL>
                    <a:lnR w="101600">
                      <a:solidFill>
                        <a:srgbClr val="6E8627"/>
                      </a:solidFill>
                      <a:miter lim="400000"/>
                    </a:lnR>
                    <a:lnT w="101600">
                      <a:solidFill>
                        <a:srgbClr val="6E8627"/>
                      </a:solidFill>
                      <a:miter lim="400000"/>
                    </a:lnT>
                    <a:lnB w="101600">
                      <a:solidFill>
                        <a:srgbClr val="6E8627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4200"/>
                        </a:spcBef>
                        <a:defRPr sz="3200"/>
                      </a:pPr>
                      <a:r>
                        <a:rPr>
                          <a:solidFill>
                            <a:schemeClr val="accent6">
                              <a:satOff val="-15808"/>
                              <a:lumOff val="-17557"/>
                            </a:schemeClr>
                          </a:solidFill>
                          <a:latin typeface="Courier"/>
                          <a:ea typeface="Courier"/>
                          <a:cs typeface="Courier"/>
                          <a:sym typeface="Courier"/>
                        </a:rPr>
                        <a:t>0</a:t>
                      </a:r>
                    </a:p>
                  </a:txBody>
                  <a:tcPr marL="50800" marR="50800" marT="50800" marB="50800" anchor="ctr" horzOverflow="overflow">
                    <a:lnL w="101600">
                      <a:solidFill>
                        <a:srgbClr val="6E8627"/>
                      </a:solidFill>
                      <a:miter lim="400000"/>
                    </a:lnL>
                    <a:lnR w="101600">
                      <a:solidFill>
                        <a:srgbClr val="6E8627"/>
                      </a:solidFill>
                      <a:miter lim="400000"/>
                    </a:lnR>
                    <a:lnT w="101600">
                      <a:solidFill>
                        <a:srgbClr val="6E8627"/>
                      </a:solidFill>
                      <a:miter lim="400000"/>
                    </a:lnT>
                    <a:lnB w="101600">
                      <a:solidFill>
                        <a:srgbClr val="6E8627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4200"/>
                        </a:spcBef>
                        <a:defRPr sz="3200"/>
                      </a:pPr>
                      <a:r>
                        <a:rPr>
                          <a:solidFill>
                            <a:schemeClr val="accent6">
                              <a:satOff val="-15808"/>
                              <a:lumOff val="-17557"/>
                            </a:schemeClr>
                          </a:solidFill>
                          <a:latin typeface="Courier"/>
                          <a:ea typeface="Courier"/>
                          <a:cs typeface="Courier"/>
                          <a:sym typeface="Courier"/>
                        </a:rPr>
                        <a:t>0</a:t>
                      </a:r>
                    </a:p>
                  </a:txBody>
                  <a:tcPr marL="50800" marR="50800" marT="50800" marB="50800" anchor="ctr" horzOverflow="overflow">
                    <a:lnL w="101600">
                      <a:solidFill>
                        <a:srgbClr val="6E8627"/>
                      </a:solidFill>
                      <a:miter lim="400000"/>
                    </a:lnL>
                    <a:lnR w="101600">
                      <a:solidFill>
                        <a:srgbClr val="6E8627"/>
                      </a:solidFill>
                      <a:miter lim="400000"/>
                    </a:lnR>
                    <a:lnT w="101600">
                      <a:solidFill>
                        <a:srgbClr val="6E8627"/>
                      </a:solidFill>
                      <a:miter lim="400000"/>
                    </a:lnT>
                    <a:lnB w="101600">
                      <a:solidFill>
                        <a:srgbClr val="6E8627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4200"/>
                        </a:spcBef>
                        <a:defRPr sz="3200"/>
                      </a:pPr>
                      <a:r>
                        <a:rPr>
                          <a:solidFill>
                            <a:schemeClr val="accent6">
                              <a:satOff val="-15808"/>
                              <a:lumOff val="-17557"/>
                            </a:schemeClr>
                          </a:solidFill>
                          <a:latin typeface="Courier"/>
                          <a:ea typeface="Courier"/>
                          <a:cs typeface="Courier"/>
                          <a:sym typeface="Courier"/>
                        </a:rPr>
                        <a:t>0</a:t>
                      </a:r>
                    </a:p>
                  </a:txBody>
                  <a:tcPr marL="50800" marR="50800" marT="50800" marB="50800" anchor="ctr" horzOverflow="overflow">
                    <a:lnL w="101600">
                      <a:solidFill>
                        <a:srgbClr val="6E8627"/>
                      </a:solidFill>
                      <a:miter lim="400000"/>
                    </a:lnL>
                    <a:lnR w="101600">
                      <a:solidFill>
                        <a:srgbClr val="6E8627"/>
                      </a:solidFill>
                      <a:miter lim="400000"/>
                    </a:lnR>
                    <a:lnT w="101600">
                      <a:solidFill>
                        <a:srgbClr val="6E8627"/>
                      </a:solidFill>
                      <a:miter lim="400000"/>
                    </a:lnT>
                    <a:lnB w="101600">
                      <a:solidFill>
                        <a:srgbClr val="6E8627"/>
                      </a:solidFill>
                      <a:miter lim="400000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512" name="8V"/>
          <p:cNvSpPr txBox="1"/>
          <p:nvPr/>
        </p:nvSpPr>
        <p:spPr>
          <a:xfrm>
            <a:off x="6721640" y="6714066"/>
            <a:ext cx="611387" cy="584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r>
              <a:t>8V</a:t>
            </a:r>
          </a:p>
        </p:txBody>
      </p:sp>
      <p:sp>
        <p:nvSpPr>
          <p:cNvPr id="513" name="5.5V"/>
          <p:cNvSpPr txBox="1"/>
          <p:nvPr/>
        </p:nvSpPr>
        <p:spPr>
          <a:xfrm>
            <a:off x="3951718" y="3909482"/>
            <a:ext cx="950318" cy="584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r>
              <a:t>5.5V</a:t>
            </a:r>
          </a:p>
        </p:txBody>
      </p:sp>
      <p:sp>
        <p:nvSpPr>
          <p:cNvPr id="514" name="5.5V"/>
          <p:cNvSpPr txBox="1"/>
          <p:nvPr/>
        </p:nvSpPr>
        <p:spPr>
          <a:xfrm>
            <a:off x="1397879" y="3909482"/>
            <a:ext cx="950318" cy="584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r>
              <a:t>5.5V</a:t>
            </a:r>
          </a:p>
        </p:txBody>
      </p:sp>
      <p:cxnSp>
        <p:nvCxnSpPr>
          <p:cNvPr id="2" name="Connection Line">
            <a:extLst>
              <a:ext uri="{FF2B5EF4-FFF2-40B4-BE49-F238E27FC236}">
                <a16:creationId xmlns:a16="http://schemas.microsoft.com/office/drawing/2014/main" id="{A7124EFC-2D97-54D1-9942-4C82A85166CD}"/>
              </a:ext>
            </a:extLst>
          </p:cNvPr>
          <p:cNvCxnSpPr>
            <a:cxnSpLocks/>
          </p:cNvCxnSpPr>
          <p:nvPr/>
        </p:nvCxnSpPr>
        <p:spPr>
          <a:xfrm>
            <a:off x="1273480" y="4538134"/>
            <a:ext cx="1203628" cy="0"/>
          </a:xfrm>
          <a:prstGeom prst="straightConnector1">
            <a:avLst/>
          </a:prstGeom>
          <a:ln w="25400">
            <a:solidFill>
              <a:srgbClr val="000000"/>
            </a:solidFill>
            <a:miter lim="400000"/>
            <a:tailEnd type="triangle"/>
          </a:ln>
        </p:spPr>
      </p:cxnSp>
      <p:cxnSp>
        <p:nvCxnSpPr>
          <p:cNvPr id="3" name="Connection Line">
            <a:extLst>
              <a:ext uri="{FF2B5EF4-FFF2-40B4-BE49-F238E27FC236}">
                <a16:creationId xmlns:a16="http://schemas.microsoft.com/office/drawing/2014/main" id="{88649019-9EB1-0AD4-AD50-CF9CB5BFBAC8}"/>
              </a:ext>
            </a:extLst>
          </p:cNvPr>
          <p:cNvCxnSpPr>
            <a:cxnSpLocks/>
          </p:cNvCxnSpPr>
          <p:nvPr/>
        </p:nvCxnSpPr>
        <p:spPr>
          <a:xfrm flipV="1">
            <a:off x="9697905" y="7641167"/>
            <a:ext cx="0" cy="797876"/>
          </a:xfrm>
          <a:prstGeom prst="straightConnector1">
            <a:avLst/>
          </a:prstGeom>
          <a:ln w="25400">
            <a:solidFill>
              <a:srgbClr val="000000"/>
            </a:solidFill>
            <a:miter lim="400000"/>
            <a:tailEnd type="triangle"/>
          </a:ln>
        </p:spPr>
      </p:cxnSp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1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5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2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5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3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4" fill="hold"/>
                                        <p:tgtEl>
                                          <p:spTgt spid="5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4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8" fill="hold"/>
                                        <p:tgtEl>
                                          <p:spTgt spid="5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1" grpId="1" animBg="1" advAuto="0"/>
      <p:bldP spid="512" grpId="2" animBg="1" advAuto="0"/>
      <p:bldP spid="513" grpId="4" animBg="1" advAuto="0"/>
      <p:bldP spid="514" grpId="3" animBg="1" advAuto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9" name="ADC using SAR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ADC using SAR</a:t>
            </a:r>
          </a:p>
        </p:txBody>
      </p:sp>
      <p:sp>
        <p:nvSpPr>
          <p:cNvPr id="520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rPr/>
              <a:t>16</a:t>
            </a:fld>
            <a:endParaRPr/>
          </a:p>
        </p:txBody>
      </p:sp>
      <p:sp>
        <p:nvSpPr>
          <p:cNvPr id="521" name="control logic"/>
          <p:cNvSpPr/>
          <p:nvPr/>
        </p:nvSpPr>
        <p:spPr>
          <a:xfrm>
            <a:off x="6561666" y="4076700"/>
            <a:ext cx="1270001" cy="1270000"/>
          </a:xfrm>
          <a:prstGeom prst="rect">
            <a:avLst/>
          </a:prstGeom>
          <a:solidFill>
            <a:srgbClr val="6E8627"/>
          </a:solidFill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>
              <a:defRPr sz="2400" b="1">
                <a:solidFill>
                  <a:srgbClr val="FFFFFF"/>
                </a:solidFill>
              </a:defRPr>
            </a:lvl1pPr>
          </a:lstStyle>
          <a:p>
            <a:r>
              <a:t>control logic</a:t>
            </a:r>
          </a:p>
        </p:txBody>
      </p:sp>
      <p:grpSp>
        <p:nvGrpSpPr>
          <p:cNvPr id="525" name="Group"/>
          <p:cNvGrpSpPr/>
          <p:nvPr/>
        </p:nvGrpSpPr>
        <p:grpSpPr>
          <a:xfrm>
            <a:off x="4955249" y="4158191"/>
            <a:ext cx="1467843" cy="1970585"/>
            <a:chOff x="0" y="0"/>
            <a:chExt cx="1467842" cy="1970583"/>
          </a:xfrm>
        </p:grpSpPr>
        <p:sp>
          <p:nvSpPr>
            <p:cNvPr id="522" name="Triangle"/>
            <p:cNvSpPr/>
            <p:nvPr/>
          </p:nvSpPr>
          <p:spPr>
            <a:xfrm rot="5400000">
              <a:off x="-33933" y="33932"/>
              <a:ext cx="1107017" cy="103915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0800" y="0"/>
                  </a:move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solidFill>
              <a:srgbClr val="6E8627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 sz="2100" b="1"/>
              </a:pPr>
              <a:endParaRPr/>
            </a:p>
          </p:txBody>
        </p:sp>
        <p:sp>
          <p:nvSpPr>
            <p:cNvPr id="523" name="+"/>
            <p:cNvSpPr/>
            <p:nvPr/>
          </p:nvSpPr>
          <p:spPr>
            <a:xfrm>
              <a:off x="185142" y="319583"/>
              <a:ext cx="1270001" cy="1270001"/>
            </a:xfrm>
            <a:prstGeom prst="line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b="1">
                  <a:solidFill>
                    <a:srgbClr val="FFFFFF"/>
                  </a:solidFill>
                </a:defRPr>
              </a:lvl1pPr>
            </a:lstStyle>
            <a:p>
              <a:r>
                <a:t>+</a:t>
              </a:r>
            </a:p>
          </p:txBody>
        </p:sp>
        <p:sp>
          <p:nvSpPr>
            <p:cNvPr id="524" name="-"/>
            <p:cNvSpPr/>
            <p:nvPr/>
          </p:nvSpPr>
          <p:spPr>
            <a:xfrm>
              <a:off x="197842" y="700583"/>
              <a:ext cx="1270001" cy="1270001"/>
            </a:xfrm>
            <a:prstGeom prst="line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b="1">
                  <a:solidFill>
                    <a:srgbClr val="FFFFFF"/>
                  </a:solidFill>
                </a:defRPr>
              </a:lvl1pPr>
            </a:lstStyle>
            <a:p>
              <a:r>
                <a:t>-</a:t>
              </a:r>
            </a:p>
          </p:txBody>
        </p:sp>
      </p:grpSp>
      <p:sp>
        <p:nvSpPr>
          <p:cNvPr id="526" name="sample &amp; hold"/>
          <p:cNvSpPr/>
          <p:nvPr/>
        </p:nvSpPr>
        <p:spPr>
          <a:xfrm>
            <a:off x="2477108" y="3903133"/>
            <a:ext cx="1270001" cy="1270001"/>
          </a:xfrm>
          <a:prstGeom prst="rect">
            <a:avLst/>
          </a:prstGeom>
          <a:solidFill>
            <a:srgbClr val="6E8627"/>
          </a:solidFill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>
              <a:defRPr sz="2400" b="1">
                <a:solidFill>
                  <a:srgbClr val="FFFFFF"/>
                </a:solidFill>
              </a:defRPr>
            </a:lvl1pPr>
          </a:lstStyle>
          <a:p>
            <a:r>
              <a:t>sample &amp; hold</a:t>
            </a:r>
          </a:p>
        </p:txBody>
      </p:sp>
      <p:sp>
        <p:nvSpPr>
          <p:cNvPr id="527" name="DAC"/>
          <p:cNvSpPr/>
          <p:nvPr/>
        </p:nvSpPr>
        <p:spPr>
          <a:xfrm>
            <a:off x="8398933" y="6371166"/>
            <a:ext cx="2597944" cy="1270001"/>
          </a:xfrm>
          <a:prstGeom prst="rect">
            <a:avLst/>
          </a:prstGeom>
          <a:solidFill>
            <a:srgbClr val="6E8627"/>
          </a:solidFill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>
              <a:defRPr sz="2400" b="1">
                <a:solidFill>
                  <a:srgbClr val="FFFFFF"/>
                </a:solidFill>
              </a:defRPr>
            </a:lvl1pPr>
          </a:lstStyle>
          <a:p>
            <a:r>
              <a:t>DAC</a:t>
            </a:r>
          </a:p>
        </p:txBody>
      </p:sp>
      <p:sp>
        <p:nvSpPr>
          <p:cNvPr id="528" name="Vin"/>
          <p:cNvSpPr txBox="1"/>
          <p:nvPr/>
        </p:nvSpPr>
        <p:spPr>
          <a:xfrm>
            <a:off x="677240" y="4246033"/>
            <a:ext cx="596240" cy="584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r>
              <a:t>V</a:t>
            </a:r>
            <a:r>
              <a:rPr baseline="-5999"/>
              <a:t>in</a:t>
            </a:r>
          </a:p>
        </p:txBody>
      </p:sp>
      <p:sp>
        <p:nvSpPr>
          <p:cNvPr id="529" name="VDAC"/>
          <p:cNvSpPr txBox="1"/>
          <p:nvPr/>
        </p:nvSpPr>
        <p:spPr>
          <a:xfrm>
            <a:off x="6548635" y="6201833"/>
            <a:ext cx="957396" cy="584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r>
              <a:t>V</a:t>
            </a:r>
            <a:r>
              <a:rPr baseline="-5999"/>
              <a:t>DAC</a:t>
            </a:r>
          </a:p>
        </p:txBody>
      </p:sp>
      <p:sp>
        <p:nvSpPr>
          <p:cNvPr id="530" name="Vref"/>
          <p:cNvSpPr txBox="1"/>
          <p:nvPr/>
        </p:nvSpPr>
        <p:spPr>
          <a:xfrm>
            <a:off x="9347133" y="8439043"/>
            <a:ext cx="701544" cy="584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r>
              <a:t>V</a:t>
            </a:r>
            <a:r>
              <a:rPr baseline="-5999"/>
              <a:t>ref</a:t>
            </a:r>
          </a:p>
        </p:txBody>
      </p:sp>
      <p:sp>
        <p:nvSpPr>
          <p:cNvPr id="554" name="Connection Line"/>
          <p:cNvSpPr/>
          <p:nvPr/>
        </p:nvSpPr>
        <p:spPr>
          <a:xfrm>
            <a:off x="7831666" y="4713042"/>
            <a:ext cx="604630" cy="127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ln w="25400">
            <a:solidFill>
              <a:srgbClr val="000000"/>
            </a:solidFill>
            <a:miter lim="400000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555" name="Connection Line"/>
          <p:cNvSpPr/>
          <p:nvPr/>
        </p:nvSpPr>
        <p:spPr>
          <a:xfrm>
            <a:off x="5993957" y="4711699"/>
            <a:ext cx="567710" cy="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ln w="25400">
            <a:solidFill>
              <a:srgbClr val="000000"/>
            </a:solidFill>
            <a:miter lim="400000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556" name="Connection Line"/>
          <p:cNvSpPr/>
          <p:nvPr/>
        </p:nvSpPr>
        <p:spPr>
          <a:xfrm>
            <a:off x="3747108" y="4517958"/>
            <a:ext cx="1200601" cy="1319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lnTo>
                  <a:pt x="21600" y="0"/>
                </a:lnTo>
              </a:path>
            </a:pathLst>
          </a:custGeom>
          <a:ln w="25400">
            <a:solidFill>
              <a:srgbClr val="000000"/>
            </a:solidFill>
            <a:miter lim="400000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536" name="Line"/>
          <p:cNvSpPr/>
          <p:nvPr/>
        </p:nvSpPr>
        <p:spPr>
          <a:xfrm>
            <a:off x="4618566" y="6731000"/>
            <a:ext cx="3767668" cy="0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537" name="Line"/>
          <p:cNvSpPr/>
          <p:nvPr/>
        </p:nvSpPr>
        <p:spPr>
          <a:xfrm>
            <a:off x="4615258" y="4894283"/>
            <a:ext cx="1" cy="1840951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538" name="Line"/>
          <p:cNvSpPr/>
          <p:nvPr/>
        </p:nvSpPr>
        <p:spPr>
          <a:xfrm>
            <a:off x="4608919" y="4889500"/>
            <a:ext cx="350521" cy="0"/>
          </a:xfrm>
          <a:prstGeom prst="line">
            <a:avLst/>
          </a:prstGeom>
          <a:ln w="25400">
            <a:solidFill>
              <a:srgbClr val="000000"/>
            </a:solidFill>
            <a:miter lim="400000"/>
            <a:tailEnd type="triangle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539" name="Line"/>
          <p:cNvSpPr/>
          <p:nvPr/>
        </p:nvSpPr>
        <p:spPr>
          <a:xfrm>
            <a:off x="8795686" y="5360987"/>
            <a:ext cx="1" cy="1021293"/>
          </a:xfrm>
          <a:prstGeom prst="line">
            <a:avLst/>
          </a:prstGeom>
          <a:ln w="25400">
            <a:solidFill>
              <a:srgbClr val="000000"/>
            </a:solidFill>
            <a:miter lim="400000"/>
            <a:tailEnd type="triangle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540" name="Line"/>
          <p:cNvSpPr/>
          <p:nvPr/>
        </p:nvSpPr>
        <p:spPr>
          <a:xfrm>
            <a:off x="9396819" y="5360987"/>
            <a:ext cx="1" cy="1021293"/>
          </a:xfrm>
          <a:prstGeom prst="line">
            <a:avLst/>
          </a:prstGeom>
          <a:ln w="25400">
            <a:solidFill>
              <a:srgbClr val="000000"/>
            </a:solidFill>
            <a:miter lim="400000"/>
            <a:tailEnd type="triangle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541" name="Line"/>
          <p:cNvSpPr/>
          <p:nvPr/>
        </p:nvSpPr>
        <p:spPr>
          <a:xfrm>
            <a:off x="9997953" y="5360987"/>
            <a:ext cx="1" cy="1021293"/>
          </a:xfrm>
          <a:prstGeom prst="line">
            <a:avLst/>
          </a:prstGeom>
          <a:ln w="25400">
            <a:solidFill>
              <a:srgbClr val="000000"/>
            </a:solidFill>
            <a:miter lim="400000"/>
            <a:tailEnd type="triangle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542" name="Line"/>
          <p:cNvSpPr/>
          <p:nvPr/>
        </p:nvSpPr>
        <p:spPr>
          <a:xfrm>
            <a:off x="10599086" y="5360987"/>
            <a:ext cx="1" cy="1021293"/>
          </a:xfrm>
          <a:prstGeom prst="line">
            <a:avLst/>
          </a:prstGeom>
          <a:ln w="25400">
            <a:solidFill>
              <a:srgbClr val="000000"/>
            </a:solidFill>
            <a:miter lim="400000"/>
            <a:tailEnd type="triangle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543" name="Line"/>
          <p:cNvSpPr/>
          <p:nvPr/>
        </p:nvSpPr>
        <p:spPr>
          <a:xfrm flipV="1">
            <a:off x="10576226" y="5505979"/>
            <a:ext cx="831029" cy="1"/>
          </a:xfrm>
          <a:prstGeom prst="line">
            <a:avLst/>
          </a:prstGeom>
          <a:ln w="25400">
            <a:solidFill>
              <a:srgbClr val="000000"/>
            </a:solidFill>
            <a:miter lim="400000"/>
            <a:headEnd type="oval"/>
            <a:tailEnd type="triangle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544" name="Line"/>
          <p:cNvSpPr/>
          <p:nvPr/>
        </p:nvSpPr>
        <p:spPr>
          <a:xfrm>
            <a:off x="9978398" y="5702300"/>
            <a:ext cx="1428857" cy="0"/>
          </a:xfrm>
          <a:prstGeom prst="line">
            <a:avLst/>
          </a:prstGeom>
          <a:ln w="25400">
            <a:solidFill>
              <a:srgbClr val="000000"/>
            </a:solidFill>
            <a:miter lim="400000"/>
            <a:headEnd type="oval"/>
            <a:tailEnd type="triangle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545" name="Line"/>
          <p:cNvSpPr/>
          <p:nvPr/>
        </p:nvSpPr>
        <p:spPr>
          <a:xfrm>
            <a:off x="9380227" y="5898620"/>
            <a:ext cx="2033883" cy="1"/>
          </a:xfrm>
          <a:prstGeom prst="line">
            <a:avLst/>
          </a:prstGeom>
          <a:ln w="25400">
            <a:solidFill>
              <a:srgbClr val="000000"/>
            </a:solidFill>
            <a:miter lim="400000"/>
            <a:headEnd type="oval"/>
            <a:tailEnd type="triangle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546" name="Line"/>
          <p:cNvSpPr/>
          <p:nvPr/>
        </p:nvSpPr>
        <p:spPr>
          <a:xfrm>
            <a:off x="8772596" y="6094941"/>
            <a:ext cx="2641514" cy="1"/>
          </a:xfrm>
          <a:prstGeom prst="line">
            <a:avLst/>
          </a:prstGeom>
          <a:ln w="25400">
            <a:solidFill>
              <a:srgbClr val="000000"/>
            </a:solidFill>
            <a:miter lim="400000"/>
            <a:headEnd type="oval"/>
            <a:tailEnd type="triangle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547" name="out"/>
          <p:cNvSpPr txBox="1"/>
          <p:nvPr/>
        </p:nvSpPr>
        <p:spPr>
          <a:xfrm>
            <a:off x="11541974" y="5448299"/>
            <a:ext cx="679253" cy="584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r>
              <a:t>out</a:t>
            </a:r>
          </a:p>
        </p:txBody>
      </p:sp>
      <p:sp>
        <p:nvSpPr>
          <p:cNvPr id="548" name="16V"/>
          <p:cNvSpPr txBox="1"/>
          <p:nvPr/>
        </p:nvSpPr>
        <p:spPr>
          <a:xfrm>
            <a:off x="9655599" y="7850082"/>
            <a:ext cx="837408" cy="584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r>
              <a:t>16V</a:t>
            </a:r>
          </a:p>
        </p:txBody>
      </p:sp>
      <p:sp>
        <p:nvSpPr>
          <p:cNvPr id="549" name="successive…"/>
          <p:cNvSpPr txBox="1"/>
          <p:nvPr/>
        </p:nvSpPr>
        <p:spPr>
          <a:xfrm>
            <a:off x="8593944" y="2893483"/>
            <a:ext cx="2207922" cy="1168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>
              <a:defRPr sz="2300" b="1"/>
            </a:pPr>
            <a:r>
              <a:t>successive </a:t>
            </a:r>
          </a:p>
          <a:p>
            <a:pPr>
              <a:defRPr sz="2300" b="1"/>
            </a:pPr>
            <a:r>
              <a:t>approximation </a:t>
            </a:r>
          </a:p>
          <a:p>
            <a:pPr>
              <a:defRPr sz="2300" b="1"/>
            </a:pPr>
            <a:r>
              <a:t>register</a:t>
            </a:r>
          </a:p>
        </p:txBody>
      </p:sp>
      <p:graphicFrame>
        <p:nvGraphicFramePr>
          <p:cNvPr id="550" name="Table 1"/>
          <p:cNvGraphicFramePr/>
          <p:nvPr/>
        </p:nvGraphicFramePr>
        <p:xfrm>
          <a:off x="8499795" y="4120091"/>
          <a:ext cx="2396216" cy="1182581"/>
        </p:xfrm>
        <a:graphic>
          <a:graphicData uri="http://schemas.openxmlformats.org/drawingml/2006/table">
            <a:tbl>
              <a:tblPr>
                <a:tableStyleId>{4A9BC294-FFE2-49D5-8D69-9E1BD2C41BD5}</a:tableStyleId>
              </a:tblPr>
              <a:tblGrid>
                <a:gridCol w="59905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9905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9905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9905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182581">
                <a:tc>
                  <a:txBody>
                    <a:bodyPr/>
                    <a:lstStyle/>
                    <a:p>
                      <a:pPr algn="ctr">
                        <a:spcBef>
                          <a:spcPts val="4200"/>
                        </a:spcBef>
                        <a:defRPr sz="3200"/>
                      </a:pPr>
                      <a:r>
                        <a:rPr>
                          <a:solidFill>
                            <a:schemeClr val="accent6">
                              <a:satOff val="-15808"/>
                              <a:lumOff val="-17557"/>
                            </a:schemeClr>
                          </a:solidFill>
                          <a:latin typeface="Courier"/>
                          <a:ea typeface="Courier"/>
                          <a:cs typeface="Courier"/>
                          <a:sym typeface="Courier"/>
                        </a:rPr>
                        <a:t>0</a:t>
                      </a:r>
                    </a:p>
                  </a:txBody>
                  <a:tcPr marL="50800" marR="50800" marT="50800" marB="50800" anchor="ctr" horzOverflow="overflow">
                    <a:lnL w="101600">
                      <a:solidFill>
                        <a:srgbClr val="6E8627"/>
                      </a:solidFill>
                      <a:miter lim="400000"/>
                    </a:lnL>
                    <a:lnR w="101600">
                      <a:solidFill>
                        <a:srgbClr val="6E8627"/>
                      </a:solidFill>
                      <a:miter lim="400000"/>
                    </a:lnR>
                    <a:lnT w="101600">
                      <a:solidFill>
                        <a:srgbClr val="6E8627"/>
                      </a:solidFill>
                      <a:miter lim="400000"/>
                    </a:lnT>
                    <a:lnB w="101600">
                      <a:solidFill>
                        <a:srgbClr val="6E8627"/>
                      </a:solidFill>
                      <a:miter lim="400000"/>
                    </a:lnB>
                    <a:solidFill>
                      <a:schemeClr val="accent3">
                        <a:hueOff val="-274225"/>
                        <a:satOff val="26768"/>
                        <a:lumOff val="11368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4200"/>
                        </a:spcBef>
                        <a:defRPr sz="3200"/>
                      </a:pPr>
                      <a:r>
                        <a:rPr>
                          <a:solidFill>
                            <a:schemeClr val="accent6">
                              <a:satOff val="-15808"/>
                              <a:lumOff val="-17557"/>
                            </a:schemeClr>
                          </a:solidFill>
                          <a:latin typeface="Courier"/>
                          <a:ea typeface="Courier"/>
                          <a:cs typeface="Courier"/>
                          <a:sym typeface="Courier"/>
                        </a:rPr>
                        <a:t>1</a:t>
                      </a:r>
                    </a:p>
                  </a:txBody>
                  <a:tcPr marL="50800" marR="50800" marT="50800" marB="50800" anchor="ctr" horzOverflow="overflow">
                    <a:lnL w="101600">
                      <a:solidFill>
                        <a:srgbClr val="6E8627"/>
                      </a:solidFill>
                      <a:miter lim="400000"/>
                    </a:lnL>
                    <a:lnR w="101600">
                      <a:solidFill>
                        <a:srgbClr val="6E8627"/>
                      </a:solidFill>
                      <a:miter lim="400000"/>
                    </a:lnR>
                    <a:lnT w="101600">
                      <a:solidFill>
                        <a:srgbClr val="6E8627"/>
                      </a:solidFill>
                      <a:miter lim="400000"/>
                    </a:lnT>
                    <a:lnB w="101600">
                      <a:solidFill>
                        <a:srgbClr val="6E8627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4200"/>
                        </a:spcBef>
                        <a:defRPr sz="3200"/>
                      </a:pPr>
                      <a:r>
                        <a:rPr>
                          <a:solidFill>
                            <a:schemeClr val="accent6">
                              <a:satOff val="-15808"/>
                              <a:lumOff val="-17557"/>
                            </a:schemeClr>
                          </a:solidFill>
                          <a:latin typeface="Courier"/>
                          <a:ea typeface="Courier"/>
                          <a:cs typeface="Courier"/>
                          <a:sym typeface="Courier"/>
                        </a:rPr>
                        <a:t>0</a:t>
                      </a:r>
                    </a:p>
                  </a:txBody>
                  <a:tcPr marL="50800" marR="50800" marT="50800" marB="50800" anchor="ctr" horzOverflow="overflow">
                    <a:lnL w="101600">
                      <a:solidFill>
                        <a:srgbClr val="6E8627"/>
                      </a:solidFill>
                      <a:miter lim="400000"/>
                    </a:lnL>
                    <a:lnR w="101600">
                      <a:solidFill>
                        <a:srgbClr val="6E8627"/>
                      </a:solidFill>
                      <a:miter lim="400000"/>
                    </a:lnR>
                    <a:lnT w="101600">
                      <a:solidFill>
                        <a:srgbClr val="6E8627"/>
                      </a:solidFill>
                      <a:miter lim="400000"/>
                    </a:lnT>
                    <a:lnB w="101600">
                      <a:solidFill>
                        <a:srgbClr val="6E8627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4200"/>
                        </a:spcBef>
                        <a:defRPr sz="3200"/>
                      </a:pPr>
                      <a:r>
                        <a:rPr>
                          <a:solidFill>
                            <a:schemeClr val="accent6">
                              <a:satOff val="-15808"/>
                              <a:lumOff val="-17557"/>
                            </a:schemeClr>
                          </a:solidFill>
                          <a:latin typeface="Courier"/>
                          <a:ea typeface="Courier"/>
                          <a:cs typeface="Courier"/>
                          <a:sym typeface="Courier"/>
                        </a:rPr>
                        <a:t>0</a:t>
                      </a:r>
                    </a:p>
                  </a:txBody>
                  <a:tcPr marL="50800" marR="50800" marT="50800" marB="50800" anchor="ctr" horzOverflow="overflow">
                    <a:lnL w="101600">
                      <a:solidFill>
                        <a:srgbClr val="6E8627"/>
                      </a:solidFill>
                      <a:miter lim="400000"/>
                    </a:lnL>
                    <a:lnR w="101600">
                      <a:solidFill>
                        <a:srgbClr val="6E8627"/>
                      </a:solidFill>
                      <a:miter lim="400000"/>
                    </a:lnR>
                    <a:lnT w="101600">
                      <a:solidFill>
                        <a:srgbClr val="6E8627"/>
                      </a:solidFill>
                      <a:miter lim="400000"/>
                    </a:lnT>
                    <a:lnB w="101600">
                      <a:solidFill>
                        <a:srgbClr val="6E8627"/>
                      </a:solidFill>
                      <a:miter lim="400000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551" name="4V"/>
          <p:cNvSpPr txBox="1"/>
          <p:nvPr/>
        </p:nvSpPr>
        <p:spPr>
          <a:xfrm>
            <a:off x="6721640" y="6714066"/>
            <a:ext cx="611387" cy="584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r>
              <a:t>4V</a:t>
            </a:r>
          </a:p>
        </p:txBody>
      </p:sp>
      <p:sp>
        <p:nvSpPr>
          <p:cNvPr id="552" name="5.5V"/>
          <p:cNvSpPr txBox="1"/>
          <p:nvPr/>
        </p:nvSpPr>
        <p:spPr>
          <a:xfrm>
            <a:off x="3951718" y="3909482"/>
            <a:ext cx="950318" cy="584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r>
              <a:t>5.5V</a:t>
            </a:r>
          </a:p>
        </p:txBody>
      </p:sp>
      <p:sp>
        <p:nvSpPr>
          <p:cNvPr id="553" name="5.5V"/>
          <p:cNvSpPr txBox="1"/>
          <p:nvPr/>
        </p:nvSpPr>
        <p:spPr>
          <a:xfrm>
            <a:off x="1397879" y="3909482"/>
            <a:ext cx="950318" cy="584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r>
              <a:t>5.5V</a:t>
            </a:r>
          </a:p>
        </p:txBody>
      </p:sp>
      <p:cxnSp>
        <p:nvCxnSpPr>
          <p:cNvPr id="2" name="Connection Line">
            <a:extLst>
              <a:ext uri="{FF2B5EF4-FFF2-40B4-BE49-F238E27FC236}">
                <a16:creationId xmlns:a16="http://schemas.microsoft.com/office/drawing/2014/main" id="{A8767074-849D-9600-07DB-68E815A0A4CE}"/>
              </a:ext>
            </a:extLst>
          </p:cNvPr>
          <p:cNvCxnSpPr>
            <a:cxnSpLocks/>
          </p:cNvCxnSpPr>
          <p:nvPr/>
        </p:nvCxnSpPr>
        <p:spPr>
          <a:xfrm>
            <a:off x="1273480" y="4538134"/>
            <a:ext cx="1203628" cy="0"/>
          </a:xfrm>
          <a:prstGeom prst="straightConnector1">
            <a:avLst/>
          </a:prstGeom>
          <a:ln w="25400">
            <a:solidFill>
              <a:srgbClr val="000000"/>
            </a:solidFill>
            <a:miter lim="400000"/>
            <a:tailEnd type="triangle"/>
          </a:ln>
        </p:spPr>
      </p:cxnSp>
      <p:cxnSp>
        <p:nvCxnSpPr>
          <p:cNvPr id="3" name="Connection Line">
            <a:extLst>
              <a:ext uri="{FF2B5EF4-FFF2-40B4-BE49-F238E27FC236}">
                <a16:creationId xmlns:a16="http://schemas.microsoft.com/office/drawing/2014/main" id="{68046554-F73B-485A-DDC3-3C040C870BC7}"/>
              </a:ext>
            </a:extLst>
          </p:cNvPr>
          <p:cNvCxnSpPr>
            <a:cxnSpLocks/>
          </p:cNvCxnSpPr>
          <p:nvPr/>
        </p:nvCxnSpPr>
        <p:spPr>
          <a:xfrm flipV="1">
            <a:off x="9697905" y="7641167"/>
            <a:ext cx="0" cy="797876"/>
          </a:xfrm>
          <a:prstGeom prst="straightConnector1">
            <a:avLst/>
          </a:prstGeom>
          <a:ln w="25400">
            <a:solidFill>
              <a:srgbClr val="000000"/>
            </a:solidFill>
            <a:miter lim="400000"/>
            <a:tailEnd type="triangle"/>
          </a:ln>
        </p:spPr>
      </p:cxnSp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5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51" grpId="1" animBg="1" advAuto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8" name="ADC using SAR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ADC using SAR</a:t>
            </a:r>
          </a:p>
        </p:txBody>
      </p:sp>
      <p:sp>
        <p:nvSpPr>
          <p:cNvPr id="559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rPr/>
              <a:t>17</a:t>
            </a:fld>
            <a:endParaRPr/>
          </a:p>
        </p:txBody>
      </p:sp>
      <p:sp>
        <p:nvSpPr>
          <p:cNvPr id="560" name="control logic"/>
          <p:cNvSpPr/>
          <p:nvPr/>
        </p:nvSpPr>
        <p:spPr>
          <a:xfrm>
            <a:off x="6561666" y="4076700"/>
            <a:ext cx="1270001" cy="1270000"/>
          </a:xfrm>
          <a:prstGeom prst="rect">
            <a:avLst/>
          </a:prstGeom>
          <a:solidFill>
            <a:srgbClr val="6E8627"/>
          </a:solidFill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>
              <a:defRPr sz="2400" b="1">
                <a:solidFill>
                  <a:srgbClr val="FFFFFF"/>
                </a:solidFill>
              </a:defRPr>
            </a:lvl1pPr>
          </a:lstStyle>
          <a:p>
            <a:r>
              <a:t>control logic</a:t>
            </a:r>
          </a:p>
        </p:txBody>
      </p:sp>
      <p:grpSp>
        <p:nvGrpSpPr>
          <p:cNvPr id="564" name="Group"/>
          <p:cNvGrpSpPr/>
          <p:nvPr/>
        </p:nvGrpSpPr>
        <p:grpSpPr>
          <a:xfrm>
            <a:off x="4955249" y="4158191"/>
            <a:ext cx="1467843" cy="1970585"/>
            <a:chOff x="0" y="0"/>
            <a:chExt cx="1467842" cy="1970583"/>
          </a:xfrm>
        </p:grpSpPr>
        <p:sp>
          <p:nvSpPr>
            <p:cNvPr id="561" name="Triangle"/>
            <p:cNvSpPr/>
            <p:nvPr/>
          </p:nvSpPr>
          <p:spPr>
            <a:xfrm rot="5400000">
              <a:off x="-33933" y="33932"/>
              <a:ext cx="1107017" cy="103915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0800" y="0"/>
                  </a:move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solidFill>
              <a:srgbClr val="6E8627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 sz="2100" b="1"/>
              </a:pPr>
              <a:endParaRPr/>
            </a:p>
          </p:txBody>
        </p:sp>
        <p:sp>
          <p:nvSpPr>
            <p:cNvPr id="562" name="+"/>
            <p:cNvSpPr/>
            <p:nvPr/>
          </p:nvSpPr>
          <p:spPr>
            <a:xfrm>
              <a:off x="185142" y="319583"/>
              <a:ext cx="1270001" cy="1270001"/>
            </a:xfrm>
            <a:prstGeom prst="line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b="1">
                  <a:solidFill>
                    <a:srgbClr val="FFFFFF"/>
                  </a:solidFill>
                </a:defRPr>
              </a:lvl1pPr>
            </a:lstStyle>
            <a:p>
              <a:r>
                <a:t>+</a:t>
              </a:r>
            </a:p>
          </p:txBody>
        </p:sp>
        <p:sp>
          <p:nvSpPr>
            <p:cNvPr id="563" name="-"/>
            <p:cNvSpPr/>
            <p:nvPr/>
          </p:nvSpPr>
          <p:spPr>
            <a:xfrm>
              <a:off x="197842" y="700583"/>
              <a:ext cx="1270001" cy="1270001"/>
            </a:xfrm>
            <a:prstGeom prst="line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b="1">
                  <a:solidFill>
                    <a:srgbClr val="FFFFFF"/>
                  </a:solidFill>
                </a:defRPr>
              </a:lvl1pPr>
            </a:lstStyle>
            <a:p>
              <a:r>
                <a:t>-</a:t>
              </a:r>
            </a:p>
          </p:txBody>
        </p:sp>
      </p:grpSp>
      <p:sp>
        <p:nvSpPr>
          <p:cNvPr id="565" name="sample &amp; hold"/>
          <p:cNvSpPr/>
          <p:nvPr/>
        </p:nvSpPr>
        <p:spPr>
          <a:xfrm>
            <a:off x="2477108" y="3903133"/>
            <a:ext cx="1270001" cy="1270001"/>
          </a:xfrm>
          <a:prstGeom prst="rect">
            <a:avLst/>
          </a:prstGeom>
          <a:solidFill>
            <a:srgbClr val="6E8627"/>
          </a:solidFill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>
              <a:defRPr sz="2400" b="1">
                <a:solidFill>
                  <a:srgbClr val="FFFFFF"/>
                </a:solidFill>
              </a:defRPr>
            </a:lvl1pPr>
          </a:lstStyle>
          <a:p>
            <a:r>
              <a:t>sample &amp; hold</a:t>
            </a:r>
          </a:p>
        </p:txBody>
      </p:sp>
      <p:sp>
        <p:nvSpPr>
          <p:cNvPr id="566" name="DAC"/>
          <p:cNvSpPr/>
          <p:nvPr/>
        </p:nvSpPr>
        <p:spPr>
          <a:xfrm>
            <a:off x="8398933" y="6371166"/>
            <a:ext cx="2597944" cy="1270001"/>
          </a:xfrm>
          <a:prstGeom prst="rect">
            <a:avLst/>
          </a:prstGeom>
          <a:solidFill>
            <a:srgbClr val="6E8627"/>
          </a:solidFill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>
              <a:defRPr sz="2400" b="1">
                <a:solidFill>
                  <a:srgbClr val="FFFFFF"/>
                </a:solidFill>
              </a:defRPr>
            </a:lvl1pPr>
          </a:lstStyle>
          <a:p>
            <a:r>
              <a:t>DAC</a:t>
            </a:r>
          </a:p>
        </p:txBody>
      </p:sp>
      <p:sp>
        <p:nvSpPr>
          <p:cNvPr id="567" name="Vin"/>
          <p:cNvSpPr txBox="1"/>
          <p:nvPr/>
        </p:nvSpPr>
        <p:spPr>
          <a:xfrm>
            <a:off x="677240" y="4246033"/>
            <a:ext cx="596240" cy="584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r>
              <a:t>V</a:t>
            </a:r>
            <a:r>
              <a:rPr baseline="-5999"/>
              <a:t>in</a:t>
            </a:r>
          </a:p>
        </p:txBody>
      </p:sp>
      <p:sp>
        <p:nvSpPr>
          <p:cNvPr id="568" name="VDAC"/>
          <p:cNvSpPr txBox="1"/>
          <p:nvPr/>
        </p:nvSpPr>
        <p:spPr>
          <a:xfrm>
            <a:off x="6548635" y="6201833"/>
            <a:ext cx="957396" cy="584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r>
              <a:t>V</a:t>
            </a:r>
            <a:r>
              <a:rPr baseline="-5999"/>
              <a:t>DAC</a:t>
            </a:r>
          </a:p>
        </p:txBody>
      </p:sp>
      <p:sp>
        <p:nvSpPr>
          <p:cNvPr id="569" name="Vref"/>
          <p:cNvSpPr txBox="1"/>
          <p:nvPr/>
        </p:nvSpPr>
        <p:spPr>
          <a:xfrm>
            <a:off x="9347133" y="8439043"/>
            <a:ext cx="701544" cy="584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r>
              <a:t>V</a:t>
            </a:r>
            <a:r>
              <a:rPr baseline="-5999"/>
              <a:t>ref</a:t>
            </a:r>
          </a:p>
        </p:txBody>
      </p:sp>
      <p:sp>
        <p:nvSpPr>
          <p:cNvPr id="593" name="Connection Line"/>
          <p:cNvSpPr/>
          <p:nvPr/>
        </p:nvSpPr>
        <p:spPr>
          <a:xfrm>
            <a:off x="7831666" y="4713042"/>
            <a:ext cx="604630" cy="127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ln w="25400">
            <a:solidFill>
              <a:srgbClr val="000000"/>
            </a:solidFill>
            <a:miter lim="400000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594" name="Connection Line"/>
          <p:cNvSpPr/>
          <p:nvPr/>
        </p:nvSpPr>
        <p:spPr>
          <a:xfrm>
            <a:off x="5993957" y="4711699"/>
            <a:ext cx="567710" cy="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ln w="25400">
            <a:solidFill>
              <a:srgbClr val="000000"/>
            </a:solidFill>
            <a:miter lim="400000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595" name="Connection Line"/>
          <p:cNvSpPr/>
          <p:nvPr/>
        </p:nvSpPr>
        <p:spPr>
          <a:xfrm>
            <a:off x="3747108" y="4517958"/>
            <a:ext cx="1200601" cy="1319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lnTo>
                  <a:pt x="21600" y="0"/>
                </a:lnTo>
              </a:path>
            </a:pathLst>
          </a:custGeom>
          <a:ln w="25400">
            <a:solidFill>
              <a:srgbClr val="000000"/>
            </a:solidFill>
            <a:miter lim="400000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575" name="Line"/>
          <p:cNvSpPr/>
          <p:nvPr/>
        </p:nvSpPr>
        <p:spPr>
          <a:xfrm>
            <a:off x="4618566" y="6731000"/>
            <a:ext cx="3767668" cy="0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576" name="Line"/>
          <p:cNvSpPr/>
          <p:nvPr/>
        </p:nvSpPr>
        <p:spPr>
          <a:xfrm>
            <a:off x="4615258" y="4894283"/>
            <a:ext cx="1" cy="1840951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577" name="Line"/>
          <p:cNvSpPr/>
          <p:nvPr/>
        </p:nvSpPr>
        <p:spPr>
          <a:xfrm>
            <a:off x="4608919" y="4889500"/>
            <a:ext cx="350521" cy="0"/>
          </a:xfrm>
          <a:prstGeom prst="line">
            <a:avLst/>
          </a:prstGeom>
          <a:ln w="25400">
            <a:solidFill>
              <a:srgbClr val="000000"/>
            </a:solidFill>
            <a:miter lim="400000"/>
            <a:tailEnd type="triangle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578" name="Line"/>
          <p:cNvSpPr/>
          <p:nvPr/>
        </p:nvSpPr>
        <p:spPr>
          <a:xfrm>
            <a:off x="8795686" y="5360987"/>
            <a:ext cx="1" cy="1021293"/>
          </a:xfrm>
          <a:prstGeom prst="line">
            <a:avLst/>
          </a:prstGeom>
          <a:ln w="25400">
            <a:solidFill>
              <a:srgbClr val="000000"/>
            </a:solidFill>
            <a:miter lim="400000"/>
            <a:tailEnd type="triangle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579" name="Line"/>
          <p:cNvSpPr/>
          <p:nvPr/>
        </p:nvSpPr>
        <p:spPr>
          <a:xfrm>
            <a:off x="9396819" y="5360987"/>
            <a:ext cx="1" cy="1021293"/>
          </a:xfrm>
          <a:prstGeom prst="line">
            <a:avLst/>
          </a:prstGeom>
          <a:ln w="25400">
            <a:solidFill>
              <a:srgbClr val="000000"/>
            </a:solidFill>
            <a:miter lim="400000"/>
            <a:tailEnd type="triangle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580" name="Line"/>
          <p:cNvSpPr/>
          <p:nvPr/>
        </p:nvSpPr>
        <p:spPr>
          <a:xfrm>
            <a:off x="9997953" y="5360987"/>
            <a:ext cx="1" cy="1021293"/>
          </a:xfrm>
          <a:prstGeom prst="line">
            <a:avLst/>
          </a:prstGeom>
          <a:ln w="25400">
            <a:solidFill>
              <a:srgbClr val="000000"/>
            </a:solidFill>
            <a:miter lim="400000"/>
            <a:tailEnd type="triangle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581" name="Line"/>
          <p:cNvSpPr/>
          <p:nvPr/>
        </p:nvSpPr>
        <p:spPr>
          <a:xfrm>
            <a:off x="10599086" y="5360987"/>
            <a:ext cx="1" cy="1021293"/>
          </a:xfrm>
          <a:prstGeom prst="line">
            <a:avLst/>
          </a:prstGeom>
          <a:ln w="25400">
            <a:solidFill>
              <a:srgbClr val="000000"/>
            </a:solidFill>
            <a:miter lim="400000"/>
            <a:tailEnd type="triangle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582" name="Line"/>
          <p:cNvSpPr/>
          <p:nvPr/>
        </p:nvSpPr>
        <p:spPr>
          <a:xfrm flipV="1">
            <a:off x="10576226" y="5505979"/>
            <a:ext cx="831029" cy="1"/>
          </a:xfrm>
          <a:prstGeom prst="line">
            <a:avLst/>
          </a:prstGeom>
          <a:ln w="25400">
            <a:solidFill>
              <a:srgbClr val="000000"/>
            </a:solidFill>
            <a:miter lim="400000"/>
            <a:headEnd type="oval"/>
            <a:tailEnd type="triangle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583" name="Line"/>
          <p:cNvSpPr/>
          <p:nvPr/>
        </p:nvSpPr>
        <p:spPr>
          <a:xfrm>
            <a:off x="9978398" y="5702300"/>
            <a:ext cx="1428857" cy="0"/>
          </a:xfrm>
          <a:prstGeom prst="line">
            <a:avLst/>
          </a:prstGeom>
          <a:ln w="25400">
            <a:solidFill>
              <a:srgbClr val="000000"/>
            </a:solidFill>
            <a:miter lim="400000"/>
            <a:headEnd type="oval"/>
            <a:tailEnd type="triangle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584" name="Line"/>
          <p:cNvSpPr/>
          <p:nvPr/>
        </p:nvSpPr>
        <p:spPr>
          <a:xfrm>
            <a:off x="9380227" y="5898620"/>
            <a:ext cx="2033883" cy="1"/>
          </a:xfrm>
          <a:prstGeom prst="line">
            <a:avLst/>
          </a:prstGeom>
          <a:ln w="25400">
            <a:solidFill>
              <a:srgbClr val="000000"/>
            </a:solidFill>
            <a:miter lim="400000"/>
            <a:headEnd type="oval"/>
            <a:tailEnd type="triangle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585" name="Line"/>
          <p:cNvSpPr/>
          <p:nvPr/>
        </p:nvSpPr>
        <p:spPr>
          <a:xfrm>
            <a:off x="8772596" y="6094941"/>
            <a:ext cx="2641514" cy="1"/>
          </a:xfrm>
          <a:prstGeom prst="line">
            <a:avLst/>
          </a:prstGeom>
          <a:ln w="25400">
            <a:solidFill>
              <a:srgbClr val="000000"/>
            </a:solidFill>
            <a:miter lim="400000"/>
            <a:headEnd type="oval"/>
            <a:tailEnd type="triangle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586" name="out"/>
          <p:cNvSpPr txBox="1"/>
          <p:nvPr/>
        </p:nvSpPr>
        <p:spPr>
          <a:xfrm>
            <a:off x="11541974" y="5448299"/>
            <a:ext cx="679253" cy="584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r>
              <a:t>out</a:t>
            </a:r>
          </a:p>
        </p:txBody>
      </p:sp>
      <p:sp>
        <p:nvSpPr>
          <p:cNvPr id="587" name="16V"/>
          <p:cNvSpPr txBox="1"/>
          <p:nvPr/>
        </p:nvSpPr>
        <p:spPr>
          <a:xfrm>
            <a:off x="9655599" y="7850082"/>
            <a:ext cx="837408" cy="584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r>
              <a:t>16V</a:t>
            </a:r>
          </a:p>
        </p:txBody>
      </p:sp>
      <p:sp>
        <p:nvSpPr>
          <p:cNvPr id="588" name="successive…"/>
          <p:cNvSpPr txBox="1"/>
          <p:nvPr/>
        </p:nvSpPr>
        <p:spPr>
          <a:xfrm>
            <a:off x="8593944" y="2893483"/>
            <a:ext cx="2207922" cy="1168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>
              <a:defRPr sz="2300" b="1"/>
            </a:pPr>
            <a:r>
              <a:t>successive </a:t>
            </a:r>
          </a:p>
          <a:p>
            <a:pPr>
              <a:defRPr sz="2300" b="1"/>
            </a:pPr>
            <a:r>
              <a:t>approximation </a:t>
            </a:r>
          </a:p>
          <a:p>
            <a:pPr>
              <a:defRPr sz="2300" b="1"/>
            </a:pPr>
            <a:r>
              <a:t>register</a:t>
            </a:r>
          </a:p>
        </p:txBody>
      </p:sp>
      <p:graphicFrame>
        <p:nvGraphicFramePr>
          <p:cNvPr id="589" name="Table 1"/>
          <p:cNvGraphicFramePr/>
          <p:nvPr/>
        </p:nvGraphicFramePr>
        <p:xfrm>
          <a:off x="8499795" y="4120091"/>
          <a:ext cx="2396216" cy="1182581"/>
        </p:xfrm>
        <a:graphic>
          <a:graphicData uri="http://schemas.openxmlformats.org/drawingml/2006/table">
            <a:tbl>
              <a:tblPr>
                <a:tableStyleId>{4A9BC294-FFE2-49D5-8D69-9E1BD2C41BD5}</a:tableStyleId>
              </a:tblPr>
              <a:tblGrid>
                <a:gridCol w="59905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9905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9905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9905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182581">
                <a:tc>
                  <a:txBody>
                    <a:bodyPr/>
                    <a:lstStyle/>
                    <a:p>
                      <a:pPr algn="ctr">
                        <a:spcBef>
                          <a:spcPts val="4200"/>
                        </a:spcBef>
                        <a:defRPr sz="3200"/>
                      </a:pPr>
                      <a:r>
                        <a:rPr>
                          <a:solidFill>
                            <a:schemeClr val="accent6">
                              <a:satOff val="-15808"/>
                              <a:lumOff val="-17557"/>
                            </a:schemeClr>
                          </a:solidFill>
                          <a:latin typeface="Courier"/>
                          <a:ea typeface="Courier"/>
                          <a:cs typeface="Courier"/>
                          <a:sym typeface="Courier"/>
                        </a:rPr>
                        <a:t>0</a:t>
                      </a:r>
                    </a:p>
                  </a:txBody>
                  <a:tcPr marL="50800" marR="50800" marT="50800" marB="50800" anchor="ctr" horzOverflow="overflow">
                    <a:lnL w="101600">
                      <a:solidFill>
                        <a:srgbClr val="6E8627"/>
                      </a:solidFill>
                      <a:miter lim="400000"/>
                    </a:lnL>
                    <a:lnR w="101600">
                      <a:solidFill>
                        <a:srgbClr val="6E8627"/>
                      </a:solidFill>
                      <a:miter lim="400000"/>
                    </a:lnR>
                    <a:lnT w="101600">
                      <a:solidFill>
                        <a:srgbClr val="6E8627"/>
                      </a:solidFill>
                      <a:miter lim="400000"/>
                    </a:lnT>
                    <a:lnB w="101600">
                      <a:solidFill>
                        <a:srgbClr val="6E8627"/>
                      </a:solidFill>
                      <a:miter lim="400000"/>
                    </a:lnB>
                    <a:solidFill>
                      <a:schemeClr val="accent3">
                        <a:hueOff val="-274225"/>
                        <a:satOff val="26768"/>
                        <a:lumOff val="11368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4200"/>
                        </a:spcBef>
                        <a:defRPr sz="3200"/>
                      </a:pPr>
                      <a:r>
                        <a:rPr>
                          <a:solidFill>
                            <a:schemeClr val="accent6">
                              <a:satOff val="-15808"/>
                              <a:lumOff val="-17557"/>
                            </a:schemeClr>
                          </a:solidFill>
                          <a:latin typeface="Courier"/>
                          <a:ea typeface="Courier"/>
                          <a:cs typeface="Courier"/>
                          <a:sym typeface="Courier"/>
                        </a:rPr>
                        <a:t>1</a:t>
                      </a:r>
                    </a:p>
                  </a:txBody>
                  <a:tcPr marL="50800" marR="50800" marT="50800" marB="50800" anchor="ctr" horzOverflow="overflow">
                    <a:lnL w="101600">
                      <a:solidFill>
                        <a:srgbClr val="6E8627"/>
                      </a:solidFill>
                      <a:miter lim="400000"/>
                    </a:lnL>
                    <a:lnR w="101600">
                      <a:solidFill>
                        <a:srgbClr val="6E8627"/>
                      </a:solidFill>
                      <a:miter lim="400000"/>
                    </a:lnR>
                    <a:lnT w="101600">
                      <a:solidFill>
                        <a:srgbClr val="6E8627"/>
                      </a:solidFill>
                      <a:miter lim="400000"/>
                    </a:lnT>
                    <a:lnB w="101600">
                      <a:solidFill>
                        <a:srgbClr val="6E8627"/>
                      </a:solidFill>
                      <a:miter lim="400000"/>
                    </a:lnB>
                    <a:solidFill>
                      <a:schemeClr val="accent3">
                        <a:hueOff val="-274225"/>
                        <a:satOff val="26768"/>
                        <a:lumOff val="11368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4200"/>
                        </a:spcBef>
                        <a:defRPr sz="3200"/>
                      </a:pPr>
                      <a:r>
                        <a:rPr>
                          <a:solidFill>
                            <a:schemeClr val="accent6">
                              <a:satOff val="-15808"/>
                              <a:lumOff val="-17557"/>
                            </a:schemeClr>
                          </a:solidFill>
                          <a:latin typeface="Courier"/>
                          <a:ea typeface="Courier"/>
                          <a:cs typeface="Courier"/>
                          <a:sym typeface="Courier"/>
                        </a:rPr>
                        <a:t>1</a:t>
                      </a:r>
                    </a:p>
                  </a:txBody>
                  <a:tcPr marL="50800" marR="50800" marT="50800" marB="50800" anchor="ctr" horzOverflow="overflow">
                    <a:lnL w="101600">
                      <a:solidFill>
                        <a:srgbClr val="6E8627"/>
                      </a:solidFill>
                      <a:miter lim="400000"/>
                    </a:lnL>
                    <a:lnR w="101600">
                      <a:solidFill>
                        <a:srgbClr val="6E8627"/>
                      </a:solidFill>
                      <a:miter lim="400000"/>
                    </a:lnR>
                    <a:lnT w="101600">
                      <a:solidFill>
                        <a:srgbClr val="6E8627"/>
                      </a:solidFill>
                      <a:miter lim="400000"/>
                    </a:lnT>
                    <a:lnB w="101600">
                      <a:solidFill>
                        <a:srgbClr val="6E8627"/>
                      </a:solidFill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4200"/>
                        </a:spcBef>
                        <a:defRPr sz="3200"/>
                      </a:pPr>
                      <a:r>
                        <a:rPr>
                          <a:solidFill>
                            <a:schemeClr val="accent6">
                              <a:satOff val="-15808"/>
                              <a:lumOff val="-17557"/>
                            </a:schemeClr>
                          </a:solidFill>
                          <a:latin typeface="Courier"/>
                          <a:ea typeface="Courier"/>
                          <a:cs typeface="Courier"/>
                          <a:sym typeface="Courier"/>
                        </a:rPr>
                        <a:t>0</a:t>
                      </a:r>
                    </a:p>
                  </a:txBody>
                  <a:tcPr marL="50800" marR="50800" marT="50800" marB="50800" anchor="ctr" horzOverflow="overflow">
                    <a:lnL w="101600">
                      <a:solidFill>
                        <a:srgbClr val="6E8627"/>
                      </a:solidFill>
                      <a:miter lim="400000"/>
                    </a:lnL>
                    <a:lnR w="101600">
                      <a:solidFill>
                        <a:srgbClr val="6E8627"/>
                      </a:solidFill>
                      <a:miter lim="400000"/>
                    </a:lnR>
                    <a:lnT w="101600">
                      <a:solidFill>
                        <a:srgbClr val="6E8627"/>
                      </a:solidFill>
                      <a:miter lim="400000"/>
                    </a:lnT>
                    <a:lnB w="101600">
                      <a:solidFill>
                        <a:srgbClr val="6E8627"/>
                      </a:solidFill>
                      <a:miter lim="400000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590" name="6V"/>
          <p:cNvSpPr txBox="1"/>
          <p:nvPr/>
        </p:nvSpPr>
        <p:spPr>
          <a:xfrm>
            <a:off x="6721640" y="6714066"/>
            <a:ext cx="611387" cy="584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r>
              <a:t>6V</a:t>
            </a:r>
          </a:p>
        </p:txBody>
      </p:sp>
      <p:sp>
        <p:nvSpPr>
          <p:cNvPr id="591" name="5.5V"/>
          <p:cNvSpPr txBox="1"/>
          <p:nvPr/>
        </p:nvSpPr>
        <p:spPr>
          <a:xfrm>
            <a:off x="3951718" y="3909482"/>
            <a:ext cx="950318" cy="584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r>
              <a:t>5.5V</a:t>
            </a:r>
          </a:p>
        </p:txBody>
      </p:sp>
      <p:sp>
        <p:nvSpPr>
          <p:cNvPr id="592" name="5.5V"/>
          <p:cNvSpPr txBox="1"/>
          <p:nvPr/>
        </p:nvSpPr>
        <p:spPr>
          <a:xfrm>
            <a:off x="1397879" y="3909482"/>
            <a:ext cx="950318" cy="584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r>
              <a:t>5.5V</a:t>
            </a:r>
          </a:p>
        </p:txBody>
      </p:sp>
      <p:cxnSp>
        <p:nvCxnSpPr>
          <p:cNvPr id="2" name="Connection Line">
            <a:extLst>
              <a:ext uri="{FF2B5EF4-FFF2-40B4-BE49-F238E27FC236}">
                <a16:creationId xmlns:a16="http://schemas.microsoft.com/office/drawing/2014/main" id="{0D4413EC-0FA8-7DFD-8E2C-3B82ACB2811E}"/>
              </a:ext>
            </a:extLst>
          </p:cNvPr>
          <p:cNvCxnSpPr>
            <a:cxnSpLocks/>
          </p:cNvCxnSpPr>
          <p:nvPr/>
        </p:nvCxnSpPr>
        <p:spPr>
          <a:xfrm>
            <a:off x="1273480" y="4538134"/>
            <a:ext cx="1203628" cy="0"/>
          </a:xfrm>
          <a:prstGeom prst="straightConnector1">
            <a:avLst/>
          </a:prstGeom>
          <a:ln w="25400">
            <a:solidFill>
              <a:srgbClr val="000000"/>
            </a:solidFill>
            <a:miter lim="400000"/>
            <a:tailEnd type="triangle"/>
          </a:ln>
        </p:spPr>
      </p:cxnSp>
      <p:cxnSp>
        <p:nvCxnSpPr>
          <p:cNvPr id="3" name="Connection Line">
            <a:extLst>
              <a:ext uri="{FF2B5EF4-FFF2-40B4-BE49-F238E27FC236}">
                <a16:creationId xmlns:a16="http://schemas.microsoft.com/office/drawing/2014/main" id="{84D1629E-7E0C-0A93-A43C-5018AA311F50}"/>
              </a:ext>
            </a:extLst>
          </p:cNvPr>
          <p:cNvCxnSpPr>
            <a:cxnSpLocks/>
          </p:cNvCxnSpPr>
          <p:nvPr/>
        </p:nvCxnSpPr>
        <p:spPr>
          <a:xfrm flipV="1">
            <a:off x="9697905" y="7641167"/>
            <a:ext cx="0" cy="797876"/>
          </a:xfrm>
          <a:prstGeom prst="straightConnector1">
            <a:avLst/>
          </a:prstGeom>
          <a:ln w="25400">
            <a:solidFill>
              <a:srgbClr val="000000"/>
            </a:solidFill>
            <a:miter lim="400000"/>
            <a:tailEnd type="triangle"/>
          </a:ln>
        </p:spPr>
      </p:cxnSp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5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90" grpId="1" animBg="1" advAuto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7" name="ADC using SAR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ADC using SAR</a:t>
            </a:r>
          </a:p>
        </p:txBody>
      </p:sp>
      <p:sp>
        <p:nvSpPr>
          <p:cNvPr id="598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rPr/>
              <a:t>18</a:t>
            </a:fld>
            <a:endParaRPr/>
          </a:p>
        </p:txBody>
      </p:sp>
      <p:sp>
        <p:nvSpPr>
          <p:cNvPr id="599" name="control logic"/>
          <p:cNvSpPr/>
          <p:nvPr/>
        </p:nvSpPr>
        <p:spPr>
          <a:xfrm>
            <a:off x="6561666" y="4076700"/>
            <a:ext cx="1270001" cy="1270000"/>
          </a:xfrm>
          <a:prstGeom prst="rect">
            <a:avLst/>
          </a:prstGeom>
          <a:solidFill>
            <a:srgbClr val="6E8627"/>
          </a:solidFill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>
              <a:defRPr sz="2400" b="1">
                <a:solidFill>
                  <a:srgbClr val="FFFFFF"/>
                </a:solidFill>
              </a:defRPr>
            </a:lvl1pPr>
          </a:lstStyle>
          <a:p>
            <a:r>
              <a:t>control logic</a:t>
            </a:r>
          </a:p>
        </p:txBody>
      </p:sp>
      <p:grpSp>
        <p:nvGrpSpPr>
          <p:cNvPr id="603" name="Group"/>
          <p:cNvGrpSpPr/>
          <p:nvPr/>
        </p:nvGrpSpPr>
        <p:grpSpPr>
          <a:xfrm>
            <a:off x="4955249" y="4158191"/>
            <a:ext cx="1467843" cy="1970585"/>
            <a:chOff x="0" y="0"/>
            <a:chExt cx="1467842" cy="1970583"/>
          </a:xfrm>
        </p:grpSpPr>
        <p:sp>
          <p:nvSpPr>
            <p:cNvPr id="600" name="Triangle"/>
            <p:cNvSpPr/>
            <p:nvPr/>
          </p:nvSpPr>
          <p:spPr>
            <a:xfrm rot="5400000">
              <a:off x="-33933" y="33932"/>
              <a:ext cx="1107017" cy="103915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0800" y="0"/>
                  </a:move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solidFill>
              <a:srgbClr val="6E8627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 sz="2100" b="1"/>
              </a:pPr>
              <a:endParaRPr/>
            </a:p>
          </p:txBody>
        </p:sp>
        <p:sp>
          <p:nvSpPr>
            <p:cNvPr id="601" name="+"/>
            <p:cNvSpPr/>
            <p:nvPr/>
          </p:nvSpPr>
          <p:spPr>
            <a:xfrm>
              <a:off x="185142" y="319583"/>
              <a:ext cx="1270001" cy="1270001"/>
            </a:xfrm>
            <a:prstGeom prst="line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b="1">
                  <a:solidFill>
                    <a:srgbClr val="FFFFFF"/>
                  </a:solidFill>
                </a:defRPr>
              </a:lvl1pPr>
            </a:lstStyle>
            <a:p>
              <a:r>
                <a:t>+</a:t>
              </a:r>
            </a:p>
          </p:txBody>
        </p:sp>
        <p:sp>
          <p:nvSpPr>
            <p:cNvPr id="602" name="-"/>
            <p:cNvSpPr/>
            <p:nvPr/>
          </p:nvSpPr>
          <p:spPr>
            <a:xfrm>
              <a:off x="197842" y="700583"/>
              <a:ext cx="1270001" cy="1270001"/>
            </a:xfrm>
            <a:prstGeom prst="line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b="1">
                  <a:solidFill>
                    <a:srgbClr val="FFFFFF"/>
                  </a:solidFill>
                </a:defRPr>
              </a:lvl1pPr>
            </a:lstStyle>
            <a:p>
              <a:r>
                <a:t>-</a:t>
              </a:r>
            </a:p>
          </p:txBody>
        </p:sp>
      </p:grpSp>
      <p:sp>
        <p:nvSpPr>
          <p:cNvPr id="604" name="sample &amp; hold"/>
          <p:cNvSpPr/>
          <p:nvPr/>
        </p:nvSpPr>
        <p:spPr>
          <a:xfrm>
            <a:off x="2477108" y="3903133"/>
            <a:ext cx="1270001" cy="1270001"/>
          </a:xfrm>
          <a:prstGeom prst="rect">
            <a:avLst/>
          </a:prstGeom>
          <a:solidFill>
            <a:srgbClr val="6E8627"/>
          </a:solidFill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>
              <a:defRPr sz="2400" b="1">
                <a:solidFill>
                  <a:srgbClr val="FFFFFF"/>
                </a:solidFill>
              </a:defRPr>
            </a:lvl1pPr>
          </a:lstStyle>
          <a:p>
            <a:r>
              <a:t>sample &amp; hold</a:t>
            </a:r>
          </a:p>
        </p:txBody>
      </p:sp>
      <p:sp>
        <p:nvSpPr>
          <p:cNvPr id="605" name="DAC"/>
          <p:cNvSpPr/>
          <p:nvPr/>
        </p:nvSpPr>
        <p:spPr>
          <a:xfrm>
            <a:off x="8398933" y="6371166"/>
            <a:ext cx="2597944" cy="1270001"/>
          </a:xfrm>
          <a:prstGeom prst="rect">
            <a:avLst/>
          </a:prstGeom>
          <a:solidFill>
            <a:srgbClr val="6E8627"/>
          </a:solidFill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>
              <a:defRPr sz="2400" b="1">
                <a:solidFill>
                  <a:srgbClr val="FFFFFF"/>
                </a:solidFill>
              </a:defRPr>
            </a:lvl1pPr>
          </a:lstStyle>
          <a:p>
            <a:r>
              <a:t>DAC</a:t>
            </a:r>
          </a:p>
        </p:txBody>
      </p:sp>
      <p:sp>
        <p:nvSpPr>
          <p:cNvPr id="606" name="Vin"/>
          <p:cNvSpPr txBox="1"/>
          <p:nvPr/>
        </p:nvSpPr>
        <p:spPr>
          <a:xfrm>
            <a:off x="677240" y="4246033"/>
            <a:ext cx="596240" cy="584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r>
              <a:t>V</a:t>
            </a:r>
            <a:r>
              <a:rPr baseline="-5999"/>
              <a:t>in</a:t>
            </a:r>
          </a:p>
        </p:txBody>
      </p:sp>
      <p:sp>
        <p:nvSpPr>
          <p:cNvPr id="607" name="VDAC"/>
          <p:cNvSpPr txBox="1"/>
          <p:nvPr/>
        </p:nvSpPr>
        <p:spPr>
          <a:xfrm>
            <a:off x="6548635" y="6201833"/>
            <a:ext cx="957396" cy="584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r>
              <a:t>V</a:t>
            </a:r>
            <a:r>
              <a:rPr baseline="-5999"/>
              <a:t>DAC</a:t>
            </a:r>
          </a:p>
        </p:txBody>
      </p:sp>
      <p:sp>
        <p:nvSpPr>
          <p:cNvPr id="608" name="Vref"/>
          <p:cNvSpPr txBox="1"/>
          <p:nvPr/>
        </p:nvSpPr>
        <p:spPr>
          <a:xfrm>
            <a:off x="9347133" y="8439043"/>
            <a:ext cx="701544" cy="584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r>
              <a:t>V</a:t>
            </a:r>
            <a:r>
              <a:rPr baseline="-5999"/>
              <a:t>ref</a:t>
            </a:r>
          </a:p>
        </p:txBody>
      </p:sp>
      <p:sp>
        <p:nvSpPr>
          <p:cNvPr id="632" name="Connection Line"/>
          <p:cNvSpPr/>
          <p:nvPr/>
        </p:nvSpPr>
        <p:spPr>
          <a:xfrm>
            <a:off x="7831666" y="4713042"/>
            <a:ext cx="604630" cy="127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ln w="25400">
            <a:solidFill>
              <a:srgbClr val="000000"/>
            </a:solidFill>
            <a:miter lim="400000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633" name="Connection Line"/>
          <p:cNvSpPr/>
          <p:nvPr/>
        </p:nvSpPr>
        <p:spPr>
          <a:xfrm>
            <a:off x="5993957" y="4711699"/>
            <a:ext cx="567710" cy="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ln w="25400">
            <a:solidFill>
              <a:srgbClr val="000000"/>
            </a:solidFill>
            <a:miter lim="400000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634" name="Connection Line"/>
          <p:cNvSpPr/>
          <p:nvPr/>
        </p:nvSpPr>
        <p:spPr>
          <a:xfrm>
            <a:off x="3747108" y="4517958"/>
            <a:ext cx="1200601" cy="1319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lnTo>
                  <a:pt x="21600" y="0"/>
                </a:lnTo>
              </a:path>
            </a:pathLst>
          </a:custGeom>
          <a:ln w="25400">
            <a:solidFill>
              <a:srgbClr val="000000"/>
            </a:solidFill>
            <a:miter lim="400000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614" name="Line"/>
          <p:cNvSpPr/>
          <p:nvPr/>
        </p:nvSpPr>
        <p:spPr>
          <a:xfrm>
            <a:off x="4618566" y="6731000"/>
            <a:ext cx="3767668" cy="0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615" name="Line"/>
          <p:cNvSpPr/>
          <p:nvPr/>
        </p:nvSpPr>
        <p:spPr>
          <a:xfrm>
            <a:off x="4615258" y="4894283"/>
            <a:ext cx="1" cy="1840951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616" name="Line"/>
          <p:cNvSpPr/>
          <p:nvPr/>
        </p:nvSpPr>
        <p:spPr>
          <a:xfrm>
            <a:off x="4608919" y="4889500"/>
            <a:ext cx="350521" cy="0"/>
          </a:xfrm>
          <a:prstGeom prst="line">
            <a:avLst/>
          </a:prstGeom>
          <a:ln w="25400">
            <a:solidFill>
              <a:srgbClr val="000000"/>
            </a:solidFill>
            <a:miter lim="400000"/>
            <a:tailEnd type="triangle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617" name="Line"/>
          <p:cNvSpPr/>
          <p:nvPr/>
        </p:nvSpPr>
        <p:spPr>
          <a:xfrm>
            <a:off x="8795686" y="5360987"/>
            <a:ext cx="1" cy="1021293"/>
          </a:xfrm>
          <a:prstGeom prst="line">
            <a:avLst/>
          </a:prstGeom>
          <a:ln w="25400">
            <a:solidFill>
              <a:srgbClr val="000000"/>
            </a:solidFill>
            <a:miter lim="400000"/>
            <a:tailEnd type="triangle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618" name="Line"/>
          <p:cNvSpPr/>
          <p:nvPr/>
        </p:nvSpPr>
        <p:spPr>
          <a:xfrm>
            <a:off x="9396819" y="5360987"/>
            <a:ext cx="1" cy="1021293"/>
          </a:xfrm>
          <a:prstGeom prst="line">
            <a:avLst/>
          </a:prstGeom>
          <a:ln w="25400">
            <a:solidFill>
              <a:srgbClr val="000000"/>
            </a:solidFill>
            <a:miter lim="400000"/>
            <a:tailEnd type="triangle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619" name="Line"/>
          <p:cNvSpPr/>
          <p:nvPr/>
        </p:nvSpPr>
        <p:spPr>
          <a:xfrm>
            <a:off x="9997953" y="5360987"/>
            <a:ext cx="1" cy="1021293"/>
          </a:xfrm>
          <a:prstGeom prst="line">
            <a:avLst/>
          </a:prstGeom>
          <a:ln w="25400">
            <a:solidFill>
              <a:srgbClr val="000000"/>
            </a:solidFill>
            <a:miter lim="400000"/>
            <a:tailEnd type="triangle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620" name="Line"/>
          <p:cNvSpPr/>
          <p:nvPr/>
        </p:nvSpPr>
        <p:spPr>
          <a:xfrm>
            <a:off x="10599086" y="5360987"/>
            <a:ext cx="1" cy="1021293"/>
          </a:xfrm>
          <a:prstGeom prst="line">
            <a:avLst/>
          </a:prstGeom>
          <a:ln w="25400">
            <a:solidFill>
              <a:srgbClr val="000000"/>
            </a:solidFill>
            <a:miter lim="400000"/>
            <a:tailEnd type="triangle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621" name="Line"/>
          <p:cNvSpPr/>
          <p:nvPr/>
        </p:nvSpPr>
        <p:spPr>
          <a:xfrm flipV="1">
            <a:off x="10576226" y="5505979"/>
            <a:ext cx="831029" cy="1"/>
          </a:xfrm>
          <a:prstGeom prst="line">
            <a:avLst/>
          </a:prstGeom>
          <a:ln w="25400">
            <a:solidFill>
              <a:srgbClr val="000000"/>
            </a:solidFill>
            <a:miter lim="400000"/>
            <a:headEnd type="oval"/>
            <a:tailEnd type="triangle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622" name="Line"/>
          <p:cNvSpPr/>
          <p:nvPr/>
        </p:nvSpPr>
        <p:spPr>
          <a:xfrm>
            <a:off x="9978398" y="5702300"/>
            <a:ext cx="1428857" cy="0"/>
          </a:xfrm>
          <a:prstGeom prst="line">
            <a:avLst/>
          </a:prstGeom>
          <a:ln w="25400">
            <a:solidFill>
              <a:srgbClr val="000000"/>
            </a:solidFill>
            <a:miter lim="400000"/>
            <a:headEnd type="oval"/>
            <a:tailEnd type="triangle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623" name="Line"/>
          <p:cNvSpPr/>
          <p:nvPr/>
        </p:nvSpPr>
        <p:spPr>
          <a:xfrm>
            <a:off x="9380227" y="5898620"/>
            <a:ext cx="2033883" cy="1"/>
          </a:xfrm>
          <a:prstGeom prst="line">
            <a:avLst/>
          </a:prstGeom>
          <a:ln w="25400">
            <a:solidFill>
              <a:srgbClr val="000000"/>
            </a:solidFill>
            <a:miter lim="400000"/>
            <a:headEnd type="oval"/>
            <a:tailEnd type="triangle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624" name="Line"/>
          <p:cNvSpPr/>
          <p:nvPr/>
        </p:nvSpPr>
        <p:spPr>
          <a:xfrm>
            <a:off x="8772596" y="6094941"/>
            <a:ext cx="2641514" cy="1"/>
          </a:xfrm>
          <a:prstGeom prst="line">
            <a:avLst/>
          </a:prstGeom>
          <a:ln w="25400">
            <a:solidFill>
              <a:srgbClr val="000000"/>
            </a:solidFill>
            <a:miter lim="400000"/>
            <a:headEnd type="oval"/>
            <a:tailEnd type="triangle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625" name="out"/>
          <p:cNvSpPr txBox="1"/>
          <p:nvPr/>
        </p:nvSpPr>
        <p:spPr>
          <a:xfrm>
            <a:off x="11541974" y="5448299"/>
            <a:ext cx="679253" cy="584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r>
              <a:t>out</a:t>
            </a:r>
          </a:p>
        </p:txBody>
      </p:sp>
      <p:sp>
        <p:nvSpPr>
          <p:cNvPr id="626" name="16V"/>
          <p:cNvSpPr txBox="1"/>
          <p:nvPr/>
        </p:nvSpPr>
        <p:spPr>
          <a:xfrm>
            <a:off x="9655599" y="7850082"/>
            <a:ext cx="837408" cy="584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r>
              <a:t>16V</a:t>
            </a:r>
          </a:p>
        </p:txBody>
      </p:sp>
      <p:sp>
        <p:nvSpPr>
          <p:cNvPr id="627" name="successive…"/>
          <p:cNvSpPr txBox="1"/>
          <p:nvPr/>
        </p:nvSpPr>
        <p:spPr>
          <a:xfrm>
            <a:off x="8593944" y="2893483"/>
            <a:ext cx="2207922" cy="1168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>
              <a:defRPr sz="2300" b="1"/>
            </a:pPr>
            <a:r>
              <a:t>successive </a:t>
            </a:r>
          </a:p>
          <a:p>
            <a:pPr>
              <a:defRPr sz="2300" b="1"/>
            </a:pPr>
            <a:r>
              <a:t>approximation </a:t>
            </a:r>
          </a:p>
          <a:p>
            <a:pPr>
              <a:defRPr sz="2300" b="1"/>
            </a:pPr>
            <a:r>
              <a:t>register</a:t>
            </a:r>
          </a:p>
        </p:txBody>
      </p:sp>
      <p:graphicFrame>
        <p:nvGraphicFramePr>
          <p:cNvPr id="628" name="Table 1"/>
          <p:cNvGraphicFramePr/>
          <p:nvPr/>
        </p:nvGraphicFramePr>
        <p:xfrm>
          <a:off x="8499795" y="4120091"/>
          <a:ext cx="2396216" cy="1182581"/>
        </p:xfrm>
        <a:graphic>
          <a:graphicData uri="http://schemas.openxmlformats.org/drawingml/2006/table">
            <a:tbl>
              <a:tblPr>
                <a:tableStyleId>{4A9BC294-FFE2-49D5-8D69-9E1BD2C41BD5}</a:tableStyleId>
              </a:tblPr>
              <a:tblGrid>
                <a:gridCol w="59905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9905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9905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9905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182581">
                <a:tc>
                  <a:txBody>
                    <a:bodyPr/>
                    <a:lstStyle/>
                    <a:p>
                      <a:pPr algn="ctr">
                        <a:spcBef>
                          <a:spcPts val="4200"/>
                        </a:spcBef>
                        <a:defRPr sz="3200"/>
                      </a:pPr>
                      <a:r>
                        <a:rPr>
                          <a:solidFill>
                            <a:schemeClr val="accent6">
                              <a:satOff val="-15808"/>
                              <a:lumOff val="-17557"/>
                            </a:schemeClr>
                          </a:solidFill>
                          <a:latin typeface="Courier"/>
                          <a:ea typeface="Courier"/>
                          <a:cs typeface="Courier"/>
                          <a:sym typeface="Courier"/>
                        </a:rPr>
                        <a:t>0</a:t>
                      </a:r>
                    </a:p>
                  </a:txBody>
                  <a:tcPr marL="50800" marR="50800" marT="50800" marB="50800" anchor="ctr" horzOverflow="overflow">
                    <a:lnL w="101600">
                      <a:solidFill>
                        <a:srgbClr val="6E8627"/>
                      </a:solidFill>
                      <a:miter lim="400000"/>
                    </a:lnL>
                    <a:lnR w="101600">
                      <a:solidFill>
                        <a:srgbClr val="6E8627"/>
                      </a:solidFill>
                      <a:miter lim="400000"/>
                    </a:lnR>
                    <a:lnT w="101600">
                      <a:solidFill>
                        <a:srgbClr val="6E8627"/>
                      </a:solidFill>
                      <a:miter lim="400000"/>
                    </a:lnT>
                    <a:lnB w="101600">
                      <a:solidFill>
                        <a:srgbClr val="6E8627"/>
                      </a:solidFill>
                      <a:miter lim="400000"/>
                    </a:lnB>
                    <a:solidFill>
                      <a:schemeClr val="accent3">
                        <a:hueOff val="-274225"/>
                        <a:satOff val="26768"/>
                        <a:lumOff val="11368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4200"/>
                        </a:spcBef>
                        <a:defRPr sz="3200"/>
                      </a:pPr>
                      <a:r>
                        <a:rPr>
                          <a:solidFill>
                            <a:schemeClr val="accent6">
                              <a:satOff val="-15808"/>
                              <a:lumOff val="-17557"/>
                            </a:schemeClr>
                          </a:solidFill>
                          <a:latin typeface="Courier"/>
                          <a:ea typeface="Courier"/>
                          <a:cs typeface="Courier"/>
                          <a:sym typeface="Courier"/>
                        </a:rPr>
                        <a:t>1</a:t>
                      </a:r>
                    </a:p>
                  </a:txBody>
                  <a:tcPr marL="50800" marR="50800" marT="50800" marB="50800" anchor="ctr" horzOverflow="overflow">
                    <a:lnL w="101600">
                      <a:solidFill>
                        <a:srgbClr val="6E8627"/>
                      </a:solidFill>
                      <a:miter lim="400000"/>
                    </a:lnL>
                    <a:lnR w="101600">
                      <a:solidFill>
                        <a:srgbClr val="6E8627"/>
                      </a:solidFill>
                      <a:miter lim="400000"/>
                    </a:lnR>
                    <a:lnT w="101600">
                      <a:solidFill>
                        <a:srgbClr val="6E8627"/>
                      </a:solidFill>
                      <a:miter lim="400000"/>
                    </a:lnT>
                    <a:lnB w="101600">
                      <a:solidFill>
                        <a:srgbClr val="6E8627"/>
                      </a:solidFill>
                      <a:miter lim="400000"/>
                    </a:lnB>
                    <a:solidFill>
                      <a:schemeClr val="accent3">
                        <a:hueOff val="-274225"/>
                        <a:satOff val="26768"/>
                        <a:lumOff val="11368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4200"/>
                        </a:spcBef>
                        <a:defRPr sz="3200"/>
                      </a:pPr>
                      <a:r>
                        <a:rPr>
                          <a:solidFill>
                            <a:schemeClr val="accent6">
                              <a:satOff val="-15808"/>
                              <a:lumOff val="-17557"/>
                            </a:schemeClr>
                          </a:solidFill>
                          <a:latin typeface="Courier"/>
                          <a:ea typeface="Courier"/>
                          <a:cs typeface="Courier"/>
                          <a:sym typeface="Courier"/>
                        </a:rPr>
                        <a:t>0</a:t>
                      </a:r>
                    </a:p>
                  </a:txBody>
                  <a:tcPr marL="50800" marR="50800" marT="50800" marB="50800" anchor="ctr" horzOverflow="overflow">
                    <a:lnL w="101600">
                      <a:solidFill>
                        <a:srgbClr val="6E8627"/>
                      </a:solidFill>
                      <a:miter lim="400000"/>
                    </a:lnL>
                    <a:lnR w="101600">
                      <a:solidFill>
                        <a:srgbClr val="6E8627"/>
                      </a:solidFill>
                      <a:miter lim="400000"/>
                    </a:lnR>
                    <a:lnT w="101600">
                      <a:solidFill>
                        <a:srgbClr val="6E8627"/>
                      </a:solidFill>
                      <a:miter lim="400000"/>
                    </a:lnT>
                    <a:lnB w="101600">
                      <a:solidFill>
                        <a:srgbClr val="6E8627"/>
                      </a:solidFill>
                      <a:miter lim="400000"/>
                    </a:lnB>
                    <a:solidFill>
                      <a:schemeClr val="accent3">
                        <a:hueOff val="-274225"/>
                        <a:satOff val="26768"/>
                        <a:lumOff val="11368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4200"/>
                        </a:spcBef>
                        <a:defRPr sz="3200"/>
                      </a:pPr>
                      <a:r>
                        <a:rPr>
                          <a:solidFill>
                            <a:schemeClr val="accent6">
                              <a:satOff val="-15808"/>
                              <a:lumOff val="-17557"/>
                            </a:schemeClr>
                          </a:solidFill>
                          <a:latin typeface="Courier"/>
                          <a:ea typeface="Courier"/>
                          <a:cs typeface="Courier"/>
                          <a:sym typeface="Courier"/>
                        </a:rPr>
                        <a:t>1</a:t>
                      </a:r>
                    </a:p>
                  </a:txBody>
                  <a:tcPr marL="50800" marR="50800" marT="50800" marB="50800" anchor="ctr" horzOverflow="overflow">
                    <a:lnL w="101600">
                      <a:solidFill>
                        <a:srgbClr val="6E8627"/>
                      </a:solidFill>
                      <a:miter lim="400000"/>
                    </a:lnL>
                    <a:lnR w="101600">
                      <a:solidFill>
                        <a:srgbClr val="6E8627"/>
                      </a:solidFill>
                      <a:miter lim="400000"/>
                    </a:lnR>
                    <a:lnT w="101600">
                      <a:solidFill>
                        <a:srgbClr val="6E8627"/>
                      </a:solidFill>
                      <a:miter lim="400000"/>
                    </a:lnT>
                    <a:lnB w="101600">
                      <a:solidFill>
                        <a:srgbClr val="6E8627"/>
                      </a:solidFill>
                      <a:miter lim="400000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629" name="5V"/>
          <p:cNvSpPr txBox="1"/>
          <p:nvPr/>
        </p:nvSpPr>
        <p:spPr>
          <a:xfrm>
            <a:off x="6721640" y="6714066"/>
            <a:ext cx="611387" cy="584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r>
              <a:t>5V</a:t>
            </a:r>
          </a:p>
        </p:txBody>
      </p:sp>
      <p:sp>
        <p:nvSpPr>
          <p:cNvPr id="630" name="5.5V"/>
          <p:cNvSpPr txBox="1"/>
          <p:nvPr/>
        </p:nvSpPr>
        <p:spPr>
          <a:xfrm>
            <a:off x="3951718" y="3909482"/>
            <a:ext cx="950318" cy="584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r>
              <a:t>5.5V</a:t>
            </a:r>
          </a:p>
        </p:txBody>
      </p:sp>
      <p:sp>
        <p:nvSpPr>
          <p:cNvPr id="631" name="5.5V"/>
          <p:cNvSpPr txBox="1"/>
          <p:nvPr/>
        </p:nvSpPr>
        <p:spPr>
          <a:xfrm>
            <a:off x="1397879" y="3909482"/>
            <a:ext cx="950318" cy="584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r>
              <a:t>5.5V</a:t>
            </a:r>
          </a:p>
        </p:txBody>
      </p:sp>
      <p:cxnSp>
        <p:nvCxnSpPr>
          <p:cNvPr id="2" name="Connection Line">
            <a:extLst>
              <a:ext uri="{FF2B5EF4-FFF2-40B4-BE49-F238E27FC236}">
                <a16:creationId xmlns:a16="http://schemas.microsoft.com/office/drawing/2014/main" id="{78A1459F-11EB-DD4B-2FDD-A4259398EF76}"/>
              </a:ext>
            </a:extLst>
          </p:cNvPr>
          <p:cNvCxnSpPr>
            <a:cxnSpLocks/>
          </p:cNvCxnSpPr>
          <p:nvPr/>
        </p:nvCxnSpPr>
        <p:spPr>
          <a:xfrm>
            <a:off x="1273480" y="4538134"/>
            <a:ext cx="1203628" cy="0"/>
          </a:xfrm>
          <a:prstGeom prst="straightConnector1">
            <a:avLst/>
          </a:prstGeom>
          <a:ln w="25400">
            <a:solidFill>
              <a:srgbClr val="000000"/>
            </a:solidFill>
            <a:miter lim="400000"/>
            <a:tailEnd type="triangle"/>
          </a:ln>
        </p:spPr>
      </p:cxnSp>
      <p:cxnSp>
        <p:nvCxnSpPr>
          <p:cNvPr id="3" name="Connection Line">
            <a:extLst>
              <a:ext uri="{FF2B5EF4-FFF2-40B4-BE49-F238E27FC236}">
                <a16:creationId xmlns:a16="http://schemas.microsoft.com/office/drawing/2014/main" id="{CB8A9715-41CC-46C0-4BCE-0352BB4FD67B}"/>
              </a:ext>
            </a:extLst>
          </p:cNvPr>
          <p:cNvCxnSpPr>
            <a:cxnSpLocks/>
          </p:cNvCxnSpPr>
          <p:nvPr/>
        </p:nvCxnSpPr>
        <p:spPr>
          <a:xfrm flipV="1">
            <a:off x="9697905" y="7641167"/>
            <a:ext cx="0" cy="797876"/>
          </a:xfrm>
          <a:prstGeom prst="straightConnector1">
            <a:avLst/>
          </a:prstGeom>
          <a:ln w="25400">
            <a:solidFill>
              <a:srgbClr val="000000"/>
            </a:solidFill>
            <a:miter lim="400000"/>
            <a:tailEnd type="triangle"/>
          </a:ln>
        </p:spPr>
      </p:cxnSp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6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29" grpId="1" animBg="1" advAuto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6" name="ADC using SAR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ADC using SAR</a:t>
            </a:r>
          </a:p>
        </p:txBody>
      </p:sp>
      <p:sp>
        <p:nvSpPr>
          <p:cNvPr id="637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rPr/>
              <a:t>19</a:t>
            </a:fld>
            <a:endParaRPr/>
          </a:p>
        </p:txBody>
      </p:sp>
      <p:sp>
        <p:nvSpPr>
          <p:cNvPr id="638" name="control logic"/>
          <p:cNvSpPr/>
          <p:nvPr/>
        </p:nvSpPr>
        <p:spPr>
          <a:xfrm>
            <a:off x="6561666" y="4076700"/>
            <a:ext cx="1270001" cy="1270000"/>
          </a:xfrm>
          <a:prstGeom prst="rect">
            <a:avLst/>
          </a:prstGeom>
          <a:solidFill>
            <a:srgbClr val="6E8627"/>
          </a:solidFill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>
              <a:defRPr sz="2400" b="1">
                <a:solidFill>
                  <a:srgbClr val="FFFFFF"/>
                </a:solidFill>
              </a:defRPr>
            </a:lvl1pPr>
          </a:lstStyle>
          <a:p>
            <a:r>
              <a:t>control logic</a:t>
            </a:r>
          </a:p>
        </p:txBody>
      </p:sp>
      <p:grpSp>
        <p:nvGrpSpPr>
          <p:cNvPr id="642" name="Group"/>
          <p:cNvGrpSpPr/>
          <p:nvPr/>
        </p:nvGrpSpPr>
        <p:grpSpPr>
          <a:xfrm>
            <a:off x="4955249" y="4158191"/>
            <a:ext cx="1467843" cy="1970585"/>
            <a:chOff x="0" y="0"/>
            <a:chExt cx="1467842" cy="1970583"/>
          </a:xfrm>
        </p:grpSpPr>
        <p:sp>
          <p:nvSpPr>
            <p:cNvPr id="639" name="Triangle"/>
            <p:cNvSpPr/>
            <p:nvPr/>
          </p:nvSpPr>
          <p:spPr>
            <a:xfrm rot="5400000">
              <a:off x="-33933" y="33932"/>
              <a:ext cx="1107017" cy="103915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0800" y="0"/>
                  </a:moveTo>
                  <a:lnTo>
                    <a:pt x="21600" y="21600"/>
                  </a:lnTo>
                  <a:lnTo>
                    <a:pt x="0" y="21600"/>
                  </a:lnTo>
                  <a:close/>
                </a:path>
              </a:pathLst>
            </a:custGeom>
            <a:solidFill>
              <a:srgbClr val="6E8627"/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>
                <a:defRPr sz="2100" b="1"/>
              </a:pPr>
              <a:endParaRPr/>
            </a:p>
          </p:txBody>
        </p:sp>
        <p:sp>
          <p:nvSpPr>
            <p:cNvPr id="640" name="+"/>
            <p:cNvSpPr/>
            <p:nvPr/>
          </p:nvSpPr>
          <p:spPr>
            <a:xfrm>
              <a:off x="185142" y="319583"/>
              <a:ext cx="1270001" cy="1270001"/>
            </a:xfrm>
            <a:prstGeom prst="line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b="1">
                  <a:solidFill>
                    <a:srgbClr val="FFFFFF"/>
                  </a:solidFill>
                </a:defRPr>
              </a:lvl1pPr>
            </a:lstStyle>
            <a:p>
              <a:r>
                <a:t>+</a:t>
              </a:r>
            </a:p>
          </p:txBody>
        </p:sp>
        <p:sp>
          <p:nvSpPr>
            <p:cNvPr id="641" name="-"/>
            <p:cNvSpPr/>
            <p:nvPr/>
          </p:nvSpPr>
          <p:spPr>
            <a:xfrm>
              <a:off x="197842" y="700583"/>
              <a:ext cx="1270001" cy="1270001"/>
            </a:xfrm>
            <a:prstGeom prst="line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b="1">
                  <a:solidFill>
                    <a:srgbClr val="FFFFFF"/>
                  </a:solidFill>
                </a:defRPr>
              </a:lvl1pPr>
            </a:lstStyle>
            <a:p>
              <a:r>
                <a:t>-</a:t>
              </a:r>
            </a:p>
          </p:txBody>
        </p:sp>
      </p:grpSp>
      <p:sp>
        <p:nvSpPr>
          <p:cNvPr id="643" name="sample &amp; hold"/>
          <p:cNvSpPr/>
          <p:nvPr/>
        </p:nvSpPr>
        <p:spPr>
          <a:xfrm>
            <a:off x="2477108" y="3903133"/>
            <a:ext cx="1270001" cy="1270001"/>
          </a:xfrm>
          <a:prstGeom prst="rect">
            <a:avLst/>
          </a:prstGeom>
          <a:solidFill>
            <a:srgbClr val="6E8627"/>
          </a:solidFill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>
              <a:defRPr sz="2400" b="1">
                <a:solidFill>
                  <a:srgbClr val="FFFFFF"/>
                </a:solidFill>
              </a:defRPr>
            </a:lvl1pPr>
          </a:lstStyle>
          <a:p>
            <a:r>
              <a:t>sample &amp; hold</a:t>
            </a:r>
          </a:p>
        </p:txBody>
      </p:sp>
      <p:sp>
        <p:nvSpPr>
          <p:cNvPr id="644" name="DAC"/>
          <p:cNvSpPr/>
          <p:nvPr/>
        </p:nvSpPr>
        <p:spPr>
          <a:xfrm>
            <a:off x="8398933" y="6371166"/>
            <a:ext cx="2597944" cy="1270001"/>
          </a:xfrm>
          <a:prstGeom prst="rect">
            <a:avLst/>
          </a:prstGeom>
          <a:solidFill>
            <a:srgbClr val="6E8627"/>
          </a:solidFill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/>
          <a:lstStyle>
            <a:lvl1pPr>
              <a:defRPr sz="2400" b="1">
                <a:solidFill>
                  <a:srgbClr val="FFFFFF"/>
                </a:solidFill>
              </a:defRPr>
            </a:lvl1pPr>
          </a:lstStyle>
          <a:p>
            <a:r>
              <a:t>DAC</a:t>
            </a:r>
          </a:p>
        </p:txBody>
      </p:sp>
      <p:sp>
        <p:nvSpPr>
          <p:cNvPr id="645" name="Vin"/>
          <p:cNvSpPr txBox="1"/>
          <p:nvPr/>
        </p:nvSpPr>
        <p:spPr>
          <a:xfrm>
            <a:off x="677240" y="4246033"/>
            <a:ext cx="596240" cy="584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r>
              <a:t>V</a:t>
            </a:r>
            <a:r>
              <a:rPr baseline="-5999"/>
              <a:t>in</a:t>
            </a:r>
          </a:p>
        </p:txBody>
      </p:sp>
      <p:sp>
        <p:nvSpPr>
          <p:cNvPr id="646" name="VDAC"/>
          <p:cNvSpPr txBox="1"/>
          <p:nvPr/>
        </p:nvSpPr>
        <p:spPr>
          <a:xfrm>
            <a:off x="6548635" y="6201833"/>
            <a:ext cx="957396" cy="584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r>
              <a:t>V</a:t>
            </a:r>
            <a:r>
              <a:rPr baseline="-5999"/>
              <a:t>DAC</a:t>
            </a:r>
          </a:p>
        </p:txBody>
      </p:sp>
      <p:sp>
        <p:nvSpPr>
          <p:cNvPr id="647" name="Vref"/>
          <p:cNvSpPr txBox="1"/>
          <p:nvPr/>
        </p:nvSpPr>
        <p:spPr>
          <a:xfrm>
            <a:off x="9347133" y="8439043"/>
            <a:ext cx="701544" cy="584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r>
              <a:t>V</a:t>
            </a:r>
            <a:r>
              <a:rPr baseline="-5999"/>
              <a:t>ref</a:t>
            </a:r>
          </a:p>
        </p:txBody>
      </p:sp>
      <p:sp>
        <p:nvSpPr>
          <p:cNvPr id="671" name="Connection Line"/>
          <p:cNvSpPr/>
          <p:nvPr/>
        </p:nvSpPr>
        <p:spPr>
          <a:xfrm>
            <a:off x="7831666" y="4713042"/>
            <a:ext cx="604630" cy="127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ln w="25400">
            <a:solidFill>
              <a:srgbClr val="000000"/>
            </a:solidFill>
            <a:miter lim="400000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672" name="Connection Line"/>
          <p:cNvSpPr/>
          <p:nvPr/>
        </p:nvSpPr>
        <p:spPr>
          <a:xfrm>
            <a:off x="5993957" y="4711699"/>
            <a:ext cx="567710" cy="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ln w="25400">
            <a:solidFill>
              <a:srgbClr val="000000"/>
            </a:solidFill>
            <a:miter lim="400000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673" name="Connection Line"/>
          <p:cNvSpPr/>
          <p:nvPr/>
        </p:nvSpPr>
        <p:spPr>
          <a:xfrm>
            <a:off x="3747108" y="4517958"/>
            <a:ext cx="1200601" cy="1319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lnTo>
                  <a:pt x="21600" y="0"/>
                </a:lnTo>
              </a:path>
            </a:pathLst>
          </a:custGeom>
          <a:ln w="25400">
            <a:solidFill>
              <a:srgbClr val="000000"/>
            </a:solidFill>
            <a:miter lim="400000"/>
            <a:tailEnd type="triangle"/>
          </a:ln>
        </p:spPr>
        <p:txBody>
          <a:bodyPr/>
          <a:lstStyle/>
          <a:p>
            <a:endParaRPr/>
          </a:p>
        </p:txBody>
      </p:sp>
      <p:sp>
        <p:nvSpPr>
          <p:cNvPr id="653" name="Line"/>
          <p:cNvSpPr/>
          <p:nvPr/>
        </p:nvSpPr>
        <p:spPr>
          <a:xfrm>
            <a:off x="4618566" y="6731000"/>
            <a:ext cx="3767668" cy="0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654" name="Line"/>
          <p:cNvSpPr/>
          <p:nvPr/>
        </p:nvSpPr>
        <p:spPr>
          <a:xfrm>
            <a:off x="4615258" y="4894283"/>
            <a:ext cx="1" cy="1840951"/>
          </a:xfrm>
          <a:prstGeom prst="line">
            <a:avLst/>
          </a:prstGeom>
          <a:ln w="25400">
            <a:solidFill>
              <a:srgbClr val="000000"/>
            </a:solidFill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655" name="Line"/>
          <p:cNvSpPr/>
          <p:nvPr/>
        </p:nvSpPr>
        <p:spPr>
          <a:xfrm>
            <a:off x="4608919" y="4889500"/>
            <a:ext cx="350521" cy="0"/>
          </a:xfrm>
          <a:prstGeom prst="line">
            <a:avLst/>
          </a:prstGeom>
          <a:ln w="25400">
            <a:solidFill>
              <a:srgbClr val="000000"/>
            </a:solidFill>
            <a:miter lim="400000"/>
            <a:tailEnd type="triangle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656" name="Line"/>
          <p:cNvSpPr/>
          <p:nvPr/>
        </p:nvSpPr>
        <p:spPr>
          <a:xfrm>
            <a:off x="8795686" y="5360987"/>
            <a:ext cx="1" cy="1021293"/>
          </a:xfrm>
          <a:prstGeom prst="line">
            <a:avLst/>
          </a:prstGeom>
          <a:ln w="25400">
            <a:solidFill>
              <a:srgbClr val="000000"/>
            </a:solidFill>
            <a:miter lim="400000"/>
            <a:tailEnd type="triangle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657" name="Line"/>
          <p:cNvSpPr/>
          <p:nvPr/>
        </p:nvSpPr>
        <p:spPr>
          <a:xfrm>
            <a:off x="9396819" y="5360987"/>
            <a:ext cx="1" cy="1021293"/>
          </a:xfrm>
          <a:prstGeom prst="line">
            <a:avLst/>
          </a:prstGeom>
          <a:ln w="25400">
            <a:solidFill>
              <a:srgbClr val="000000"/>
            </a:solidFill>
            <a:miter lim="400000"/>
            <a:tailEnd type="triangle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658" name="Line"/>
          <p:cNvSpPr/>
          <p:nvPr/>
        </p:nvSpPr>
        <p:spPr>
          <a:xfrm>
            <a:off x="9997953" y="5360987"/>
            <a:ext cx="1" cy="1021293"/>
          </a:xfrm>
          <a:prstGeom prst="line">
            <a:avLst/>
          </a:prstGeom>
          <a:ln w="25400">
            <a:solidFill>
              <a:srgbClr val="000000"/>
            </a:solidFill>
            <a:miter lim="400000"/>
            <a:tailEnd type="triangle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659" name="Line"/>
          <p:cNvSpPr/>
          <p:nvPr/>
        </p:nvSpPr>
        <p:spPr>
          <a:xfrm>
            <a:off x="10599086" y="5360987"/>
            <a:ext cx="1" cy="1021293"/>
          </a:xfrm>
          <a:prstGeom prst="line">
            <a:avLst/>
          </a:prstGeom>
          <a:ln w="25400">
            <a:solidFill>
              <a:srgbClr val="000000"/>
            </a:solidFill>
            <a:miter lim="400000"/>
            <a:tailEnd type="triangle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660" name="Line"/>
          <p:cNvSpPr/>
          <p:nvPr/>
        </p:nvSpPr>
        <p:spPr>
          <a:xfrm flipV="1">
            <a:off x="10576226" y="5505979"/>
            <a:ext cx="831029" cy="1"/>
          </a:xfrm>
          <a:prstGeom prst="line">
            <a:avLst/>
          </a:prstGeom>
          <a:ln w="25400">
            <a:solidFill>
              <a:srgbClr val="000000"/>
            </a:solidFill>
            <a:miter lim="400000"/>
            <a:headEnd type="oval"/>
            <a:tailEnd type="triangle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661" name="Line"/>
          <p:cNvSpPr/>
          <p:nvPr/>
        </p:nvSpPr>
        <p:spPr>
          <a:xfrm>
            <a:off x="9978398" y="5702300"/>
            <a:ext cx="1428857" cy="0"/>
          </a:xfrm>
          <a:prstGeom prst="line">
            <a:avLst/>
          </a:prstGeom>
          <a:ln w="25400">
            <a:solidFill>
              <a:srgbClr val="000000"/>
            </a:solidFill>
            <a:miter lim="400000"/>
            <a:headEnd type="oval"/>
            <a:tailEnd type="triangle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662" name="Line"/>
          <p:cNvSpPr/>
          <p:nvPr/>
        </p:nvSpPr>
        <p:spPr>
          <a:xfrm>
            <a:off x="9380227" y="5898620"/>
            <a:ext cx="2033883" cy="1"/>
          </a:xfrm>
          <a:prstGeom prst="line">
            <a:avLst/>
          </a:prstGeom>
          <a:ln w="25400">
            <a:solidFill>
              <a:srgbClr val="000000"/>
            </a:solidFill>
            <a:miter lim="400000"/>
            <a:headEnd type="oval"/>
            <a:tailEnd type="triangle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663" name="Line"/>
          <p:cNvSpPr/>
          <p:nvPr/>
        </p:nvSpPr>
        <p:spPr>
          <a:xfrm>
            <a:off x="8772596" y="6094941"/>
            <a:ext cx="2641514" cy="1"/>
          </a:xfrm>
          <a:prstGeom prst="line">
            <a:avLst/>
          </a:prstGeom>
          <a:ln w="25400">
            <a:solidFill>
              <a:srgbClr val="000000"/>
            </a:solidFill>
            <a:miter lim="400000"/>
            <a:headEnd type="oval"/>
            <a:tailEnd type="triangle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664" name="out"/>
          <p:cNvSpPr txBox="1"/>
          <p:nvPr/>
        </p:nvSpPr>
        <p:spPr>
          <a:xfrm>
            <a:off x="11541974" y="5448299"/>
            <a:ext cx="679253" cy="584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r>
              <a:t>out</a:t>
            </a:r>
          </a:p>
        </p:txBody>
      </p:sp>
      <p:sp>
        <p:nvSpPr>
          <p:cNvPr id="665" name="16V"/>
          <p:cNvSpPr txBox="1"/>
          <p:nvPr/>
        </p:nvSpPr>
        <p:spPr>
          <a:xfrm>
            <a:off x="9655599" y="7850082"/>
            <a:ext cx="837408" cy="584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r>
              <a:t>16V</a:t>
            </a:r>
          </a:p>
        </p:txBody>
      </p:sp>
      <p:sp>
        <p:nvSpPr>
          <p:cNvPr id="666" name="successive…"/>
          <p:cNvSpPr txBox="1"/>
          <p:nvPr/>
        </p:nvSpPr>
        <p:spPr>
          <a:xfrm>
            <a:off x="8593944" y="2893483"/>
            <a:ext cx="2207922" cy="1168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>
              <a:defRPr sz="2300" b="1"/>
            </a:pPr>
            <a:r>
              <a:t>successive </a:t>
            </a:r>
          </a:p>
          <a:p>
            <a:pPr>
              <a:defRPr sz="2300" b="1"/>
            </a:pPr>
            <a:r>
              <a:t>approximation </a:t>
            </a:r>
          </a:p>
          <a:p>
            <a:pPr>
              <a:defRPr sz="2300" b="1"/>
            </a:pPr>
            <a:r>
              <a:t>register</a:t>
            </a:r>
          </a:p>
        </p:txBody>
      </p:sp>
      <p:graphicFrame>
        <p:nvGraphicFramePr>
          <p:cNvPr id="667" name="Table 1"/>
          <p:cNvGraphicFramePr/>
          <p:nvPr/>
        </p:nvGraphicFramePr>
        <p:xfrm>
          <a:off x="8499795" y="4120091"/>
          <a:ext cx="2396216" cy="1182581"/>
        </p:xfrm>
        <a:graphic>
          <a:graphicData uri="http://schemas.openxmlformats.org/drawingml/2006/table">
            <a:tbl>
              <a:tblPr>
                <a:tableStyleId>{4A9BC294-FFE2-49D5-8D69-9E1BD2C41BD5}</a:tableStyleId>
              </a:tblPr>
              <a:tblGrid>
                <a:gridCol w="59905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9905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9905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9905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182581">
                <a:tc>
                  <a:txBody>
                    <a:bodyPr/>
                    <a:lstStyle/>
                    <a:p>
                      <a:pPr algn="ctr">
                        <a:spcBef>
                          <a:spcPts val="4200"/>
                        </a:spcBef>
                        <a:defRPr sz="3200"/>
                      </a:pPr>
                      <a:r>
                        <a:rPr>
                          <a:solidFill>
                            <a:schemeClr val="accent6">
                              <a:satOff val="-15808"/>
                              <a:lumOff val="-17557"/>
                            </a:schemeClr>
                          </a:solidFill>
                          <a:latin typeface="Courier"/>
                          <a:ea typeface="Courier"/>
                          <a:cs typeface="Courier"/>
                          <a:sym typeface="Courier"/>
                        </a:rPr>
                        <a:t>0</a:t>
                      </a:r>
                    </a:p>
                  </a:txBody>
                  <a:tcPr marL="50800" marR="50800" marT="50800" marB="50800" anchor="ctr" horzOverflow="overflow">
                    <a:lnL w="101600">
                      <a:solidFill>
                        <a:srgbClr val="6E8627"/>
                      </a:solidFill>
                      <a:miter lim="400000"/>
                    </a:lnL>
                    <a:lnR w="101600">
                      <a:solidFill>
                        <a:srgbClr val="6E8627"/>
                      </a:solidFill>
                      <a:miter lim="400000"/>
                    </a:lnR>
                    <a:lnT w="101600">
                      <a:solidFill>
                        <a:srgbClr val="6E8627"/>
                      </a:solidFill>
                      <a:miter lim="400000"/>
                    </a:lnT>
                    <a:lnB w="101600">
                      <a:solidFill>
                        <a:srgbClr val="6E8627"/>
                      </a:solidFill>
                      <a:miter lim="400000"/>
                    </a:lnB>
                    <a:solidFill>
                      <a:schemeClr val="accent3">
                        <a:hueOff val="-274225"/>
                        <a:satOff val="26768"/>
                        <a:lumOff val="11368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4200"/>
                        </a:spcBef>
                        <a:defRPr sz="3200"/>
                      </a:pPr>
                      <a:r>
                        <a:rPr>
                          <a:solidFill>
                            <a:schemeClr val="accent6">
                              <a:satOff val="-15808"/>
                              <a:lumOff val="-17557"/>
                            </a:schemeClr>
                          </a:solidFill>
                          <a:latin typeface="Courier"/>
                          <a:ea typeface="Courier"/>
                          <a:cs typeface="Courier"/>
                          <a:sym typeface="Courier"/>
                        </a:rPr>
                        <a:t>1</a:t>
                      </a:r>
                    </a:p>
                  </a:txBody>
                  <a:tcPr marL="50800" marR="50800" marT="50800" marB="50800" anchor="ctr" horzOverflow="overflow">
                    <a:lnL w="101600">
                      <a:solidFill>
                        <a:srgbClr val="6E8627"/>
                      </a:solidFill>
                      <a:miter lim="400000"/>
                    </a:lnL>
                    <a:lnR w="101600">
                      <a:solidFill>
                        <a:srgbClr val="6E8627"/>
                      </a:solidFill>
                      <a:miter lim="400000"/>
                    </a:lnR>
                    <a:lnT w="101600">
                      <a:solidFill>
                        <a:srgbClr val="6E8627"/>
                      </a:solidFill>
                      <a:miter lim="400000"/>
                    </a:lnT>
                    <a:lnB w="101600">
                      <a:solidFill>
                        <a:srgbClr val="6E8627"/>
                      </a:solidFill>
                      <a:miter lim="400000"/>
                    </a:lnB>
                    <a:solidFill>
                      <a:schemeClr val="accent3">
                        <a:hueOff val="-274225"/>
                        <a:satOff val="26768"/>
                        <a:lumOff val="11368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4200"/>
                        </a:spcBef>
                        <a:defRPr sz="3200"/>
                      </a:pPr>
                      <a:r>
                        <a:rPr>
                          <a:solidFill>
                            <a:schemeClr val="accent6">
                              <a:satOff val="-15808"/>
                              <a:lumOff val="-17557"/>
                            </a:schemeClr>
                          </a:solidFill>
                          <a:latin typeface="Courier"/>
                          <a:ea typeface="Courier"/>
                          <a:cs typeface="Courier"/>
                          <a:sym typeface="Courier"/>
                        </a:rPr>
                        <a:t>0</a:t>
                      </a:r>
                    </a:p>
                  </a:txBody>
                  <a:tcPr marL="50800" marR="50800" marT="50800" marB="50800" anchor="ctr" horzOverflow="overflow">
                    <a:lnL w="101600">
                      <a:solidFill>
                        <a:srgbClr val="6E8627"/>
                      </a:solidFill>
                      <a:miter lim="400000"/>
                    </a:lnL>
                    <a:lnR w="101600">
                      <a:solidFill>
                        <a:srgbClr val="6E8627"/>
                      </a:solidFill>
                      <a:miter lim="400000"/>
                    </a:lnR>
                    <a:lnT w="101600">
                      <a:solidFill>
                        <a:srgbClr val="6E8627"/>
                      </a:solidFill>
                      <a:miter lim="400000"/>
                    </a:lnT>
                    <a:lnB w="101600">
                      <a:solidFill>
                        <a:srgbClr val="6E8627"/>
                      </a:solidFill>
                      <a:miter lim="400000"/>
                    </a:lnB>
                    <a:solidFill>
                      <a:schemeClr val="accent3">
                        <a:hueOff val="-274225"/>
                        <a:satOff val="26768"/>
                        <a:lumOff val="11368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4200"/>
                        </a:spcBef>
                        <a:defRPr sz="3200"/>
                      </a:pPr>
                      <a:r>
                        <a:rPr>
                          <a:solidFill>
                            <a:schemeClr val="accent6">
                              <a:satOff val="-15808"/>
                              <a:lumOff val="-17557"/>
                            </a:schemeClr>
                          </a:solidFill>
                          <a:latin typeface="Courier"/>
                          <a:ea typeface="Courier"/>
                          <a:cs typeface="Courier"/>
                          <a:sym typeface="Courier"/>
                        </a:rPr>
                        <a:t>1</a:t>
                      </a:r>
                    </a:p>
                  </a:txBody>
                  <a:tcPr marL="50800" marR="50800" marT="50800" marB="50800" anchor="ctr" horzOverflow="overflow">
                    <a:lnL w="101600">
                      <a:solidFill>
                        <a:srgbClr val="6E8627"/>
                      </a:solidFill>
                      <a:miter lim="400000"/>
                    </a:lnL>
                    <a:lnR w="101600">
                      <a:solidFill>
                        <a:srgbClr val="6E8627"/>
                      </a:solidFill>
                      <a:miter lim="400000"/>
                    </a:lnR>
                    <a:lnT w="101600">
                      <a:solidFill>
                        <a:srgbClr val="6E8627"/>
                      </a:solidFill>
                      <a:miter lim="400000"/>
                    </a:lnT>
                    <a:lnB w="101600">
                      <a:solidFill>
                        <a:srgbClr val="6E8627"/>
                      </a:solidFill>
                      <a:miter lim="400000"/>
                    </a:lnB>
                    <a:solidFill>
                      <a:schemeClr val="accent3">
                        <a:hueOff val="-274225"/>
                        <a:satOff val="26768"/>
                        <a:lumOff val="11368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668" name="5V"/>
          <p:cNvSpPr txBox="1"/>
          <p:nvPr/>
        </p:nvSpPr>
        <p:spPr>
          <a:xfrm>
            <a:off x="6721640" y="6714066"/>
            <a:ext cx="611387" cy="584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r>
              <a:t>5V</a:t>
            </a:r>
          </a:p>
        </p:txBody>
      </p:sp>
      <p:sp>
        <p:nvSpPr>
          <p:cNvPr id="669" name="5.5V"/>
          <p:cNvSpPr txBox="1"/>
          <p:nvPr/>
        </p:nvSpPr>
        <p:spPr>
          <a:xfrm>
            <a:off x="3951718" y="3909482"/>
            <a:ext cx="950318" cy="584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r>
              <a:t>5.5V</a:t>
            </a:r>
          </a:p>
        </p:txBody>
      </p:sp>
      <p:sp>
        <p:nvSpPr>
          <p:cNvPr id="670" name="5.5V"/>
          <p:cNvSpPr txBox="1"/>
          <p:nvPr/>
        </p:nvSpPr>
        <p:spPr>
          <a:xfrm>
            <a:off x="1397879" y="3909482"/>
            <a:ext cx="950318" cy="584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r>
              <a:t>5.5V</a:t>
            </a:r>
          </a:p>
        </p:txBody>
      </p:sp>
      <p:cxnSp>
        <p:nvCxnSpPr>
          <p:cNvPr id="2" name="Connection Line">
            <a:extLst>
              <a:ext uri="{FF2B5EF4-FFF2-40B4-BE49-F238E27FC236}">
                <a16:creationId xmlns:a16="http://schemas.microsoft.com/office/drawing/2014/main" id="{9EC59F8E-F75E-B3C3-3A86-B9CEABCC8F68}"/>
              </a:ext>
            </a:extLst>
          </p:cNvPr>
          <p:cNvCxnSpPr>
            <a:cxnSpLocks/>
          </p:cNvCxnSpPr>
          <p:nvPr/>
        </p:nvCxnSpPr>
        <p:spPr>
          <a:xfrm>
            <a:off x="1273480" y="4538134"/>
            <a:ext cx="1203628" cy="0"/>
          </a:xfrm>
          <a:prstGeom prst="straightConnector1">
            <a:avLst/>
          </a:prstGeom>
          <a:ln w="25400">
            <a:solidFill>
              <a:srgbClr val="000000"/>
            </a:solidFill>
            <a:miter lim="400000"/>
            <a:tailEnd type="triangle"/>
          </a:ln>
        </p:spPr>
      </p:cxnSp>
      <p:cxnSp>
        <p:nvCxnSpPr>
          <p:cNvPr id="3" name="Connection Line">
            <a:extLst>
              <a:ext uri="{FF2B5EF4-FFF2-40B4-BE49-F238E27FC236}">
                <a16:creationId xmlns:a16="http://schemas.microsoft.com/office/drawing/2014/main" id="{2AF9BF29-A638-A5C1-1263-F16C498E5982}"/>
              </a:ext>
            </a:extLst>
          </p:cNvPr>
          <p:cNvCxnSpPr>
            <a:cxnSpLocks/>
          </p:cNvCxnSpPr>
          <p:nvPr/>
        </p:nvCxnSpPr>
        <p:spPr>
          <a:xfrm flipV="1">
            <a:off x="9697905" y="7641167"/>
            <a:ext cx="0" cy="797876"/>
          </a:xfrm>
          <a:prstGeom prst="straightConnector1">
            <a:avLst/>
          </a:prstGeom>
          <a:ln w="25400">
            <a:solidFill>
              <a:srgbClr val="000000"/>
            </a:solidFill>
            <a:miter lim="400000"/>
            <a:tailEnd type="triangle"/>
          </a:ln>
        </p:spPr>
      </p:cxnSp>
    </p:spTree>
  </p:cSld>
  <p:clrMapOvr>
    <a:masterClrMapping/>
  </p:clrMapOvr>
  <p:transition spd="med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" name="ADC using SAR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ADC using SAR</a:t>
            </a:r>
          </a:p>
        </p:txBody>
      </p:sp>
      <p:sp>
        <p:nvSpPr>
          <p:cNvPr id="676" name="An N-bit ADC takes N cycles to convert one sample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An N-bit ADC takes N cycles to convert one sample</a:t>
            </a:r>
          </a:p>
          <a:p>
            <a:r>
              <a:t>Low power consumption</a:t>
            </a:r>
          </a:p>
          <a:p>
            <a:r>
              <a:t>Simple design with small circuit area</a:t>
            </a:r>
          </a:p>
          <a:p>
            <a:r>
              <a:t>Low latency</a:t>
            </a:r>
          </a:p>
          <a:p>
            <a:r>
              <a:t>More advanced designs are more efficient when the sampling rate is above 10MHz or N &gt; 16.</a:t>
            </a:r>
          </a:p>
        </p:txBody>
      </p:sp>
      <p:sp>
        <p:nvSpPr>
          <p:cNvPr id="677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rPr/>
              <a:t>20</a:t>
            </a:fld>
            <a:endParaRPr/>
          </a:p>
        </p:txBody>
      </p:sp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67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8" fill="hold"/>
                                        <p:tgtEl>
                                          <p:spTgt spid="67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2" fill="hold"/>
                                        <p:tgtEl>
                                          <p:spTgt spid="67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6" fill="hold"/>
                                        <p:tgtEl>
                                          <p:spTgt spid="67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0" fill="hold"/>
                                        <p:tgtEl>
                                          <p:spTgt spid="67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4" fill="hold"/>
                                        <p:tgtEl>
                                          <p:spTgt spid="67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76" grpId="1" build="p" bldLvl="5" animBg="1" advAuto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9" name="This lectur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This lecture</a:t>
            </a:r>
          </a:p>
        </p:txBody>
      </p:sp>
      <p:sp>
        <p:nvSpPr>
          <p:cNvPr id="680" name="The design of the spi2dac module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The design of the spi2dac module</a:t>
            </a:r>
          </a:p>
          <a:p>
            <a:r>
              <a:t>How the ADC works</a:t>
            </a:r>
          </a:p>
          <a:p>
            <a:pPr>
              <a:defRPr b="1"/>
            </a:pPr>
            <a:r>
              <a:t>Wrapping up</a:t>
            </a:r>
          </a:p>
        </p:txBody>
      </p:sp>
      <p:sp>
        <p:nvSpPr>
          <p:cNvPr id="681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rPr/>
              <a:t>21</a:t>
            </a:fld>
            <a:endParaRPr/>
          </a:p>
        </p:txBody>
      </p:sp>
    </p:spTree>
  </p:cSld>
  <p:clrMapOvr>
    <a:masterClrMapping/>
  </p:clrMapOvr>
  <p:transition spd="med"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3" name="Module aims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Module aims</a:t>
            </a:r>
          </a:p>
        </p:txBody>
      </p:sp>
      <p:sp>
        <p:nvSpPr>
          <p:cNvPr id="684" name="To ensure that all MSc students reach a common competence level in RTL design using FPGAs in a hardware description language.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To ensure that all MSc students reach a </a:t>
            </a:r>
            <a:r>
              <a:rPr b="1"/>
              <a:t>common competence level</a:t>
            </a:r>
            <a:r>
              <a:t> in RTL design using FPGAs in a hardware description language.</a:t>
            </a:r>
          </a:p>
          <a:p>
            <a:r>
              <a:t>To act as a </a:t>
            </a:r>
            <a:r>
              <a:rPr b="1"/>
              <a:t>revision exercise</a:t>
            </a:r>
            <a:r>
              <a:t> for those already competent in Verilog and FPGAs.</a:t>
            </a:r>
          </a:p>
        </p:txBody>
      </p:sp>
      <p:sp>
        <p:nvSpPr>
          <p:cNvPr id="68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rPr/>
              <a:t>22</a:t>
            </a:fld>
            <a:endParaRPr/>
          </a:p>
        </p:txBody>
      </p:sp>
    </p:spTree>
  </p:cSld>
  <p:clrMapOvr>
    <a:masterClrMapping/>
  </p:clrMapOvr>
  <p:transition spd="med"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7" name="Grading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Grading</a:t>
            </a:r>
          </a:p>
        </p:txBody>
      </p:sp>
      <p:sp>
        <p:nvSpPr>
          <p:cNvPr id="688" name="This lab is part of the Coursework component of the MSc course.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This lab is part of the Coursework component of the MSc course. </a:t>
            </a:r>
          </a:p>
          <a:p>
            <a:r>
              <a:t>You must pass this component, but it does not count towards your final MSc grade.</a:t>
            </a:r>
          </a:p>
        </p:txBody>
      </p:sp>
      <p:sp>
        <p:nvSpPr>
          <p:cNvPr id="689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rPr/>
              <a:t>23</a:t>
            </a:fld>
            <a:endParaRPr/>
          </a:p>
        </p:txBody>
      </p:sp>
      <p:sp>
        <p:nvSpPr>
          <p:cNvPr id="690" name="Oval"/>
          <p:cNvSpPr/>
          <p:nvPr/>
        </p:nvSpPr>
        <p:spPr>
          <a:xfrm>
            <a:off x="1938866" y="5715000"/>
            <a:ext cx="2973058" cy="2572412"/>
          </a:xfrm>
          <a:prstGeom prst="ellipse">
            <a:avLst/>
          </a:prstGeom>
          <a:solidFill>
            <a:srgbClr val="D2D0AD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691" name="Oval"/>
          <p:cNvSpPr/>
          <p:nvPr/>
        </p:nvSpPr>
        <p:spPr>
          <a:xfrm>
            <a:off x="2730103" y="6004718"/>
            <a:ext cx="1557272" cy="1114294"/>
          </a:xfrm>
          <a:prstGeom prst="ellipse">
            <a:avLst/>
          </a:prstGeom>
          <a:solidFill>
            <a:srgbClr val="6E8627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692" name="Oval"/>
          <p:cNvSpPr/>
          <p:nvPr/>
        </p:nvSpPr>
        <p:spPr>
          <a:xfrm>
            <a:off x="5367866" y="5715000"/>
            <a:ext cx="2973058" cy="2572412"/>
          </a:xfrm>
          <a:prstGeom prst="ellipse">
            <a:avLst/>
          </a:prstGeom>
          <a:solidFill>
            <a:srgbClr val="D2D0AD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693" name="Oval"/>
          <p:cNvSpPr/>
          <p:nvPr/>
        </p:nvSpPr>
        <p:spPr>
          <a:xfrm>
            <a:off x="8796866" y="5715000"/>
            <a:ext cx="2973058" cy="2572412"/>
          </a:xfrm>
          <a:prstGeom prst="ellipse">
            <a:avLst/>
          </a:prstGeom>
          <a:solidFill>
            <a:srgbClr val="D2D0AD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>
              <a:defRPr sz="2100" b="1"/>
            </a:pPr>
            <a:endParaRPr/>
          </a:p>
        </p:txBody>
      </p:sp>
      <p:sp>
        <p:nvSpPr>
          <p:cNvPr id="694" name="Coursework"/>
          <p:cNvSpPr txBox="1"/>
          <p:nvPr/>
        </p:nvSpPr>
        <p:spPr>
          <a:xfrm>
            <a:off x="2284181" y="8310033"/>
            <a:ext cx="2282429" cy="584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r>
              <a:t>Coursework</a:t>
            </a:r>
          </a:p>
        </p:txBody>
      </p:sp>
      <p:sp>
        <p:nvSpPr>
          <p:cNvPr id="695" name="Exams"/>
          <p:cNvSpPr txBox="1"/>
          <p:nvPr/>
        </p:nvSpPr>
        <p:spPr>
          <a:xfrm>
            <a:off x="6176234" y="8310033"/>
            <a:ext cx="1356321" cy="584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r>
              <a:t>Exams</a:t>
            </a:r>
          </a:p>
        </p:txBody>
      </p:sp>
      <p:sp>
        <p:nvSpPr>
          <p:cNvPr id="696" name="Project"/>
          <p:cNvSpPr txBox="1"/>
          <p:nvPr/>
        </p:nvSpPr>
        <p:spPr>
          <a:xfrm>
            <a:off x="9593825" y="8310033"/>
            <a:ext cx="1379141" cy="584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r>
              <a:t>Project</a:t>
            </a:r>
          </a:p>
        </p:txBody>
      </p:sp>
      <p:sp>
        <p:nvSpPr>
          <p:cNvPr id="697" name="This lab"/>
          <p:cNvSpPr txBox="1"/>
          <p:nvPr/>
        </p:nvSpPr>
        <p:spPr>
          <a:xfrm>
            <a:off x="2683834" y="6269765"/>
            <a:ext cx="1649810" cy="584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>
              <a:defRPr b="1">
                <a:solidFill>
                  <a:srgbClr val="FFFFFF"/>
                </a:solidFill>
              </a:defRPr>
            </a:lvl1pPr>
          </a:lstStyle>
          <a:p>
            <a:r>
              <a:t>This lab</a:t>
            </a:r>
          </a:p>
        </p:txBody>
      </p:sp>
    </p:spTree>
  </p:cSld>
  <p:clrMapOvr>
    <a:masterClrMapping/>
  </p:clrMapOvr>
  <p:transition spd="med"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9" name="Assessmen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Assessment</a:t>
            </a:r>
          </a:p>
        </p:txBody>
      </p:sp>
      <p:sp>
        <p:nvSpPr>
          <p:cNvPr id="700" name="Assessment will be via a 15-minute oral interview. This will assess: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Assessment will be via a 15-minute </a:t>
            </a:r>
            <a:r>
              <a:rPr b="1"/>
              <a:t>oral interview</a:t>
            </a:r>
            <a:r>
              <a:t>. This will assess:</a:t>
            </a:r>
          </a:p>
          <a:p>
            <a:pPr lvl="1">
              <a:spcBef>
                <a:spcPts val="2500"/>
              </a:spcBef>
            </a:pPr>
            <a:r>
              <a:t>how many parts of the experiment you have completed, </a:t>
            </a:r>
          </a:p>
          <a:p>
            <a:pPr lvl="1">
              <a:spcBef>
                <a:spcPts val="2500"/>
              </a:spcBef>
            </a:pPr>
            <a:r>
              <a:t>the extent to which you have understood the underlying principles of digital design, and</a:t>
            </a:r>
          </a:p>
          <a:p>
            <a:pPr lvl="1">
              <a:spcBef>
                <a:spcPts val="2500"/>
              </a:spcBef>
            </a:pPr>
            <a:r>
              <a:t>whether you have used a logbook (electronic or paper) to help you learn through planning and reflection.</a:t>
            </a:r>
          </a:p>
          <a:p>
            <a:r>
              <a:t>Please have your equipment set up and ready to demo.</a:t>
            </a:r>
          </a:p>
        </p:txBody>
      </p:sp>
      <p:sp>
        <p:nvSpPr>
          <p:cNvPr id="701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rPr/>
              <a:t>24</a:t>
            </a:fld>
            <a:endParaRPr/>
          </a:p>
        </p:txBody>
      </p:sp>
    </p:spTree>
  </p:cSld>
  <p:clrMapOvr>
    <a:masterClrMapping/>
  </p:clrMapOvr>
  <p:transition spd="med"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3" name="Admin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Admin</a:t>
            </a:r>
          </a:p>
        </p:txBody>
      </p:sp>
      <p:sp>
        <p:nvSpPr>
          <p:cNvPr id="704" name="Final two labs: Tuesday 9th &amp; 16th Nov at 0900–1200.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b="1"/>
              <a:t>Final two labs: </a:t>
            </a:r>
            <a:r>
              <a:t>Tuesday 9th &amp; 16th Nov at 0900–1200.</a:t>
            </a:r>
          </a:p>
          <a:p>
            <a:r>
              <a:rPr b="1"/>
              <a:t>Vivas</a:t>
            </a:r>
            <a:r>
              <a:t>: how about in the week beginning Monday 22nd Nov?</a:t>
            </a:r>
          </a:p>
        </p:txBody>
      </p:sp>
      <p:sp>
        <p:nvSpPr>
          <p:cNvPr id="705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2616097" y="31750"/>
            <a:ext cx="283717" cy="406400"/>
          </a:xfrm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rPr/>
              <a:t>25</a:t>
            </a:fld>
            <a:endParaRPr/>
          </a:p>
        </p:txBody>
      </p:sp>
    </p:spTree>
  </p:cSld>
  <p:clrMapOvr>
    <a:masterClrMapping/>
  </p:clrMapOvr>
  <p:transition spd="med"/>
</p:sld>
</file>

<file path=ppt/theme/theme1.xml><?xml version="1.0" encoding="utf-8"?>
<a:theme xmlns:a="http://schemas.openxmlformats.org/drawingml/2006/main" name="White">
  <a:themeElements>
    <a:clrScheme name="White">
      <a:dk1>
        <a:srgbClr val="000000"/>
      </a:dk1>
      <a:lt1>
        <a:srgbClr val="FFFFFF"/>
      </a:lt1>
      <a:dk2>
        <a:srgbClr val="5E5E5E"/>
      </a:dk2>
      <a:lt2>
        <a:srgbClr val="D6D5D5"/>
      </a:lt2>
      <a:accent1>
        <a:srgbClr val="00A2FF"/>
      </a:accent1>
      <a:accent2>
        <a:srgbClr val="16E7CF"/>
      </a:accent2>
      <a:accent3>
        <a:srgbClr val="61D836"/>
      </a:accent3>
      <a:accent4>
        <a:srgbClr val="FAE232"/>
      </a:accent4>
      <a:accent5>
        <a:srgbClr val="FF644E"/>
      </a:accent5>
      <a:accent6>
        <a:srgbClr val="EF5FA7"/>
      </a:accent6>
      <a:hlink>
        <a:srgbClr val="0000FF"/>
      </a:hlink>
      <a:folHlink>
        <a:srgbClr val="FF00FF"/>
      </a:folHlink>
    </a:clrScheme>
    <a:fontScheme name="White">
      <a:majorFont>
        <a:latin typeface="Helvetica"/>
        <a:ea typeface="Helvetica"/>
        <a:cs typeface="Helvetica"/>
      </a:majorFont>
      <a:minorFont>
        <a:latin typeface="Helvetica"/>
        <a:ea typeface="Helvetica"/>
        <a:cs typeface="Helvetica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6E8627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584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2100" b="1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584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2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White">
  <a:themeElements>
    <a:clrScheme name="White">
      <a:dk1>
        <a:srgbClr val="000000"/>
      </a:dk1>
      <a:lt1>
        <a:srgbClr val="FFFFFF"/>
      </a:lt1>
      <a:dk2>
        <a:srgbClr val="5E5E5E"/>
      </a:dk2>
      <a:lt2>
        <a:srgbClr val="D6D5D5"/>
      </a:lt2>
      <a:accent1>
        <a:srgbClr val="00A2FF"/>
      </a:accent1>
      <a:accent2>
        <a:srgbClr val="16E7CF"/>
      </a:accent2>
      <a:accent3>
        <a:srgbClr val="61D836"/>
      </a:accent3>
      <a:accent4>
        <a:srgbClr val="FAE232"/>
      </a:accent4>
      <a:accent5>
        <a:srgbClr val="FF644E"/>
      </a:accent5>
      <a:accent6>
        <a:srgbClr val="EF5FA7"/>
      </a:accent6>
      <a:hlink>
        <a:srgbClr val="0000FF"/>
      </a:hlink>
      <a:folHlink>
        <a:srgbClr val="FF00FF"/>
      </a:folHlink>
    </a:clrScheme>
    <a:fontScheme name="White">
      <a:majorFont>
        <a:latin typeface="Helvetica"/>
        <a:ea typeface="Helvetica"/>
        <a:cs typeface="Helvetica"/>
      </a:majorFont>
      <a:minorFont>
        <a:latin typeface="Helvetica"/>
        <a:ea typeface="Helvetica"/>
        <a:cs typeface="Helvetica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6E8627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584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2100" b="1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584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2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1002</TotalTime>
  <Words>1002</Words>
  <Application>Microsoft Macintosh PowerPoint</Application>
  <PresentationFormat>Custom</PresentationFormat>
  <Paragraphs>364</Paragraphs>
  <Slides>25</Slides>
  <Notes>0</Notes>
  <HiddenSlides>1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0" baseType="lpstr">
      <vt:lpstr>Courier</vt:lpstr>
      <vt:lpstr>Helvetica</vt:lpstr>
      <vt:lpstr>Helvetica Neue</vt:lpstr>
      <vt:lpstr>Helvetica Neue Thin</vt:lpstr>
      <vt:lpstr>White</vt:lpstr>
      <vt:lpstr>Mastering  Digital Design</vt:lpstr>
      <vt:lpstr>This lecture</vt:lpstr>
      <vt:lpstr>This lecture</vt:lpstr>
      <vt:lpstr>spi2dac</vt:lpstr>
      <vt:lpstr>spi2dac</vt:lpstr>
      <vt:lpstr>spi2dac</vt:lpstr>
      <vt:lpstr>This lecture</vt:lpstr>
      <vt:lpstr>This lecture</vt:lpstr>
      <vt:lpstr>ADC using SAR</vt:lpstr>
      <vt:lpstr>ADC using SAR</vt:lpstr>
      <vt:lpstr>ADC using SAR</vt:lpstr>
      <vt:lpstr>ADC using SAR</vt:lpstr>
      <vt:lpstr>ADC using SAR</vt:lpstr>
      <vt:lpstr>ADC using SAR</vt:lpstr>
      <vt:lpstr>ADC using SAR</vt:lpstr>
      <vt:lpstr>ADC using SAR</vt:lpstr>
      <vt:lpstr>ADC using SAR</vt:lpstr>
      <vt:lpstr>ADC using SAR</vt:lpstr>
      <vt:lpstr>ADC using SAR</vt:lpstr>
      <vt:lpstr>ADC using SAR</vt:lpstr>
      <vt:lpstr>This lecture</vt:lpstr>
      <vt:lpstr>Module aims</vt:lpstr>
      <vt:lpstr>Grading</vt:lpstr>
      <vt:lpstr>Assessment</vt:lpstr>
      <vt:lpstr>Admin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Coward, Samuel R</cp:lastModifiedBy>
  <cp:revision>2</cp:revision>
  <dcterms:modified xsi:type="dcterms:W3CDTF">2026-09-17T08:30:00Z</dcterms:modified>
</cp:coreProperties>
</file>